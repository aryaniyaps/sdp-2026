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27" Type="http://schemas.openxmlformats.org/officeDocument/2006/relationships/presProps" Target="presProps.xml"/><Relationship Id="rId37" Type="http://schemas.openxmlformats.org/officeDocument/2006/relationships/slide" Target="slides/slide2.xml"/><Relationship Id="rId38" Type="http://schemas.openxmlformats.org/officeDocument/2006/relationships/slide" Target="slides/slide3.xml"/><Relationship Id="rId39" Type="http://schemas.openxmlformats.org/officeDocument/2006/relationships/slide" Target="slides/slide4.xml"/><Relationship Id="rId40" Type="http://schemas.openxmlformats.org/officeDocument/2006/relationships/slide" Target="slides/slide5.xml"/><Relationship Id="rId41" Type="http://schemas.openxmlformats.org/officeDocument/2006/relationships/slide" Target="slides/slide6.xml"/><Relationship Id="rId42" Type="http://schemas.openxmlformats.org/officeDocument/2006/relationships/slide" Target="slides/slide7.xml"/><Relationship Id="rId43" Type="http://schemas.openxmlformats.org/officeDocument/2006/relationships/slide" Target="slides/slide8.xml"/><Relationship Id="rId44" Type="http://schemas.openxmlformats.org/officeDocument/2006/relationships/slide" Target="slides/slide9.xml"/><Relationship Id="rId45" Type="http://schemas.openxmlformats.org/officeDocument/2006/relationships/slide" Target="slides/slide10.xml"/><Relationship Id="rId46" Type="http://schemas.openxmlformats.org/officeDocument/2006/relationships/slide" Target="slides/slide11.xml"/><Relationship Id="rId47" Type="http://schemas.openxmlformats.org/officeDocument/2006/relationships/slide" Target="slides/slide12.xml"/><Relationship Id="rId48" Type="http://schemas.openxmlformats.org/officeDocument/2006/relationships/slide" Target="slides/slide13.xml"/><Relationship Id="rId49" Type="http://schemas.openxmlformats.org/officeDocument/2006/relationships/slide" Target="slides/slide14.xml"/><Relationship Id="rId50" Type="http://schemas.openxmlformats.org/officeDocument/2006/relationships/slide" Target="slides/slide15.xml"/><Relationship Id="rId51" Type="http://schemas.openxmlformats.org/officeDocument/2006/relationships/slide" Target="slides/slide16.xml"/><Relationship Id="rId52" Type="http://schemas.openxmlformats.org/officeDocument/2006/relationships/slide" Target="slides/slide17.xml"/><Relationship Id="rId53" Type="http://schemas.openxmlformats.org/officeDocument/2006/relationships/slide" Target="slides/slide18.xml"/><Relationship Id="rId54" Type="http://schemas.openxmlformats.org/officeDocument/2006/relationships/slide" Target="slides/slide19.xml"/><Relationship Id="rId55" Type="http://schemas.openxmlformats.org/officeDocument/2006/relationships/slide" Target="slides/slide20.xml"/><Relationship Id="rId56" Type="http://schemas.openxmlformats.org/officeDocument/2006/relationships/slide" Target="slides/slide21.xml"/><Relationship Id="rId57" Type="http://schemas.openxmlformats.org/officeDocument/2006/relationships/slide" Target="slides/slide22.xml"/><Relationship Id="rId58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move the slide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17634A3-7D26-4BCA-864F-E88368E6EC6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11733480" cy="639972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94360" y="6382440"/>
            <a:ext cx="11002680" cy="360"/>
          </a:xfrm>
          <a:prstGeom prst="line">
            <a:avLst/>
          </a:prstGeom>
          <a:ln w="9525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94360" y="384120"/>
            <a:ext cx="9813240" cy="776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1AC1F3-9096-47FB-BC1A-BBB711A1D522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228600" y="228600"/>
            <a:ext cx="11733480" cy="639972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94360" y="1737360"/>
            <a:ext cx="10999080" cy="1370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 hasCustomPrompt="1"/>
          </p:nvPr>
        </p:nvSpPr>
        <p:spPr>
          <a:xfrm>
            <a:off x="594360" y="1737360"/>
            <a:ext cx="10999080" cy="137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LONG-TERM MEMORY ENGINE FOR AI AGENTS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Text 1"/>
          <p:cNvSpPr/>
          <p:nvPr/>
        </p:nvSpPr>
        <p:spPr>
          <a:xfrm>
            <a:off x="594360" y="3429000"/>
            <a:ext cx="10999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Third Project Review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Image 0" descr="Anna University logo: a gear with a factory and an open book inside a ring, and the motto Progress through Knowledge"/>
          <p:cNvPicPr/>
          <p:nvPr/>
        </p:nvPicPr>
        <p:blipFill>
          <a:blip r:embed="rId1"/>
          <a:stretch/>
        </p:blipFill>
        <p:spPr>
          <a:xfrm>
            <a:off x="640080" y="457200"/>
            <a:ext cx="1228320" cy="109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Image 1" descr="College of Engineering, Guindy crest: a winged shield with a rising sun and bridge, and the motto Labor Omnia Vincit"/>
          <p:cNvPicPr/>
          <p:nvPr/>
        </p:nvPicPr>
        <p:blipFill>
          <a:blip r:embed="rId2"/>
          <a:stretch/>
        </p:blipFill>
        <p:spPr>
          <a:xfrm>
            <a:off x="10260720" y="457200"/>
            <a:ext cx="1287000" cy="109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2"/>
          <p:cNvSpPr/>
          <p:nvPr/>
        </p:nvSpPr>
        <p:spPr>
          <a:xfrm>
            <a:off x="2377440" y="502920"/>
            <a:ext cx="74329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Department of Information Science and Technology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College of Engineering, Guindy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Anna University, Chennai-25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822960" y="4617720"/>
            <a:ext cx="548532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1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GUIDE: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DR. BAMA SRINIVASAN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DEPARTMENT OF INFORMATION SCIENCE AND TECHNOLOGY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CEG, ANNA UNIVERSITY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6858000" y="4617720"/>
            <a:ext cx="466236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1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TEAM MEMBERS: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M. KRITHIKRAJ, 2023115004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ALSTON S, 2023115006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ARYAN I, 2023115021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HARI SRINIVASAN, 2023115022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PROBLEM STATEMENT AND OBJECTIVES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11000232" cy="20116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AI agent starts every session with a blank memory. Instructions and decisions from earlier sessions are lost unless the user repeats them.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Pasting the whole history into the prompt is slow and costly, and models miss details in the middle of long inputs [1].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When an instruction changes, the agent cannot tell the new value from the old one, so it may act on the old 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246120"/>
            <a:ext cx="1100023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Objectives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611880"/>
            <a:ext cx="11000232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  Retain useful information for AI agents across sessions.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  Keep the updated instruction while preserving the earlier versions.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  Link every stored assertion back to the original message so it can be verified.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  Fine-tune a small local model to extract assertions, combine them and answer with citations.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  Retrieve relevant information quickly within a limited context size.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6.  Evaluate the engine with repeatable tests on a public benchmark, LoCoMo [2].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LITERATURE SURVEY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645920"/>
        </p:xfrm>
        <a:graphic>
          <a:graphicData uri="http://schemas.openxmlformats.org/drawingml/2006/table">
            <a:tbl>
              <a:tblPr firstRow="1" bandRow="0"/>
              <a:tblGrid>
                <a:gridCol w="1920240"/>
                <a:gridCol w="3291840"/>
                <a:gridCol w="3017520"/>
                <a:gridCol w="277063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Work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How it works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Reported result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Limitation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MemGPT [3], 2023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The model moves data between the prompt and storage by function calls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92.5% vs 32.1% for GPT-4 with a summary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missed function call loses the update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Zep / Graphiti [4], 2025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Temporal graph; a contradiction closes the old fact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71.2% vs 60.2% for the full history on LongMemEval [5]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Single run; graph database is the main store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 [6], 2025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 LLM picks add, update, delete or no-op for each fact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66.9 vs 72.9 for the full history on LoCoMo; p95 1.4 s vs 17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One benchmark; open-source release dropped update and delete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Supermemory [7], 2026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Small memories linked to source chunks, with two timestamps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Vendor report only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Closed source, not peer reviewed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Hindsight [8], 2025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Retain, recall, reflect; fused recall in a token budget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Authors’ own runs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 peer reviewed; budget not stated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5760720"/>
            <a:ext cx="1100023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numbers are as reported by the authors on their own setups. We did not rerun these systems.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GAPS IN EXISTING WORK AND OUR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645920"/>
        </p:xfrm>
        <a:graphic>
          <a:graphicData uri="http://schemas.openxmlformats.org/drawingml/2006/table">
            <a:tbl>
              <a:tblPr firstRow="1" bandRow="0"/>
              <a:tblGrid>
                <a:gridCol w="4206240"/>
                <a:gridCol w="2377440"/>
                <a:gridCol w="441655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Gap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Seen in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How we address it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G1. The model decides how memory changes, so one wrong call loses data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MemGPT, Mem0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Fixed rules in code decide every update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G2. Changed values are overwritten or deleted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Mem0, MemGPT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Every change is a new version with the dates it was valid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G3. A memory is hard to check against what the user said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MemGPT, Mem0, Supermemory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Every assertion carries an exact quote from the source message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G4. Extraction depends on large hosted models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Zep, Mem0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fine-tuned 4B model runs on our own laptop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G5. Results are hard to compare across papers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five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Conditions fixed before the run, two judges, one-command rerun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5394960"/>
            <a:ext cx="1100023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6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architecture on the next slide is built around these five choices.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SYSTEM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7223760" cy="49354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01000" y="1188720"/>
            <a:ext cx="359359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messages and tool results from the Pi coding agent [9].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M1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saves them in PostgreSQL and queues a job.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M2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extracts assertions with quotes, using the local model in Ollama.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M3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stores every version and copies it to Neo4j.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M4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searches both stores and packs the result into a token budget.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M5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trains the model offline.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Output: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recalled memories with their quotes, sent back to Pi.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M1 to M4 run as one Rust service. Tokio workers run M2 and M3 in the background.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RUNNING EXAMPLE: MAYA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645920"/>
        </p:xfrm>
        <a:graphic>
          <a:graphicData uri="http://schemas.openxmlformats.org/drawingml/2006/table">
            <a:tbl>
              <a:tblPr firstRow="1" bandRow="0"/>
              <a:tblGrid>
                <a:gridCol w="914400"/>
                <a:gridCol w="2194560"/>
                <a:gridCol w="789127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Event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Session, time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Message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E1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S1, user, 1 Oct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My name is Maya. I live in Chennai. I work as a software engineer at NovaTech, and I work remotely.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E2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S1, assistant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Nice to meet you, Maya.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S2, user, 10 Oct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 have moved to Bengaluru. Bengaluru is now my home city.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E4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S2, assistant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Noted. You now live in Bengaluru.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S3, user, 13 Oct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Where do I live now, where did I live before, and where do I work?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4206240"/>
            <a:ext cx="11000232" cy="17373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Goal for E5: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answer Bengaluru (since 10 Oct), Chennai before that, and NovaTech, each with its source message.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agent with no memory cannot answer. One that kept only E1 would wrongly say Chennai.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8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next five slides follow this example through M1 to M5.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1: SOURCE ACQUISITION AND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2_modul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2733621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648021" y="1234440"/>
            <a:ext cx="7946571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Pi writes each message to a local spool first, so nothing is lost if the service is down.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retain API stores the raw events, splits them into chunks and adds a keyword index [10] and a 1,024-number vector [11].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repeated batch with the same idempotency key is ignored.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It queues an extract job. Workers retry a failed job up to 5 times.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E3 and E4 become episode EP2, chunk C3 and job extract:EP2.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2: KNOWLEDGE EXTRACTION AND CONSOLIDATION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3_modul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4243356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157756" y="1234440"/>
            <a:ext cx="6436836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fine-tuned model turns new events into claims, each with an exact quote.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Bad output goes back to the model for repair, at most twice. Claims that look like passwords or keys are dropped.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review step checks that a correction is really stated.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Consolidation combines two or more assertions into an inference.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E3 gives “home city Bengaluru”, correction true, confidence 0.95.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3: TEMPORAL KNOWLEDGE AND GRAPH MANAGEMENT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4_modul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3457351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71751" y="1234440"/>
            <a:ext cx="7222841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only module that writes assertions.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new value supersedes the old one only if it is a correction with confidence of at least 0.8. Otherwise both are marked contested.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Old values keep their valid dates. Inferences built on a changed assertion become stale.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After commit, a worker copies changes to Neo4j [12].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R2 Bengaluru supersedes R1 Chennai, which stays valid from 1 to 10 Oct.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4: HYBRID RETRIEVAL AND GROUNDED REASONING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5_modul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3976245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90645" y="1234440"/>
            <a:ext cx="6703947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Keyword, vector, date and graph search run together.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Graph hits are rechecked in PostgreSQL.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Reciprocal Rank Fusion [13] merges the lists. The best results are packed into the token budget with their quotes.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optional step writes an answer that cites only retrieved IDs.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 E5, R2 (Bengaluru) and the E1 text (Chennai, NovaTech) come back together.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5: MODEL TRAINING AND EVALUATION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6_modu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3509998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24398" y="1234440"/>
            <a:ext cx="7170194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Runs offline. GPT-5.6-sol writes and labels synthetic conversations in 16 domains.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Qwen3-4B is fine-tuned with QLoRA [14], exported to GGUF and served by Ollama.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new version is used only if it scores at least as well as the old one on the dev conversations.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training row pairs a conversation like E1 to E4 with the expected claims and quotes.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ALGORITHMS (1/3)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4.1  Priority-based context selection (M2)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existing assertions, new messages, input limit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all existing assertions fit: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all of them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Score each assertion: +3 if its subject appears in the new messages, +2 if its value does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Sort by score, newest first on ties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Find the longest sorted prefix that fits, by binary search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that prefix in its original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4.2  Consolidation and invalidation (M2, M3)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active assertions about the changed subjects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Ask the model to combine related assertions into inferences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Keep an inference only if it has two or more supports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that every support is still active, then save with links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WHEN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support changes or is retracted: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find inferences that depend on it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mark them stale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ALGORITHMS (2/3)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4.3  Entity resolution and versioning (M3)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new assertion and the stored memory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Match the subject by type and name, or a unique alias; otherwise create it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same assertion exists: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attach the new quote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ELSE 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slot has no conflicting value: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store it as active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ELSE 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correction AND confidence ≥ 0.8: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supersede the old value, keep it as history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ELSE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mark both values contested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4.4  Hybrid retrieval and graph traversal (M4)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question and an optional date range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 keyword search [10] and vector search [11]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there is a date range: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add assertions valid in that range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Follow graph links from the top hits for up to two rounds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Recheck graph hits in PostgreSQL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Drop results outside their validity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candidate lists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ALGORITHMS (3/3)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4.5  Rank fusion and context packing (M4)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ranked candidate lists and a token budget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each memory: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score = Σ 1 / (60 + rank) over all lists [13]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Sort by score, then by ID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each memory in order: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build a block with the assertion and its quotes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add it if it fits the budget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packed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4.6  Source-grounded answering (M4)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question and the retrieved memories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nothing was retrieved: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“Insufficient evidence.”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Ask the model to answer only from the retrieved memories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the output format and every cited ID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it answers without citations: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reject it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answer with its citations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TOOLS AND TECHNOLOGIES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4023360"/>
        </p:xfrm>
        <a:graphic>
          <a:graphicData uri="http://schemas.openxmlformats.org/drawingml/2006/table">
            <a:tbl>
              <a:tblPr firstRow="1" bandRow="0"/>
              <a:tblGrid>
                <a:gridCol w="4023360"/>
                <a:gridCol w="6976872"/>
              </a:tblGrid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Tool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Role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Rust, Tokio, Axum, SQLx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Memory service: API, background workers, database access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PostgreSQL 17 + pgvector [10], [11]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Source of truth; keyword (GIN) and vector (HNSW) search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Neo4j 5.26 [12]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Graph copy of assertions, used to widen recall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Ollama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Runs the memory model and the embedding model locally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Qwen3-Embedding-0.6B [15]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1,024-number vectors for messages, assertions and questions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Fine-tuned Qwen3-4B-Instruct-2507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Extraction, consolidation and cited answers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PyTorch, Transformers, PEFT, bitsandbytes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QLoRA fine-tuning [14]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llama.cpp (GGUF, Q8_0)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Converts the trained model so Ollama can run it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 coding agent [9]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Sends messages to memory and receives recalled context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React, Vite; Docker Compose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Dashboard and graph view; runs all services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DATASET AND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371600"/>
        </p:xfrm>
        <a:graphic>
          <a:graphicData uri="http://schemas.openxmlformats.org/drawingml/2006/table">
            <a:tbl>
              <a:tblPr firstRow="1" bandRow="0"/>
              <a:tblGrid>
                <a:gridCol w="2194560"/>
                <a:gridCol w="880567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Details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Training data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2,961 synthetic rows in 16 domains, written and labelled by GPT-5.6-sol, cross-checked by a second model. Split 2,095 / 424 / 442.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Coverage set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480 casual two-person conversations; Claude Sonnet 5.5 labelled every fact (5,284 claims). Mixed with 600 older rows: 1,719 train, 670 validation.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Test data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LoCoMo [2]: 10 long conversations, 272 sessions, 1,540 questions. Never used for training.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Model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Qwen3-1.7B failed on real text (18 of 33 windows passed). Qwen3-4B with QLoRA in stages A, B, C. Stage C: 2.9 h on an 8 GB RTX 4070.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4572000"/>
            <a:ext cx="11000232" cy="146304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Training example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Assistant: “You could learn violin this winter.”   User: “No, that is not my plan. I am learning watercolor painting.”</a:t>
            </a:r>
          </a:p>
          <a:p>
            <a:pPr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Expected memory: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user is learning watercolor painting. Only what the user said is stored.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DEMO (1/2): RECORDING AND ASKING IN A NEW SESSION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24" y="1143000"/>
            <a:ext cx="5191432" cy="4023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5257800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5.1(a) Session 1: the user gives a certificate expiry date, a review time and a dashboard owner.</a:t>
            </a:r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394960" cy="199613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72200" y="3230575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5.1(b) A new session in another project asks for them without repeating them.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DEMO (2/2): RECALL AND CORRECTION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24" y="1143000"/>
            <a:ext cx="5191432" cy="4023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5257800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5.2(a) Pi answers March 3, Tuesday 11:00 and Kavya from memory, and says where it came from.</a:t>
            </a:r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879" y="1143000"/>
            <a:ext cx="4205602" cy="4023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72200" y="5257800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5.2(b) The release freeze moved from Thursday 17:00 to Friday 16:30. The new value supersedes the old 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RESULTS ON LOCOMO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097280"/>
            <a:ext cx="11000232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Same reader (Claude Haiku 5.5) and prompt for every setup; only the context changes. Two blind judges: TypeSafe Jev [16] and GPT-4o-mini.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94360" y="1737360"/>
          <a:ext cx="11000231" cy="2084832"/>
        </p:xfrm>
        <a:graphic>
          <a:graphicData uri="http://schemas.openxmlformats.org/drawingml/2006/table">
            <a:tbl>
              <a:tblPr firstRow="1" bandRow="0"/>
              <a:tblGrid>
                <a:gridCol w="3108960"/>
                <a:gridCol w="2103120"/>
                <a:gridCol w="2103120"/>
                <a:gridCol w="1828800"/>
                <a:gridCol w="1856231"/>
              </a:tblGrid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Context given to the reader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 (Jev)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GPT-4o-mini judge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Context tokens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Reader time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Memory engine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83.1%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83.2%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6,790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5.2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Plain retrieval (RAG)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80.0%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80.1%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4,473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5.5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Recent window (last 8,192 tokens)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43.0%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42.3%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8,168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5.2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Whole conversation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89.0%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88.8%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22,400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5.5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memory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0.4%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4.1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94360" y="4206240"/>
            <a:ext cx="11000232" cy="21945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engine beats plain retrieval by 3.1 points (95% interval 1.2 to 4.8) and is 5.9 points below the whole conversation, using 30% of its tokens.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judges agree on 96.7% of answers (kappa 0.93). On the 8 conversations we never debugged on: 83.0% vs 79.4%.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99,971 source quotes the engine returned match the conversation exactly. Recall takes 428 ms (median).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ANALYSIS AND COMPARISON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6126480" cy="1371600"/>
        </p:xfrm>
        <a:graphic>
          <a:graphicData uri="http://schemas.openxmlformats.org/drawingml/2006/table">
            <a:tbl>
              <a:tblPr firstRow="1" bandRow="0"/>
              <a:tblGrid>
                <a:gridCol w="2011680"/>
                <a:gridCol w="1371600"/>
                <a:gridCol w="1371600"/>
                <a:gridCol w="1371600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Category (Jev)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Engine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RAG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Whole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Single-hop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87.0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83.9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93.3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Multi-hop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74.5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88.7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Temporal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80.1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80.4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85.7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Open-domain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58.3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60.4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63.5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995160" y="1234440"/>
          <a:ext cx="4599432" cy="1920240"/>
        </p:xfrm>
        <a:graphic>
          <a:graphicData uri="http://schemas.openxmlformats.org/drawingml/2006/table">
            <a:tbl>
              <a:tblPr firstRow="1" bandRow="0"/>
              <a:tblGrid>
                <a:gridCol w="3017520"/>
                <a:gridCol w="158191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System (own study)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Gap to full context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 with graph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This work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−5.6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−6.0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Zep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−6.9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LangMem [17]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−14.8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A-Mem [18]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−24.5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94360" y="3291840"/>
            <a:ext cx="6126480" cy="3108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Most of the gain is on multi-hop: one short assertion per person fits more facts in the budget.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Ablations (300 questions): assertions alone 66.7%, without graph 76.3%, without consolidation 74.7%. Source text is still needed.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Scripted tests: refused all 6 no-evidence questions, kept history in all 12 updates, never stored an API key.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114800"/>
            <a:ext cx="4599432" cy="2377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Published numbers are from the Mem0 paper [6] with a GPT-4o-mini reader. Our reader is stronger, so we compare each system’s gap to the full context in its own study.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 are in the same range as Mem0 and Zep, not ahead.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CONCLUSION, LIMITATIONS AND FUTURE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What we achieved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five modules work and run on one laptop, connected to Pi.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83.1% on LoCoMo, ahead of plain retrieval (80.0%) at 30% of the whole conversation’s tokens.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Corrections keep their history, and every answer traces back to an exact quote.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Challenges we hit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Qwen3-1.7B was too small, so we moved to 4B.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Ollama silently cut long inputs; we now check length and split.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42239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Limitations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One benchmark, one reader, model judges only.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extractor still misses facts (assertions alone: 66.7%).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Graph and consolidation made no measurable difference on LoCoMo.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LoCoMo numbers are from before the relative-date fix.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Future work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 LongMemEval and real coding sessions.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Faster, more complete extraction (now 56 s per session).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Access control, backups and human-checked judging.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REFERENCES (1/2)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1100023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[1]	N. F. Liu et al., “Lost in the middle: How language models use long contexts,” Trans. Assoc. Comput. Linguist., vol. 12, pp. 157–173, 2024.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[2]	A. Maharana, D.-H. Lee, S. Tulyakov, M. Bansal, F. Barbieri, and Y. Fang, “Evaluating very long-term conversational memory of LLM agents,” in Proc. 62nd Annu. Meeting Assoc. Comput. Linguist., 2024, pp. 13851–13870.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[3]	C. Packer et al., “MemGPT: Towards LLMs as operating systems,” 2023, arXiv:2310.08560.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[4]	P. Rasmussen, P. Paliychuk, T. Beauvais, J. Ryan, and D. Chalef, “Zep: A temporal knowledge graph architecture for agent memory,” 2025, arXiv:2501.13956.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[5]	D. Wu, H. Wang, W. Yu, Y. Zhang, K.-W. Chang, and D. Yu, “LongMemEval: Benchmarking chat assistants on long-term interactive memory,” in Proc. ICLR, 2025, pp. 86809–86836.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[6]	P. Chhikara, D. Khant, S. Aryan, T. Singh, and D. Yadav, “Mem0: Building production-ready AI agents with scalable long-term memory,” in Proc. 28th ECAI, 2025, pp. 2993–3000.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[7]	S. Daga, S. Sreedhar, and D. Shah, “LongMemEval,” Supermemory Research, May 2026. [Online]. Available: https://supermemory.ai/research/longmembench/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[8]	C. Latimer et al., “Hindsight is 20/20: Building agent memory that retains, recalls, and reflects,” 2025, arXiv:2512.12818.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[9]	M. Zechner et al., “pi: AI agent toolkit,” GitHub repository, 2026. [Online]. Available: https://github.com/earendil-works/pi (accessed Oct. 6, 2026).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REFERENCES (2/2)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1100023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[10]	PostgreSQL Global Development Group, “Full text search,” PostgreSQL 17 Documentation, ch. 12, 2026. [Online]. Available: https://www.postgresql.org/docs/17/textsearch.html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[11]	A. Kane et al., “pgvector: Open-source vector similarity search for Postgres,” GitHub repository, v0.8.6, 2026. [Online]. Available: https://github.com/pgvector/pgvector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[12]	Neo4j, Inc., “Query the database,” Neo4j HTTP API Manual, v5, 2026. [Online]. Available: https://neo4j.com/docs/http-api/5/query/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[13]	G. V. Cormack, C. L. A. Clarke, and S. Büttcher, “Reciprocal rank fusion outperforms Condorcet and individual rank learning methods,” in Proc. 32nd ACM SIGIR, 2009, pp. 758–759.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[14]	T. Dettmers, A. Pagnoni, A. Holtzman, and L. Zettlemoyer, “QLoRA: Efficient finetuning of quantized LLMs,” in Proc. NeurIPS, vol. 36, 2023, pp. 10088–10115.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[15]	Y. Zhang et al., “Qwen3 Embedding: Advancing text embedding and reranking through foundation models,” 2025, arXiv:2506.05176.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[16]	TypeSafe AI, “SystemOne API: the Jev decision model,” Web API, 2026. [Online]. Available: https://api.typesafe.ai/v1/systemone (accessed Oct. 21,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[17]	LangChain, “LangMem SDK: Long-term memory for agents,” GitHub repository, 2025. [Online]. Available: https://github.com/langchain-ai/langmem (accessed Oct. 20,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[18]	W. Xu, Z. Liang, K. Mei, H. Gao, J. Tan, and Y. Zhang, “A-MEM: Agentic memory for LLM agents,” in Proc. NeurIPS, 2025, arXiv:2502.12110.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econd Review">
  <a:themeElements>
    <a:clrScheme name="Second Review">
      <a:dk1>
        <a:srgbClr val="000000"/>
      </a:dk1>
      <a:lt1>
        <a:srgbClr val="FFFFFF"/>
      </a:lt1>
      <a:dk2>
        <a:srgbClr val="333333"/>
      </a:dk2>
      <a:lt2>
        <a:srgbClr val="F2F2F2"/>
      </a:lt2>
      <a:accent1>
        <a:srgbClr val="333333"/>
      </a:accent1>
      <a:accent2>
        <a:srgbClr val="595959"/>
      </a:accent2>
      <a:accent3>
        <a:srgbClr val="808080"/>
      </a:accent3>
      <a:accent4>
        <a:srgbClr val="BFBFBF"/>
      </a:accent4>
      <a:accent5>
        <a:srgbClr val="D9D9D9"/>
      </a:accent5>
      <a:accent6>
        <a:srgbClr val="F2F2F2"/>
      </a:accent6>
      <a:hlink>
        <a:srgbClr val="333333"/>
      </a:hlink>
      <a:folHlink>
        <a:srgbClr val="595959"/>
      </a:folHlink>
    </a:clrScheme>
    <a:fontScheme name="Second Review">
      <a:majorFont>
        <a:latin typeface="Times New Roman" pitchFamily="0" charset="1"/>
        <a:ea typeface=""/>
        <a:cs typeface=""/>
      </a:majorFont>
      <a:minorFont>
        <a:latin typeface="Times New Roma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</TotalTime>
  <Application>LibreOffice/26.2.6.3$Linux_X86_64 LibreOffice_project/620$Build-3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2026-10-06T07:36:11Z</dcterms:created>
  <dc:creator>Team 13</dc:creator>
  <dc:description/>
  <dc:language>en-US</dc:language>
  <cp:lastModifiedBy/>
  <dcterms:modified xsi:type="dcterms:W3CDTF">2026-10-14T16:59:10Z</dcterms:modified>
  <cp:revision>16</cp:revision>
  <dc:subject>Second Project Review</dc:subject>
  <dc:title>Long-Term Memory Engine for AI Agents in Rust, Second Review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16</vt:i4>
  </property>
  <property fmtid="{D5CDD505-2E9C-101B-9397-08002B2CF9AE}" pid="3" name="PresentationFormat">
    <vt:lpwstr>On-screen Show (16:9)</vt:lpwstr>
  </property>
  <property fmtid="{D5CDD505-2E9C-101B-9397-08002B2CF9AE}" pid="4" name="Slides">
    <vt:i4>16</vt:i4>
  </property>
</Properties>
</file>