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5"/>
    <p:sldId id="279" r:id="rId28"/>
    <p:sldId id="280" r:id="rId29"/>
    <p:sldId id="281" r:id="rId30"/>
    <p:sldId id="282" r:id="rId31"/>
    <p:sldId id="283" r:id="rId32"/>
    <p:sldId id="284" r:id="rId33"/>
    <p:sldId id="285" r:id="rId34"/>
    <p:sldId id="286" r:id="rId35"/>
    <p:sldId id="287" r:id="rId36"/>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3.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presProps" Target="presProps.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3600" b="0" u="none" strike="noStrike">
                <a:solidFill>
                  <a:schemeClr val="dk1"/>
                </a:solidFill>
                <a:effectLst/>
                <a:uFillTx/>
                <a:latin typeface="Times New Roman"/>
              </a:rPr>
              <a:t>Click to move the slide</a:t>
            </a:r>
            <a:endParaRPr lang="en-US" sz="3600" b="0" u="none" strike="noStrike">
              <a:solidFill>
                <a:schemeClr val="dk1"/>
              </a:solidFill>
              <a:effectLst/>
              <a:uFillTx/>
              <a:latin typeface="Times New Roman"/>
            </a:endParaRPr>
          </a:p>
        </p:txBody>
      </p:sp>
      <p:sp>
        <p:nvSpPr>
          <p:cNvPr id="1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3"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4"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17634A3-7D26-4BCA-864F-E88368E6EC6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685800" y="1143000"/>
            <a:ext cx="5485320" cy="3085200"/>
          </a:xfrm>
          <a:prstGeom prst="rect">
            <a:avLst/>
          </a:prstGeom>
          <a:ln w="0">
            <a:noFill/>
          </a:ln>
        </p:spPr>
      </p:sp>
      <p:sp>
        <p:nvSpPr>
          <p:cNvPr id="9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r>
              <a:t>We are Team 13. This is our second review of the Long-Term Memory Engine for AI agents, written in Rust. It stores what an agent is told, ties every stored assertion to the message it came from, and brings the right assertions back in a later session. Pi in this deck is the Pi coding agent, not a Raspberry Pi.</a:t>
            </a:r>
          </a:p>
        </p:txBody>
      </p:sp>
      <p:sp>
        <p:nvSpPr>
          <p:cNvPr id="98" name="PlaceHolder 3"/>
          <p:cNvSpPr>
            <a:spLocks noGrp="1"/>
          </p:cNvSpPr>
          <p:nvPr>
            <p:ph type="sldNum" idx="1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EA25BEB-A7A5-40D7-B7AC-0E97B534B31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 language model remembers nothing between calls, so an agent that works with someone over many sessions needs a place to keep what it was told. Re-sending the whole history is the obvious fix, but Liu et al. showed that models make poor use of the middle of a long input, and the cost grows with every session. LongMemEval is the benchmark that tests the abilities we are after. Pi, which appears throughout the deck, is the Pi coding agent, not a Raspberry Pi.</a:t>
            </a:r>
          </a:p>
        </p:txBody>
      </p:sp>
      <p:sp>
        <p:nvSpPr>
          <p:cNvPr id="4" name="Slide Number Placeholder 3"/>
          <p:cNvSpPr>
            <a:spLocks noGrp="1"/>
          </p:cNvSpPr>
          <p:nvPr>
            <p:ph type="sldNum" idx="4"/>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We read five memory systems and the plain baseline. MemGPT is a preprint, and Letta grew out of it, so this row describes the paper. Zep's numbers are from the authors' single run; Zep calls its graph edges 'facts'. Mem0's authors work for Mem0 and tested only on LoCoMo, where the full history still scored higher; Mem0's advantage is speed (1.4 s against 17 s at the 95th percentile).</a:t>
            </a:r>
          </a:p>
        </p:txBody>
      </p:sp>
      <p:sp>
        <p:nvSpPr>
          <p:cNvPr id="4" name="Slide Number Placeholder 3"/>
          <p:cNvSpPr>
            <a:spLocks noGrp="1"/>
          </p:cNvSpPr>
          <p:nvPr>
            <p:ph type="sldNum" idx="4"/>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We cite Supermemory for how it works and do not repeat its numbers. Hindsight shaped our recall step. The last row is the baseline every system here tries to beat. The scores cannot be ranked against each other because each paper uses its own models, judges and benchmarks. The next slide lists what these systems leave open.</a:t>
            </a:r>
          </a:p>
        </p:txBody>
      </p:sp>
      <p:sp>
        <p:nvSpPr>
          <p:cNvPr id="4" name="Slide Number Placeholder 3"/>
          <p:cNvSpPr>
            <a:spLocks noGrp="1"/>
          </p:cNvSpPr>
          <p:nvPr>
            <p:ph type="sldNum" idx="4"/>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These are gaps we found while reading, not problems we hit while building. G1 is the main one: in MemGPT and Mem0 the model itself decides whether to add, update or delete, so a bad call means a lost or corrupted memory and there is no rule anyone can inspect. Only Zep keeps old values. G4 is about cost and privacy: Zep and Mem0 run extraction on hosted OpenAI models. G5 is why we do not compare our numbers with theirs. Each objective on the next slide points back to one of these gaps.</a:t>
            </a:r>
          </a:p>
        </p:txBody>
      </p:sp>
      <p:sp>
        <p:nvSpPr>
          <p:cNvPr id="4" name="Slide Number Placeholder 3"/>
          <p:cNvSpPr>
            <a:spLocks noGrp="1"/>
          </p:cNvSpPr>
          <p:nvPr>
            <p:ph type="sldNum" idx="4"/>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first and fifth objectives come straight from the problem statement; the others answer the gaps G1 to G5. From here on the deck shows how the system meets each of them, and the results slides say how far we got.</a:t>
            </a:r>
          </a:p>
        </p:txBody>
      </p:sp>
      <p:sp>
        <p:nvSpPr>
          <p:cNvPr id="4" name="Slide Number Placeholder 3"/>
          <p:cNvSpPr>
            <a:spLocks noGrp="1"/>
          </p:cNvSpPr>
          <p:nvPr>
            <p:ph type="sldNum" idx="4"/>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Our guide pointed out that our earlier names, 'evidence' and 'facts', were misleading. A fact is something established, but what we extract is a model's reading of a message and can be wrong. Evidence is a role something plays for a conclusion, not a thing we store. So the stored message is a source, and what we extract from it is an assertion, following how Wikidata and W3C PROV name claims and their sources. The example column is the Maya example used on the next slides.</a:t>
            </a:r>
          </a:p>
        </p:txBody>
      </p:sp>
      <p:sp>
        <p:nvSpPr>
          <p:cNvPr id="4" name="Slide Number Placeholder 3"/>
          <p:cNvSpPr>
            <a:spLocks noGrp="1"/>
          </p:cNvSpPr>
          <p:nvPr>
            <p:ph type="sldNum" idx="4"/>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Pi saves every message through Module 1 and asks Module 4 for memory before it answers. Module 2 turns saved messages into assertions, and Module 3 is the only part that writes them, keeping old versions. PostgreSQL holds everything; Neo4j holds a graph copy that can be rebuilt from it. Ollama runs the models on our machine, and Module 5 trains the extraction model offline. The next slide follows one example through these modules.</a:t>
            </a:r>
          </a:p>
        </p:txBody>
      </p:sp>
      <p:sp>
        <p:nvSpPr>
          <p:cNvPr id="4" name="Slide Number Placeholder 3"/>
          <p:cNvSpPr>
            <a:spLocks noGrp="1"/>
          </p:cNvSpPr>
          <p:nvPr>
            <p:ph type="sldNum" idx="4"/>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This is the example from the report. Maya mentions her city in one session, corrects it in a later one, and asks about it in a third. Each row is what one module does with it. The confidence threshold and the 'supersedes' link are explained on the Module 3 slide.</a:t>
            </a:r>
          </a:p>
        </p:txBody>
      </p:sp>
      <p:sp>
        <p:nvSpPr>
          <p:cNvPr id="4" name="Slide Number Placeholder 3"/>
          <p:cNvSpPr>
            <a:spLocks noGrp="1"/>
          </p:cNvSpPr>
          <p:nvPr>
            <p:ph type="sldNum" idx="4"/>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Module 1 saves the raw messages before any model touches them, so a failed model call can never lose a conversation. In the walkthrough, this is the step that stores Maya's two messages.</a:t>
            </a:r>
          </a:p>
        </p:txBody>
      </p:sp>
      <p:sp>
        <p:nvSpPr>
          <p:cNvPr id="4" name="Slide Number Placeholder 3"/>
          <p:cNvSpPr>
            <a:spLocks noGrp="1"/>
          </p:cNvSpPr>
          <p:nvPr>
            <p:ph type="sldNum" idx="4"/>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Both stages call the same local model. The prompt also includes related existing assertions, which is how the model knows 'Bengaluru is now my home city' corrects Chennai. Algorithm 1 decides which existing assertions fit in the prompt.</a:t>
            </a:r>
          </a:p>
        </p:txBody>
      </p:sp>
      <p:sp>
        <p:nvSpPr>
          <p:cNvPr id="4" name="Slide Number Placeholder 3"/>
          <p:cNvSpPr>
            <a:spLocks noGrp="1"/>
          </p:cNvSpPr>
          <p:nvPr>
            <p:ph type="sldNum" idx="4"/>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This is where G1 and G2 are answered: the update rule is code, not a model decision, and nothing is deleted. Chennai stays on record as valid from 1 to 10 October. If an assertion changes, any inference built on it is marked stale. Algorithm 2 is this rule written out.</a:t>
            </a:r>
          </a:p>
        </p:txBody>
      </p:sp>
      <p:sp>
        <p:nvSpPr>
          <p:cNvPr id="4" name="Slide Number Placeholder 3"/>
          <p:cNvSpPr>
            <a:spLocks noGrp="1"/>
          </p:cNvSpPr>
          <p:nvPr>
            <p:ph type="sldNum" idx="4"/>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Each search misses different things, so we run several and merge them (Algorithms 4 and 5). Anything found through the graph copy is checked against PostgreSQL before use, and packing stops at the token budget so the agent's prompt stays small.</a:t>
            </a:r>
          </a:p>
        </p:txBody>
      </p:sp>
      <p:sp>
        <p:nvSpPr>
          <p:cNvPr id="4" name="Slide Number Placeholder 3"/>
          <p:cNvSpPr>
            <a:spLocks noGrp="1"/>
          </p:cNvSpPr>
          <p:nvPr>
            <p:ph type="sldNum" idx="4"/>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Labels are checked for structure and exact quotes before they go into the dataset. The dataset slides describe the data, and the results slides compare the model before and after fine-tuning.</a:t>
            </a:r>
          </a:p>
        </p:txBody>
      </p:sp>
      <p:sp>
        <p:nvSpPr>
          <p:cNvPr id="4" name="Slide Number Placeholder 3"/>
          <p:cNvSpPr>
            <a:spLocks noGrp="1"/>
          </p:cNvSpPr>
          <p:nvPr>
            <p:ph type="sldNum" idx="4"/>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Six algorithms do the work inside the modules. The first three run when memory is written, the last three when it is read. The next three slides give the steps of each.</a:t>
            </a:r>
          </a:p>
        </p:txBody>
      </p:sp>
      <p:sp>
        <p:nvSpPr>
          <p:cNvPr id="4" name="Slide Number Placeholder 3"/>
          <p:cNvSpPr>
            <a:spLocks noGrp="1"/>
          </p:cNvSpPr>
          <p:nvPr>
            <p:ph type="sldNum" idx="4"/>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Algorithm 1 keeps the extraction prompt inside the model's limit without dropping the assertions the new messages are about. Algorithm 2 is the Module 3 rule: in the walkthrough, Bengaluru takes the third branch and Chennai becomes history.</a:t>
            </a:r>
          </a:p>
        </p:txBody>
      </p:sp>
      <p:sp>
        <p:nvSpPr>
          <p:cNvPr id="4" name="Slide Number Placeholder 3"/>
          <p:cNvSpPr>
            <a:spLocks noGrp="1"/>
          </p:cNvSpPr>
          <p:nvPr>
            <p:ph type="sldNum" idx="4"/>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An inference is only as good as the assertions under it, so when one of them changes, the inference is marked stale instead of quietly staying in memory. Retrieval runs several searches because each one misses different things.</a:t>
            </a:r>
          </a:p>
        </p:txBody>
      </p:sp>
      <p:sp>
        <p:nvSpPr>
          <p:cNvPr id="4" name="Slide Number Placeholder 3"/>
          <p:cNvSpPr>
            <a:spLocks noGrp="1"/>
          </p:cNvSpPr>
          <p:nvPr>
            <p:ph type="sldNum" idx="4"/>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 memory ranked high by several searches scores highest; 60 is the constant from the original RRF paper. The answering step would rather refuse than guess: with nothing retrieved it says so, and an answer that cites nothing is rejected.</a:t>
            </a:r>
          </a:p>
        </p:txBody>
      </p:sp>
      <p:sp>
        <p:nvSpPr>
          <p:cNvPr id="4" name="Slide Number Placeholder 3"/>
          <p:cNvSpPr>
            <a:spLocks noGrp="1"/>
          </p:cNvSpPr>
          <p:nvPr>
            <p:ph type="sldNum" idx="4"/>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service is written in Rust. PostgreSQL holds everything and Neo4j is only a copy. All models run through Ollama on our own machine, which is how we answer G4.</a:t>
            </a:r>
          </a:p>
        </p:txBody>
      </p:sp>
      <p:sp>
        <p:nvSpPr>
          <p:cNvPr id="4" name="Slide Number Placeholder 3"/>
          <p:cNvSpPr>
            <a:spLocks noGrp="1"/>
          </p:cNvSpPr>
          <p:nvPr>
            <p:ph type="sldNum" idx="4"/>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 training side uses the usual Hugging Face tools for QLoRA, then llama.cpp to produce a file Ollama can serve. Pi is the agent we integrate with, and the dashboard is a React app.</a:t>
            </a:r>
          </a:p>
        </p:txBody>
      </p:sp>
      <p:sp>
        <p:nvSpPr>
          <p:cNvPr id="4" name="Slide Number Placeholder 3"/>
          <p:cNvSpPr>
            <a:spLocks noGrp="1"/>
          </p:cNvSpPr>
          <p:nvPr>
            <p:ph type="sldNum" idx="4"/>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This is the data Module 5 trains on. Every conversation is synthetic: the larger model labelled it, a second model checked the labels, and we cleaned what was left. Many rows test whether the model keeps only what the user said. In this one, the assistant's suggestion must not become a memory.</a:t>
            </a:r>
          </a:p>
        </p:txBody>
      </p:sp>
      <p:sp>
        <p:nvSpPr>
          <p:cNvPr id="4" name="Slide Number Placeholder 3"/>
          <p:cNvSpPr>
            <a:spLocks noGrp="1"/>
          </p:cNvSpPr>
          <p:nvPr>
            <p:ph type="sldNum" idx="4"/>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To see how the model does on conversations it was not trained on, we use LoCoMo. Forty reference assertions is a small set, so we treat these numbers as a check, not a benchmark.</a:t>
            </a:r>
          </a:p>
        </p:txBody>
      </p:sp>
      <p:sp>
        <p:nvSpPr>
          <p:cNvPr id="4" name="Slide Number Placeholder 3"/>
          <p:cNvSpPr>
            <a:spLocks noGrp="1"/>
          </p:cNvSpPr>
          <p:nvPr>
            <p:ph type="sldNum" idx="4"/>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Software is the largest domain because the dataset began as coding conversations only. The bars count task rows, not conversations: one conversation can give an extraction row, a consolidation row and a question-answering row.</a:t>
            </a:r>
          </a:p>
        </p:txBody>
      </p:sp>
      <p:sp>
        <p:nvSpPr>
          <p:cNvPr id="4" name="Slide Number Placeholder 3"/>
          <p:cNvSpPr>
            <a:spLocks noGrp="1"/>
          </p:cNvSpPr>
          <p:nvPr>
            <p:ph type="sldNum" idx="4"/>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This is the same flow as the Maya walkthrough, with project details instead. Session 1 is in the payments-api folder and session 2 in mobile-app, so nothing carries over except through the memory service. Captured on 20 October 2026 from the current build, with Pi running Claude Sonnet 5.5.</a:t>
            </a:r>
          </a:p>
        </p:txBody>
      </p:sp>
      <p:sp>
        <p:nvSpPr>
          <p:cNvPr id="4" name="Slide Number Placeholder 3"/>
          <p:cNvSpPr>
            <a:spLocks noGrp="1"/>
          </p:cNvSpPr>
          <p:nvPr>
            <p:ph type="sldNum" idx="4"/>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In Figure 3 Pi also notices that the stored date has the year 2026 although the user never gave one. That is why every answer carries its quote: a reader can check it. Figure 4 is our graph page. The Friday assertion replaces the Thursday one, and the side panel shows the message it came from.</a:t>
            </a:r>
          </a:p>
        </p:txBody>
      </p:sp>
      <p:sp>
        <p:nvSpPr>
          <p:cNvPr id="4" name="Slide Number Placeholder 3"/>
          <p:cNvSpPr>
            <a:spLocks noGrp="1"/>
          </p:cNvSpPr>
          <p:nvPr>
            <p:ph type="sldNum" idx="4"/>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This slide is about behaviour: demos and a database audit on one machine, not a benchmark. The quote check shows that every assertion can be traced, but it does not prove the model read the quote correctly. The next slide has the model numbers.</a:t>
            </a:r>
          </a:p>
        </p:txBody>
      </p:sp>
      <p:sp>
        <p:nvSpPr>
          <p:cNvPr id="4" name="Slide Number Placeholder 3"/>
          <p:cNvSpPr>
            <a:spLocks noGrp="1"/>
          </p:cNvSpPr>
          <p:nvPr>
            <p:ph type="sldNum" idx="4"/>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Fine-tuning clearly helped with combining assertions and answering. Extraction got worse, and we have not found out why yet. The format check only says the output is valid JSON with valid IDs; it says nothing about whether the content is right.</a:t>
            </a:r>
          </a:p>
        </p:txBody>
      </p:sp>
      <p:sp>
        <p:nvSpPr>
          <p:cNvPr id="4" name="Slide Number Placeholder 3"/>
          <p:cNvSpPr>
            <a:spLocks noGrp="1"/>
          </p:cNvSpPr>
          <p:nvPr>
            <p:ph type="sldNum" idx="4"/>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These are the weak points we know about. The 1.7B model looked fine on synthetic data and failed on natural conversation, which is why we widened the training data and moved to the 4B model. The full LongMemEval-S run is still pending, so we cannot yet claim the memory helps over long histories.</a:t>
            </a:r>
          </a:p>
        </p:txBody>
      </p:sp>
      <p:sp>
        <p:nvSpPr>
          <p:cNvPr id="4" name="Slide Number Placeholder 3"/>
          <p:cNvSpPr>
            <a:spLocks noGrp="1"/>
          </p:cNvSpPr>
          <p:nvPr>
            <p:ph type="sldNum" idx="4"/>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Implemented means the feature is in the code and has tests; it does not mean it has been measured to be good. The largest missing piece is the LongMemEval-S run, which needs a 277 MB dataset and a lot of model time.</a:t>
            </a:r>
          </a:p>
        </p:txBody>
      </p:sp>
      <p:sp>
        <p:nvSpPr>
          <p:cNvPr id="4" name="Slide Number Placeholder 3"/>
          <p:cNvSpPr>
            <a:spLocks noGrp="1"/>
          </p:cNvSpPr>
          <p:nvPr>
            <p:ph type="sldNum" idx="4"/>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To sum up against the objectives: memory across sessions, versioned changes and traceable quotes work; the local model works but extraction needs fixing; and the benchmark that would let us compare fairly (G5) is the main thing left.</a:t>
            </a:r>
          </a:p>
        </p:txBody>
      </p:sp>
      <p:sp>
        <p:nvSpPr>
          <p:cNvPr id="4" name="Slide Number Placeholder 3"/>
          <p:cNvSpPr>
            <a:spLocks noGrp="1"/>
          </p:cNvSpPr>
          <p:nvPr>
            <p:ph type="sldNum" idx="4"/>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References follow IEEE style and are numbered in the order they are first cited in the slides.</a:t>
            </a:r>
          </a:p>
        </p:txBody>
      </p:sp>
      <p:sp>
        <p:nvSpPr>
          <p:cNvPr id="4" name="Slide Number Placeholder 3"/>
          <p:cNvSpPr>
            <a:spLocks noGrp="1"/>
          </p:cNvSpPr>
          <p:nvPr>
            <p:ph type="sldNum" idx="4"/>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228600"/>
            <a:ext cx="11733480" cy="6399720"/>
          </a:xfrm>
          <a:prstGeom prst="rect">
            <a:avLst/>
          </a:prstGeom>
          <a:noFill/>
          <a:ln w="12700">
            <a:solidFill>
              <a:srgbClr val="0000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 name="Shape 1"/>
          <p:cNvSpPr/>
          <p:nvPr/>
        </p:nvSpPr>
        <p:spPr>
          <a:xfrm>
            <a:off x="594360" y="6382440"/>
            <a:ext cx="11002680" cy="360"/>
          </a:xfrm>
          <a:prstGeom prst="line">
            <a:avLst/>
          </a:prstGeom>
          <a:ln w="9525">
            <a:solidFill>
              <a:srgbClr val="BFBFBF"/>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 name="PlaceHolder 1"/>
          <p:cNvSpPr>
            <a:spLocks noGrp="1"/>
          </p:cNvSpPr>
          <p:nvPr>
            <p:ph type="title"/>
          </p:nvPr>
        </p:nvSpPr>
        <p:spPr>
          <a:xfrm>
            <a:off x="594360" y="384120"/>
            <a:ext cx="9813240" cy="77616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3000" b="0" u="none" strike="noStrike">
                <a:solidFill>
                  <a:schemeClr val="dk1"/>
                </a:solidFill>
                <a:effectLst/>
                <a:uFillTx/>
                <a:latin typeface="Times New Roman"/>
              </a:defRPr>
            </a:lvl1pPr>
          </a:lstStyle>
          <a:p>
            <a:pPr indent="0" algn="l">
              <a:lnSpc>
                <a:spcPct val="100000"/>
              </a:lnSpc>
              <a:buNone/>
              <a:tabLst>
                <a:tab pos="0" algn="l"/>
              </a:tabLst>
            </a:pPr>
            <a:r>
              <a:rPr lang="en-US" sz="3000" b="0" u="none" strike="noStrike">
                <a:solidFill>
                  <a:schemeClr val="dk1"/>
                </a:solidFill>
                <a:effectLst/>
                <a:uFillTx/>
                <a:latin typeface="Times New Roman"/>
              </a:rPr>
              <a:t>Click to edit the title text format</a:t>
            </a:r>
            <a:endParaRPr lang="en-US" sz="3000" b="0" u="none" strike="noStrike">
              <a:solidFill>
                <a:schemeClr val="dk1"/>
              </a:solidFill>
              <a:effectLst/>
              <a:uFillTx/>
              <a:latin typeface="Times New Roman"/>
            </a:endParaRPr>
          </a:p>
        </p:txBody>
      </p:sp>
      <p:sp>
        <p:nvSpPr>
          <p:cNvPr id="5" name="PlaceHolder 2"/>
          <p:cNvSpPr>
            <a:spLocks noGrp="1"/>
          </p:cNvSpPr>
          <p:nvPr>
            <p:ph type="sldNum" idx="1"/>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6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1E1AC1F3-9096-47FB-BC1A-BBB711A1D522}" type="slidenum">
              <a:rPr lang="en-US" sz="16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6" name="PlaceHolder 3"/>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Times New Roman"/>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Times New Roman"/>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Times New Roman"/>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Times New Roman"/>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Times New Roman"/>
              </a:rPr>
              <a:t>Click to edit the outline text format</a:t>
            </a:r>
            <a:endParaRPr lang="en-US" sz="3200" b="0" u="none" strike="noStrike">
              <a:solidFill>
                <a:schemeClr val="dk1"/>
              </a:solidFill>
              <a:effectLst/>
              <a:uFillTx/>
              <a:latin typeface="Times New Roman"/>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Times New Roman"/>
              </a:rPr>
              <a:t>Second Outline Level</a:t>
            </a:r>
            <a:endParaRPr lang="en-US" sz="2400" b="0" u="none" strike="noStrike">
              <a:solidFill>
                <a:schemeClr val="dk1"/>
              </a:solidFill>
              <a:effectLst/>
              <a:uFillTx/>
              <a:latin typeface="Times New Roman"/>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Times New Roman"/>
              </a:rPr>
              <a:t>Third Outline Level</a:t>
            </a:r>
            <a:endParaRPr lang="en-US" sz="2000" b="0" u="none" strike="noStrike">
              <a:solidFill>
                <a:schemeClr val="dk1"/>
              </a:solidFill>
              <a:effectLst/>
              <a:uFillTx/>
              <a:latin typeface="Times New Roman"/>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Times New Roman"/>
              </a:rPr>
              <a:t>Fourth Outline Level</a:t>
            </a:r>
            <a:endParaRPr lang="en-US" sz="2000" b="0" u="none" strike="noStrike">
              <a:solidFill>
                <a:schemeClr val="dk1"/>
              </a:solidFill>
              <a:effectLst/>
              <a:uFillTx/>
              <a:latin typeface="Times New Roman"/>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Fifth Outline Level</a:t>
            </a:r>
            <a:endParaRPr lang="en-US" sz="2000" b="0" u="none" strike="noStrike">
              <a:solidFill>
                <a:schemeClr val="dk1"/>
              </a:solidFill>
              <a:effectLst/>
              <a:uFillTx/>
              <a:latin typeface="Times New Roman"/>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Sixth Outline Level</a:t>
            </a:r>
            <a:endParaRPr lang="en-US" sz="2000" b="0" u="none" strike="noStrike">
              <a:solidFill>
                <a:schemeClr val="dk1"/>
              </a:solidFill>
              <a:effectLst/>
              <a:uFillTx/>
              <a:latin typeface="Times New Roman"/>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Seventh Outline Level</a:t>
            </a:r>
            <a:endParaRPr lang="en-US" sz="2000" b="0" u="none" strike="noStrike">
              <a:solidFill>
                <a:schemeClr val="dk1"/>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p:bg>
      <p:bgPr>
        <a:solidFill>
          <a:srgbClr val="FFFFFF"/>
        </a:solidFill>
      </p:bgPr>
    </p:bg>
    <p:spTree>
      <p:nvGrpSpPr>
        <p:cNvPr id="1" name=""/>
        <p:cNvGrpSpPr/>
        <p:nvPr/>
      </p:nvGrpSpPr>
      <p:grpSpPr>
        <a:xfrm>
          <a:off x="0" y="0"/>
          <a:ext cx="0" cy="0"/>
          <a:chOff x="0" y="0"/>
          <a:chExt cx="0" cy="0"/>
        </a:xfrm>
      </p:grpSpPr>
      <p:sp>
        <p:nvSpPr>
          <p:cNvPr id="7" name="Shape 0"/>
          <p:cNvSpPr/>
          <p:nvPr/>
        </p:nvSpPr>
        <p:spPr>
          <a:xfrm>
            <a:off x="228600" y="228600"/>
            <a:ext cx="11733480" cy="6399720"/>
          </a:xfrm>
          <a:prstGeom prst="rect">
            <a:avLst/>
          </a:prstGeom>
          <a:noFill/>
          <a:ln w="12700">
            <a:solidFill>
              <a:srgbClr val="0000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 name="PlaceHolder 1"/>
          <p:cNvSpPr>
            <a:spLocks noGrp="1"/>
          </p:cNvSpPr>
          <p:nvPr>
            <p:ph type="title"/>
          </p:nvPr>
        </p:nvSpPr>
        <p:spPr>
          <a:xfrm>
            <a:off x="594360" y="1737360"/>
            <a:ext cx="10999080" cy="1370520"/>
          </a:xfrm>
          <a:prstGeom prst="rect">
            <a:avLst/>
          </a:prstGeom>
          <a:noFill/>
          <a:ln w="0">
            <a:noFill/>
          </a:ln>
        </p:spPr>
        <p:txBody>
          <a:bodyPr lIns="90000" tIns="45000" rIns="90000" bIns="45000" anchor="t">
            <a:noAutofit/>
          </a:bodyPr>
          <a:lstStyle>
            <a:lvl1pPr indent="0" algn="l">
              <a:lnSpc>
                <a:spcPct val="100000"/>
              </a:lnSpc>
              <a:buNone/>
              <a:tabLst>
                <a:tab pos="0" algn="l"/>
              </a:tabLst>
              <a:defRPr lang="en-US" sz="3600" b="0" u="none" strike="noStrike">
                <a:solidFill>
                  <a:schemeClr val="dk1"/>
                </a:solidFill>
                <a:effectLst/>
                <a:uFillTx/>
                <a:latin typeface="Times New Roman"/>
              </a:defRPr>
            </a:lvl1pPr>
          </a:lstStyle>
          <a:p>
            <a:pPr indent="0" algn="l">
              <a:lnSpc>
                <a:spcPct val="100000"/>
              </a:lnSpc>
              <a:buNone/>
              <a:tabLst>
                <a:tab pos="0" algn="l"/>
              </a:tabLst>
            </a:pPr>
            <a:r>
              <a:rPr lang="en-US" sz="3600" b="0" u="none" strike="noStrike">
                <a:solidFill>
                  <a:schemeClr val="dk1"/>
                </a:solidFill>
                <a:effectLst/>
                <a:uFillTx/>
                <a:latin typeface="Times New Roman"/>
              </a:rPr>
              <a:t>Click to edit the title text format</a:t>
            </a:r>
            <a:endParaRPr lang="en-US" sz="3600" b="0" u="none" strike="noStrike">
              <a:solidFill>
                <a:schemeClr val="dk1"/>
              </a:solidFill>
              <a:effectLst/>
              <a:uFillTx/>
              <a:latin typeface="Times New Roman"/>
            </a:endParaRPr>
          </a:p>
        </p:txBody>
      </p:sp>
      <p:sp>
        <p:nvSpPr>
          <p:cNvPr id="9" name="PlaceHolder 2"/>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Times New Roman"/>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Times New Roman"/>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Times New Roman"/>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Times New Roman"/>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Times New Roman"/>
              </a:rPr>
              <a:t>Click to edit the outline text format</a:t>
            </a:r>
            <a:endParaRPr lang="en-US" sz="3200" b="0" u="none" strike="noStrike">
              <a:solidFill>
                <a:schemeClr val="dk1"/>
              </a:solidFill>
              <a:effectLst/>
              <a:uFillTx/>
              <a:latin typeface="Times New Roman"/>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Times New Roman"/>
              </a:rPr>
              <a:t>Second Outline Level</a:t>
            </a:r>
            <a:endParaRPr lang="en-US" sz="2400" b="0" u="none" strike="noStrike">
              <a:solidFill>
                <a:schemeClr val="dk1"/>
              </a:solidFill>
              <a:effectLst/>
              <a:uFillTx/>
              <a:latin typeface="Times New Roman"/>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Times New Roman"/>
              </a:rPr>
              <a:t>Third Outline Level</a:t>
            </a:r>
            <a:endParaRPr lang="en-US" sz="2000" b="0" u="none" strike="noStrike">
              <a:solidFill>
                <a:schemeClr val="dk1"/>
              </a:solidFill>
              <a:effectLst/>
              <a:uFillTx/>
              <a:latin typeface="Times New Roman"/>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Times New Roman"/>
              </a:rPr>
              <a:t>Fourth Outline Level</a:t>
            </a:r>
            <a:endParaRPr lang="en-US" sz="2000" b="0" u="none" strike="noStrike">
              <a:solidFill>
                <a:schemeClr val="dk1"/>
              </a:solidFill>
              <a:effectLst/>
              <a:uFillTx/>
              <a:latin typeface="Times New Roman"/>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Fifth Outline Level</a:t>
            </a:r>
            <a:endParaRPr lang="en-US" sz="2000" b="0" u="none" strike="noStrike">
              <a:solidFill>
                <a:schemeClr val="dk1"/>
              </a:solidFill>
              <a:effectLst/>
              <a:uFillTx/>
              <a:latin typeface="Times New Roman"/>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Sixth Outline Level</a:t>
            </a:r>
            <a:endParaRPr lang="en-US" sz="2000" b="0" u="none" strike="noStrike">
              <a:solidFill>
                <a:schemeClr val="dk1"/>
              </a:solidFill>
              <a:effectLst/>
              <a:uFillTx/>
              <a:latin typeface="Times New Roman"/>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Seventh Outline Level</a:t>
            </a:r>
            <a:endParaRPr lang="en-US" sz="2000" b="0" u="none" strike="noStrike">
              <a:solidFill>
                <a:schemeClr val="dk1"/>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jpg"/><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jpg"/><Relationship Id="rId4"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hasCustomPrompt="1"/>
          </p:nvPr>
        </p:nvSpPr>
        <p:spPr>
          <a:xfrm>
            <a:off x="594360" y="1737360"/>
            <a:ext cx="10999080" cy="137052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2400" b="1" u="none" strike="noStrike" i="0">
                <a:solidFill>
                  <a:srgbClr val="000000"/>
                </a:solidFill>
                <a:effectLst/>
                <a:uFillTx/>
                <a:latin typeface="Times New Roman"/>
                <a:ea typeface="Times New Roman"/>
                <a:cs typeface="Times New Roman"/>
              </a:rPr>
              <a:t>LONG-TERM MEMORY ENGINE FOR AI AGENTS</a:t>
            </a:r>
            <a:endParaRPr lang="en-US" sz="3600" b="0" u="none" strike="noStrike">
              <a:solidFill>
                <a:schemeClr val="dk1"/>
              </a:solidFill>
              <a:effectLst/>
              <a:uFillTx/>
              <a:latin typeface="Times New Roman"/>
            </a:endParaRPr>
          </a:p>
        </p:txBody>
      </p:sp>
      <p:sp>
        <p:nvSpPr>
          <p:cNvPr id="17" name="Text 1"/>
          <p:cNvSpPr/>
          <p:nvPr/>
        </p:nvSpPr>
        <p:spPr>
          <a:xfrm>
            <a:off x="594360" y="3429000"/>
            <a:ext cx="10999080" cy="45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0" u="none" strike="noStrike" i="0">
                <a:solidFill>
                  <a:srgbClr val="000000"/>
                </a:solidFill>
                <a:effectLst/>
                <a:uFillTx/>
                <a:latin typeface="Times New Roman"/>
                <a:ea typeface="Times New Roman"/>
                <a:cs typeface="Times New Roman"/>
              </a:rPr>
              <a:t>Second Project Review</a:t>
            </a:r>
            <a:endParaRPr lang="en-US" sz="2400" b="0" u="none" strike="noStrike">
              <a:solidFill>
                <a:srgbClr val="000000"/>
              </a:solidFill>
              <a:effectLst/>
              <a:uFillTx/>
              <a:latin typeface="Arial"/>
            </a:endParaRPr>
          </a:p>
        </p:txBody>
      </p:sp>
      <p:pic>
        <p:nvPicPr>
          <p:cNvPr id="18" name="Image 0" descr="Anna University logo: a gear with a factory and an open book inside a ring, and the motto Progress through Knowledge"/>
          <p:cNvPicPr/>
          <p:nvPr/>
        </p:nvPicPr>
        <p:blipFill>
          <a:blip r:embed="rId1"/>
          <a:stretch/>
        </p:blipFill>
        <p:spPr>
          <a:xfrm>
            <a:off x="640080" y="457200"/>
            <a:ext cx="1228320" cy="1096200"/>
          </a:xfrm>
          <a:prstGeom prst="rect">
            <a:avLst/>
          </a:prstGeom>
          <a:noFill/>
          <a:ln w="0">
            <a:noFill/>
          </a:ln>
        </p:spPr>
      </p:pic>
      <p:pic>
        <p:nvPicPr>
          <p:cNvPr id="19" name="Image 1" descr="College of Engineering, Guindy crest: a winged shield with a rising sun and bridge, and the motto Labor Omnia Vincit"/>
          <p:cNvPicPr/>
          <p:nvPr/>
        </p:nvPicPr>
        <p:blipFill>
          <a:blip r:embed="rId2"/>
          <a:stretch/>
        </p:blipFill>
        <p:spPr>
          <a:xfrm>
            <a:off x="10260720" y="457200"/>
            <a:ext cx="1287000" cy="1096200"/>
          </a:xfrm>
          <a:prstGeom prst="rect">
            <a:avLst/>
          </a:prstGeom>
          <a:noFill/>
          <a:ln w="0">
            <a:noFill/>
          </a:ln>
        </p:spPr>
      </p:pic>
      <p:sp>
        <p:nvSpPr>
          <p:cNvPr id="20" name="Text 2"/>
          <p:cNvSpPr/>
          <p:nvPr/>
        </p:nvSpPr>
        <p:spPr>
          <a:xfrm>
            <a:off x="2377440" y="502920"/>
            <a:ext cx="7432920" cy="1004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spcAft>
                <a:spcPts val="400"/>
              </a:spcAft>
              <a:tabLst>
                <a:tab pos="0" algn="l"/>
              </a:tabLst>
            </a:pPr>
            <a:r>
              <a:rPr lang="en-US" sz="1800" b="0" u="none" strike="noStrike" i="0">
                <a:solidFill>
                  <a:srgbClr val="000000"/>
                </a:solidFill>
                <a:effectLst/>
                <a:uFillTx/>
                <a:latin typeface="Times New Roman"/>
                <a:ea typeface="Times New Roman"/>
                <a:cs typeface="Times New Roman"/>
              </a:rPr>
              <a:t>Department of Information Technology</a:t>
            </a:r>
            <a:endParaRPr lang="en-US" sz="1800" b="0" u="none" strike="noStrike">
              <a:solidFill>
                <a:srgbClr val="000000"/>
              </a:solidFill>
              <a:effectLst/>
              <a:uFillTx/>
              <a:latin typeface="Arial"/>
            </a:endParaRPr>
          </a:p>
          <a:p>
            <a:pPr algn="ctr" defTabSz="914400">
              <a:lnSpc>
                <a:spcPct val="100000"/>
              </a:lnSpc>
              <a:spcAft>
                <a:spcPts val="400"/>
              </a:spcAft>
              <a:tabLst>
                <a:tab pos="0" algn="l"/>
              </a:tabLst>
            </a:pPr>
            <a:r>
              <a:rPr lang="en-US" sz="1800" b="0" u="none" strike="noStrike" i="0">
                <a:solidFill>
                  <a:srgbClr val="000000"/>
                </a:solidFill>
                <a:effectLst/>
                <a:uFillTx/>
                <a:latin typeface="Times New Roman"/>
                <a:ea typeface="Times New Roman"/>
                <a:cs typeface="Times New Roman"/>
              </a:rPr>
              <a:t>College of Engineering, Guindy</a:t>
            </a:r>
            <a:endParaRPr lang="en-US" sz="1800" b="0" u="none" strike="noStrike">
              <a:solidFill>
                <a:srgbClr val="000000"/>
              </a:solidFill>
              <a:effectLst/>
              <a:uFillTx/>
              <a:latin typeface="Arial"/>
            </a:endParaRPr>
          </a:p>
          <a:p>
            <a:pPr algn="ctr" defTabSz="914400">
              <a:lnSpc>
                <a:spcPct val="100000"/>
              </a:lnSpc>
              <a:spcAft>
                <a:spcPts val="400"/>
              </a:spcAft>
              <a:tabLst>
                <a:tab pos="0" algn="l"/>
              </a:tabLst>
            </a:pPr>
            <a:r>
              <a:rPr lang="en-US" sz="1800" b="0" u="none" strike="noStrike" i="0">
                <a:solidFill>
                  <a:srgbClr val="000000"/>
                </a:solidFill>
                <a:effectLst/>
                <a:uFillTx/>
                <a:latin typeface="Times New Roman"/>
                <a:ea typeface="Times New Roman"/>
                <a:cs typeface="Times New Roman"/>
              </a:rPr>
              <a:t>Anna University, Chennai-25</a:t>
            </a:r>
            <a:endParaRPr lang="en-US" sz="1800" b="0" u="none" strike="noStrike">
              <a:solidFill>
                <a:srgbClr val="000000"/>
              </a:solidFill>
              <a:effectLst/>
              <a:uFillTx/>
              <a:latin typeface="Arial"/>
            </a:endParaRPr>
          </a:p>
        </p:txBody>
      </p:sp>
      <p:sp>
        <p:nvSpPr>
          <p:cNvPr id="21" name="Text 3"/>
          <p:cNvSpPr/>
          <p:nvPr/>
        </p:nvSpPr>
        <p:spPr>
          <a:xfrm>
            <a:off x="822960" y="4617720"/>
            <a:ext cx="5485320" cy="146196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700"/>
              </a:spcAft>
              <a:tabLst>
                <a:tab pos="0" algn="l"/>
              </a:tabLst>
            </a:pPr>
            <a:r>
              <a:rPr lang="en-US" sz="1800" b="1" u="none" strike="noStrike" i="0">
                <a:solidFill>
                  <a:srgbClr val="000000"/>
                </a:solidFill>
                <a:effectLst/>
                <a:uFillTx/>
                <a:latin typeface="Times New Roman"/>
                <a:ea typeface="Times New Roman"/>
                <a:cs typeface="Times New Roman"/>
              </a:rPr>
              <a:t>GUIDE:</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800" b="0" u="none" strike="noStrike" i="0">
                <a:solidFill>
                  <a:srgbClr val="000000"/>
                </a:solidFill>
                <a:effectLst/>
                <a:uFillTx/>
                <a:latin typeface="Times New Roman"/>
                <a:ea typeface="Times New Roman"/>
                <a:cs typeface="Times New Roman"/>
              </a:rPr>
              <a:t>DR. BAMA SRINIVASAN</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800" b="0" u="none" strike="noStrike" i="0">
                <a:solidFill>
                  <a:srgbClr val="000000"/>
                </a:solidFill>
                <a:effectLst/>
                <a:uFillTx/>
                <a:latin typeface="Times New Roman"/>
                <a:ea typeface="Times New Roman"/>
                <a:cs typeface="Times New Roman"/>
              </a:rPr>
              <a:t>DEPARTMENT OF INFORMATION TECHNOLOGY</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800" b="0" u="none" strike="noStrike" i="0">
                <a:solidFill>
                  <a:srgbClr val="000000"/>
                </a:solidFill>
                <a:effectLst/>
                <a:uFillTx/>
                <a:latin typeface="Times New Roman"/>
                <a:ea typeface="Times New Roman"/>
                <a:cs typeface="Times New Roman"/>
              </a:rPr>
              <a:t>CEG, ANNA UNIVERSITY</a:t>
            </a:r>
            <a:endParaRPr lang="en-US" sz="1600" b="0" u="none" strike="noStrike">
              <a:solidFill>
                <a:srgbClr val="000000"/>
              </a:solidFill>
              <a:effectLst/>
              <a:uFillTx/>
              <a:latin typeface="Arial"/>
            </a:endParaRPr>
          </a:p>
        </p:txBody>
      </p:sp>
      <p:sp>
        <p:nvSpPr>
          <p:cNvPr id="22" name="Text 4"/>
          <p:cNvSpPr/>
          <p:nvPr/>
        </p:nvSpPr>
        <p:spPr>
          <a:xfrm>
            <a:off x="6858000" y="4617720"/>
            <a:ext cx="4662360" cy="146196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700"/>
              </a:spcAft>
              <a:tabLst>
                <a:tab pos="0" algn="l"/>
              </a:tabLst>
            </a:pPr>
            <a:r>
              <a:rPr lang="en-US" sz="1800" b="1" u="none" strike="noStrike" i="0">
                <a:solidFill>
                  <a:srgbClr val="000000"/>
                </a:solidFill>
                <a:effectLst/>
                <a:uFillTx/>
                <a:latin typeface="Times New Roman"/>
                <a:ea typeface="Times New Roman"/>
                <a:cs typeface="Times New Roman"/>
              </a:rPr>
              <a:t>TEAM MEMBERS:</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800" b="0" u="none" strike="noStrike" i="0">
                <a:solidFill>
                  <a:srgbClr val="000000"/>
                </a:solidFill>
                <a:effectLst/>
                <a:uFillTx/>
                <a:latin typeface="Times New Roman"/>
                <a:ea typeface="Times New Roman"/>
                <a:cs typeface="Times New Roman"/>
              </a:rPr>
              <a:t>M. KRITHIKRAJ, 2023115004</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800" b="0" u="none" strike="noStrike" i="0">
                <a:solidFill>
                  <a:srgbClr val="000000"/>
                </a:solidFill>
                <a:effectLst/>
                <a:uFillTx/>
                <a:latin typeface="Times New Roman"/>
                <a:ea typeface="Times New Roman"/>
                <a:cs typeface="Times New Roman"/>
              </a:rPr>
              <a:t>ALSTON S, 2023115006</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800" b="0" u="none" strike="noStrike" i="0">
                <a:solidFill>
                  <a:srgbClr val="000000"/>
                </a:solidFill>
                <a:effectLst/>
                <a:uFillTx/>
                <a:latin typeface="Times New Roman"/>
                <a:ea typeface="Times New Roman"/>
                <a:cs typeface="Times New Roman"/>
              </a:rPr>
              <a:t>ARYAN I, 2023115021</a:t>
            </a:r>
            <a:endParaRPr lang="en-US" sz="1600" b="0" u="none" strike="noStrike">
              <a:solidFill>
                <a:srgbClr val="000000"/>
              </a:solidFill>
              <a:effectLst/>
              <a:uFillTx/>
              <a:latin typeface="Arial"/>
            </a:endParaRPr>
          </a:p>
          <a:p>
            <a:pPr defTabSz="914400">
              <a:lnSpc>
                <a:spcPct val="100000"/>
              </a:lnSpc>
              <a:spcAft>
                <a:spcPts val="700"/>
              </a:spcAft>
              <a:tabLst>
                <a:tab pos="0" algn="l"/>
              </a:tabLst>
            </a:pPr>
            <a:r>
              <a:rPr lang="en-US" sz="1800" b="0" u="none" strike="noStrike" i="0">
                <a:solidFill>
                  <a:srgbClr val="000000"/>
                </a:solidFill>
                <a:effectLst/>
                <a:uFillTx/>
                <a:latin typeface="Times New Roman"/>
                <a:ea typeface="Times New Roman"/>
                <a:cs typeface="Times New Roman"/>
              </a:rPr>
              <a:t>HARI SRINIVASAN, 2023115022</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PROBLEM STATEMENT</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80160"/>
            <a:ext cx="11000232" cy="3931920"/>
          </a:xfrm>
          <a:prstGeom prst="rect">
            <a:avLst/>
          </a:prstGeom>
          <a:noFill/>
        </p:spPr>
        <p:txBody>
          <a:bodyPr wrap="square" lIns="45720" rIns="45720" tIns="27432" bIns="27432"/>
          <a:lstStyle/>
          <a:p>
            <a:pPr marL="256032" indent="-256032">
              <a:spcAft>
                <a:spcPts val="1400"/>
              </a:spcAft>
              <a:buFont typeface="Arial"/>
              <a:buChar char="•"/>
            </a:pPr>
            <a:r>
              <a:rPr sz="1800" b="0" i="0">
                <a:solidFill>
                  <a:srgbClr val="000000"/>
                </a:solidFill>
                <a:latin typeface="Times New Roman"/>
                <a:ea typeface="Times New Roman"/>
                <a:cs typeface="Times New Roman"/>
              </a:rPr>
              <a:t>An AI agent starts every session with a blank memory. Instructions, decisions and corrections from earlier sessions are gone unless the user repeats them.</a:t>
            </a:r>
          </a:p>
          <a:p>
            <a:pPr marL="256032" indent="-256032">
              <a:spcAft>
                <a:spcPts val="1400"/>
              </a:spcAft>
              <a:buFont typeface="Arial"/>
              <a:buChar char="•"/>
            </a:pPr>
            <a:r>
              <a:rPr sz="1800" b="0" i="0">
                <a:solidFill>
                  <a:srgbClr val="000000"/>
                </a:solidFill>
                <a:latin typeface="Times New Roman"/>
                <a:ea typeface="Times New Roman"/>
                <a:cs typeface="Times New Roman"/>
              </a:rPr>
              <a:t>Pasting the whole history back into the prompt does not scale. Models make poor use of information in the middle of a long input [1], and each answer gets slower and more expensive.</a:t>
            </a:r>
          </a:p>
          <a:p>
            <a:pPr marL="256032" indent="-256032">
              <a:spcAft>
                <a:spcPts val="1400"/>
              </a:spcAft>
              <a:buFont typeface="Arial"/>
              <a:buChar char="•"/>
            </a:pPr>
            <a:r>
              <a:rPr sz="1800" b="0" i="0">
                <a:solidFill>
                  <a:srgbClr val="000000"/>
                </a:solidFill>
                <a:latin typeface="Times New Roman"/>
                <a:ea typeface="Times New Roman"/>
                <a:cs typeface="Times New Roman"/>
              </a:rPr>
              <a:t>When something changes, the agent cannot tell the new value from the old one, so it can act on outdated information.</a:t>
            </a:r>
          </a:p>
          <a:p>
            <a:pPr marL="256032" indent="-256032">
              <a:spcAft>
                <a:spcPts val="1400"/>
              </a:spcAft>
              <a:buFont typeface="Arial"/>
              <a:buChar char="•"/>
            </a:pPr>
            <a:r>
              <a:rPr sz="1800" b="0" i="0">
                <a:solidFill>
                  <a:srgbClr val="000000"/>
                </a:solidFill>
                <a:latin typeface="Times New Roman"/>
                <a:ea typeface="Times New Roman"/>
                <a:cs typeface="Times New Roman"/>
              </a:rPr>
              <a:t>An agent needs a memory that records what the user said and when it changed, and returns only the parts relevant to the current question, each with its source message. The LongMemEval benchmark [2] measures this.</a:t>
            </a:r>
          </a:p>
        </p:txBody>
      </p:sp>
      <p:sp>
        <p:nvSpPr>
          <p:cNvPr id="27" name="TextBox 26"/>
          <p:cNvSpPr txBox="1"/>
          <p:nvPr/>
        </p:nvSpPr>
        <p:spPr>
          <a:xfrm>
            <a:off x="594360" y="4434840"/>
            <a:ext cx="11000232" cy="73152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This project builds that memory as a service for AI agents, connected here to Pi, an open-source coding agent that runs in the terminal.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LITERATURE SURVEY (1/2)</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26" name="Table 25"/>
          <p:cNvGraphicFramePr>
            <a:graphicFrameLocks noGrp="1"/>
          </p:cNvGraphicFramePr>
          <p:nvPr/>
        </p:nvGraphicFramePr>
        <p:xfrm>
          <a:off x="594360" y="1280160"/>
          <a:ext cx="11000230" cy="1463040"/>
        </p:xfrm>
        <a:graphic>
          <a:graphicData uri="http://schemas.openxmlformats.org/drawingml/2006/table">
            <a:tbl>
              <a:tblPr firstRow="1" bandRow="0"/>
              <a:tblGrid>
                <a:gridCol w="2108377"/>
                <a:gridCol w="3300069"/>
                <a:gridCol w="2750058"/>
                <a:gridCol w="2841726"/>
              </a:tblGrid>
              <a:tr h="365760">
                <a:tc>
                  <a:txBody>
                    <a:bodyPr wrap="square"/>
                    <a:lstStyle/>
                    <a:p>
                      <a:pPr marL="0" indent="0">
                        <a:spcAft>
                          <a:spcPts val="0"/>
                        </a:spcAft>
                        <a:buNone/>
                      </a:pPr>
                      <a:r>
                        <a:rPr sz="1800" b="1" i="0">
                          <a:solidFill>
                            <a:srgbClr val="000000"/>
                          </a:solidFill>
                          <a:latin typeface="Times New Roman"/>
                          <a:ea typeface="Times New Roman"/>
                          <a:cs typeface="Times New Roman"/>
                        </a:rPr>
                        <a:t>Work</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How it works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Reported results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Limitation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MemGPT, Packer et al., 2023 [3]</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Splits the prompt into a working area and outside storage. The model moves data between them by calling functions.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92.5% on a deep-memory recall test with GPT-4, against 32.1% for GPT-4 reading a summary.</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Memory changes only when the model makes the right call. No speed or cost figures.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Zep / Graphiti, Rasmussen et al., 2025 [4]</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 knowledge graph whose edges carry the time they became true and stopped being true. A contradiction closes the old edge.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71.2% on LongMemEval with gpt-4o, against 60.2% for the full 115k-token history.</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 single run with one setup. The graph database is the only store.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Mem0, Chhikara et al., 2025 [5]</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An LLM extracts candidate memories, compares each with similar stored ones and chooses add, update, delete or no change.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Score 66.9 from an LLM judge on the LoCoMo conversation benchmark, against 72.9 for the full history, but about 12 times faster.</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One benchmark and an unnamed judge model. The open-source release has since dropped update and delete.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LITERATURE SURVEY (2/2)</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26" name="Table 25"/>
          <p:cNvGraphicFramePr>
            <a:graphicFrameLocks noGrp="1"/>
          </p:cNvGraphicFramePr>
          <p:nvPr/>
        </p:nvGraphicFramePr>
        <p:xfrm>
          <a:off x="594360" y="1280160"/>
          <a:ext cx="11000230" cy="1463040"/>
        </p:xfrm>
        <a:graphic>
          <a:graphicData uri="http://schemas.openxmlformats.org/drawingml/2006/table">
            <a:tbl>
              <a:tblPr firstRow="1" bandRow="0"/>
              <a:tblGrid>
                <a:gridCol w="2108377"/>
                <a:gridCol w="3300069"/>
                <a:gridCol w="2750058"/>
                <a:gridCol w="2841726"/>
              </a:tblGrid>
              <a:tr h="365760">
                <a:tc>
                  <a:txBody>
                    <a:bodyPr wrap="square"/>
                    <a:lstStyle/>
                    <a:p>
                      <a:pPr marL="0" indent="0">
                        <a:spcAft>
                          <a:spcPts val="0"/>
                        </a:spcAft>
                        <a:buNone/>
                      </a:pPr>
                      <a:r>
                        <a:rPr sz="1800" b="1" i="0">
                          <a:solidFill>
                            <a:srgbClr val="000000"/>
                          </a:solidFill>
                          <a:latin typeface="Times New Roman"/>
                          <a:ea typeface="Times New Roman"/>
                          <a:cs typeface="Times New Roman"/>
                        </a:rPr>
                        <a:t>Work</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How it works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Reported results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Limitation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Supermemory, Daga et al., 2026 [6]</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Small memories linked to the text they came from, with "updates", "extends" and "derives" links and two timestamps.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Scores on LongMemEval-S (the standard-size version), from the company's own run.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Closed source. The report is not peer reviewed and some of its metrics are not defined.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Hindsight, Latimer et al., 2025 [7]</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Retain, recall and reflect operations. Recall merges four kinds of search by rank and trims the result to a size limit.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LongMemEval and LoCoMo scores from the authors' own runs.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Not peer reviewed. No repeated runs or component-by-component tests, and the size limit is not stated.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Full history in the prompt, Liu et al., 2024 [1]</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No separate memory. The whole conversation goes into the model's input.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Accuracy drops when the needed passage sits in the middle of a long input.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Slower and costlier as history grows. Nothing marks a value as outdated.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CHALLENGES / ISSUES IDENTIFIED: GAPS IN THE LITERATURE</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26" name="Table 25"/>
          <p:cNvGraphicFramePr>
            <a:graphicFrameLocks noGrp="1"/>
          </p:cNvGraphicFramePr>
          <p:nvPr/>
        </p:nvGraphicFramePr>
        <p:xfrm>
          <a:off x="594360" y="1280160"/>
          <a:ext cx="11000230" cy="1645920"/>
        </p:xfrm>
        <a:graphic>
          <a:graphicData uri="http://schemas.openxmlformats.org/drawingml/2006/table">
            <a:tbl>
              <a:tblPr firstRow="1" bandRow="0"/>
              <a:tblGrid>
                <a:gridCol w="4400092"/>
                <a:gridCol w="2566720"/>
                <a:gridCol w="4033418"/>
              </a:tblGrid>
              <a:tr h="274320">
                <a:tc>
                  <a:txBody>
                    <a:bodyPr wrap="square"/>
                    <a:lstStyle/>
                    <a:p>
                      <a:pPr marL="0" indent="0">
                        <a:spcAft>
                          <a:spcPts val="0"/>
                        </a:spcAft>
                        <a:buNone/>
                      </a:pPr>
                      <a:r>
                        <a:rPr sz="1800" b="1" i="0">
                          <a:solidFill>
                            <a:srgbClr val="000000"/>
                          </a:solidFill>
                          <a:latin typeface="Times New Roman"/>
                          <a:ea typeface="Times New Roman"/>
                          <a:cs typeface="Times New Roman"/>
                        </a:rPr>
                        <a:t>Gap in existing work</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Seen in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How we address it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G1. The model decides how memory changes, so one wrong call silently loses or overwrites a memory.</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MemGPT [3], Mem0 paper [5]</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Changes follow fixed rules written in code, not a model decision.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G2. Changed values are overwritten or deleted, so nobody can see what used to be true.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Mem0 [5], MemGPT [3]; Zep [4] keeps history only in its graph</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Every change is a new version that records when it was valid.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G3. A stored memory is hard to check against what the user actually said.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MemGPT [3], Mem0 [5]; Supermemory [6] is closed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Every memory cites an exact quote, matched against the original message.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G4. Extraction depends on large hosted models, which adds cost and sends user data to a third party.</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Zep [4], Mem0 [5]</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 small fine-tuned model runs on our own machine.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G5. Results are hard to compare: single runs, company-run benchmarks, different judges.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Zep [4], Mem0 [5], Supermemory [6], Hindsight [7]</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We publish our test cases and are running LongMemEval-S with fixed settings.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OBJECTIVES OF THE PROJECT</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26" name="Table 25"/>
          <p:cNvGraphicFramePr>
            <a:graphicFrameLocks noGrp="1"/>
          </p:cNvGraphicFramePr>
          <p:nvPr/>
        </p:nvGraphicFramePr>
        <p:xfrm>
          <a:off x="594360" y="1280160"/>
          <a:ext cx="11000231" cy="3520440"/>
        </p:xfrm>
        <a:graphic>
          <a:graphicData uri="http://schemas.openxmlformats.org/drawingml/2006/table">
            <a:tbl>
              <a:tblPr firstRow="1" bandRow="0"/>
              <a:tblGrid>
                <a:gridCol w="8800185"/>
                <a:gridCol w="2200046"/>
              </a:tblGrid>
              <a:tr h="502920">
                <a:tc>
                  <a:txBody>
                    <a:bodyPr wrap="square"/>
                    <a:lstStyle/>
                    <a:p>
                      <a:pPr marL="0" indent="0">
                        <a:spcAft>
                          <a:spcPts val="0"/>
                        </a:spcAft>
                        <a:buNone/>
                      </a:pPr>
                      <a:r>
                        <a:rPr sz="1800" b="1" i="0">
                          <a:solidFill>
                            <a:srgbClr val="000000"/>
                          </a:solidFill>
                          <a:latin typeface="Times New Roman"/>
                          <a:ea typeface="Times New Roman"/>
                          <a:cs typeface="Times New Roman"/>
                        </a:rPr>
                        <a:t>Objective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Answers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Keep useful information for an AI agent across sessions.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Problem</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Apply changes with fixed rules in code, and keep earlier versions with the dates they were valid.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G1, G2</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Link every stored memory to the exact message it came from.</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G3</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Fine-tune a small local model to extract memories, combine them and answer with citations.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G4</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Return only the relevant memories, within a fixed size limit for the prompt.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Problem</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Measure accuracy with repeatable tests and a public benchmark.</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G5</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KEY TERMS</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26" name="Table 25"/>
          <p:cNvGraphicFramePr>
            <a:graphicFrameLocks noGrp="1"/>
          </p:cNvGraphicFramePr>
          <p:nvPr/>
        </p:nvGraphicFramePr>
        <p:xfrm>
          <a:off x="594360" y="1280160"/>
          <a:ext cx="11000231" cy="3703320"/>
        </p:xfrm>
        <a:graphic>
          <a:graphicData uri="http://schemas.openxmlformats.org/drawingml/2006/table">
            <a:tbl>
              <a:tblPr firstRow="1" bandRow="0"/>
              <a:tblGrid>
                <a:gridCol w="2016709"/>
                <a:gridCol w="5133441"/>
                <a:gridCol w="3850081"/>
              </a:tblGrid>
              <a:tr h="411480">
                <a:tc>
                  <a:txBody>
                    <a:bodyPr wrap="square"/>
                    <a:lstStyle/>
                    <a:p>
                      <a:pPr marL="0" indent="0">
                        <a:spcAft>
                          <a:spcPts val="0"/>
                        </a:spcAft>
                        <a:buNone/>
                      </a:pPr>
                      <a:r>
                        <a:rPr sz="1800" b="1" i="0">
                          <a:solidFill>
                            <a:srgbClr val="000000"/>
                          </a:solidFill>
                          <a:latin typeface="Times New Roman"/>
                          <a:ea typeface="Times New Roman"/>
                          <a:cs typeface="Times New Roman"/>
                        </a:rPr>
                        <a:t>Term</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Meaning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Example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411480">
                <a:tc>
                  <a:txBody>
                    <a:bodyPr wrap="square"/>
                    <a:lstStyle/>
                    <a:p>
                      <a:pPr marL="0" indent="0">
                        <a:spcAft>
                          <a:spcPts val="0"/>
                        </a:spcAft>
                        <a:buNone/>
                      </a:pPr>
                      <a:r>
                        <a:rPr sz="1800" b="0" i="0">
                          <a:solidFill>
                            <a:srgbClr val="000000"/>
                          </a:solidFill>
                          <a:latin typeface="Times New Roman"/>
                          <a:ea typeface="Times New Roman"/>
                          <a:cs typeface="Times New Roman"/>
                        </a:rPr>
                        <a:t>Source event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 message or tool result, saved exactly as received.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"I live in Chennai." (1 Oct)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11480">
                <a:tc>
                  <a:txBody>
                    <a:bodyPr wrap="square"/>
                    <a:lstStyle/>
                    <a:p>
                      <a:pPr marL="0" indent="0">
                        <a:spcAft>
                          <a:spcPts val="0"/>
                        </a:spcAft>
                        <a:buNone/>
                      </a:pPr>
                      <a:r>
                        <a:rPr sz="1800" b="0" i="0">
                          <a:solidFill>
                            <a:srgbClr val="000000"/>
                          </a:solidFill>
                          <a:latin typeface="Times New Roman"/>
                          <a:ea typeface="Times New Roman"/>
                          <a:cs typeface="Times New Roman"/>
                        </a:rPr>
                        <a:t>Assertion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 statement the model extracts from source events, kept with the quote it came from.</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Maya's home city is Chennai.</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11480">
                <a:tc>
                  <a:txBody>
                    <a:bodyPr wrap="square"/>
                    <a:lstStyle/>
                    <a:p>
                      <a:pPr marL="0" indent="0">
                        <a:spcAft>
                          <a:spcPts val="0"/>
                        </a:spcAft>
                        <a:buNone/>
                      </a:pPr>
                      <a:r>
                        <a:rPr sz="1800" b="0" i="0">
                          <a:solidFill>
                            <a:srgbClr val="000000"/>
                          </a:solidFill>
                          <a:latin typeface="Times New Roman"/>
                          <a:ea typeface="Times New Roman"/>
                          <a:cs typeface="Times New Roman"/>
                        </a:rPr>
                        <a:t>Slot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One attribute of one subject. A single-value slot has one current value.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Maya's home city</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11480">
                <a:tc>
                  <a:txBody>
                    <a:bodyPr wrap="square"/>
                    <a:lstStyle/>
                    <a:p>
                      <a:pPr marL="0" indent="0">
                        <a:spcAft>
                          <a:spcPts val="0"/>
                        </a:spcAft>
                        <a:buNone/>
                      </a:pPr>
                      <a:r>
                        <a:rPr sz="1800" b="0" i="0">
                          <a:solidFill>
                            <a:srgbClr val="000000"/>
                          </a:solidFill>
                          <a:latin typeface="Times New Roman"/>
                          <a:ea typeface="Times New Roman"/>
                          <a:cs typeface="Times New Roman"/>
                        </a:rPr>
                        <a:t>Correction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 new value that replaces the old one. The old one stays as history.</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Bengaluru replaces Chennai.</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11480">
                <a:tc>
                  <a:txBody>
                    <a:bodyPr wrap="square"/>
                    <a:lstStyle/>
                    <a:p>
                      <a:pPr marL="0" indent="0">
                        <a:spcAft>
                          <a:spcPts val="0"/>
                        </a:spcAft>
                        <a:buNone/>
                      </a:pPr>
                      <a:r>
                        <a:rPr sz="1800" b="0" i="0">
                          <a:solidFill>
                            <a:srgbClr val="000000"/>
                          </a:solidFill>
                          <a:latin typeface="Times New Roman"/>
                          <a:ea typeface="Times New Roman"/>
                          <a:cs typeface="Times New Roman"/>
                        </a:rPr>
                        <a:t>Inference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 statement built from two or more assertions.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Maya works remotely as an engineer at NovaTech.</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11480">
                <a:tc>
                  <a:txBody>
                    <a:bodyPr wrap="square"/>
                    <a:lstStyle/>
                    <a:p>
                      <a:pPr marL="0" indent="0">
                        <a:spcAft>
                          <a:spcPts val="0"/>
                        </a:spcAft>
                        <a:buNone/>
                      </a:pPr>
                      <a:r>
                        <a:rPr sz="1800" b="0" i="0">
                          <a:solidFill>
                            <a:srgbClr val="000000"/>
                          </a:solidFill>
                          <a:latin typeface="Times New Roman"/>
                          <a:ea typeface="Times New Roman"/>
                          <a:cs typeface="Times New Roman"/>
                        </a:rPr>
                        <a:t>Stale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An inference whose supporting assertion has changed, so it is no longer used.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If Maya leaves NovaTech</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11480">
                <a:tc>
                  <a:txBody>
                    <a:bodyPr wrap="square"/>
                    <a:lstStyle/>
                    <a:p>
                      <a:pPr marL="0" indent="0">
                        <a:spcAft>
                          <a:spcPts val="0"/>
                        </a:spcAft>
                        <a:buNone/>
                      </a:pPr>
                      <a:r>
                        <a:rPr sz="1800" b="0" i="0">
                          <a:solidFill>
                            <a:srgbClr val="000000"/>
                          </a:solidFill>
                          <a:latin typeface="Times New Roman"/>
                          <a:ea typeface="Times New Roman"/>
                          <a:cs typeface="Times New Roman"/>
                        </a:rPr>
                        <a:t>Namespace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One user's or project's separate memory.</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user:maya</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11480">
                <a:tc>
                  <a:txBody>
                    <a:bodyPr wrap="square"/>
                    <a:lstStyle/>
                    <a:p>
                      <a:pPr marL="0" indent="0">
                        <a:spcAft>
                          <a:spcPts val="0"/>
                        </a:spcAft>
                        <a:buNone/>
                      </a:pPr>
                      <a:r>
                        <a:rPr sz="1800" b="0" i="0">
                          <a:solidFill>
                            <a:srgbClr val="000000"/>
                          </a:solidFill>
                          <a:latin typeface="Times New Roman"/>
                          <a:ea typeface="Times New Roman"/>
                          <a:cs typeface="Times New Roman"/>
                        </a:rPr>
                        <a:t>Token budget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The most text the memory may add to the agent's prompt.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2,048 tokens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SYSTEM ARCHITECTURE</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pic>
        <p:nvPicPr>
          <p:cNvPr id="26" name="Picture 25" descr="Overall system architecture"/>
          <p:cNvPicPr>
            <a:picLocks noChangeAspect="1"/>
          </p:cNvPicPr>
          <p:nvPr/>
        </p:nvPicPr>
        <p:blipFill>
          <a:blip r:embed="rId3"/>
          <a:stretch>
            <a:fillRect/>
          </a:stretch>
        </p:blipFill>
        <p:spPr>
          <a:xfrm>
            <a:off x="2915863" y="1280160"/>
            <a:ext cx="6357225" cy="4343400"/>
          </a:xfrm>
          <a:prstGeom prst="rect">
            <a:avLst/>
          </a:prstGeom>
        </p:spPr>
      </p:pic>
      <p:sp>
        <p:nvSpPr>
          <p:cNvPr id="27" name="TextBox 26"/>
          <p:cNvSpPr txBox="1"/>
          <p:nvPr/>
        </p:nvSpPr>
        <p:spPr>
          <a:xfrm>
            <a:off x="594360" y="5760720"/>
            <a:ext cx="11000232" cy="685800"/>
          </a:xfrm>
          <a:prstGeom prst="rect">
            <a:avLst/>
          </a:prstGeom>
          <a:noFill/>
        </p:spPr>
        <p:txBody>
          <a:bodyPr wrap="square" lIns="45720" rIns="45720" tIns="27432" bIns="27432"/>
          <a:lstStyle/>
          <a:p>
            <a:pPr marL="0" indent="0">
              <a:spcAft>
                <a:spcPts val="600"/>
              </a:spcAft>
              <a:buNone/>
            </a:pPr>
            <a:r>
              <a:rPr sz="1800" b="0" i="0">
                <a:solidFill>
                  <a:srgbClr val="000000"/>
                </a:solidFill>
                <a:latin typeface="Times New Roman"/>
                <a:ea typeface="Times New Roman"/>
                <a:cs typeface="Times New Roman"/>
              </a:rPr>
              <a:t>M1 saves messages, M2 extracts assertions, M3 keeps every version, M4 finds and packs memories for the agent, and M5 trains the extraction model offline.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EXAMPLE WALKTHROUGH</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Rounded Rectangle 25"/>
          <p:cNvSpPr/>
          <p:nvPr/>
        </p:nvSpPr>
        <p:spPr>
          <a:xfrm>
            <a:off x="594360" y="1280160"/>
            <a:ext cx="1828800" cy="896112"/>
          </a:xfrm>
          <a:prstGeom prst="roundRect">
            <a:avLst/>
          </a:prstGeom>
          <a:solidFill>
            <a:srgbClr val="F2F2F2"/>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0" indent="0">
              <a:spcAft>
                <a:spcPts val="0"/>
              </a:spcAft>
              <a:buNone/>
            </a:pPr>
            <a:r>
              <a:rPr sz="1800" b="1" i="0">
                <a:solidFill>
                  <a:srgbClr val="000000"/>
                </a:solidFill>
                <a:latin typeface="Times New Roman"/>
                <a:ea typeface="Times New Roman"/>
                <a:cs typeface="Times New Roman"/>
              </a:rPr>
              <a:t>Input</a:t>
            </a:r>
          </a:p>
        </p:txBody>
      </p:sp>
      <p:sp>
        <p:nvSpPr>
          <p:cNvPr id="27" name="Rectangle 26"/>
          <p:cNvSpPr/>
          <p:nvPr/>
        </p:nvSpPr>
        <p:spPr>
          <a:xfrm>
            <a:off x="2560320" y="1280160"/>
            <a:ext cx="9034272" cy="896112"/>
          </a:xfrm>
          <a:prstGeom prst="rect">
            <a:avLst/>
          </a:prstGeom>
          <a:noFill/>
          <a:ln>
            <a:solidFill>
              <a:srgbClr val="BFC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l" marL="0" indent="0">
              <a:spcAft>
                <a:spcPts val="0"/>
              </a:spcAft>
              <a:buNone/>
            </a:pPr>
            <a:r>
              <a:rPr sz="1800" b="0" i="0">
                <a:solidFill>
                  <a:srgbClr val="000000"/>
                </a:solidFill>
                <a:latin typeface="Times New Roman"/>
                <a:ea typeface="Times New Roman"/>
                <a:cs typeface="Times New Roman"/>
              </a:rPr>
              <a:t>1 Oct: "I live in Chennai."   10 Oct: "Bengaluru is now my home city."</a:t>
            </a:r>
          </a:p>
          <a:p>
            <a:pPr marL="0" indent="0" algn="l">
              <a:spcAft>
                <a:spcPts val="0"/>
              </a:spcAft>
              <a:buNone/>
            </a:pPr>
            <a:r>
              <a:rPr sz="1800" b="0" i="0">
                <a:solidFill>
                  <a:srgbClr val="000000"/>
                </a:solidFill>
                <a:latin typeface="Times New Roman"/>
                <a:ea typeface="Times New Roman"/>
                <a:cs typeface="Times New Roman"/>
              </a:rPr>
              <a:t>13 Oct, new session: "Where do I live now?"</a:t>
            </a:r>
          </a:p>
        </p:txBody>
      </p:sp>
      <p:sp>
        <p:nvSpPr>
          <p:cNvPr id="28" name="Rounded Rectangle 27"/>
          <p:cNvSpPr/>
          <p:nvPr/>
        </p:nvSpPr>
        <p:spPr>
          <a:xfrm>
            <a:off x="594360" y="2286000"/>
            <a:ext cx="1828800" cy="896112"/>
          </a:xfrm>
          <a:prstGeom prst="roundRect">
            <a:avLst/>
          </a:prstGeom>
          <a:solidFill>
            <a:srgbClr val="D9E2EC"/>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0" indent="0">
              <a:spcAft>
                <a:spcPts val="0"/>
              </a:spcAft>
              <a:buNone/>
            </a:pPr>
            <a:r>
              <a:rPr sz="1800" b="1" i="0">
                <a:solidFill>
                  <a:srgbClr val="000000"/>
                </a:solidFill>
                <a:latin typeface="Times New Roman"/>
                <a:ea typeface="Times New Roman"/>
                <a:cs typeface="Times New Roman"/>
              </a:rPr>
              <a:t>M1  Save</a:t>
            </a:r>
          </a:p>
        </p:txBody>
      </p:sp>
      <p:sp>
        <p:nvSpPr>
          <p:cNvPr id="29" name="Rectangle 28"/>
          <p:cNvSpPr/>
          <p:nvPr/>
        </p:nvSpPr>
        <p:spPr>
          <a:xfrm>
            <a:off x="2560320" y="2286000"/>
            <a:ext cx="9034272" cy="896112"/>
          </a:xfrm>
          <a:prstGeom prst="rect">
            <a:avLst/>
          </a:prstGeom>
          <a:noFill/>
          <a:ln>
            <a:solidFill>
              <a:srgbClr val="BFC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l" marL="0" indent="0">
              <a:spcAft>
                <a:spcPts val="0"/>
              </a:spcAft>
              <a:buNone/>
            </a:pPr>
            <a:r>
              <a:rPr sz="1800" b="0" i="0">
                <a:solidFill>
                  <a:srgbClr val="000000"/>
                </a:solidFill>
                <a:latin typeface="Times New Roman"/>
                <a:ea typeface="Times New Roman"/>
                <a:cs typeface="Times New Roman"/>
              </a:rPr>
              <a:t>Both messages are saved exactly as sent, with speaker and time, and an extraction job is queued.</a:t>
            </a:r>
          </a:p>
        </p:txBody>
      </p:sp>
      <p:sp>
        <p:nvSpPr>
          <p:cNvPr id="30" name="Rounded Rectangle 29"/>
          <p:cNvSpPr/>
          <p:nvPr/>
        </p:nvSpPr>
        <p:spPr>
          <a:xfrm>
            <a:off x="594360" y="3291840"/>
            <a:ext cx="1828800" cy="896112"/>
          </a:xfrm>
          <a:prstGeom prst="roundRect">
            <a:avLst/>
          </a:prstGeom>
          <a:solidFill>
            <a:srgbClr val="D9E2EC"/>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0" indent="0">
              <a:spcAft>
                <a:spcPts val="0"/>
              </a:spcAft>
              <a:buNone/>
            </a:pPr>
            <a:r>
              <a:rPr sz="1800" b="1" i="0">
                <a:solidFill>
                  <a:srgbClr val="000000"/>
                </a:solidFill>
                <a:latin typeface="Times New Roman"/>
                <a:ea typeface="Times New Roman"/>
                <a:cs typeface="Times New Roman"/>
              </a:rPr>
              <a:t>M2  Extract</a:t>
            </a:r>
          </a:p>
        </p:txBody>
      </p:sp>
      <p:sp>
        <p:nvSpPr>
          <p:cNvPr id="31" name="Rectangle 30"/>
          <p:cNvSpPr/>
          <p:nvPr/>
        </p:nvSpPr>
        <p:spPr>
          <a:xfrm>
            <a:off x="2560320" y="3291840"/>
            <a:ext cx="9034272" cy="896112"/>
          </a:xfrm>
          <a:prstGeom prst="rect">
            <a:avLst/>
          </a:prstGeom>
          <a:noFill/>
          <a:ln>
            <a:solidFill>
              <a:srgbClr val="BFC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l" marL="0" indent="0">
              <a:spcAft>
                <a:spcPts val="0"/>
              </a:spcAft>
              <a:buNone/>
            </a:pPr>
            <a:r>
              <a:rPr sz="1800" b="0" i="0">
                <a:solidFill>
                  <a:srgbClr val="000000"/>
                </a:solidFill>
                <a:latin typeface="Times New Roman"/>
                <a:ea typeface="Times New Roman"/>
                <a:cs typeface="Times New Roman"/>
              </a:rPr>
              <a:t>The model from Module 5 returns two assertions, each with its quote: home city Chennai, then home city Bengaluru, marked as a correction.</a:t>
            </a:r>
          </a:p>
        </p:txBody>
      </p:sp>
      <p:sp>
        <p:nvSpPr>
          <p:cNvPr id="32" name="Rounded Rectangle 31"/>
          <p:cNvSpPr/>
          <p:nvPr/>
        </p:nvSpPr>
        <p:spPr>
          <a:xfrm>
            <a:off x="594360" y="4297680"/>
            <a:ext cx="1828800" cy="896112"/>
          </a:xfrm>
          <a:prstGeom prst="roundRect">
            <a:avLst/>
          </a:prstGeom>
          <a:solidFill>
            <a:srgbClr val="D9E2EC"/>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0" indent="0">
              <a:spcAft>
                <a:spcPts val="0"/>
              </a:spcAft>
              <a:buNone/>
            </a:pPr>
            <a:r>
              <a:rPr sz="1800" b="1" i="0">
                <a:solidFill>
                  <a:srgbClr val="000000"/>
                </a:solidFill>
                <a:latin typeface="Times New Roman"/>
                <a:ea typeface="Times New Roman"/>
                <a:cs typeface="Times New Roman"/>
              </a:rPr>
              <a:t>M3  Update</a:t>
            </a:r>
          </a:p>
        </p:txBody>
      </p:sp>
      <p:sp>
        <p:nvSpPr>
          <p:cNvPr id="33" name="Rectangle 32"/>
          <p:cNvSpPr/>
          <p:nvPr/>
        </p:nvSpPr>
        <p:spPr>
          <a:xfrm>
            <a:off x="2560320" y="4297680"/>
            <a:ext cx="9034272" cy="896112"/>
          </a:xfrm>
          <a:prstGeom prst="rect">
            <a:avLst/>
          </a:prstGeom>
          <a:noFill/>
          <a:ln>
            <a:solidFill>
              <a:srgbClr val="BFC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l" marL="0" indent="0">
              <a:spcAft>
                <a:spcPts val="0"/>
              </a:spcAft>
              <a:buNone/>
            </a:pPr>
            <a:r>
              <a:rPr sz="1800" b="0" i="0">
                <a:solidFill>
                  <a:srgbClr val="000000"/>
                </a:solidFill>
                <a:latin typeface="Times New Roman"/>
                <a:ea typeface="Times New Roman"/>
                <a:cs typeface="Times New Roman"/>
              </a:rPr>
              <a:t>Bengaluru supersedes Chennai. Chennai is kept, valid from 1 to 10 Oct, and Bengaluru is current from 10 Oct.</a:t>
            </a:r>
          </a:p>
        </p:txBody>
      </p:sp>
      <p:sp>
        <p:nvSpPr>
          <p:cNvPr id="34" name="Rounded Rectangle 33"/>
          <p:cNvSpPr/>
          <p:nvPr/>
        </p:nvSpPr>
        <p:spPr>
          <a:xfrm>
            <a:off x="594360" y="5303520"/>
            <a:ext cx="1828800" cy="896112"/>
          </a:xfrm>
          <a:prstGeom prst="roundRect">
            <a:avLst/>
          </a:prstGeom>
          <a:solidFill>
            <a:srgbClr val="D9E2EC"/>
          </a:solidFill>
          <a:ln>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0" indent="0">
              <a:spcAft>
                <a:spcPts val="0"/>
              </a:spcAft>
              <a:buNone/>
            </a:pPr>
            <a:r>
              <a:rPr sz="1800" b="1" i="0">
                <a:solidFill>
                  <a:srgbClr val="000000"/>
                </a:solidFill>
                <a:latin typeface="Times New Roman"/>
                <a:ea typeface="Times New Roman"/>
                <a:cs typeface="Times New Roman"/>
              </a:rPr>
              <a:t>M4  Recall</a:t>
            </a:r>
          </a:p>
        </p:txBody>
      </p:sp>
      <p:sp>
        <p:nvSpPr>
          <p:cNvPr id="35" name="Rectangle 34"/>
          <p:cNvSpPr/>
          <p:nvPr/>
        </p:nvSpPr>
        <p:spPr>
          <a:xfrm>
            <a:off x="2560320" y="5303520"/>
            <a:ext cx="9034272" cy="896112"/>
          </a:xfrm>
          <a:prstGeom prst="rect">
            <a:avLst/>
          </a:prstGeom>
          <a:noFill/>
          <a:ln>
            <a:solidFill>
              <a:srgbClr val="BFC8D4"/>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l" marL="0" indent="0">
              <a:spcAft>
                <a:spcPts val="0"/>
              </a:spcAft>
              <a:buNone/>
            </a:pPr>
            <a:r>
              <a:rPr sz="1800" b="0" i="0">
                <a:solidFill>
                  <a:srgbClr val="000000"/>
                </a:solidFill>
                <a:latin typeface="Times New Roman"/>
                <a:ea typeface="Times New Roman"/>
                <a:cs typeface="Times New Roman"/>
              </a:rPr>
              <a:t>For the 13 Oct question, search finds the Bengaluru assertion and passes it to Pi with its quote. Pi answers: "Bengaluru, since 10 October. Before that, Chennai."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MODULE 1: SOURCE ACQUISITION AND PROCESSING</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pic>
        <p:nvPicPr>
          <p:cNvPr id="26" name="Picture 25" descr="Module 1: Source Acquisition And Processing (landscape layout of the report figure)"/>
          <p:cNvPicPr>
            <a:picLocks noChangeAspect="1"/>
          </p:cNvPicPr>
          <p:nvPr/>
        </p:nvPicPr>
        <p:blipFill>
          <a:blip r:embed="rId3"/>
          <a:stretch>
            <a:fillRect/>
          </a:stretch>
        </p:blipFill>
        <p:spPr>
          <a:xfrm>
            <a:off x="594360" y="1280160"/>
            <a:ext cx="11000232" cy="1919653"/>
          </a:xfrm>
          <a:prstGeom prst="rect">
            <a:avLst/>
          </a:prstGeom>
        </p:spPr>
      </p:pic>
      <p:sp>
        <p:nvSpPr>
          <p:cNvPr id="27" name="TextBox 26"/>
          <p:cNvSpPr txBox="1"/>
          <p:nvPr/>
        </p:nvSpPr>
        <p:spPr>
          <a:xfrm>
            <a:off x="594360" y="3428413"/>
            <a:ext cx="11000232" cy="2835226"/>
          </a:xfrm>
          <a:prstGeom prst="rect">
            <a:avLst/>
          </a:prstGeom>
          <a:noFill/>
        </p:spPr>
        <p:txBody>
          <a:bodyPr wrap="square" lIns="45720" rIns="45720" tIns="27432" bIns="27432"/>
          <a:lstStyle/>
          <a:p>
            <a:pPr marL="256032" indent="-256032">
              <a:spcAft>
                <a:spcPts val="600"/>
              </a:spcAft>
              <a:buFont typeface="Arial"/>
              <a:buChar char="•"/>
            </a:pPr>
            <a:r>
              <a:rPr sz="1800" b="0" i="0">
                <a:solidFill>
                  <a:srgbClr val="000000"/>
                </a:solidFill>
                <a:latin typeface="Times New Roman"/>
                <a:ea typeface="Times New Roman"/>
                <a:cs typeface="Times New Roman"/>
              </a:rPr>
              <a:t>Pi first writes each message to a local file queue, so nothing is lost if the memory service is down.</a:t>
            </a:r>
          </a:p>
          <a:p>
            <a:pPr marL="256032" indent="-256032">
              <a:spcAft>
                <a:spcPts val="600"/>
              </a:spcAft>
              <a:buFont typeface="Arial"/>
              <a:buChar char="•"/>
            </a:pPr>
            <a:r>
              <a:rPr sz="1800" b="0" i="0">
                <a:solidFill>
                  <a:srgbClr val="000000"/>
                </a:solidFill>
                <a:latin typeface="Times New Roman"/>
                <a:ea typeface="Times New Roman"/>
                <a:cs typeface="Times New Roman"/>
              </a:rPr>
              <a:t>The service's save endpoint stores them as source events, together with a job for Module 2. Sending the same request twice does not create duplicates.</a:t>
            </a:r>
          </a:p>
          <a:p>
            <a:pPr marL="256032" indent="-256032">
              <a:spcAft>
                <a:spcPts val="600"/>
              </a:spcAft>
              <a:buFont typeface="Arial"/>
              <a:buChar char="•"/>
            </a:pPr>
            <a:r>
              <a:rPr sz="1800" b="0" i="0">
                <a:solidFill>
                  <a:srgbClr val="000000"/>
                </a:solidFill>
                <a:latin typeface="Times New Roman"/>
                <a:ea typeface="Times New Roman"/>
                <a:cs typeface="Times New Roman"/>
              </a:rPr>
              <a:t>Messages are split into chunks and turned into vectors for search. Background workers pick up jobs and retry failures up to five times.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MODULE 2: KNOWLEDGE EXTRACTION AND CONSOLIDATION</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pic>
        <p:nvPicPr>
          <p:cNvPr id="26" name="Picture 25" descr="Module 2: Knowledge Extraction And Consolidation (landscape layout of the report figure)"/>
          <p:cNvPicPr>
            <a:picLocks noChangeAspect="1"/>
          </p:cNvPicPr>
          <p:nvPr/>
        </p:nvPicPr>
        <p:blipFill>
          <a:blip r:embed="rId3"/>
          <a:stretch>
            <a:fillRect/>
          </a:stretch>
        </p:blipFill>
        <p:spPr>
          <a:xfrm>
            <a:off x="594360" y="1280160"/>
            <a:ext cx="11000232" cy="2304949"/>
          </a:xfrm>
          <a:prstGeom prst="rect">
            <a:avLst/>
          </a:prstGeom>
        </p:spPr>
      </p:pic>
      <p:sp>
        <p:nvSpPr>
          <p:cNvPr id="27" name="TextBox 26"/>
          <p:cNvSpPr txBox="1"/>
          <p:nvPr/>
        </p:nvSpPr>
        <p:spPr>
          <a:xfrm>
            <a:off x="594360" y="3813709"/>
            <a:ext cx="11000232" cy="2449930"/>
          </a:xfrm>
          <a:prstGeom prst="rect">
            <a:avLst/>
          </a:prstGeom>
          <a:noFill/>
        </p:spPr>
        <p:txBody>
          <a:bodyPr wrap="square" lIns="45720" rIns="45720" tIns="27432" bIns="27432"/>
          <a:lstStyle/>
          <a:p>
            <a:pPr marL="256032" indent="-256032">
              <a:spcAft>
                <a:spcPts val="600"/>
              </a:spcAft>
              <a:buFont typeface="Arial"/>
              <a:buChar char="•"/>
            </a:pPr>
            <a:r>
              <a:rPr sz="1800" b="0" i="0">
                <a:solidFill>
                  <a:srgbClr val="000000"/>
                </a:solidFill>
                <a:latin typeface="Times New Roman"/>
                <a:ea typeface="Times New Roman"/>
                <a:cs typeface="Times New Roman"/>
              </a:rPr>
              <a:t>Extraction: the fine-tuned model turns new source events into assertions, each with an exact quote. A quote that is not in the message is rejected, and the model tries again up to two times.</a:t>
            </a:r>
          </a:p>
          <a:p>
            <a:pPr marL="256032" indent="-256032">
              <a:spcAft>
                <a:spcPts val="600"/>
              </a:spcAft>
              <a:buFont typeface="Arial"/>
              <a:buChar char="•"/>
            </a:pPr>
            <a:r>
              <a:rPr sz="1800" b="0" i="0">
                <a:solidFill>
                  <a:srgbClr val="000000"/>
                </a:solidFill>
                <a:latin typeface="Times New Roman"/>
                <a:ea typeface="Times New Roman"/>
                <a:cs typeface="Times New Roman"/>
              </a:rPr>
              <a:t>A review step checks that a correction is really stated in the text and removes secrets.</a:t>
            </a:r>
          </a:p>
          <a:p>
            <a:pPr marL="256032" indent="-256032">
              <a:spcAft>
                <a:spcPts val="600"/>
              </a:spcAft>
              <a:buFont typeface="Arial"/>
              <a:buChar char="•"/>
            </a:pPr>
            <a:r>
              <a:rPr sz="1800" b="0" i="0">
                <a:solidFill>
                  <a:srgbClr val="000000"/>
                </a:solidFill>
                <a:latin typeface="Times New Roman"/>
                <a:ea typeface="Times New Roman"/>
                <a:cs typeface="Times New Roman"/>
              </a:rPr>
              <a:t>Consolidation: after Module 3 saves them, the model may combine two or more assertions about one subject into an inference.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MODULE 3: TEMPORAL KNOWLEDGE &amp; GRAPH MANAGEMENT</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pic>
        <p:nvPicPr>
          <p:cNvPr id="26" name="Picture 25" descr="Module 3: Temporal Knowledge &amp; Graph Management (landscape layout of the report figure)"/>
          <p:cNvPicPr>
            <a:picLocks noChangeAspect="1"/>
          </p:cNvPicPr>
          <p:nvPr/>
        </p:nvPicPr>
        <p:blipFill>
          <a:blip r:embed="rId3"/>
          <a:stretch>
            <a:fillRect/>
          </a:stretch>
        </p:blipFill>
        <p:spPr>
          <a:xfrm>
            <a:off x="1164767" y="1280160"/>
            <a:ext cx="9859416" cy="3429000"/>
          </a:xfrm>
          <a:prstGeom prst="rect">
            <a:avLst/>
          </a:prstGeom>
        </p:spPr>
      </p:pic>
      <p:sp>
        <p:nvSpPr>
          <p:cNvPr id="27" name="TextBox 26"/>
          <p:cNvSpPr txBox="1"/>
          <p:nvPr/>
        </p:nvSpPr>
        <p:spPr>
          <a:xfrm>
            <a:off x="594360" y="4937760"/>
            <a:ext cx="11000232" cy="1325879"/>
          </a:xfrm>
          <a:prstGeom prst="rect">
            <a:avLst/>
          </a:prstGeom>
          <a:noFill/>
        </p:spPr>
        <p:txBody>
          <a:bodyPr wrap="square" lIns="45720" rIns="45720" tIns="27432" bIns="27432"/>
          <a:lstStyle/>
          <a:p>
            <a:pPr marL="256032" indent="-256032">
              <a:spcAft>
                <a:spcPts val="600"/>
              </a:spcAft>
              <a:buFont typeface="Arial"/>
              <a:buChar char="•"/>
            </a:pPr>
            <a:r>
              <a:rPr sz="1800" b="0" i="0">
                <a:solidFill>
                  <a:srgbClr val="000000"/>
                </a:solidFill>
                <a:latin typeface="Times New Roman"/>
                <a:ea typeface="Times New Roman"/>
                <a:cs typeface="Times New Roman"/>
              </a:rPr>
              <a:t>The only module that writes assertions. In a single-value slot, a new value supersedes the old one only if it is a reviewed correction and the model's confidence is at least 0.8. Otherwise both are marked contested: kept, but neither is current.</a:t>
            </a:r>
          </a:p>
          <a:p>
            <a:pPr marL="256032" indent="-256032">
              <a:spcAft>
                <a:spcPts val="600"/>
              </a:spcAft>
              <a:buFont typeface="Arial"/>
              <a:buChar char="•"/>
            </a:pPr>
            <a:r>
              <a:rPr sz="1800" b="0" i="0">
                <a:solidFill>
                  <a:srgbClr val="000000"/>
                </a:solidFill>
                <a:latin typeface="Times New Roman"/>
                <a:ea typeface="Times New Roman"/>
                <a:cs typeface="Times New Roman"/>
              </a:rPr>
              <a:t>Replaced values keep the dates they were valid, and every change is copied to Neo4j for graph search.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MODULE 4: HYBRID RETRIEVAL AND GROUNDED REASONING</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pic>
        <p:nvPicPr>
          <p:cNvPr id="26" name="Picture 25" descr="Module 4: Hybrid Retrieval And Grounded Reasoning (landscape layout of the report figure)"/>
          <p:cNvPicPr>
            <a:picLocks noChangeAspect="1"/>
          </p:cNvPicPr>
          <p:nvPr/>
        </p:nvPicPr>
        <p:blipFill>
          <a:blip r:embed="rId3"/>
          <a:stretch>
            <a:fillRect/>
          </a:stretch>
        </p:blipFill>
        <p:spPr>
          <a:xfrm>
            <a:off x="594360" y="1280160"/>
            <a:ext cx="11000232" cy="2676983"/>
          </a:xfrm>
          <a:prstGeom prst="rect">
            <a:avLst/>
          </a:prstGeom>
        </p:spPr>
      </p:pic>
      <p:sp>
        <p:nvSpPr>
          <p:cNvPr id="27" name="TextBox 26"/>
          <p:cNvSpPr txBox="1"/>
          <p:nvPr/>
        </p:nvSpPr>
        <p:spPr>
          <a:xfrm>
            <a:off x="594360" y="4185743"/>
            <a:ext cx="11000232" cy="2077896"/>
          </a:xfrm>
          <a:prstGeom prst="rect">
            <a:avLst/>
          </a:prstGeom>
          <a:noFill/>
        </p:spPr>
        <p:txBody>
          <a:bodyPr wrap="square" lIns="45720" rIns="45720" tIns="27432" bIns="27432"/>
          <a:lstStyle/>
          <a:p>
            <a:pPr marL="256032" indent="-256032">
              <a:spcAft>
                <a:spcPts val="600"/>
              </a:spcAft>
              <a:buFont typeface="Arial"/>
              <a:buChar char="•"/>
            </a:pPr>
            <a:r>
              <a:rPr sz="1800" b="0" i="0">
                <a:solidFill>
                  <a:srgbClr val="000000"/>
                </a:solidFill>
                <a:latin typeface="Times New Roman"/>
                <a:ea typeface="Times New Roman"/>
                <a:cs typeface="Times New Roman"/>
              </a:rPr>
              <a:t>Before Pi answers, it asks for memory. Keyword search, vector search and, for questions about dates, time-based search run together.</a:t>
            </a:r>
          </a:p>
          <a:p>
            <a:pPr marL="256032" indent="-256032">
              <a:spcAft>
                <a:spcPts val="600"/>
              </a:spcAft>
              <a:buFont typeface="Arial"/>
              <a:buChar char="•"/>
            </a:pPr>
            <a:r>
              <a:rPr sz="1800" b="0" i="0">
                <a:solidFill>
                  <a:srgbClr val="000000"/>
                </a:solidFill>
                <a:latin typeface="Times New Roman"/>
                <a:ea typeface="Times New Roman"/>
                <a:cs typeface="Times New Roman"/>
              </a:rPr>
              <a:t>Top hits are expanded through Neo4j and checked again in PostgreSQL. The lists are merged by rank and packed into the token budget, each with its quote.</a:t>
            </a:r>
          </a:p>
          <a:p>
            <a:pPr marL="256032" indent="-256032">
              <a:spcAft>
                <a:spcPts val="600"/>
              </a:spcAft>
              <a:buFont typeface="Arial"/>
              <a:buChar char="•"/>
            </a:pPr>
            <a:r>
              <a:rPr sz="1800" b="0" i="0">
                <a:solidFill>
                  <a:srgbClr val="000000"/>
                </a:solidFill>
                <a:latin typeface="Times New Roman"/>
                <a:ea typeface="Times New Roman"/>
                <a:cs typeface="Times New Roman"/>
              </a:rPr>
              <a:t>An optional step writes a full answer that cites the memories it used.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MODULE 5: MODEL TRAINING AND EVALUATION</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pic>
        <p:nvPicPr>
          <p:cNvPr id="26" name="Picture 25" descr="Module 5: Model Training And Evaluation (landscape layout of the report figure)"/>
          <p:cNvPicPr>
            <a:picLocks noChangeAspect="1"/>
          </p:cNvPicPr>
          <p:nvPr/>
        </p:nvPicPr>
        <p:blipFill>
          <a:blip r:embed="rId3"/>
          <a:stretch>
            <a:fillRect/>
          </a:stretch>
        </p:blipFill>
        <p:spPr>
          <a:xfrm>
            <a:off x="594360" y="1280160"/>
            <a:ext cx="11000232" cy="3094895"/>
          </a:xfrm>
          <a:prstGeom prst="rect">
            <a:avLst/>
          </a:prstGeom>
        </p:spPr>
      </p:pic>
      <p:sp>
        <p:nvSpPr>
          <p:cNvPr id="27" name="TextBox 26"/>
          <p:cNvSpPr txBox="1"/>
          <p:nvPr/>
        </p:nvSpPr>
        <p:spPr>
          <a:xfrm>
            <a:off x="594360" y="4603655"/>
            <a:ext cx="11000232" cy="1659984"/>
          </a:xfrm>
          <a:prstGeom prst="rect">
            <a:avLst/>
          </a:prstGeom>
          <a:noFill/>
        </p:spPr>
        <p:txBody>
          <a:bodyPr wrap="square" lIns="45720" rIns="45720" tIns="27432" bIns="27432"/>
          <a:lstStyle/>
          <a:p>
            <a:pPr marL="256032" indent="-256032">
              <a:spcAft>
                <a:spcPts val="600"/>
              </a:spcAft>
              <a:buFont typeface="Arial"/>
              <a:buChar char="•"/>
            </a:pPr>
            <a:r>
              <a:rPr sz="1800" b="0" i="0">
                <a:solidFill>
                  <a:srgbClr val="000000"/>
                </a:solidFill>
                <a:latin typeface="Times New Roman"/>
                <a:ea typeface="Times New Roman"/>
                <a:cs typeface="Times New Roman"/>
              </a:rPr>
              <a:t>Runs offline. Short synthetic conversations from 16 domains are labelled by a larger model, GPT-5.6-sol. Live chats are never used for training.</a:t>
            </a:r>
          </a:p>
          <a:p>
            <a:pPr marL="256032" indent="-256032">
              <a:spcAft>
                <a:spcPts val="600"/>
              </a:spcAft>
              <a:buFont typeface="Arial"/>
              <a:buChar char="•"/>
            </a:pPr>
            <a:r>
              <a:rPr sz="1800" b="0" i="0">
                <a:solidFill>
                  <a:srgbClr val="000000"/>
                </a:solidFill>
                <a:latin typeface="Times New Roman"/>
                <a:ea typeface="Times New Roman"/>
                <a:cs typeface="Times New Roman"/>
              </a:rPr>
              <a:t>Qwen3-4B is fine-tuned on those labels and served to Modules 2 and 4 through Ollama, but only after it beats the base model on held-out tests.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ALGORITHMS OR METHODOLOGY</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26" name="Table 25"/>
          <p:cNvGraphicFramePr>
            <a:graphicFrameLocks noGrp="1"/>
          </p:cNvGraphicFramePr>
          <p:nvPr/>
        </p:nvGraphicFramePr>
        <p:xfrm>
          <a:off x="594360" y="1280160"/>
          <a:ext cx="11000231" cy="3200400"/>
        </p:xfrm>
        <a:graphic>
          <a:graphicData uri="http://schemas.openxmlformats.org/drawingml/2006/table">
            <a:tbl>
              <a:tblPr firstRow="1" bandRow="0"/>
              <a:tblGrid>
                <a:gridCol w="4033418"/>
                <a:gridCol w="5866790"/>
                <a:gridCol w="1100023"/>
              </a:tblGrid>
              <a:tr h="457200">
                <a:tc>
                  <a:txBody>
                    <a:bodyPr wrap="square"/>
                    <a:lstStyle/>
                    <a:p>
                      <a:pPr marL="0" indent="0">
                        <a:spcAft>
                          <a:spcPts val="0"/>
                        </a:spcAft>
                        <a:buNone/>
                      </a:pPr>
                      <a:r>
                        <a:rPr sz="1800" b="1" i="0">
                          <a:solidFill>
                            <a:srgbClr val="000000"/>
                          </a:solidFill>
                          <a:latin typeface="Times New Roman"/>
                          <a:ea typeface="Times New Roman"/>
                          <a:cs typeface="Times New Roman"/>
                        </a:rPr>
                        <a:t>Algorithm</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Purpose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Module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457200">
                <a:tc>
                  <a:txBody>
                    <a:bodyPr wrap="square"/>
                    <a:lstStyle/>
                    <a:p>
                      <a:pPr marL="0" indent="0">
                        <a:spcAft>
                          <a:spcPts val="0"/>
                        </a:spcAft>
                        <a:buNone/>
                      </a:pPr>
                      <a:r>
                        <a:rPr sz="1800" b="0" i="0">
                          <a:solidFill>
                            <a:srgbClr val="000000"/>
                          </a:solidFill>
                          <a:latin typeface="Times New Roman"/>
                          <a:ea typeface="Times New Roman"/>
                          <a:cs typeface="Times New Roman"/>
                        </a:rPr>
                        <a:t>1. Priority-based context selection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Picks the existing assertions that matter most and fit the model's input.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M2</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57200">
                <a:tc>
                  <a:txBody>
                    <a:bodyPr wrap="square"/>
                    <a:lstStyle/>
                    <a:p>
                      <a:pPr marL="0" indent="0">
                        <a:spcAft>
                          <a:spcPts val="0"/>
                        </a:spcAft>
                        <a:buNone/>
                      </a:pPr>
                      <a:r>
                        <a:rPr sz="1800" b="0" i="0">
                          <a:solidFill>
                            <a:srgbClr val="000000"/>
                          </a:solidFill>
                          <a:latin typeface="Times New Roman"/>
                          <a:ea typeface="Times New Roman"/>
                          <a:cs typeface="Times New Roman"/>
                        </a:rPr>
                        <a:t>2. Entity resolution and versioning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Matches the subject, then handles repeats, corrections and conflicts.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M3</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57200">
                <a:tc>
                  <a:txBody>
                    <a:bodyPr wrap="square"/>
                    <a:lstStyle/>
                    <a:p>
                      <a:pPr marL="0" indent="0">
                        <a:spcAft>
                          <a:spcPts val="0"/>
                        </a:spcAft>
                        <a:buNone/>
                      </a:pPr>
                      <a:r>
                        <a:rPr sz="1800" b="0" i="0">
                          <a:solidFill>
                            <a:srgbClr val="000000"/>
                          </a:solidFill>
                          <a:latin typeface="Times New Roman"/>
                          <a:ea typeface="Times New Roman"/>
                          <a:cs typeface="Times New Roman"/>
                        </a:rPr>
                        <a:t>3. Consolidation and invalidation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Builds inferences and marks them stale when their support changes.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M2, M3</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57200">
                <a:tc>
                  <a:txBody>
                    <a:bodyPr wrap="square"/>
                    <a:lstStyle/>
                    <a:p>
                      <a:pPr marL="0" indent="0">
                        <a:spcAft>
                          <a:spcPts val="0"/>
                        </a:spcAft>
                        <a:buNone/>
                      </a:pPr>
                      <a:r>
                        <a:rPr sz="1800" b="0" i="0">
                          <a:solidFill>
                            <a:srgbClr val="000000"/>
                          </a:solidFill>
                          <a:latin typeface="Times New Roman"/>
                          <a:ea typeface="Times New Roman"/>
                          <a:cs typeface="Times New Roman"/>
                        </a:rPr>
                        <a:t>4. Hybrid retrieval and graph traversal</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Finds memories by keyword, meaning, date and graph link.</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M4</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57200">
                <a:tc>
                  <a:txBody>
                    <a:bodyPr wrap="square"/>
                    <a:lstStyle/>
                    <a:p>
                      <a:pPr marL="0" indent="0">
                        <a:spcAft>
                          <a:spcPts val="0"/>
                        </a:spcAft>
                        <a:buNone/>
                      </a:pPr>
                      <a:r>
                        <a:rPr sz="1800" b="0" i="0">
                          <a:solidFill>
                            <a:srgbClr val="000000"/>
                          </a:solidFill>
                          <a:latin typeface="Times New Roman"/>
                          <a:ea typeface="Times New Roman"/>
                          <a:cs typeface="Times New Roman"/>
                        </a:rPr>
                        <a:t>5. Rank fusion and context packing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Merges the search rankings and fits the best memories into the token budget.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M4</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457200">
                <a:tc>
                  <a:txBody>
                    <a:bodyPr wrap="square"/>
                    <a:lstStyle/>
                    <a:p>
                      <a:pPr marL="0" indent="0">
                        <a:spcAft>
                          <a:spcPts val="0"/>
                        </a:spcAft>
                        <a:buNone/>
                      </a:pPr>
                      <a:r>
                        <a:rPr sz="1800" b="0" i="0">
                          <a:solidFill>
                            <a:srgbClr val="000000"/>
                          </a:solidFill>
                          <a:latin typeface="Times New Roman"/>
                          <a:ea typeface="Times New Roman"/>
                          <a:cs typeface="Times New Roman"/>
                        </a:rPr>
                        <a:t>6. Source-grounded answering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Answers only from retrieved memories and checks every citation.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M4</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ALGORITHMS OR METHODOLOGY</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80160"/>
            <a:ext cx="5317236" cy="498348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1. Priority-based context selection</a:t>
            </a:r>
          </a:p>
          <a:p>
            <a:pPr marL="0" indent="0">
              <a:spcAft>
                <a:spcPts val="800"/>
              </a:spcAft>
              <a:buNone/>
            </a:pPr>
            <a:r>
              <a:rPr sz="1800" b="1" i="0">
                <a:solidFill>
                  <a:srgbClr val="000000"/>
                </a:solidFill>
                <a:latin typeface="Times New Roman"/>
                <a:ea typeface="Times New Roman"/>
                <a:cs typeface="Times New Roman"/>
              </a:rPr>
              <a:t>Input: </a:t>
            </a:r>
            <a:r>
              <a:rPr sz="1800" b="0" i="0">
                <a:solidFill>
                  <a:srgbClr val="000000"/>
                </a:solidFill>
                <a:latin typeface="Times New Roman"/>
                <a:ea typeface="Times New Roman"/>
                <a:cs typeface="Times New Roman"/>
              </a:rPr>
              <a:t>existing assertions, new messages, input limit</a:t>
            </a:r>
          </a:p>
          <a:p>
            <a:pPr marL="0" indent="0">
              <a:spcAft>
                <a:spcPts val="400"/>
              </a:spcAft>
              <a:buNone/>
            </a:pPr>
            <a:r>
              <a:rPr sz="1800" b="1" i="0">
                <a:solidFill>
                  <a:srgbClr val="000000"/>
                </a:solidFill>
                <a:latin typeface="Times New Roman"/>
                <a:ea typeface="Times New Roman"/>
                <a:cs typeface="Times New Roman"/>
              </a:rPr>
              <a:t>IF</a:t>
            </a:r>
            <a:r>
              <a:rPr sz="1800" b="0" i="0">
                <a:solidFill>
                  <a:srgbClr val="000000"/>
                </a:solidFill>
                <a:latin typeface="Times New Roman"/>
                <a:ea typeface="Times New Roman"/>
                <a:cs typeface="Times New Roman"/>
              </a:rPr>
              <a:t> all existing assertions fit:</a:t>
            </a:r>
          </a:p>
          <a:p>
            <a:pPr marL="365760" indent="0">
              <a:spcAft>
                <a:spcPts val="400"/>
              </a:spcAft>
              <a:buNone/>
            </a:pPr>
            <a:r>
              <a:rPr sz="1800" b="1" i="0">
                <a:solidFill>
                  <a:srgbClr val="000000"/>
                </a:solidFill>
                <a:latin typeface="Times New Roman"/>
                <a:ea typeface="Times New Roman"/>
                <a:cs typeface="Times New Roman"/>
              </a:rPr>
              <a:t>RETURN</a:t>
            </a:r>
            <a:r>
              <a:rPr sz="1800" b="0" i="0">
                <a:solidFill>
                  <a:srgbClr val="000000"/>
                </a:solidFill>
                <a:latin typeface="Times New Roman"/>
                <a:ea typeface="Times New Roman"/>
                <a:cs typeface="Times New Roman"/>
              </a:rPr>
              <a:t> all of them</a:t>
            </a:r>
          </a:p>
          <a:p>
            <a:pPr marL="0" indent="0">
              <a:spcAft>
                <a:spcPts val="400"/>
              </a:spcAft>
              <a:buNone/>
            </a:pPr>
            <a:r>
              <a:rPr sz="1800" b="0" i="0">
                <a:solidFill>
                  <a:srgbClr val="000000"/>
                </a:solidFill>
                <a:latin typeface="Times New Roman"/>
                <a:ea typeface="Times New Roman"/>
                <a:cs typeface="Times New Roman"/>
              </a:rPr>
              <a:t>Score each assertion by how often its subject and value appear in the new messages</a:t>
            </a:r>
          </a:p>
          <a:p>
            <a:pPr marL="0" indent="0">
              <a:spcAft>
                <a:spcPts val="400"/>
              </a:spcAft>
              <a:buNone/>
            </a:pPr>
            <a:r>
              <a:rPr sz="1800" b="0" i="0">
                <a:solidFill>
                  <a:srgbClr val="000000"/>
                </a:solidFill>
                <a:latin typeface="Times New Roman"/>
                <a:ea typeface="Times New Roman"/>
                <a:cs typeface="Times New Roman"/>
              </a:rPr>
              <a:t>Sort by score, newest first on ties</a:t>
            </a:r>
          </a:p>
          <a:p>
            <a:pPr marL="0" indent="0">
              <a:spcAft>
                <a:spcPts val="400"/>
              </a:spcAft>
              <a:buNone/>
            </a:pPr>
            <a:r>
              <a:rPr sz="1800" b="0" i="0">
                <a:solidFill>
                  <a:srgbClr val="000000"/>
                </a:solidFill>
                <a:latin typeface="Times New Roman"/>
                <a:ea typeface="Times New Roman"/>
                <a:cs typeface="Times New Roman"/>
              </a:rPr>
              <a:t>Find the longest sorted prefix that fits, by binary search</a:t>
            </a:r>
          </a:p>
          <a:p>
            <a:pPr marL="0" indent="0">
              <a:spcAft>
                <a:spcPts val="400"/>
              </a:spcAft>
              <a:buNone/>
            </a:pPr>
            <a:r>
              <a:rPr sz="1800" b="1" i="0">
                <a:solidFill>
                  <a:srgbClr val="000000"/>
                </a:solidFill>
                <a:latin typeface="Times New Roman"/>
                <a:ea typeface="Times New Roman"/>
                <a:cs typeface="Times New Roman"/>
              </a:rPr>
              <a:t>RETURN</a:t>
            </a:r>
            <a:r>
              <a:rPr sz="1800" b="0" i="0">
                <a:solidFill>
                  <a:srgbClr val="000000"/>
                </a:solidFill>
                <a:latin typeface="Times New Roman"/>
                <a:ea typeface="Times New Roman"/>
                <a:cs typeface="Times New Roman"/>
              </a:rPr>
              <a:t> that prefix in its original order</a:t>
            </a:r>
          </a:p>
        </p:txBody>
      </p:sp>
      <p:sp>
        <p:nvSpPr>
          <p:cNvPr id="27" name="TextBox 26"/>
          <p:cNvSpPr txBox="1"/>
          <p:nvPr/>
        </p:nvSpPr>
        <p:spPr>
          <a:xfrm>
            <a:off x="6277356" y="1280160"/>
            <a:ext cx="5317236" cy="498348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2. Entity resolution and versioning</a:t>
            </a:r>
          </a:p>
          <a:p>
            <a:pPr marL="0" indent="0">
              <a:spcAft>
                <a:spcPts val="800"/>
              </a:spcAft>
              <a:buNone/>
            </a:pPr>
            <a:r>
              <a:rPr sz="1800" b="1" i="0">
                <a:solidFill>
                  <a:srgbClr val="000000"/>
                </a:solidFill>
                <a:latin typeface="Times New Roman"/>
                <a:ea typeface="Times New Roman"/>
                <a:cs typeface="Times New Roman"/>
              </a:rPr>
              <a:t>Input: </a:t>
            </a:r>
            <a:r>
              <a:rPr sz="1800" b="0" i="0">
                <a:solidFill>
                  <a:srgbClr val="000000"/>
                </a:solidFill>
                <a:latin typeface="Times New Roman"/>
                <a:ea typeface="Times New Roman"/>
                <a:cs typeface="Times New Roman"/>
              </a:rPr>
              <a:t>a new assertion and the stored memory</a:t>
            </a:r>
          </a:p>
          <a:p>
            <a:pPr marL="0" indent="0">
              <a:spcAft>
                <a:spcPts val="400"/>
              </a:spcAft>
              <a:buNone/>
            </a:pPr>
            <a:r>
              <a:rPr sz="1800" b="0" i="0">
                <a:solidFill>
                  <a:srgbClr val="000000"/>
                </a:solidFill>
                <a:latin typeface="Times New Roman"/>
                <a:ea typeface="Times New Roman"/>
                <a:cs typeface="Times New Roman"/>
              </a:rPr>
              <a:t>Match the subject by type and name, or a unique alias; otherwise create it</a:t>
            </a:r>
          </a:p>
          <a:p>
            <a:pPr marL="0" indent="0">
              <a:spcAft>
                <a:spcPts val="400"/>
              </a:spcAft>
              <a:buNone/>
            </a:pPr>
            <a:r>
              <a:rPr sz="1800" b="1" i="0">
                <a:solidFill>
                  <a:srgbClr val="000000"/>
                </a:solidFill>
                <a:latin typeface="Times New Roman"/>
                <a:ea typeface="Times New Roman"/>
                <a:cs typeface="Times New Roman"/>
              </a:rPr>
              <a:t>IF</a:t>
            </a:r>
            <a:r>
              <a:rPr sz="1800" b="0" i="0">
                <a:solidFill>
                  <a:srgbClr val="000000"/>
                </a:solidFill>
                <a:latin typeface="Times New Roman"/>
                <a:ea typeface="Times New Roman"/>
                <a:cs typeface="Times New Roman"/>
              </a:rPr>
              <a:t> the same assertion exists:</a:t>
            </a:r>
          </a:p>
          <a:p>
            <a:pPr marL="365760" indent="0">
              <a:spcAft>
                <a:spcPts val="400"/>
              </a:spcAft>
              <a:buNone/>
            </a:pPr>
            <a:r>
              <a:rPr sz="1800" b="0" i="0">
                <a:solidFill>
                  <a:srgbClr val="000000"/>
                </a:solidFill>
                <a:latin typeface="Times New Roman"/>
                <a:ea typeface="Times New Roman"/>
                <a:cs typeface="Times New Roman"/>
              </a:rPr>
              <a:t>attach the new quote</a:t>
            </a:r>
          </a:p>
          <a:p>
            <a:pPr marL="0" indent="0">
              <a:spcAft>
                <a:spcPts val="400"/>
              </a:spcAft>
              <a:buNone/>
            </a:pPr>
            <a:r>
              <a:rPr sz="1800" b="1" i="0">
                <a:solidFill>
                  <a:srgbClr val="000000"/>
                </a:solidFill>
                <a:latin typeface="Times New Roman"/>
                <a:ea typeface="Times New Roman"/>
                <a:cs typeface="Times New Roman"/>
              </a:rPr>
              <a:t>ELSE IF</a:t>
            </a:r>
            <a:r>
              <a:rPr sz="1800" b="0" i="0">
                <a:solidFill>
                  <a:srgbClr val="000000"/>
                </a:solidFill>
                <a:latin typeface="Times New Roman"/>
                <a:ea typeface="Times New Roman"/>
                <a:cs typeface="Times New Roman"/>
              </a:rPr>
              <a:t> the slot has no conflicting value:</a:t>
            </a:r>
          </a:p>
          <a:p>
            <a:pPr marL="365760" indent="0">
              <a:spcAft>
                <a:spcPts val="400"/>
              </a:spcAft>
              <a:buNone/>
            </a:pPr>
            <a:r>
              <a:rPr sz="1800" b="0" i="0">
                <a:solidFill>
                  <a:srgbClr val="000000"/>
                </a:solidFill>
                <a:latin typeface="Times New Roman"/>
                <a:ea typeface="Times New Roman"/>
                <a:cs typeface="Times New Roman"/>
              </a:rPr>
              <a:t>store it as active</a:t>
            </a:r>
          </a:p>
          <a:p>
            <a:pPr marL="0" indent="0">
              <a:spcAft>
                <a:spcPts val="400"/>
              </a:spcAft>
              <a:buNone/>
            </a:pPr>
            <a:r>
              <a:rPr sz="1800" b="1" i="0">
                <a:solidFill>
                  <a:srgbClr val="000000"/>
                </a:solidFill>
                <a:latin typeface="Times New Roman"/>
                <a:ea typeface="Times New Roman"/>
                <a:cs typeface="Times New Roman"/>
              </a:rPr>
              <a:t>ELSE IF</a:t>
            </a:r>
            <a:r>
              <a:rPr sz="1800" b="0" i="0">
                <a:solidFill>
                  <a:srgbClr val="000000"/>
                </a:solidFill>
                <a:latin typeface="Times New Roman"/>
                <a:ea typeface="Times New Roman"/>
                <a:cs typeface="Times New Roman"/>
              </a:rPr>
              <a:t> reviewed correction AND confidence ≥ 0.8:</a:t>
            </a:r>
          </a:p>
          <a:p>
            <a:pPr marL="365760" indent="0">
              <a:spcAft>
                <a:spcPts val="400"/>
              </a:spcAft>
              <a:buNone/>
            </a:pPr>
            <a:r>
              <a:rPr sz="1800" b="0" i="0">
                <a:solidFill>
                  <a:srgbClr val="000000"/>
                </a:solidFill>
                <a:latin typeface="Times New Roman"/>
                <a:ea typeface="Times New Roman"/>
                <a:cs typeface="Times New Roman"/>
              </a:rPr>
              <a:t>replace the old value, keep it as history</a:t>
            </a:r>
          </a:p>
          <a:p>
            <a:pPr marL="0" indent="0">
              <a:spcAft>
                <a:spcPts val="400"/>
              </a:spcAft>
              <a:buNone/>
            </a:pPr>
            <a:r>
              <a:rPr sz="1800" b="1" i="0">
                <a:solidFill>
                  <a:srgbClr val="000000"/>
                </a:solidFill>
                <a:latin typeface="Times New Roman"/>
                <a:ea typeface="Times New Roman"/>
                <a:cs typeface="Times New Roman"/>
              </a:rPr>
              <a:t>ELSE</a:t>
            </a:r>
            <a:r>
              <a:rPr sz="1800" b="0" i="0">
                <a:solidFill>
                  <a:srgbClr val="000000"/>
                </a:solidFill>
                <a:latin typeface="Times New Roman"/>
                <a:ea typeface="Times New Roman"/>
                <a:cs typeface="Times New Roman"/>
              </a:rPr>
              <a:t>:</a:t>
            </a:r>
          </a:p>
          <a:p>
            <a:pPr marL="365760" indent="0">
              <a:spcAft>
                <a:spcPts val="400"/>
              </a:spcAft>
              <a:buNone/>
            </a:pPr>
            <a:r>
              <a:rPr sz="1800" b="0" i="0">
                <a:solidFill>
                  <a:srgbClr val="000000"/>
                </a:solidFill>
                <a:latin typeface="Times New Roman"/>
                <a:ea typeface="Times New Roman"/>
                <a:cs typeface="Times New Roman"/>
              </a:rPr>
              <a:t>mark both values contested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ALGORITHMS OR METHODOLOGY</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80160"/>
            <a:ext cx="5317236" cy="498348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3. Consolidation and invalidation</a:t>
            </a:r>
          </a:p>
          <a:p>
            <a:pPr marL="0" indent="0">
              <a:spcAft>
                <a:spcPts val="800"/>
              </a:spcAft>
              <a:buNone/>
            </a:pPr>
            <a:r>
              <a:rPr sz="1800" b="1" i="0">
                <a:solidFill>
                  <a:srgbClr val="000000"/>
                </a:solidFill>
                <a:latin typeface="Times New Roman"/>
                <a:ea typeface="Times New Roman"/>
                <a:cs typeface="Times New Roman"/>
              </a:rPr>
              <a:t>Input: </a:t>
            </a:r>
            <a:r>
              <a:rPr sz="1800" b="0" i="0">
                <a:solidFill>
                  <a:srgbClr val="000000"/>
                </a:solidFill>
                <a:latin typeface="Times New Roman"/>
                <a:ea typeface="Times New Roman"/>
                <a:cs typeface="Times New Roman"/>
              </a:rPr>
              <a:t>active assertions about the changed subjects</a:t>
            </a:r>
          </a:p>
          <a:p>
            <a:pPr marL="0" indent="0">
              <a:spcAft>
                <a:spcPts val="400"/>
              </a:spcAft>
              <a:buNone/>
            </a:pPr>
            <a:r>
              <a:rPr sz="1800" b="0" i="0">
                <a:solidFill>
                  <a:srgbClr val="000000"/>
                </a:solidFill>
                <a:latin typeface="Times New Roman"/>
                <a:ea typeface="Times New Roman"/>
                <a:cs typeface="Times New Roman"/>
              </a:rPr>
              <a:t>Ask the model to combine related assertions into inferences</a:t>
            </a:r>
          </a:p>
          <a:p>
            <a:pPr marL="0" indent="0">
              <a:spcAft>
                <a:spcPts val="400"/>
              </a:spcAft>
              <a:buNone/>
            </a:pPr>
            <a:r>
              <a:rPr sz="1800" b="0" i="0">
                <a:solidFill>
                  <a:srgbClr val="000000"/>
                </a:solidFill>
                <a:latin typeface="Times New Roman"/>
                <a:ea typeface="Times New Roman"/>
                <a:cs typeface="Times New Roman"/>
              </a:rPr>
              <a:t>Keep an inference only if it has two or more supports</a:t>
            </a:r>
          </a:p>
          <a:p>
            <a:pPr marL="0" indent="0">
              <a:spcAft>
                <a:spcPts val="400"/>
              </a:spcAft>
              <a:buNone/>
            </a:pPr>
            <a:r>
              <a:rPr sz="1800" b="0" i="0">
                <a:solidFill>
                  <a:srgbClr val="000000"/>
                </a:solidFill>
                <a:latin typeface="Times New Roman"/>
                <a:ea typeface="Times New Roman"/>
                <a:cs typeface="Times New Roman"/>
              </a:rPr>
              <a:t>Check the support IDs and the subject</a:t>
            </a:r>
          </a:p>
          <a:p>
            <a:pPr marL="0" indent="0">
              <a:spcAft>
                <a:spcPts val="400"/>
              </a:spcAft>
              <a:buNone/>
            </a:pPr>
            <a:r>
              <a:rPr sz="1800" b="0" i="0">
                <a:solidFill>
                  <a:srgbClr val="000000"/>
                </a:solidFill>
                <a:latin typeface="Times New Roman"/>
                <a:ea typeface="Times New Roman"/>
                <a:cs typeface="Times New Roman"/>
              </a:rPr>
              <a:t>Check that every support is still active, then save with links</a:t>
            </a:r>
          </a:p>
          <a:p>
            <a:pPr marL="0" indent="0">
              <a:spcAft>
                <a:spcPts val="400"/>
              </a:spcAft>
              <a:buNone/>
            </a:pPr>
            <a:r>
              <a:rPr sz="1800" b="1" i="0">
                <a:solidFill>
                  <a:srgbClr val="000000"/>
                </a:solidFill>
                <a:latin typeface="Times New Roman"/>
                <a:ea typeface="Times New Roman"/>
                <a:cs typeface="Times New Roman"/>
              </a:rPr>
              <a:t>WHEN</a:t>
            </a:r>
            <a:r>
              <a:rPr sz="1800" b="0" i="0">
                <a:solidFill>
                  <a:srgbClr val="000000"/>
                </a:solidFill>
                <a:latin typeface="Times New Roman"/>
                <a:ea typeface="Times New Roman"/>
                <a:cs typeface="Times New Roman"/>
              </a:rPr>
              <a:t> a support changes or is retracted:</a:t>
            </a:r>
          </a:p>
          <a:p>
            <a:pPr marL="365760" indent="0">
              <a:spcAft>
                <a:spcPts val="400"/>
              </a:spcAft>
              <a:buNone/>
            </a:pPr>
            <a:r>
              <a:rPr sz="1800" b="0" i="0">
                <a:solidFill>
                  <a:srgbClr val="000000"/>
                </a:solidFill>
                <a:latin typeface="Times New Roman"/>
                <a:ea typeface="Times New Roman"/>
                <a:cs typeface="Times New Roman"/>
              </a:rPr>
              <a:t>find inferences that depend on it</a:t>
            </a:r>
          </a:p>
          <a:p>
            <a:pPr marL="365760" indent="0">
              <a:spcAft>
                <a:spcPts val="400"/>
              </a:spcAft>
              <a:buNone/>
            </a:pPr>
            <a:r>
              <a:rPr sz="1800" b="0" i="0">
                <a:solidFill>
                  <a:srgbClr val="000000"/>
                </a:solidFill>
                <a:latin typeface="Times New Roman"/>
                <a:ea typeface="Times New Roman"/>
                <a:cs typeface="Times New Roman"/>
              </a:rPr>
              <a:t>mark them stale</a:t>
            </a:r>
          </a:p>
        </p:txBody>
      </p:sp>
      <p:sp>
        <p:nvSpPr>
          <p:cNvPr id="27" name="TextBox 26"/>
          <p:cNvSpPr txBox="1"/>
          <p:nvPr/>
        </p:nvSpPr>
        <p:spPr>
          <a:xfrm>
            <a:off x="6277356" y="1280160"/>
            <a:ext cx="5317236" cy="498348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4. Hybrid retrieval and graph traversal</a:t>
            </a:r>
          </a:p>
          <a:p>
            <a:pPr marL="0" indent="0">
              <a:spcAft>
                <a:spcPts val="800"/>
              </a:spcAft>
              <a:buNone/>
            </a:pPr>
            <a:r>
              <a:rPr sz="1800" b="1" i="0">
                <a:solidFill>
                  <a:srgbClr val="000000"/>
                </a:solidFill>
                <a:latin typeface="Times New Roman"/>
                <a:ea typeface="Times New Roman"/>
                <a:cs typeface="Times New Roman"/>
              </a:rPr>
              <a:t>Input: </a:t>
            </a:r>
            <a:r>
              <a:rPr sz="1800" b="0" i="0">
                <a:solidFill>
                  <a:srgbClr val="000000"/>
                </a:solidFill>
                <a:latin typeface="Times New Roman"/>
                <a:ea typeface="Times New Roman"/>
                <a:cs typeface="Times New Roman"/>
              </a:rPr>
              <a:t>a question and an optional date range</a:t>
            </a:r>
          </a:p>
          <a:p>
            <a:pPr marL="0" indent="0">
              <a:spcAft>
                <a:spcPts val="400"/>
              </a:spcAft>
              <a:buNone/>
            </a:pPr>
            <a:r>
              <a:rPr sz="1800" b="0" i="0">
                <a:solidFill>
                  <a:srgbClr val="000000"/>
                </a:solidFill>
                <a:latin typeface="Times New Roman"/>
                <a:ea typeface="Times New Roman"/>
                <a:cs typeface="Times New Roman"/>
              </a:rPr>
              <a:t>Work out the dates a question refers to, if any</a:t>
            </a:r>
          </a:p>
          <a:p>
            <a:pPr marL="0" indent="0">
              <a:spcAft>
                <a:spcPts val="400"/>
              </a:spcAft>
              <a:buNone/>
            </a:pPr>
            <a:r>
              <a:rPr sz="1800" b="0" i="0">
                <a:solidFill>
                  <a:srgbClr val="000000"/>
                </a:solidFill>
                <a:latin typeface="Times New Roman"/>
                <a:ea typeface="Times New Roman"/>
                <a:cs typeface="Times New Roman"/>
              </a:rPr>
              <a:t>Run keyword search [8] and vector search [9]</a:t>
            </a:r>
          </a:p>
          <a:p>
            <a:pPr marL="0" indent="0">
              <a:spcAft>
                <a:spcPts val="400"/>
              </a:spcAft>
              <a:buNone/>
            </a:pPr>
            <a:r>
              <a:rPr sz="1800" b="1" i="0">
                <a:solidFill>
                  <a:srgbClr val="000000"/>
                </a:solidFill>
                <a:latin typeface="Times New Roman"/>
                <a:ea typeface="Times New Roman"/>
                <a:cs typeface="Times New Roman"/>
              </a:rPr>
              <a:t>IF</a:t>
            </a:r>
            <a:r>
              <a:rPr sz="1800" b="0" i="0">
                <a:solidFill>
                  <a:srgbClr val="000000"/>
                </a:solidFill>
                <a:latin typeface="Times New Roman"/>
                <a:ea typeface="Times New Roman"/>
                <a:cs typeface="Times New Roman"/>
              </a:rPr>
              <a:t> there is a date range:</a:t>
            </a:r>
          </a:p>
          <a:p>
            <a:pPr marL="365760" indent="0">
              <a:spcAft>
                <a:spcPts val="400"/>
              </a:spcAft>
              <a:buNone/>
            </a:pPr>
            <a:r>
              <a:rPr sz="1800" b="0" i="0">
                <a:solidFill>
                  <a:srgbClr val="000000"/>
                </a:solidFill>
                <a:latin typeface="Times New Roman"/>
                <a:ea typeface="Times New Roman"/>
                <a:cs typeface="Times New Roman"/>
              </a:rPr>
              <a:t>add assertions valid in that range</a:t>
            </a:r>
          </a:p>
          <a:p>
            <a:pPr marL="0" indent="0">
              <a:spcAft>
                <a:spcPts val="400"/>
              </a:spcAft>
              <a:buNone/>
            </a:pPr>
            <a:r>
              <a:rPr sz="1800" b="0" i="0">
                <a:solidFill>
                  <a:srgbClr val="000000"/>
                </a:solidFill>
                <a:latin typeface="Times New Roman"/>
                <a:ea typeface="Times New Roman"/>
                <a:cs typeface="Times New Roman"/>
              </a:rPr>
              <a:t>Follow graph links from the matches for up to two steps</a:t>
            </a:r>
          </a:p>
          <a:p>
            <a:pPr marL="0" indent="0">
              <a:spcAft>
                <a:spcPts val="400"/>
              </a:spcAft>
              <a:buNone/>
            </a:pPr>
            <a:r>
              <a:rPr sz="1800" b="0" i="0">
                <a:solidFill>
                  <a:srgbClr val="000000"/>
                </a:solidFill>
                <a:latin typeface="Times New Roman"/>
                <a:ea typeface="Times New Roman"/>
                <a:cs typeface="Times New Roman"/>
              </a:rPr>
              <a:t>Drop results outside their validity or too far in meaning</a:t>
            </a:r>
          </a:p>
          <a:p>
            <a:pPr marL="0" indent="0">
              <a:spcAft>
                <a:spcPts val="400"/>
              </a:spcAft>
              <a:buNone/>
            </a:pPr>
            <a:r>
              <a:rPr sz="1800" b="1" i="0">
                <a:solidFill>
                  <a:srgbClr val="000000"/>
                </a:solidFill>
                <a:latin typeface="Times New Roman"/>
                <a:ea typeface="Times New Roman"/>
                <a:cs typeface="Times New Roman"/>
              </a:rPr>
              <a:t>RETURN</a:t>
            </a:r>
            <a:r>
              <a:rPr sz="1800" b="0" i="0">
                <a:solidFill>
                  <a:srgbClr val="000000"/>
                </a:solidFill>
                <a:latin typeface="Times New Roman"/>
                <a:ea typeface="Times New Roman"/>
                <a:cs typeface="Times New Roman"/>
              </a:rPr>
              <a:t> the candidate lists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ALGORITHMS OR METHODOLOGY</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80160"/>
            <a:ext cx="5317236" cy="498348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5. Rank fusion and context packing</a:t>
            </a:r>
          </a:p>
          <a:p>
            <a:pPr marL="0" indent="0">
              <a:spcAft>
                <a:spcPts val="800"/>
              </a:spcAft>
              <a:buNone/>
            </a:pPr>
            <a:r>
              <a:rPr sz="1800" b="1" i="0">
                <a:solidFill>
                  <a:srgbClr val="000000"/>
                </a:solidFill>
                <a:latin typeface="Times New Roman"/>
                <a:ea typeface="Times New Roman"/>
                <a:cs typeface="Times New Roman"/>
              </a:rPr>
              <a:t>Input: </a:t>
            </a:r>
            <a:r>
              <a:rPr sz="1800" b="0" i="0">
                <a:solidFill>
                  <a:srgbClr val="000000"/>
                </a:solidFill>
                <a:latin typeface="Times New Roman"/>
                <a:ea typeface="Times New Roman"/>
                <a:cs typeface="Times New Roman"/>
              </a:rPr>
              <a:t>ranked candidate lists and a token budget</a:t>
            </a:r>
          </a:p>
          <a:p>
            <a:pPr marL="0" indent="0">
              <a:spcAft>
                <a:spcPts val="400"/>
              </a:spcAft>
              <a:buNone/>
            </a:pPr>
            <a:r>
              <a:rPr sz="1800" b="1" i="0">
                <a:solidFill>
                  <a:srgbClr val="000000"/>
                </a:solidFill>
                <a:latin typeface="Times New Roman"/>
                <a:ea typeface="Times New Roman"/>
                <a:cs typeface="Times New Roman"/>
              </a:rPr>
              <a:t>FOR</a:t>
            </a:r>
            <a:r>
              <a:rPr sz="1800" b="0" i="0">
                <a:solidFill>
                  <a:srgbClr val="000000"/>
                </a:solidFill>
                <a:latin typeface="Times New Roman"/>
                <a:ea typeface="Times New Roman"/>
                <a:cs typeface="Times New Roman"/>
              </a:rPr>
              <a:t> each memory:</a:t>
            </a:r>
          </a:p>
          <a:p>
            <a:pPr marL="365760" indent="0">
              <a:spcAft>
                <a:spcPts val="400"/>
              </a:spcAft>
              <a:buNone/>
            </a:pPr>
            <a:r>
              <a:rPr sz="1800" b="0" i="0">
                <a:solidFill>
                  <a:srgbClr val="000000"/>
                </a:solidFill>
                <a:latin typeface="Times New Roman"/>
                <a:ea typeface="Times New Roman"/>
                <a:cs typeface="Times New Roman"/>
              </a:rPr>
              <a:t>score = Σ 1 / (60 + rank) over all lists [10]</a:t>
            </a:r>
          </a:p>
          <a:p>
            <a:pPr marL="0" indent="0">
              <a:spcAft>
                <a:spcPts val="400"/>
              </a:spcAft>
              <a:buNone/>
            </a:pPr>
            <a:r>
              <a:rPr sz="1800" b="0" i="0">
                <a:solidFill>
                  <a:srgbClr val="000000"/>
                </a:solidFill>
                <a:latin typeface="Times New Roman"/>
                <a:ea typeface="Times New Roman"/>
                <a:cs typeface="Times New Roman"/>
              </a:rPr>
              <a:t>Sort by score, then by ID</a:t>
            </a:r>
          </a:p>
          <a:p>
            <a:pPr marL="0" indent="0">
              <a:spcAft>
                <a:spcPts val="400"/>
              </a:spcAft>
              <a:buNone/>
            </a:pPr>
            <a:r>
              <a:rPr sz="1800" b="1" i="0">
                <a:solidFill>
                  <a:srgbClr val="000000"/>
                </a:solidFill>
                <a:latin typeface="Times New Roman"/>
                <a:ea typeface="Times New Roman"/>
                <a:cs typeface="Times New Roman"/>
              </a:rPr>
              <a:t>FOR</a:t>
            </a:r>
            <a:r>
              <a:rPr sz="1800" b="0" i="0">
                <a:solidFill>
                  <a:srgbClr val="000000"/>
                </a:solidFill>
                <a:latin typeface="Times New Roman"/>
                <a:ea typeface="Times New Roman"/>
                <a:cs typeface="Times New Roman"/>
              </a:rPr>
              <a:t> each memory in order:</a:t>
            </a:r>
          </a:p>
          <a:p>
            <a:pPr marL="365760" indent="0">
              <a:spcAft>
                <a:spcPts val="400"/>
              </a:spcAft>
              <a:buNone/>
            </a:pPr>
            <a:r>
              <a:rPr sz="1800" b="0" i="0">
                <a:solidFill>
                  <a:srgbClr val="000000"/>
                </a:solidFill>
                <a:latin typeface="Times New Roman"/>
                <a:ea typeface="Times New Roman"/>
                <a:cs typeface="Times New Roman"/>
              </a:rPr>
              <a:t>build a block with the assertion and its quotes</a:t>
            </a:r>
          </a:p>
          <a:p>
            <a:pPr marL="365760" indent="0">
              <a:spcAft>
                <a:spcPts val="400"/>
              </a:spcAft>
              <a:buNone/>
            </a:pPr>
            <a:r>
              <a:rPr sz="1800" b="0" i="0">
                <a:solidFill>
                  <a:srgbClr val="000000"/>
                </a:solidFill>
                <a:latin typeface="Times New Roman"/>
                <a:ea typeface="Times New Roman"/>
                <a:cs typeface="Times New Roman"/>
              </a:rPr>
              <a:t>add it if it fits the budget</a:t>
            </a:r>
          </a:p>
          <a:p>
            <a:pPr marL="365760" indent="0">
              <a:spcAft>
                <a:spcPts val="400"/>
              </a:spcAft>
              <a:buNone/>
            </a:pPr>
            <a:r>
              <a:rPr sz="1800" b="0" i="0">
                <a:solidFill>
                  <a:srgbClr val="000000"/>
                </a:solidFill>
                <a:latin typeface="Times New Roman"/>
                <a:ea typeface="Times New Roman"/>
                <a:cs typeface="Times New Roman"/>
              </a:rPr>
              <a:t>stop at the requested count</a:t>
            </a:r>
          </a:p>
          <a:p>
            <a:pPr marL="0" indent="0">
              <a:spcAft>
                <a:spcPts val="400"/>
              </a:spcAft>
              <a:buNone/>
            </a:pPr>
            <a:r>
              <a:rPr sz="1800" b="1" i="0">
                <a:solidFill>
                  <a:srgbClr val="000000"/>
                </a:solidFill>
                <a:latin typeface="Times New Roman"/>
                <a:ea typeface="Times New Roman"/>
                <a:cs typeface="Times New Roman"/>
              </a:rPr>
              <a:t>RETURN</a:t>
            </a:r>
            <a:r>
              <a:rPr sz="1800" b="0" i="0">
                <a:solidFill>
                  <a:srgbClr val="000000"/>
                </a:solidFill>
                <a:latin typeface="Times New Roman"/>
                <a:ea typeface="Times New Roman"/>
                <a:cs typeface="Times New Roman"/>
              </a:rPr>
              <a:t> the packed context</a:t>
            </a:r>
          </a:p>
        </p:txBody>
      </p:sp>
      <p:sp>
        <p:nvSpPr>
          <p:cNvPr id="27" name="TextBox 26"/>
          <p:cNvSpPr txBox="1"/>
          <p:nvPr/>
        </p:nvSpPr>
        <p:spPr>
          <a:xfrm>
            <a:off x="6277356" y="1280160"/>
            <a:ext cx="5317236" cy="498348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6. Source-grounded answering</a:t>
            </a:r>
          </a:p>
          <a:p>
            <a:pPr marL="0" indent="0">
              <a:spcAft>
                <a:spcPts val="800"/>
              </a:spcAft>
              <a:buNone/>
            </a:pPr>
            <a:r>
              <a:rPr sz="1800" b="1" i="0">
                <a:solidFill>
                  <a:srgbClr val="000000"/>
                </a:solidFill>
                <a:latin typeface="Times New Roman"/>
                <a:ea typeface="Times New Roman"/>
                <a:cs typeface="Times New Roman"/>
              </a:rPr>
              <a:t>Input: </a:t>
            </a:r>
            <a:r>
              <a:rPr sz="1800" b="0" i="0">
                <a:solidFill>
                  <a:srgbClr val="000000"/>
                </a:solidFill>
                <a:latin typeface="Times New Roman"/>
                <a:ea typeface="Times New Roman"/>
                <a:cs typeface="Times New Roman"/>
              </a:rPr>
              <a:t>a question and the retrieved memories</a:t>
            </a:r>
          </a:p>
          <a:p>
            <a:pPr marL="0" indent="0">
              <a:spcAft>
                <a:spcPts val="400"/>
              </a:spcAft>
              <a:buNone/>
            </a:pPr>
            <a:r>
              <a:rPr sz="1800" b="1" i="0">
                <a:solidFill>
                  <a:srgbClr val="000000"/>
                </a:solidFill>
                <a:latin typeface="Times New Roman"/>
                <a:ea typeface="Times New Roman"/>
                <a:cs typeface="Times New Roman"/>
              </a:rPr>
              <a:t>IF</a:t>
            </a:r>
            <a:r>
              <a:rPr sz="1800" b="0" i="0">
                <a:solidFill>
                  <a:srgbClr val="000000"/>
                </a:solidFill>
                <a:latin typeface="Times New Roman"/>
                <a:ea typeface="Times New Roman"/>
                <a:cs typeface="Times New Roman"/>
              </a:rPr>
              <a:t> nothing was retrieved:</a:t>
            </a:r>
          </a:p>
          <a:p>
            <a:pPr marL="365760" indent="0">
              <a:spcAft>
                <a:spcPts val="400"/>
              </a:spcAft>
              <a:buNone/>
            </a:pPr>
            <a:r>
              <a:rPr sz="1800" b="1" i="0">
                <a:solidFill>
                  <a:srgbClr val="000000"/>
                </a:solidFill>
                <a:latin typeface="Times New Roman"/>
                <a:ea typeface="Times New Roman"/>
                <a:cs typeface="Times New Roman"/>
              </a:rPr>
              <a:t>RETURN</a:t>
            </a:r>
            <a:r>
              <a:rPr sz="1800" b="0" i="0">
                <a:solidFill>
                  <a:srgbClr val="000000"/>
                </a:solidFill>
                <a:latin typeface="Times New Roman"/>
                <a:ea typeface="Times New Roman"/>
                <a:cs typeface="Times New Roman"/>
              </a:rPr>
              <a:t> "insufficient evidence"</a:t>
            </a:r>
          </a:p>
          <a:p>
            <a:pPr marL="0" indent="0">
              <a:spcAft>
                <a:spcPts val="400"/>
              </a:spcAft>
              <a:buNone/>
            </a:pPr>
            <a:r>
              <a:rPr sz="1800" b="0" i="0">
                <a:solidFill>
                  <a:srgbClr val="000000"/>
                </a:solidFill>
                <a:latin typeface="Times New Roman"/>
                <a:ea typeface="Times New Roman"/>
                <a:cs typeface="Times New Roman"/>
              </a:rPr>
              <a:t>Ask the model to answer only from the retrieved memories</a:t>
            </a:r>
          </a:p>
          <a:p>
            <a:pPr marL="0" indent="0">
              <a:spcAft>
                <a:spcPts val="400"/>
              </a:spcAft>
              <a:buNone/>
            </a:pPr>
            <a:r>
              <a:rPr sz="1800" b="0" i="0">
                <a:solidFill>
                  <a:srgbClr val="000000"/>
                </a:solidFill>
                <a:latin typeface="Times New Roman"/>
                <a:ea typeface="Times New Roman"/>
                <a:cs typeface="Times New Roman"/>
              </a:rPr>
              <a:t>Allow citations only to retrieved IDs</a:t>
            </a:r>
          </a:p>
          <a:p>
            <a:pPr marL="0" indent="0">
              <a:spcAft>
                <a:spcPts val="400"/>
              </a:spcAft>
              <a:buNone/>
            </a:pPr>
            <a:r>
              <a:rPr sz="1800" b="0" i="0">
                <a:solidFill>
                  <a:srgbClr val="000000"/>
                </a:solidFill>
                <a:latin typeface="Times New Roman"/>
                <a:ea typeface="Times New Roman"/>
                <a:cs typeface="Times New Roman"/>
              </a:rPr>
              <a:t>Check the output format and every cited ID</a:t>
            </a:r>
          </a:p>
          <a:p>
            <a:pPr marL="0" indent="0">
              <a:spcAft>
                <a:spcPts val="400"/>
              </a:spcAft>
              <a:buNone/>
            </a:pPr>
            <a:r>
              <a:rPr sz="1800" b="1" i="0">
                <a:solidFill>
                  <a:srgbClr val="000000"/>
                </a:solidFill>
                <a:latin typeface="Times New Roman"/>
                <a:ea typeface="Times New Roman"/>
                <a:cs typeface="Times New Roman"/>
              </a:rPr>
              <a:t>IF</a:t>
            </a:r>
            <a:r>
              <a:rPr sz="1800" b="0" i="0">
                <a:solidFill>
                  <a:srgbClr val="000000"/>
                </a:solidFill>
                <a:latin typeface="Times New Roman"/>
                <a:ea typeface="Times New Roman"/>
                <a:cs typeface="Times New Roman"/>
              </a:rPr>
              <a:t> it claims an answer without citations:</a:t>
            </a:r>
          </a:p>
          <a:p>
            <a:pPr marL="365760" indent="0">
              <a:spcAft>
                <a:spcPts val="400"/>
              </a:spcAft>
              <a:buNone/>
            </a:pPr>
            <a:r>
              <a:rPr sz="1800" b="0" i="0">
                <a:solidFill>
                  <a:srgbClr val="000000"/>
                </a:solidFill>
                <a:latin typeface="Times New Roman"/>
                <a:ea typeface="Times New Roman"/>
                <a:cs typeface="Times New Roman"/>
              </a:rPr>
              <a:t>reject it</a:t>
            </a:r>
          </a:p>
          <a:p>
            <a:pPr marL="0" indent="0">
              <a:spcAft>
                <a:spcPts val="400"/>
              </a:spcAft>
              <a:buNone/>
            </a:pPr>
            <a:r>
              <a:rPr sz="1800" b="1" i="0">
                <a:solidFill>
                  <a:srgbClr val="000000"/>
                </a:solidFill>
                <a:latin typeface="Times New Roman"/>
                <a:ea typeface="Times New Roman"/>
                <a:cs typeface="Times New Roman"/>
              </a:rPr>
              <a:t>RETURN</a:t>
            </a:r>
            <a:r>
              <a:rPr sz="1800" b="0" i="0">
                <a:solidFill>
                  <a:srgbClr val="000000"/>
                </a:solidFill>
                <a:latin typeface="Times New Roman"/>
                <a:ea typeface="Times New Roman"/>
                <a:cs typeface="Times New Roman"/>
              </a:rPr>
              <a:t> the answer with its citations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TOOLS AND TECHNOLOGIES (1/2)</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26" name="Table 25"/>
          <p:cNvGraphicFramePr>
            <a:graphicFrameLocks noGrp="1"/>
          </p:cNvGraphicFramePr>
          <p:nvPr/>
        </p:nvGraphicFramePr>
        <p:xfrm>
          <a:off x="594360" y="1280160"/>
          <a:ext cx="11000231" cy="3017520"/>
        </p:xfrm>
        <a:graphic>
          <a:graphicData uri="http://schemas.openxmlformats.org/drawingml/2006/table">
            <a:tbl>
              <a:tblPr firstRow="1" bandRow="0"/>
              <a:tblGrid>
                <a:gridCol w="4216755"/>
                <a:gridCol w="6783476"/>
              </a:tblGrid>
              <a:tr h="502920">
                <a:tc>
                  <a:txBody>
                    <a:bodyPr wrap="square"/>
                    <a:lstStyle/>
                    <a:p>
                      <a:pPr marL="0" indent="0">
                        <a:spcAft>
                          <a:spcPts val="0"/>
                        </a:spcAft>
                        <a:buNone/>
                      </a:pPr>
                      <a:r>
                        <a:rPr sz="1800" b="1" i="0">
                          <a:solidFill>
                            <a:srgbClr val="000000"/>
                          </a:solidFill>
                          <a:latin typeface="Times New Roman"/>
                          <a:ea typeface="Times New Roman"/>
                          <a:cs typeface="Times New Roman"/>
                        </a:rPr>
                        <a:t>Tool</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Role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Rust, Tokio, Axum and SQLx</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The memory service: API, background workers and database access.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PostgreSQL 17 with pgvector [8], [9]</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Stores sources, assertions, history and jobs; keyword and vector search.</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Neo4j 5.26 [11]</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Graph copy of assertions and subjects, used to widen recall.</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Ollama</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Runs the memory model and the embedding model on our machine.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Qwen3-Embedding-0.6B [12]</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Turns messages, assertions and questions into vectors.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TOOLS AND TECHNOLOGIES (2/2)</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26" name="Table 25"/>
          <p:cNvGraphicFramePr>
            <a:graphicFrameLocks noGrp="1"/>
          </p:cNvGraphicFramePr>
          <p:nvPr/>
        </p:nvGraphicFramePr>
        <p:xfrm>
          <a:off x="594360" y="1280160"/>
          <a:ext cx="11000231" cy="3520440"/>
        </p:xfrm>
        <a:graphic>
          <a:graphicData uri="http://schemas.openxmlformats.org/drawingml/2006/table">
            <a:tbl>
              <a:tblPr firstRow="1" bandRow="0"/>
              <a:tblGrid>
                <a:gridCol w="4216755"/>
                <a:gridCol w="6783476"/>
              </a:tblGrid>
              <a:tr h="502920">
                <a:tc>
                  <a:txBody>
                    <a:bodyPr wrap="square"/>
                    <a:lstStyle/>
                    <a:p>
                      <a:pPr marL="0" indent="0">
                        <a:spcAft>
                          <a:spcPts val="0"/>
                        </a:spcAft>
                        <a:buNone/>
                      </a:pPr>
                      <a:r>
                        <a:rPr sz="1800" b="1" i="0">
                          <a:solidFill>
                            <a:srgbClr val="000000"/>
                          </a:solidFill>
                          <a:latin typeface="Times New Roman"/>
                          <a:ea typeface="Times New Roman"/>
                          <a:cs typeface="Times New Roman"/>
                        </a:rPr>
                        <a:t>Tool</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Role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Fine-tuned Qwen3-4B-Instruct-2507</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Extracts assertions, combines them and answers with citations.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Pi coding agent [13]</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The agent we connect to: it sends messages and receives recalled memory.</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Python, PyTorch, Transformers, PEFT, bitsandbytes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Dataset preparation and QLoRA, a low-memory fine-tuning method [14].</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llama.cpp and GGUF</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Converts and compresses the trained model so Ollama can run it.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React, TypeScript, Vite and Bootstrap</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Dashboard, session controls and the memory graph view.</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502920">
                <a:tc>
                  <a:txBody>
                    <a:bodyPr wrap="square"/>
                    <a:lstStyle/>
                    <a:p>
                      <a:pPr marL="0" indent="0">
                        <a:spcAft>
                          <a:spcPts val="0"/>
                        </a:spcAft>
                        <a:buNone/>
                      </a:pPr>
                      <a:r>
                        <a:rPr sz="1800" b="0" i="0">
                          <a:solidFill>
                            <a:srgbClr val="000000"/>
                          </a:solidFill>
                          <a:latin typeface="Times New Roman"/>
                          <a:ea typeface="Times New Roman"/>
                          <a:cs typeface="Times New Roman"/>
                        </a:rPr>
                        <a:t>Docker Compose, Caddy and ttyd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Runs the services and gives browser access to the app and the Pi console.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DATASET (1/3)</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34439"/>
            <a:ext cx="11000232" cy="36576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Fine-tuning dataset for the Module 5 model (Qwen3-4B-Instruct-2507)</a:t>
            </a:r>
          </a:p>
        </p:txBody>
      </p:sp>
      <p:graphicFrame>
        <p:nvGraphicFramePr>
          <p:cNvPr id="27" name="Table 26"/>
          <p:cNvGraphicFramePr>
            <a:graphicFrameLocks noGrp="1"/>
          </p:cNvGraphicFramePr>
          <p:nvPr/>
        </p:nvGraphicFramePr>
        <p:xfrm>
          <a:off x="594360" y="1645919"/>
          <a:ext cx="11000231" cy="1828800"/>
        </p:xfrm>
        <a:graphic>
          <a:graphicData uri="http://schemas.openxmlformats.org/drawingml/2006/table">
            <a:tbl>
              <a:tblPr firstRow="1" bandRow="0"/>
              <a:tblGrid>
                <a:gridCol w="2383383"/>
                <a:gridCol w="8616848"/>
              </a:tblGrid>
              <a:tr h="365760">
                <a:tc>
                  <a:txBody>
                    <a:bodyPr wrap="square"/>
                    <a:lstStyle/>
                    <a:p>
                      <a:pPr marL="0" indent="0">
                        <a:spcAft>
                          <a:spcPts val="0"/>
                        </a:spcAft>
                        <a:buNone/>
                      </a:pPr>
                      <a:r>
                        <a:rPr sz="1800" b="1" i="0">
                          <a:solidFill>
                            <a:srgbClr val="000000"/>
                          </a:solidFill>
                          <a:latin typeface="Times New Roman"/>
                          <a:ea typeface="Times New Roman"/>
                          <a:cs typeface="Times New Roman"/>
                        </a:rPr>
                        <a:t>Aspect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Details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Scope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Started with coding conversations, then grew to 16 domains such as family, food, travel, education, work and software.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Source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Synthetic conversations labelled by GPT-5.6-sol, checked by a second model and cleaned by us.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Size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2,961 task examples: 2,095 for training, 424 for validation and 442 for testing.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Tasks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Extract assertions, combine related assertions, and answer questions with citations.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
        <p:nvSpPr>
          <p:cNvPr id="28" name="Rectangle 27"/>
          <p:cNvSpPr/>
          <p:nvPr/>
        </p:nvSpPr>
        <p:spPr>
          <a:xfrm>
            <a:off x="594360" y="4617720"/>
            <a:ext cx="11000232" cy="1600200"/>
          </a:xfrm>
          <a:prstGeom prst="rect">
            <a:avLst/>
          </a:prstGeom>
          <a:solidFill>
            <a:srgbClr val="EEF2F7"/>
          </a:solidFill>
          <a:ln w="9525">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lstStyle/>
          <a:p>
            <a:pPr algn="ctr" marL="0" indent="0">
              <a:spcAft>
                <a:spcPts val="400"/>
              </a:spcAft>
              <a:buNone/>
            </a:pPr>
            <a:r>
              <a:rPr sz="1800" b="1" i="0">
                <a:solidFill>
                  <a:srgbClr val="000000"/>
                </a:solidFill>
                <a:latin typeface="Times New Roman"/>
                <a:ea typeface="Times New Roman"/>
                <a:cs typeface="Times New Roman"/>
              </a:rPr>
              <a:t>Training example</a:t>
            </a:r>
          </a:p>
          <a:p>
            <a:pPr marL="0" indent="0">
              <a:spcAft>
                <a:spcPts val="200"/>
              </a:spcAft>
              <a:buNone/>
            </a:pPr>
            <a:r>
              <a:rPr sz="1800" b="1" i="0">
                <a:solidFill>
                  <a:srgbClr val="000000"/>
                </a:solidFill>
                <a:latin typeface="Times New Roman"/>
                <a:ea typeface="Times New Roman"/>
                <a:cs typeface="Times New Roman"/>
              </a:rPr>
              <a:t>Assistant: </a:t>
            </a:r>
            <a:r>
              <a:rPr sz="1800" b="0" i="0">
                <a:solidFill>
                  <a:srgbClr val="000000"/>
                </a:solidFill>
                <a:latin typeface="Times New Roman"/>
                <a:ea typeface="Times New Roman"/>
                <a:cs typeface="Times New Roman"/>
              </a:rPr>
              <a:t>"You could learn violin this winter."</a:t>
            </a:r>
          </a:p>
          <a:p>
            <a:pPr marL="0" indent="0">
              <a:spcAft>
                <a:spcPts val="200"/>
              </a:spcAft>
              <a:buNone/>
            </a:pPr>
            <a:r>
              <a:rPr sz="1800" b="1" i="0">
                <a:solidFill>
                  <a:srgbClr val="000000"/>
                </a:solidFill>
                <a:latin typeface="Times New Roman"/>
                <a:ea typeface="Times New Roman"/>
                <a:cs typeface="Times New Roman"/>
              </a:rPr>
              <a:t>User: </a:t>
            </a:r>
            <a:r>
              <a:rPr sz="1800" b="0" i="0">
                <a:solidFill>
                  <a:srgbClr val="000000"/>
                </a:solidFill>
                <a:latin typeface="Times New Roman"/>
                <a:ea typeface="Times New Roman"/>
                <a:cs typeface="Times New Roman"/>
              </a:rPr>
              <a:t>"No, that is not my plan. I am learning watercolor painting."</a:t>
            </a:r>
          </a:p>
          <a:p>
            <a:pPr marL="0" indent="0">
              <a:spcAft>
                <a:spcPts val="0"/>
              </a:spcAft>
              <a:buNone/>
            </a:pPr>
            <a:r>
              <a:rPr sz="1800" b="1" i="0">
                <a:solidFill>
                  <a:srgbClr val="000000"/>
                </a:solidFill>
                <a:latin typeface="Times New Roman"/>
                <a:ea typeface="Times New Roman"/>
                <a:cs typeface="Times New Roman"/>
              </a:rPr>
              <a:t>Expected memory: </a:t>
            </a:r>
            <a:r>
              <a:rPr sz="1800" b="0" i="0">
                <a:solidFill>
                  <a:srgbClr val="000000"/>
                </a:solidFill>
                <a:latin typeface="Times New Roman"/>
                <a:ea typeface="Times New Roman"/>
                <a:cs typeface="Times New Roman"/>
              </a:rPr>
              <a:t>The user is learning watercolor painting.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DATASET (2/3)</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34439"/>
            <a:ext cx="11000232" cy="36576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External test dataset</a:t>
            </a:r>
          </a:p>
        </p:txBody>
      </p:sp>
      <p:graphicFrame>
        <p:nvGraphicFramePr>
          <p:cNvPr id="27" name="Table 26"/>
          <p:cNvGraphicFramePr>
            <a:graphicFrameLocks noGrp="1"/>
          </p:cNvGraphicFramePr>
          <p:nvPr/>
        </p:nvGraphicFramePr>
        <p:xfrm>
          <a:off x="594360" y="1645919"/>
          <a:ext cx="11000231" cy="1463040"/>
        </p:xfrm>
        <a:graphic>
          <a:graphicData uri="http://schemas.openxmlformats.org/drawingml/2006/table">
            <a:tbl>
              <a:tblPr firstRow="1" bandRow="0"/>
              <a:tblGrid>
                <a:gridCol w="2383383"/>
                <a:gridCol w="8616848"/>
              </a:tblGrid>
              <a:tr h="365760">
                <a:tc>
                  <a:txBody>
                    <a:bodyPr wrap="square"/>
                    <a:lstStyle/>
                    <a:p>
                      <a:pPr marL="0" indent="0">
                        <a:spcAft>
                          <a:spcPts val="0"/>
                        </a:spcAft>
                        <a:buNone/>
                      </a:pPr>
                      <a:r>
                        <a:rPr sz="1800" b="1" i="0">
                          <a:solidFill>
                            <a:srgbClr val="000000"/>
                          </a:solidFill>
                          <a:latin typeface="Times New Roman"/>
                          <a:ea typeface="Times New Roman"/>
                          <a:cs typeface="Times New Roman"/>
                        </a:rPr>
                        <a:t>Aspect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Details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Source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LoCoMo [15]: long conversations spread over many sessions.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Size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16 conversation segments from 10 conversations, with 40 reference assertions.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65760">
                <a:tc>
                  <a:txBody>
                    <a:bodyPr wrap="square"/>
                    <a:lstStyle/>
                    <a:p>
                      <a:pPr marL="0" indent="0">
                        <a:spcAft>
                          <a:spcPts val="0"/>
                        </a:spcAft>
                        <a:buNone/>
                      </a:pPr>
                      <a:r>
                        <a:rPr sz="1800" b="0" i="0">
                          <a:solidFill>
                            <a:srgbClr val="000000"/>
                          </a:solidFill>
                          <a:latin typeface="Times New Roman"/>
                          <a:ea typeface="Times New Roman"/>
                          <a:cs typeface="Times New Roman"/>
                        </a:rPr>
                        <a:t>Purpose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Check whether the model extracts useful assertions from conversations outside our training data.</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
        <p:nvSpPr>
          <p:cNvPr id="28" name="Rectangle 27"/>
          <p:cNvSpPr/>
          <p:nvPr/>
        </p:nvSpPr>
        <p:spPr>
          <a:xfrm>
            <a:off x="594360" y="3520440"/>
            <a:ext cx="11000232" cy="2697480"/>
          </a:xfrm>
          <a:prstGeom prst="rect">
            <a:avLst/>
          </a:prstGeom>
          <a:solidFill>
            <a:srgbClr val="EEF2F7"/>
          </a:solidFill>
          <a:ln w="9525">
            <a:solidFill>
              <a:srgbClr val="8A9BB0"/>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lstStyle/>
          <a:p>
            <a:pPr algn="ctr" marL="0" indent="0">
              <a:spcAft>
                <a:spcPts val="400"/>
              </a:spcAft>
              <a:buNone/>
            </a:pPr>
            <a:r>
              <a:rPr sz="1800" b="1" i="0">
                <a:solidFill>
                  <a:srgbClr val="000000"/>
                </a:solidFill>
                <a:latin typeface="Times New Roman"/>
                <a:ea typeface="Times New Roman"/>
                <a:cs typeface="Times New Roman"/>
              </a:rPr>
              <a:t>Test example (LoCoMo)</a:t>
            </a:r>
          </a:p>
          <a:p>
            <a:pPr marL="0" indent="0">
              <a:spcAft>
                <a:spcPts val="100"/>
              </a:spcAft>
              <a:buNone/>
            </a:pPr>
            <a:r>
              <a:rPr sz="1800" b="1" i="0">
                <a:solidFill>
                  <a:srgbClr val="000000"/>
                </a:solidFill>
                <a:latin typeface="Times New Roman"/>
                <a:ea typeface="Times New Roman"/>
                <a:cs typeface="Times New Roman"/>
              </a:rPr>
              <a:t>Caroline: </a:t>
            </a:r>
            <a:r>
              <a:rPr sz="1800" b="0" i="0">
                <a:solidFill>
                  <a:srgbClr val="000000"/>
                </a:solidFill>
                <a:latin typeface="Times New Roman"/>
                <a:ea typeface="Times New Roman"/>
                <a:cs typeface="Times New Roman"/>
              </a:rPr>
              <a:t>"Did you make that plate?"</a:t>
            </a:r>
          </a:p>
          <a:p>
            <a:pPr marL="0" indent="0">
              <a:spcAft>
                <a:spcPts val="100"/>
              </a:spcAft>
              <a:buNone/>
            </a:pPr>
            <a:r>
              <a:rPr sz="1800" b="1" i="0">
                <a:solidFill>
                  <a:srgbClr val="000000"/>
                </a:solidFill>
                <a:latin typeface="Times New Roman"/>
                <a:ea typeface="Times New Roman"/>
                <a:cs typeface="Times New Roman"/>
              </a:rPr>
              <a:t>Melanie: </a:t>
            </a:r>
            <a:r>
              <a:rPr sz="1800" b="0" i="0">
                <a:solidFill>
                  <a:srgbClr val="000000"/>
                </a:solidFill>
                <a:latin typeface="Times New Roman"/>
                <a:ea typeface="Times New Roman"/>
                <a:cs typeface="Times New Roman"/>
              </a:rPr>
              <a:t>"Yes, during yesterday's pottery class. I find pottery relaxing and creative."</a:t>
            </a:r>
          </a:p>
          <a:p>
            <a:pPr marL="0" indent="0">
              <a:spcAft>
                <a:spcPts val="100"/>
              </a:spcAft>
              <a:buNone/>
            </a:pPr>
            <a:r>
              <a:rPr sz="1800" b="1" i="0">
                <a:solidFill>
                  <a:srgbClr val="000000"/>
                </a:solidFill>
                <a:latin typeface="Times New Roman"/>
                <a:ea typeface="Times New Roman"/>
                <a:cs typeface="Times New Roman"/>
              </a:rPr>
              <a:t>Caroline: </a:t>
            </a:r>
            <a:r>
              <a:rPr sz="1800" b="0" i="0">
                <a:solidFill>
                  <a:srgbClr val="000000"/>
                </a:solidFill>
                <a:latin typeface="Times New Roman"/>
                <a:ea typeface="Times New Roman"/>
                <a:cs typeface="Times New Roman"/>
              </a:rPr>
              <a:t>"I haven't tried pottery. I've been painting and recently finished a picture."</a:t>
            </a:r>
          </a:p>
          <a:p>
            <a:pPr marL="0" indent="0">
              <a:spcAft>
                <a:spcPts val="100"/>
              </a:spcAft>
              <a:buNone/>
            </a:pPr>
            <a:r>
              <a:rPr sz="1800" b="1" i="0">
                <a:solidFill>
                  <a:srgbClr val="000000"/>
                </a:solidFill>
                <a:latin typeface="Times New Roman"/>
                <a:ea typeface="Times New Roman"/>
                <a:cs typeface="Times New Roman"/>
              </a:rPr>
              <a:t>Melanie: </a:t>
            </a:r>
            <a:r>
              <a:rPr sz="1800" b="0" i="0">
                <a:solidFill>
                  <a:srgbClr val="000000"/>
                </a:solidFill>
                <a:latin typeface="Times New Roman"/>
                <a:ea typeface="Times New Roman"/>
                <a:cs typeface="Times New Roman"/>
              </a:rPr>
              <a:t>"What inspired your painting?"</a:t>
            </a:r>
          </a:p>
          <a:p>
            <a:pPr marL="0" indent="0">
              <a:spcAft>
                <a:spcPts val="400"/>
              </a:spcAft>
              <a:buNone/>
            </a:pPr>
            <a:r>
              <a:rPr sz="1800" b="1" i="0">
                <a:solidFill>
                  <a:srgbClr val="000000"/>
                </a:solidFill>
                <a:latin typeface="Times New Roman"/>
                <a:ea typeface="Times New Roman"/>
                <a:cs typeface="Times New Roman"/>
              </a:rPr>
              <a:t>Caroline: </a:t>
            </a:r>
            <a:r>
              <a:rPr sz="1800" b="0" i="0">
                <a:solidFill>
                  <a:srgbClr val="000000"/>
                </a:solidFill>
                <a:latin typeface="Times New Roman"/>
                <a:ea typeface="Times New Roman"/>
                <a:cs typeface="Times New Roman"/>
              </a:rPr>
              <a:t>"A visit to the beach last week inspired it."</a:t>
            </a:r>
          </a:p>
          <a:p>
            <a:pPr marL="0" indent="0">
              <a:spcAft>
                <a:spcPts val="0"/>
              </a:spcAft>
              <a:buNone/>
            </a:pPr>
            <a:r>
              <a:rPr sz="1800" b="1" i="0">
                <a:solidFill>
                  <a:srgbClr val="000000"/>
                </a:solidFill>
                <a:latin typeface="Times New Roman"/>
                <a:ea typeface="Times New Roman"/>
                <a:cs typeface="Times New Roman"/>
              </a:rPr>
              <a:t>Expected memory: </a:t>
            </a:r>
            <a:r>
              <a:rPr sz="1800" b="0" i="0">
                <a:solidFill>
                  <a:srgbClr val="000000"/>
                </a:solidFill>
                <a:latin typeface="Times New Roman"/>
                <a:ea typeface="Times New Roman"/>
                <a:cs typeface="Times New Roman"/>
              </a:rPr>
              <a:t>Melanie made a plate in pottery class. Caroline painted a picture inspired by her beach visit.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DATASET (3/3)</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pic>
        <p:nvPicPr>
          <p:cNvPr id="26" name="Picture 25" descr="Training rows across the 16 domains"/>
          <p:cNvPicPr>
            <a:picLocks noChangeAspect="1"/>
          </p:cNvPicPr>
          <p:nvPr/>
        </p:nvPicPr>
        <p:blipFill>
          <a:blip r:embed="rId3"/>
          <a:stretch>
            <a:fillRect/>
          </a:stretch>
        </p:blipFill>
        <p:spPr>
          <a:xfrm>
            <a:off x="2561947" y="1280160"/>
            <a:ext cx="7065057" cy="4206240"/>
          </a:xfrm>
          <a:prstGeom prst="rect">
            <a:avLst/>
          </a:prstGeom>
        </p:spPr>
      </p:pic>
      <p:sp>
        <p:nvSpPr>
          <p:cNvPr id="27" name="TextBox 26"/>
          <p:cNvSpPr txBox="1"/>
          <p:nvPr/>
        </p:nvSpPr>
        <p:spPr>
          <a:xfrm>
            <a:off x="594360" y="5623560"/>
            <a:ext cx="11000232" cy="685800"/>
          </a:xfrm>
          <a:prstGeom prst="rect">
            <a:avLst/>
          </a:prstGeom>
          <a:noFill/>
        </p:spPr>
        <p:txBody>
          <a:bodyPr wrap="square" lIns="45720" rIns="45720" tIns="27432" bIns="27432"/>
          <a:lstStyle/>
          <a:p>
            <a:pPr marL="0" indent="0">
              <a:spcAft>
                <a:spcPts val="600"/>
              </a:spcAft>
              <a:buNone/>
            </a:pPr>
            <a:r>
              <a:rPr sz="1800" b="0" i="0">
                <a:solidFill>
                  <a:srgbClr val="000000"/>
                </a:solidFill>
                <a:latin typeface="Times New Roman"/>
                <a:ea typeface="Times New Roman"/>
                <a:cs typeface="Times New Roman"/>
              </a:rPr>
              <a:t>Of the 2,095 training rows, software and technical projects has 240; the other domains have about 110 to 140 each.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OUTPUT SCREENSHOTS (1/2)</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34439"/>
            <a:ext cx="11000232" cy="36576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Demo: two Pi sessions in different project folders, sharing one memory</a:t>
            </a:r>
          </a:p>
        </p:txBody>
      </p:sp>
      <p:pic>
        <p:nvPicPr>
          <p:cNvPr id="27" name="Picture 26" descr="the user gives a certificate expiry date, a weekly review time and the dashboard owner, and Pi saves them to memory."/>
          <p:cNvPicPr>
            <a:picLocks noChangeAspect="1"/>
          </p:cNvPicPr>
          <p:nvPr/>
        </p:nvPicPr>
        <p:blipFill>
          <a:blip r:embed="rId3"/>
          <a:stretch>
            <a:fillRect/>
          </a:stretch>
        </p:blipFill>
        <p:spPr>
          <a:xfrm>
            <a:off x="1158707" y="1691639"/>
            <a:ext cx="4188541" cy="3246120"/>
          </a:xfrm>
          <a:prstGeom prst="rect">
            <a:avLst/>
          </a:prstGeom>
          <a:ln w="9525">
            <a:solidFill>
              <a:srgbClr val="606060"/>
            </a:solidFill>
          </a:ln>
        </p:spPr>
      </p:pic>
      <p:sp>
        <p:nvSpPr>
          <p:cNvPr id="28" name="TextBox 27"/>
          <p:cNvSpPr txBox="1"/>
          <p:nvPr/>
        </p:nvSpPr>
        <p:spPr>
          <a:xfrm>
            <a:off x="594360" y="5029200"/>
            <a:ext cx="5317236" cy="123444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Figure 1. Recording: </a:t>
            </a:r>
            <a:r>
              <a:rPr sz="1800" b="0" i="0">
                <a:solidFill>
                  <a:srgbClr val="000000"/>
                </a:solidFill>
                <a:latin typeface="Times New Roman"/>
                <a:ea typeface="Times New Roman"/>
                <a:cs typeface="Times New Roman"/>
              </a:rPr>
              <a:t>the user gives a certificate expiry date, a weekly review time and the dashboard owner, and Pi saves them to memory.</a:t>
            </a:r>
          </a:p>
        </p:txBody>
      </p:sp>
      <p:pic>
        <p:nvPicPr>
          <p:cNvPr id="29" name="Picture 28" descr="a fresh session in another folder asks for the same three details without repeating them."/>
          <p:cNvPicPr>
            <a:picLocks noChangeAspect="1"/>
          </p:cNvPicPr>
          <p:nvPr/>
        </p:nvPicPr>
        <p:blipFill>
          <a:blip r:embed="rId4"/>
          <a:stretch>
            <a:fillRect/>
          </a:stretch>
        </p:blipFill>
        <p:spPr>
          <a:xfrm>
            <a:off x="6277356" y="1691639"/>
            <a:ext cx="5317236" cy="1967377"/>
          </a:xfrm>
          <a:prstGeom prst="rect">
            <a:avLst/>
          </a:prstGeom>
          <a:ln w="9525">
            <a:solidFill>
              <a:srgbClr val="606060"/>
            </a:solidFill>
          </a:ln>
        </p:spPr>
      </p:pic>
      <p:sp>
        <p:nvSpPr>
          <p:cNvPr id="30" name="TextBox 29"/>
          <p:cNvSpPr txBox="1"/>
          <p:nvPr/>
        </p:nvSpPr>
        <p:spPr>
          <a:xfrm>
            <a:off x="6277356" y="5029200"/>
            <a:ext cx="5317236" cy="123444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Figure 2. New session: </a:t>
            </a:r>
            <a:r>
              <a:rPr sz="1800" b="0" i="0">
                <a:solidFill>
                  <a:srgbClr val="000000"/>
                </a:solidFill>
                <a:latin typeface="Times New Roman"/>
                <a:ea typeface="Times New Roman"/>
                <a:cs typeface="Times New Roman"/>
              </a:rPr>
              <a:t>a fresh session in another folder asks for the same three details without repeating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OUTPUT SCREENSHOTS (2/2)</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34439"/>
            <a:ext cx="11000232" cy="36576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The new session answers from memory, and the graph keeps the correction</a:t>
            </a:r>
          </a:p>
        </p:txBody>
      </p:sp>
      <p:pic>
        <p:nvPicPr>
          <p:cNvPr id="27" name="Picture 26" descr="the memory from session 1 is added to the prompt, and Pi answers March 3, Tuesday at 11:00 and Kavya."/>
          <p:cNvPicPr>
            <a:picLocks noChangeAspect="1"/>
          </p:cNvPicPr>
          <p:nvPr/>
        </p:nvPicPr>
        <p:blipFill>
          <a:blip r:embed="rId3"/>
          <a:stretch>
            <a:fillRect/>
          </a:stretch>
        </p:blipFill>
        <p:spPr>
          <a:xfrm>
            <a:off x="1158707" y="1691639"/>
            <a:ext cx="4188541" cy="3246120"/>
          </a:xfrm>
          <a:prstGeom prst="rect">
            <a:avLst/>
          </a:prstGeom>
          <a:ln w="9525">
            <a:solidFill>
              <a:srgbClr val="606060"/>
            </a:solidFill>
          </a:ln>
        </p:spPr>
      </p:pic>
      <p:sp>
        <p:nvSpPr>
          <p:cNvPr id="28" name="TextBox 27"/>
          <p:cNvSpPr txBox="1"/>
          <p:nvPr/>
        </p:nvSpPr>
        <p:spPr>
          <a:xfrm>
            <a:off x="594360" y="5029200"/>
            <a:ext cx="5317236" cy="123444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Figure 3. Recall: </a:t>
            </a:r>
            <a:r>
              <a:rPr sz="1800" b="0" i="0">
                <a:solidFill>
                  <a:srgbClr val="000000"/>
                </a:solidFill>
                <a:latin typeface="Times New Roman"/>
                <a:ea typeface="Times New Roman"/>
                <a:cs typeface="Times New Roman"/>
              </a:rPr>
              <a:t>the memory from session 1 is added to the prompt, and Pi answers March 3, Tuesday at 11:00 and Kavya.</a:t>
            </a:r>
          </a:p>
        </p:txBody>
      </p:sp>
      <p:pic>
        <p:nvPicPr>
          <p:cNvPr id="29" name="Picture 28" descr="the user later moved the release freeze from Thursday 17:00 to Friday 16:30. The graph shows Friday as current, linked to the old value."/>
          <p:cNvPicPr>
            <a:picLocks noChangeAspect="1"/>
          </p:cNvPicPr>
          <p:nvPr/>
        </p:nvPicPr>
        <p:blipFill>
          <a:blip r:embed="rId4"/>
          <a:stretch>
            <a:fillRect/>
          </a:stretch>
        </p:blipFill>
        <p:spPr>
          <a:xfrm>
            <a:off x="7239395" y="1691639"/>
            <a:ext cx="3393156" cy="3246120"/>
          </a:xfrm>
          <a:prstGeom prst="rect">
            <a:avLst/>
          </a:prstGeom>
          <a:ln w="9525">
            <a:solidFill>
              <a:srgbClr val="606060"/>
            </a:solidFill>
          </a:ln>
        </p:spPr>
      </p:pic>
      <p:sp>
        <p:nvSpPr>
          <p:cNvPr id="30" name="TextBox 29"/>
          <p:cNvSpPr txBox="1"/>
          <p:nvPr/>
        </p:nvSpPr>
        <p:spPr>
          <a:xfrm>
            <a:off x="6277356" y="5029200"/>
            <a:ext cx="5317236" cy="123444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Figure 4. Correction: </a:t>
            </a:r>
            <a:r>
              <a:rPr sz="1800" b="0" i="0">
                <a:solidFill>
                  <a:srgbClr val="000000"/>
                </a:solidFill>
                <a:latin typeface="Times New Roman"/>
                <a:ea typeface="Times New Roman"/>
                <a:cs typeface="Times New Roman"/>
              </a:rPr>
              <a:t>the user later moved the release freeze from Thursday 17:00 to Friday 16:30. The graph shows Friday as current, linked to the old value.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RESULTS AND OBSERVATIONS (1/3)</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80160"/>
            <a:ext cx="11000232" cy="4983480"/>
          </a:xfrm>
          <a:prstGeom prst="rect">
            <a:avLst/>
          </a:prstGeom>
          <a:noFill/>
        </p:spPr>
        <p:txBody>
          <a:bodyPr wrap="square" lIns="45720" rIns="45720" tIns="27432" bIns="27432"/>
          <a:lstStyle/>
          <a:p>
            <a:pPr marL="0" indent="0">
              <a:spcAft>
                <a:spcPts val="200"/>
              </a:spcAft>
              <a:buNone/>
            </a:pPr>
            <a:r>
              <a:rPr sz="1800" b="1" i="0">
                <a:solidFill>
                  <a:srgbClr val="000000"/>
                </a:solidFill>
                <a:latin typeface="Times New Roman"/>
                <a:ea typeface="Times New Roman"/>
                <a:cs typeface="Times New Roman"/>
              </a:rPr>
              <a:t>A corrected instruction carried into a new session.</a:t>
            </a:r>
          </a:p>
          <a:p>
            <a:pPr marL="0" indent="0">
              <a:spcAft>
                <a:spcPts val="1200"/>
              </a:spcAft>
              <a:buNone/>
            </a:pPr>
            <a:r>
              <a:rPr sz="1800" b="0" i="0">
                <a:solidFill>
                  <a:srgbClr val="000000"/>
                </a:solidFill>
                <a:latin typeface="Times New Roman"/>
                <a:ea typeface="Times New Roman"/>
                <a:cs typeface="Times New Roman"/>
              </a:rPr>
              <a:t>In a three-session coding demo the required output changed from milliseconds to microseconds. In the next session the agent used microseconds without being told again.</a:t>
            </a:r>
          </a:p>
          <a:p>
            <a:pPr marL="0" indent="0">
              <a:spcAft>
                <a:spcPts val="200"/>
              </a:spcAft>
              <a:buNone/>
            </a:pPr>
            <a:r>
              <a:rPr sz="1800" b="1" i="0">
                <a:solidFill>
                  <a:srgbClr val="000000"/>
                </a:solidFill>
                <a:latin typeface="Times New Roman"/>
                <a:ea typeface="Times New Roman"/>
                <a:cs typeface="Times New Roman"/>
              </a:rPr>
              <a:t>Changing one assertion left the others alone.</a:t>
            </a:r>
          </a:p>
          <a:p>
            <a:pPr marL="0" indent="0">
              <a:spcAft>
                <a:spcPts val="1200"/>
              </a:spcAft>
              <a:buNone/>
            </a:pPr>
            <a:r>
              <a:rPr sz="1800" b="0" i="0">
                <a:solidFill>
                  <a:srgbClr val="000000"/>
                </a:solidFill>
                <a:latin typeface="Times New Roman"/>
                <a:ea typeface="Times New Roman"/>
                <a:cs typeface="Times New Roman"/>
              </a:rPr>
              <a:t>A test conversation gave a person's city and food preference, then changed only the city. The system used the new city, kept the old one as history and still knew the food preference.</a:t>
            </a:r>
          </a:p>
          <a:p>
            <a:pPr marL="0" indent="0">
              <a:spcAft>
                <a:spcPts val="200"/>
              </a:spcAft>
              <a:buNone/>
            </a:pPr>
            <a:r>
              <a:rPr sz="1800" b="1" i="0">
                <a:solidFill>
                  <a:srgbClr val="000000"/>
                </a:solidFill>
                <a:latin typeface="Times New Roman"/>
                <a:ea typeface="Times New Roman"/>
                <a:cs typeface="Times New Roman"/>
              </a:rPr>
              <a:t>Every stored assertion can be traced to its message.</a:t>
            </a:r>
          </a:p>
          <a:p>
            <a:pPr marL="0" indent="0">
              <a:spcAft>
                <a:spcPts val="1200"/>
              </a:spcAft>
              <a:buNone/>
            </a:pPr>
            <a:r>
              <a:rPr sz="1800" b="0" i="0">
                <a:solidFill>
                  <a:srgbClr val="000000"/>
                </a:solidFill>
                <a:latin typeface="Times New Roman"/>
                <a:ea typeface="Times New Roman"/>
                <a:cs typeface="Times New Roman"/>
              </a:rPr>
              <a:t>A database audit found that all 142 stored quotes match their original messages exactly.</a:t>
            </a:r>
          </a:p>
          <a:p>
            <a:pPr marL="0" indent="0">
              <a:spcAft>
                <a:spcPts val="200"/>
              </a:spcAft>
              <a:buNone/>
            </a:pPr>
            <a:r>
              <a:rPr sz="1800" b="1" i="0">
                <a:solidFill>
                  <a:srgbClr val="000000"/>
                </a:solidFill>
                <a:latin typeface="Times New Roman"/>
                <a:ea typeface="Times New Roman"/>
                <a:cs typeface="Times New Roman"/>
              </a:rPr>
              <a:t>Related assertions were combined.</a:t>
            </a:r>
          </a:p>
          <a:p>
            <a:pPr marL="0" indent="0">
              <a:spcAft>
                <a:spcPts val="0"/>
              </a:spcAft>
              <a:buNone/>
            </a:pPr>
            <a:r>
              <a:rPr sz="1800" b="0" i="0">
                <a:solidFill>
                  <a:srgbClr val="000000"/>
                </a:solidFill>
                <a:latin typeface="Times New Roman"/>
                <a:ea typeface="Times New Roman"/>
                <a:cs typeface="Times New Roman"/>
              </a:rPr>
              <a:t>The same audit found 8 inferences, each built from at least two assertions.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RESULTS AND OBSERVATIONS (2/3)</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34439"/>
            <a:ext cx="11000232" cy="365760"/>
          </a:xfrm>
          <a:prstGeom prst="rect">
            <a:avLst/>
          </a:prstGeom>
          <a:noFill/>
        </p:spPr>
        <p:txBody>
          <a:bodyPr wrap="square" lIns="45720" rIns="45720" tIns="27432" bIns="27432"/>
          <a:lstStyle/>
          <a:p>
            <a:pPr marL="0" indent="0">
              <a:spcAft>
                <a:spcPts val="600"/>
              </a:spcAft>
              <a:buNone/>
            </a:pPr>
            <a:r>
              <a:rPr sz="1800" b="1" i="0">
                <a:solidFill>
                  <a:srgbClr val="000000"/>
                </a:solidFill>
                <a:latin typeface="Times New Roman"/>
                <a:ea typeface="Times New Roman"/>
                <a:cs typeface="Times New Roman"/>
              </a:rPr>
              <a:t>Base Qwen3-4B (before) and our fine-tuned model (after), on 64 held-out tasks and 16 LoCoMo samples</a:t>
            </a:r>
          </a:p>
        </p:txBody>
      </p:sp>
      <p:graphicFrame>
        <p:nvGraphicFramePr>
          <p:cNvPr id="27" name="Table 26"/>
          <p:cNvGraphicFramePr>
            <a:graphicFrameLocks noGrp="1"/>
          </p:cNvGraphicFramePr>
          <p:nvPr/>
        </p:nvGraphicFramePr>
        <p:xfrm>
          <a:off x="594360" y="1645919"/>
          <a:ext cx="11000231" cy="3072384"/>
        </p:xfrm>
        <a:graphic>
          <a:graphicData uri="http://schemas.openxmlformats.org/drawingml/2006/table">
            <a:tbl>
              <a:tblPr firstRow="1" bandRow="0"/>
              <a:tblGrid>
                <a:gridCol w="6416801"/>
                <a:gridCol w="2291715"/>
                <a:gridCol w="2291715"/>
              </a:tblGrid>
              <a:tr h="384048">
                <a:tc>
                  <a:txBody>
                    <a:bodyPr wrap="square"/>
                    <a:lstStyle/>
                    <a:p>
                      <a:pPr marL="0" indent="0">
                        <a:spcAft>
                          <a:spcPts val="0"/>
                        </a:spcAft>
                        <a:buNone/>
                      </a:pPr>
                      <a:r>
                        <a:rPr sz="1800" b="1" i="0">
                          <a:solidFill>
                            <a:srgbClr val="000000"/>
                          </a:solidFill>
                          <a:latin typeface="Times New Roman"/>
                          <a:ea typeface="Times New Roman"/>
                          <a:cs typeface="Times New Roman"/>
                        </a:rPr>
                        <a:t>Measurement</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Before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After</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384048">
                <a:tc>
                  <a:txBody>
                    <a:bodyPr wrap="square"/>
                    <a:lstStyle/>
                    <a:p>
                      <a:pPr marL="0" indent="0">
                        <a:spcAft>
                          <a:spcPts val="0"/>
                        </a:spcAft>
                        <a:buNone/>
                      </a:pPr>
                      <a:r>
                        <a:rPr sz="1800" b="0" i="0">
                          <a:solidFill>
                            <a:srgbClr val="000000"/>
                          </a:solidFill>
                          <a:latin typeface="Times New Roman"/>
                          <a:ea typeface="Times New Roman"/>
                          <a:cs typeface="Times New Roman"/>
                        </a:rPr>
                        <a:t>Correctly combined assertions (inferences)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1/16</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13/16</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84048">
                <a:tc>
                  <a:txBody>
                    <a:bodyPr wrap="square"/>
                    <a:lstStyle/>
                    <a:p>
                      <a:pPr marL="0" indent="0">
                        <a:spcAft>
                          <a:spcPts val="0"/>
                        </a:spcAft>
                        <a:buNone/>
                      </a:pPr>
                      <a:r>
                        <a:rPr sz="1800" b="0" i="0">
                          <a:solidFill>
                            <a:srgbClr val="000000"/>
                          </a:solidFill>
                          <a:latin typeface="Times New Roman"/>
                          <a:ea typeface="Times New Roman"/>
                          <a:cs typeface="Times New Roman"/>
                        </a:rPr>
                        <a:t>Correct answers from supplied memories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10/16</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15/16</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84048">
                <a:tc>
                  <a:txBody>
                    <a:bodyPr wrap="square"/>
                    <a:lstStyle/>
                    <a:p>
                      <a:pPr marL="0" indent="0">
                        <a:spcAft>
                          <a:spcPts val="0"/>
                        </a:spcAft>
                        <a:buNone/>
                      </a:pPr>
                      <a:r>
                        <a:rPr sz="1800" b="0" i="0">
                          <a:solidFill>
                            <a:srgbClr val="000000"/>
                          </a:solidFill>
                          <a:latin typeface="Times New Roman"/>
                          <a:ea typeface="Times New Roman"/>
                          <a:cs typeface="Times New Roman"/>
                        </a:rPr>
                        <a:t>Expected assertions recovered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50/55</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41/55</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84048">
                <a:tc>
                  <a:txBody>
                    <a:bodyPr wrap="square"/>
                    <a:lstStyle/>
                    <a:p>
                      <a:pPr marL="0" indent="0">
                        <a:spcAft>
                          <a:spcPts val="0"/>
                        </a:spcAft>
                        <a:buNone/>
                      </a:pPr>
                      <a:r>
                        <a:rPr sz="1800" b="0" i="0">
                          <a:solidFill>
                            <a:srgbClr val="000000"/>
                          </a:solidFill>
                          <a:latin typeface="Times New Roman"/>
                          <a:ea typeface="Times New Roman"/>
                          <a:cs typeface="Times New Roman"/>
                        </a:rPr>
                        <a:t>Extracted assertions supported by the source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92.1%</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90.5%</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84048">
                <a:tc>
                  <a:txBody>
                    <a:bodyPr wrap="square"/>
                    <a:lstStyle/>
                    <a:p>
                      <a:pPr marL="0" indent="0">
                        <a:spcAft>
                          <a:spcPts val="0"/>
                        </a:spcAft>
                        <a:buNone/>
                      </a:pPr>
                      <a:r>
                        <a:rPr sz="1800" b="0" i="0">
                          <a:solidFill>
                            <a:srgbClr val="000000"/>
                          </a:solidFill>
                          <a:latin typeface="Times New Roman"/>
                          <a:ea typeface="Times New Roman"/>
                          <a:cs typeface="Times New Roman"/>
                        </a:rPr>
                        <a:t>Corrections handled correctly</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8/8</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8/8</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84048">
                <a:tc>
                  <a:txBody>
                    <a:bodyPr wrap="square"/>
                    <a:lstStyle/>
                    <a:p>
                      <a:pPr marL="0" indent="0">
                        <a:spcAft>
                          <a:spcPts val="0"/>
                        </a:spcAft>
                        <a:buNone/>
                      </a:pPr>
                      <a:r>
                        <a:rPr sz="1800" b="0" i="0">
                          <a:solidFill>
                            <a:srgbClr val="000000"/>
                          </a:solidFill>
                          <a:latin typeface="Times New Roman"/>
                          <a:ea typeface="Times New Roman"/>
                          <a:cs typeface="Times New Roman"/>
                        </a:rPr>
                        <a:t>Outputs passing format checks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64/64</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63/64</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384048">
                <a:tc>
                  <a:txBody>
                    <a:bodyPr wrap="square"/>
                    <a:lstStyle/>
                    <a:p>
                      <a:pPr marL="0" indent="0">
                        <a:spcAft>
                          <a:spcPts val="0"/>
                        </a:spcAft>
                        <a:buNone/>
                      </a:pPr>
                      <a:r>
                        <a:rPr sz="1800" b="0" i="0">
                          <a:solidFill>
                            <a:srgbClr val="000000"/>
                          </a:solidFill>
                          <a:latin typeface="Times New Roman"/>
                          <a:ea typeface="Times New Roman"/>
                          <a:cs typeface="Times New Roman"/>
                        </a:rPr>
                        <a:t>Expected assertions recovered (16 external samples)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16/40</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13/40</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
        <p:nvSpPr>
          <p:cNvPr id="28" name="TextBox 27"/>
          <p:cNvSpPr txBox="1"/>
          <p:nvPr/>
        </p:nvSpPr>
        <p:spPr>
          <a:xfrm>
            <a:off x="594360" y="5257800"/>
            <a:ext cx="11000232" cy="914400"/>
          </a:xfrm>
          <a:prstGeom prst="rect">
            <a:avLst/>
          </a:prstGeom>
          <a:noFill/>
        </p:spPr>
        <p:txBody>
          <a:bodyPr wrap="square" lIns="45720" rIns="45720" tIns="27432" bIns="27432"/>
          <a:lstStyle/>
          <a:p>
            <a:pPr marL="0" indent="0">
              <a:spcAft>
                <a:spcPts val="600"/>
              </a:spcAft>
              <a:buNone/>
            </a:pPr>
            <a:r>
              <a:rPr sz="1800" b="0" i="0">
                <a:solidFill>
                  <a:srgbClr val="000000"/>
                </a:solidFill>
                <a:latin typeface="Times New Roman"/>
                <a:ea typeface="Times New Roman"/>
                <a:cs typeface="Times New Roman"/>
              </a:rPr>
              <a:t>Combining went from 1/16 to 13/16 and answering from 10/16 to 15/16, but extraction now misses more assertions.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RESULTS AND OBSERVATIONS (3/3)</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80160"/>
            <a:ext cx="11000232" cy="4983480"/>
          </a:xfrm>
          <a:prstGeom prst="rect">
            <a:avLst/>
          </a:prstGeom>
          <a:noFill/>
        </p:spPr>
        <p:txBody>
          <a:bodyPr wrap="square" lIns="45720" rIns="45720" tIns="27432" bIns="27432"/>
          <a:lstStyle/>
          <a:p>
            <a:pPr marL="0" indent="0">
              <a:spcAft>
                <a:spcPts val="200"/>
              </a:spcAft>
              <a:buNone/>
            </a:pPr>
            <a:r>
              <a:rPr sz="1800" b="1" i="0">
                <a:solidFill>
                  <a:srgbClr val="000000"/>
                </a:solidFill>
                <a:latin typeface="Times New Roman"/>
                <a:ea typeface="Times New Roman"/>
                <a:cs typeface="Times New Roman"/>
              </a:rPr>
              <a:t>The full benchmark has not been run yet.</a:t>
            </a:r>
          </a:p>
          <a:p>
            <a:pPr marL="0" indent="0">
              <a:spcAft>
                <a:spcPts val="1200"/>
              </a:spcAft>
              <a:buNone/>
            </a:pPr>
            <a:r>
              <a:rPr sz="1800" b="0" i="0">
                <a:solidFill>
                  <a:srgbClr val="000000"/>
                </a:solidFill>
                <a:latin typeface="Times New Roman"/>
                <a:ea typeface="Times New Roman"/>
                <a:cs typeface="Times New Roman"/>
              </a:rPr>
              <a:t>Until LongMemEval-S is done, we cannot claim the memory improves answers over long histories.</a:t>
            </a:r>
          </a:p>
          <a:p>
            <a:pPr marL="0" indent="0">
              <a:spcAft>
                <a:spcPts val="200"/>
              </a:spcAft>
              <a:buNone/>
            </a:pPr>
            <a:r>
              <a:rPr sz="1800" b="1" i="0">
                <a:solidFill>
                  <a:srgbClr val="000000"/>
                </a:solidFill>
                <a:latin typeface="Times New Roman"/>
                <a:ea typeface="Times New Roman"/>
                <a:cs typeface="Times New Roman"/>
              </a:rPr>
              <a:t>Dates are still a weak point.</a:t>
            </a:r>
          </a:p>
          <a:p>
            <a:pPr marL="0" indent="0">
              <a:spcAft>
                <a:spcPts val="1200"/>
              </a:spcAft>
              <a:buNone/>
            </a:pPr>
            <a:r>
              <a:rPr sz="1800" b="0" i="0">
                <a:solidFill>
                  <a:srgbClr val="000000"/>
                </a:solidFill>
                <a:latin typeface="Times New Roman"/>
                <a:ea typeface="Times New Roman"/>
                <a:cs typeface="Times New Roman"/>
              </a:rPr>
              <a:t>Some relative dates were read wrongly: "tomorrow" in a message sent on June 1 was stored as June 3.</a:t>
            </a:r>
          </a:p>
          <a:p>
            <a:pPr marL="0" indent="0">
              <a:spcAft>
                <a:spcPts val="200"/>
              </a:spcAft>
              <a:buNone/>
            </a:pPr>
            <a:r>
              <a:rPr sz="1800" b="1" i="0">
                <a:solidFill>
                  <a:srgbClr val="000000"/>
                </a:solidFill>
                <a:latin typeface="Times New Roman"/>
                <a:ea typeface="Times New Roman"/>
                <a:cs typeface="Times New Roman"/>
              </a:rPr>
              <a:t>The first model was too small.</a:t>
            </a:r>
          </a:p>
          <a:p>
            <a:pPr marL="0" indent="0">
              <a:spcAft>
                <a:spcPts val="0"/>
              </a:spcAft>
              <a:buNone/>
            </a:pPr>
            <a:r>
              <a:rPr sz="1800" b="0" i="0">
                <a:solidFill>
                  <a:srgbClr val="000000"/>
                </a:solidFill>
                <a:latin typeface="Times New Roman"/>
                <a:ea typeface="Times New Roman"/>
                <a:cs typeface="Times New Roman"/>
              </a:rPr>
              <a:t>Our first choice, Qwen3-1.7B, did well on synthetic examples, but only 18 of 33 real-style conversation segments passed validation. Most failures were wrong sources, quotes that did not match and invalid IDs. So we widened the data, tightened the output format and moved to Qwen3-4B.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STATUS AND PENDING WORK</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graphicFrame>
        <p:nvGraphicFramePr>
          <p:cNvPr id="26" name="Table 25"/>
          <p:cNvGraphicFramePr>
            <a:graphicFrameLocks noGrp="1"/>
          </p:cNvGraphicFramePr>
          <p:nvPr/>
        </p:nvGraphicFramePr>
        <p:xfrm>
          <a:off x="594360" y="1280160"/>
          <a:ext cx="11000230" cy="1645920"/>
        </p:xfrm>
        <a:graphic>
          <a:graphicData uri="http://schemas.openxmlformats.org/drawingml/2006/table">
            <a:tbl>
              <a:tblPr firstRow="1" bandRow="0"/>
              <a:tblGrid>
                <a:gridCol w="2163980"/>
                <a:gridCol w="4418125"/>
                <a:gridCol w="2704975"/>
                <a:gridCol w="1713150"/>
              </a:tblGrid>
              <a:tr h="274320">
                <a:tc>
                  <a:txBody>
                    <a:bodyPr wrap="square"/>
                    <a:lstStyle/>
                    <a:p>
                      <a:pPr marL="0" indent="0">
                        <a:spcAft>
                          <a:spcPts val="0"/>
                        </a:spcAft>
                        <a:buNone/>
                      </a:pPr>
                      <a:r>
                        <a:rPr sz="1800" b="1" i="0">
                          <a:solidFill>
                            <a:srgbClr val="000000"/>
                          </a:solidFill>
                          <a:latin typeface="Times New Roman"/>
                          <a:ea typeface="Times New Roman"/>
                          <a:cs typeface="Times New Roman"/>
                        </a:rPr>
                        <a:t>Module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What works now</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Pending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c>
                  <a:txBody>
                    <a:bodyPr wrap="square"/>
                    <a:lstStyle/>
                    <a:p>
                      <a:pPr marL="0" indent="0">
                        <a:spcAft>
                          <a:spcPts val="0"/>
                        </a:spcAft>
                        <a:buNone/>
                      </a:pPr>
                      <a:r>
                        <a:rPr sz="1800" b="1" i="0">
                          <a:solidFill>
                            <a:srgbClr val="000000"/>
                          </a:solidFill>
                          <a:latin typeface="Times New Roman"/>
                          <a:ea typeface="Times New Roman"/>
                          <a:cs typeface="Times New Roman"/>
                        </a:rPr>
                        <a:t>Status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D9E2EC"/>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M1 Source Acquisition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Saves Pi messages and tool results; handles duplicates, offline queueing and retries. Covered by Pi integration tests.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Access control for the API; tested backup and restore.</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Implemented</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M2 Knowledge Extraction</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Extracts assertions with quotes, reviews corrections, builds vectors and inferences. Covered by tests.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Fewer missed assertions, better dates and sources; measure the review step.</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Implemented; quality work pending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M3 Temporal Graph</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Matches subjects, applies corrections, keeps history, marks stale inferences, updates Neo4j. Tests for each.</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Unclear updates, aliases and long chains of corrections.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Implemented; wider testing pending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M4 Hybrid Retrieval</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Keyword, vector, time and graph search; rank fusion, packing, recall in Pi and cited answers.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Full LongMemEval-S run, with and without graph search and inferences.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Implemented; benchmark pending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r h="274320">
                <a:tc>
                  <a:txBody>
                    <a:bodyPr wrap="square"/>
                    <a:lstStyle/>
                    <a:p>
                      <a:pPr marL="0" indent="0">
                        <a:spcAft>
                          <a:spcPts val="0"/>
                        </a:spcAft>
                        <a:buNone/>
                      </a:pPr>
                      <a:r>
                        <a:rPr sz="1800" b="0" i="0">
                          <a:solidFill>
                            <a:srgbClr val="000000"/>
                          </a:solidFill>
                          <a:latin typeface="Times New Roman"/>
                          <a:ea typeface="Times New Roman"/>
                          <a:cs typeface="Times New Roman"/>
                        </a:rPr>
                        <a:t>M5 Model Training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Qwen3-4B fine-tuned with QLoRA and served by Ollama. Tested on 64 internal and 16 external cases.</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Fix the extraction drop and date errors; more external tests and human review.</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c>
                  <a:txBody>
                    <a:bodyPr wrap="square"/>
                    <a:lstStyle/>
                    <a:p>
                      <a:pPr marL="0" indent="0">
                        <a:spcAft>
                          <a:spcPts val="0"/>
                        </a:spcAft>
                        <a:buNone/>
                      </a:pPr>
                      <a:r>
                        <a:rPr sz="1800" b="0" i="0">
                          <a:solidFill>
                            <a:srgbClr val="000000"/>
                          </a:solidFill>
                          <a:latin typeface="Times New Roman"/>
                          <a:ea typeface="Times New Roman"/>
                          <a:cs typeface="Times New Roman"/>
                        </a:rPr>
                        <a:t>Trained; evaluation ongoing</a:t>
                      </a:r>
                    </a:p>
                  </a:txBody>
                  <a:tcPr marL="73152" marR="73152" marT="36576" marB="36576">
                    <a:lnL w="9525" cap="flat" cmpd="sng" algn="ctr">
                      <a:solidFill>
                        <a:srgbClr val="404040"/>
                      </a:solidFill>
                      <a:prstDash val="solid"/>
                    </a:lnL>
                    <a:lnR w="9525" cap="flat" cmpd="sng" algn="ctr">
                      <a:solidFill>
                        <a:srgbClr val="404040"/>
                      </a:solidFill>
                      <a:prstDash val="solid"/>
                    </a:lnR>
                    <a:lnT w="9525" cap="flat" cmpd="sng" algn="ctr">
                      <a:solidFill>
                        <a:srgbClr val="404040"/>
                      </a:solidFill>
                      <a:prstDash val="solid"/>
                    </a:lnT>
                    <a:lnB w="9525" cap="flat" cmpd="sng" algn="ctr">
                      <a:solidFill>
                        <a:srgbClr val="404040"/>
                      </a:solidFill>
                      <a:prstDash val="soli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CONCLUSION AND NEXT STEPS</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371600"/>
            <a:ext cx="11000232" cy="4846320"/>
          </a:xfrm>
          <a:prstGeom prst="rect">
            <a:avLst/>
          </a:prstGeom>
          <a:noFill/>
        </p:spPr>
        <p:txBody>
          <a:bodyPr wrap="square" lIns="45720" rIns="45720" tIns="27432" bIns="27432"/>
          <a:lstStyle/>
          <a:p>
            <a:pPr marL="256032" indent="-256032">
              <a:spcAft>
                <a:spcPts val="1600"/>
              </a:spcAft>
              <a:buFont typeface="Arial"/>
              <a:buChar char="•"/>
            </a:pPr>
            <a:r>
              <a:rPr sz="1800" b="0" i="0">
                <a:solidFill>
                  <a:srgbClr val="000000"/>
                </a:solidFill>
                <a:latin typeface="Times New Roman"/>
                <a:ea typeface="Times New Roman"/>
                <a:cs typeface="Times New Roman"/>
              </a:rPr>
              <a:t>All five modules are built. An agent can save what it is told, recall it in a new session and show the message each memory came from.</a:t>
            </a:r>
          </a:p>
          <a:p>
            <a:pPr marL="256032" indent="-256032">
              <a:spcAft>
                <a:spcPts val="1600"/>
              </a:spcAft>
              <a:buFont typeface="Arial"/>
              <a:buChar char="•"/>
            </a:pPr>
            <a:r>
              <a:rPr sz="1800" b="0" i="0">
                <a:solidFill>
                  <a:srgbClr val="000000"/>
                </a:solidFill>
                <a:latin typeface="Times New Roman"/>
                <a:ea typeface="Times New Roman"/>
                <a:cs typeface="Times New Roman"/>
              </a:rPr>
              <a:t>Corrections replace old values without erasing them, and unrelated memories stay as they were.</a:t>
            </a:r>
          </a:p>
          <a:p>
            <a:pPr marL="256032" indent="-256032">
              <a:spcAft>
                <a:spcPts val="1600"/>
              </a:spcAft>
              <a:buFont typeface="Arial"/>
              <a:buChar char="•"/>
            </a:pPr>
            <a:r>
              <a:rPr sz="1800" b="0" i="0">
                <a:solidFill>
                  <a:srgbClr val="000000"/>
                </a:solidFill>
                <a:latin typeface="Times New Roman"/>
                <a:ea typeface="Times New Roman"/>
                <a:cs typeface="Times New Roman"/>
              </a:rPr>
              <a:t>Fine-tuning raised correct inferences from 1/16 to 13/16 and correct answers from 10/16 to 15/16, but extraction dropped from 50/55 to 41/55.</a:t>
            </a:r>
          </a:p>
          <a:p>
            <a:pPr marL="256032" indent="-256032">
              <a:spcAft>
                <a:spcPts val="1600"/>
              </a:spcAft>
              <a:buFont typeface="Arial"/>
              <a:buChar char="•"/>
            </a:pPr>
            <a:r>
              <a:rPr sz="1800" b="0" i="0">
                <a:solidFill>
                  <a:srgbClr val="000000"/>
                </a:solidFill>
                <a:latin typeface="Times New Roman"/>
                <a:ea typeface="Times New Roman"/>
                <a:cs typeface="Times New Roman"/>
              </a:rPr>
              <a:t>Next: fix extraction and date handling, run the full LongMemEval-S benchmark, and add external tests with human review.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REFERENCES (1/2)</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80160"/>
            <a:ext cx="11000232" cy="4983480"/>
          </a:xfrm>
          <a:prstGeom prst="rect">
            <a:avLst/>
          </a:prstGeom>
          <a:noFill/>
        </p:spPr>
        <p:txBody>
          <a:bodyPr wrap="square" lIns="45720" rIns="45720" tIns="27432" bIns="27432"/>
          <a:lstStyle/>
          <a:p>
            <a:pPr marL="548640" indent="-548640">
              <a:spcAft>
                <a:spcPts val="300"/>
              </a:spcAft>
              <a:buNone/>
              <a:tabLst>
                <a:tab pos="548640" algn="l"/>
              </a:tabLst>
            </a:pPr>
            <a:r>
              <a:rPr sz="1800" b="0" i="0">
                <a:solidFill>
                  <a:srgbClr val="000000"/>
                </a:solidFill>
                <a:latin typeface="Times New Roman"/>
                <a:ea typeface="Times New Roman"/>
                <a:cs typeface="Times New Roman"/>
              </a:rPr>
              <a:t>[1]	</a:t>
            </a:r>
            <a:r>
              <a:rPr sz="1800" b="0" i="0">
                <a:solidFill>
                  <a:srgbClr val="000000"/>
                </a:solidFill>
                <a:latin typeface="Times New Roman"/>
                <a:ea typeface="Times New Roman"/>
                <a:cs typeface="Times New Roman"/>
              </a:rPr>
              <a:t>N. F. Liu et al., "Lost in the middle: How language models use long contexts," </a:t>
            </a:r>
            <a:r>
              <a:rPr sz="1800" b="0" i="1">
                <a:solidFill>
                  <a:srgbClr val="000000"/>
                </a:solidFill>
                <a:latin typeface="Times New Roman"/>
                <a:ea typeface="Times New Roman"/>
                <a:cs typeface="Times New Roman"/>
              </a:rPr>
              <a:t>Trans. Assoc. Comput. Linguist.</a:t>
            </a:r>
            <a:r>
              <a:rPr sz="1800" b="0" i="0">
                <a:solidFill>
                  <a:srgbClr val="000000"/>
                </a:solidFill>
                <a:latin typeface="Times New Roman"/>
                <a:ea typeface="Times New Roman"/>
                <a:cs typeface="Times New Roman"/>
              </a:rPr>
              <a:t>, vol. 12, pp. 157–173, 2024.</a:t>
            </a:r>
          </a:p>
          <a:p>
            <a:pPr marL="548640" indent="-548640">
              <a:spcAft>
                <a:spcPts val="300"/>
              </a:spcAft>
              <a:buNone/>
              <a:tabLst>
                <a:tab pos="548640" algn="l"/>
              </a:tabLst>
            </a:pPr>
            <a:r>
              <a:rPr sz="1800" b="0" i="0">
                <a:solidFill>
                  <a:srgbClr val="000000"/>
                </a:solidFill>
                <a:latin typeface="Times New Roman"/>
                <a:ea typeface="Times New Roman"/>
                <a:cs typeface="Times New Roman"/>
              </a:rPr>
              <a:t>[2]	</a:t>
            </a:r>
            <a:r>
              <a:rPr sz="1800" b="0" i="0">
                <a:solidFill>
                  <a:srgbClr val="000000"/>
                </a:solidFill>
                <a:latin typeface="Times New Roman"/>
                <a:ea typeface="Times New Roman"/>
                <a:cs typeface="Times New Roman"/>
              </a:rPr>
              <a:t>D. Wu, H. Wang, W. Yu, Y. Zhang, K.-W. Chang, and D. Yu, "LongMemEval: Benchmarking chat assistants on long-term interactive memory," in </a:t>
            </a:r>
            <a:r>
              <a:rPr sz="1800" b="0" i="1">
                <a:solidFill>
                  <a:srgbClr val="000000"/>
                </a:solidFill>
                <a:latin typeface="Times New Roman"/>
                <a:ea typeface="Times New Roman"/>
                <a:cs typeface="Times New Roman"/>
              </a:rPr>
              <a:t>Proc. Int. Conf. Learn. Represent. (ICLR)</a:t>
            </a:r>
            <a:r>
              <a:rPr sz="1800" b="0" i="0">
                <a:solidFill>
                  <a:srgbClr val="000000"/>
                </a:solidFill>
                <a:latin typeface="Times New Roman"/>
                <a:ea typeface="Times New Roman"/>
                <a:cs typeface="Times New Roman"/>
              </a:rPr>
              <a:t>, 2025, pp. 86809–86836.</a:t>
            </a:r>
          </a:p>
          <a:p>
            <a:pPr marL="548640" indent="-548640">
              <a:spcAft>
                <a:spcPts val="300"/>
              </a:spcAft>
              <a:buNone/>
              <a:tabLst>
                <a:tab pos="548640" algn="l"/>
              </a:tabLst>
            </a:pPr>
            <a:r>
              <a:rPr sz="1800" b="0" i="0">
                <a:solidFill>
                  <a:srgbClr val="000000"/>
                </a:solidFill>
                <a:latin typeface="Times New Roman"/>
                <a:ea typeface="Times New Roman"/>
                <a:cs typeface="Times New Roman"/>
              </a:rPr>
              <a:t>[3]	</a:t>
            </a:r>
            <a:r>
              <a:rPr sz="1800" b="0" i="0">
                <a:solidFill>
                  <a:srgbClr val="000000"/>
                </a:solidFill>
                <a:latin typeface="Times New Roman"/>
                <a:ea typeface="Times New Roman"/>
                <a:cs typeface="Times New Roman"/>
              </a:rPr>
              <a:t>C. Packer et al., "MemGPT: Towards LLMs as operating systems," 2023, </a:t>
            </a:r>
            <a:r>
              <a:rPr sz="1800" b="0" i="1">
                <a:solidFill>
                  <a:srgbClr val="000000"/>
                </a:solidFill>
                <a:latin typeface="Times New Roman"/>
                <a:ea typeface="Times New Roman"/>
                <a:cs typeface="Times New Roman"/>
              </a:rPr>
              <a:t>arXiv:2310.08560</a:t>
            </a:r>
            <a:r>
              <a:rPr sz="1800" b="0" i="0">
                <a:solidFill>
                  <a:srgbClr val="000000"/>
                </a:solidFill>
                <a:latin typeface="Times New Roman"/>
                <a:ea typeface="Times New Roman"/>
                <a:cs typeface="Times New Roman"/>
              </a:rPr>
              <a:t>.</a:t>
            </a:r>
          </a:p>
          <a:p>
            <a:pPr marL="548640" indent="-548640">
              <a:spcAft>
                <a:spcPts val="300"/>
              </a:spcAft>
              <a:buNone/>
              <a:tabLst>
                <a:tab pos="548640" algn="l"/>
              </a:tabLst>
            </a:pPr>
            <a:r>
              <a:rPr sz="1800" b="0" i="0">
                <a:solidFill>
                  <a:srgbClr val="000000"/>
                </a:solidFill>
                <a:latin typeface="Times New Roman"/>
                <a:ea typeface="Times New Roman"/>
                <a:cs typeface="Times New Roman"/>
              </a:rPr>
              <a:t>[4]	</a:t>
            </a:r>
            <a:r>
              <a:rPr sz="1800" b="0" i="0">
                <a:solidFill>
                  <a:srgbClr val="000000"/>
                </a:solidFill>
                <a:latin typeface="Times New Roman"/>
                <a:ea typeface="Times New Roman"/>
                <a:cs typeface="Times New Roman"/>
              </a:rPr>
              <a:t>P. Rasmussen, P. Paliychuk, T. Beauvais, J. Ryan, and D. Chalef, "Zep: A temporal knowledge graph architecture for agent memory," 2025, </a:t>
            </a:r>
            <a:r>
              <a:rPr sz="1800" b="0" i="1">
                <a:solidFill>
                  <a:srgbClr val="000000"/>
                </a:solidFill>
                <a:latin typeface="Times New Roman"/>
                <a:ea typeface="Times New Roman"/>
                <a:cs typeface="Times New Roman"/>
              </a:rPr>
              <a:t>arXiv:2501.13956</a:t>
            </a:r>
            <a:r>
              <a:rPr sz="1800" b="0" i="0">
                <a:solidFill>
                  <a:srgbClr val="000000"/>
                </a:solidFill>
                <a:latin typeface="Times New Roman"/>
                <a:ea typeface="Times New Roman"/>
                <a:cs typeface="Times New Roman"/>
              </a:rPr>
              <a:t>.</a:t>
            </a:r>
          </a:p>
          <a:p>
            <a:pPr marL="548640" indent="-548640">
              <a:spcAft>
                <a:spcPts val="300"/>
              </a:spcAft>
              <a:buNone/>
              <a:tabLst>
                <a:tab pos="548640" algn="l"/>
              </a:tabLst>
            </a:pPr>
            <a:r>
              <a:rPr sz="1800" b="0" i="0">
                <a:solidFill>
                  <a:srgbClr val="000000"/>
                </a:solidFill>
                <a:latin typeface="Times New Roman"/>
                <a:ea typeface="Times New Roman"/>
                <a:cs typeface="Times New Roman"/>
              </a:rPr>
              <a:t>[5]	</a:t>
            </a:r>
            <a:r>
              <a:rPr sz="1800" b="0" i="0">
                <a:solidFill>
                  <a:srgbClr val="000000"/>
                </a:solidFill>
                <a:latin typeface="Times New Roman"/>
                <a:ea typeface="Times New Roman"/>
                <a:cs typeface="Times New Roman"/>
              </a:rPr>
              <a:t>P. Chhikara, D. Khant, S. Aryan, T. Singh, and D. Yadav, "Mem0: Building production-ready AI agents with scalable long-term memory," in </a:t>
            </a:r>
            <a:r>
              <a:rPr sz="1800" b="0" i="1">
                <a:solidFill>
                  <a:srgbClr val="000000"/>
                </a:solidFill>
                <a:latin typeface="Times New Roman"/>
                <a:ea typeface="Times New Roman"/>
                <a:cs typeface="Times New Roman"/>
              </a:rPr>
              <a:t>Proc. 28th Eur. Conf. Artif. Intell. (ECAI)</a:t>
            </a:r>
            <a:r>
              <a:rPr sz="1800" b="0" i="0">
                <a:solidFill>
                  <a:srgbClr val="000000"/>
                </a:solidFill>
                <a:latin typeface="Times New Roman"/>
                <a:ea typeface="Times New Roman"/>
                <a:cs typeface="Times New Roman"/>
              </a:rPr>
              <a:t>, 2025, pp. 2993–3000, doi: 10.3233/FAIA251160.</a:t>
            </a:r>
          </a:p>
          <a:p>
            <a:pPr marL="548640" indent="-548640">
              <a:spcAft>
                <a:spcPts val="300"/>
              </a:spcAft>
              <a:buNone/>
              <a:tabLst>
                <a:tab pos="548640" algn="l"/>
              </a:tabLst>
            </a:pPr>
            <a:r>
              <a:rPr sz="1800" b="0" i="0">
                <a:solidFill>
                  <a:srgbClr val="000000"/>
                </a:solidFill>
                <a:latin typeface="Times New Roman"/>
                <a:ea typeface="Times New Roman"/>
                <a:cs typeface="Times New Roman"/>
              </a:rPr>
              <a:t>[6]	</a:t>
            </a:r>
            <a:r>
              <a:rPr sz="1800" b="0" i="0">
                <a:solidFill>
                  <a:srgbClr val="000000"/>
                </a:solidFill>
                <a:latin typeface="Times New Roman"/>
                <a:ea typeface="Times New Roman"/>
                <a:cs typeface="Times New Roman"/>
              </a:rPr>
              <a:t>S. Daga, S. Sreedhar, and D. Shah, "LongMemEval," Supermemory Research, May 2026. Accessed: Oct. 6, 2026. [Online]. Available: https://supermemory.ai/research/longmembench/</a:t>
            </a:r>
          </a:p>
          <a:p>
            <a:pPr marL="548640" indent="-548640">
              <a:spcAft>
                <a:spcPts val="300"/>
              </a:spcAft>
              <a:buNone/>
              <a:tabLst>
                <a:tab pos="548640" algn="l"/>
              </a:tabLst>
            </a:pPr>
            <a:r>
              <a:rPr sz="1800" b="0" i="0">
                <a:solidFill>
                  <a:srgbClr val="000000"/>
                </a:solidFill>
                <a:latin typeface="Times New Roman"/>
                <a:ea typeface="Times New Roman"/>
                <a:cs typeface="Times New Roman"/>
              </a:rPr>
              <a:t>[7]	</a:t>
            </a:r>
            <a:r>
              <a:rPr sz="1800" b="0" i="0">
                <a:solidFill>
                  <a:srgbClr val="000000"/>
                </a:solidFill>
                <a:latin typeface="Times New Roman"/>
                <a:ea typeface="Times New Roman"/>
                <a:cs typeface="Times New Roman"/>
              </a:rPr>
              <a:t>C. Latimer et al., "Hindsight is 20/20: Building agent memory that retains, recalls, and reflects," 2025, </a:t>
            </a:r>
            <a:r>
              <a:rPr sz="1800" b="0" i="1">
                <a:solidFill>
                  <a:srgbClr val="000000"/>
                </a:solidFill>
                <a:latin typeface="Times New Roman"/>
                <a:ea typeface="Times New Roman"/>
                <a:cs typeface="Times New Roman"/>
              </a:rPr>
              <a:t>arXiv:2512.12818</a:t>
            </a:r>
            <a:r>
              <a:rPr sz="1800" b="0" i="0">
                <a:solidFill>
                  <a:srgbClr val="000000"/>
                </a:solidFill>
                <a:latin typeface="Times New Roman"/>
                <a:ea typeface="Times New Roman"/>
                <a:cs typeface="Times New Roman"/>
              </a:rPr>
              <a:t>.</a:t>
            </a:r>
          </a:p>
          <a:p>
            <a:pPr marL="548640" indent="-548640">
              <a:spcAft>
                <a:spcPts val="300"/>
              </a:spcAft>
              <a:buNone/>
              <a:tabLst>
                <a:tab pos="548640" algn="l"/>
              </a:tabLst>
            </a:pPr>
            <a:r>
              <a:rPr sz="1800" b="0" i="0">
                <a:solidFill>
                  <a:srgbClr val="000000"/>
                </a:solidFill>
                <a:latin typeface="Times New Roman"/>
                <a:ea typeface="Times New Roman"/>
                <a:cs typeface="Times New Roman"/>
              </a:rPr>
              <a:t>[8]	</a:t>
            </a:r>
            <a:r>
              <a:rPr sz="1800" b="0" i="0">
                <a:solidFill>
                  <a:srgbClr val="000000"/>
                </a:solidFill>
                <a:latin typeface="Times New Roman"/>
                <a:ea typeface="Times New Roman"/>
                <a:cs typeface="Times New Roman"/>
              </a:rPr>
              <a:t>PostgreSQL Global Development Group, "Full text search," in </a:t>
            </a:r>
            <a:r>
              <a:rPr sz="1800" b="0" i="1">
                <a:solidFill>
                  <a:srgbClr val="000000"/>
                </a:solidFill>
                <a:latin typeface="Times New Roman"/>
                <a:ea typeface="Times New Roman"/>
                <a:cs typeface="Times New Roman"/>
              </a:rPr>
              <a:t>PostgreSQL 17 Documentation</a:t>
            </a:r>
            <a:r>
              <a:rPr sz="1800" b="0" i="0">
                <a:solidFill>
                  <a:srgbClr val="000000"/>
                </a:solidFill>
                <a:latin typeface="Times New Roman"/>
                <a:ea typeface="Times New Roman"/>
                <a:cs typeface="Times New Roman"/>
              </a:rPr>
              <a:t>, ch. 12, 2026. Accessed: Oct. 6, 2026. [Online]. Available: https://www.postgresql.org/docs/17/textsearch.html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i="0">
                <a:solidFill>
                  <a:srgbClr val="000000"/>
                </a:solidFill>
                <a:latin typeface="Times New Roman"/>
                <a:ea typeface="Times New Roman"/>
                <a:cs typeface="Times New Roman"/>
              </a:rPr>
              <a:t>REFERENCES (2/2)</a:t>
            </a:r>
          </a:p>
        </p:txBody>
      </p:sp>
      <p:sp>
        <p:nvSpPr>
          <p:cNvPr id="25" name="PlaceHolder 2"/>
          <p:cNvSpPr>
            <a:spLocks noGrp="1"/>
          </p:cNvSpPr>
          <p:nvPr>
            <p:ph type="sldNum" idx="5"/>
          </p:nvPr>
        </p:nvSpPr>
        <p:spPr>
          <a:xfrm>
            <a:off x="10865880" y="384120"/>
            <a:ext cx="730440" cy="4561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rgbClr val="000000"/>
                </a:solidFill>
                <a:effectLst/>
                <a:uFillTx/>
                <a:latin typeface="Times New Roman"/>
                <a:ea typeface="Times New Roman"/>
              </a:defRPr>
            </a:lvl1pPr>
          </a:lstStyle>
          <a:p>
            <a:pPr indent="0" algn="r" defTabSz="914400">
              <a:lnSpc>
                <a:spcPct val="100000"/>
              </a:lnSpc>
              <a:buNone/>
              <a:tabLst>
                <a:tab pos="0" algn="l"/>
              </a:tabLst>
            </a:pPr>
            <a:fld id="{9873986A-C957-40DB-B7BB-3EB1CE963720}" type="slidenum">
              <a:rPr lang="en-US" sz="1800" b="0" u="none" strike="noStrike">
                <a:solidFill>
                  <a:srgbClr val="000000"/>
                </a:solidFill>
                <a:effectLst/>
                <a:uFillTx/>
                <a:latin typeface="Times New Roman"/>
                <a:ea typeface="Times New Roman"/>
              </a:rPr>
              <a:t>&lt;number&gt;</a:t>
            </a:fld>
            <a:endParaRPr lang="en-US" sz="1600" b="0" u="none" strike="noStrike">
              <a:solidFill>
                <a:srgbClr val="000000"/>
              </a:solidFill>
              <a:effectLst/>
              <a:uFillTx/>
              <a:latin typeface="Times New Roman"/>
            </a:endParaRPr>
          </a:p>
        </p:txBody>
      </p:sp>
      <p:sp>
        <p:nvSpPr>
          <p:cNvPr id="26" name="TextBox 25"/>
          <p:cNvSpPr txBox="1"/>
          <p:nvPr/>
        </p:nvSpPr>
        <p:spPr>
          <a:xfrm>
            <a:off x="594360" y="1280160"/>
            <a:ext cx="11000232" cy="4983480"/>
          </a:xfrm>
          <a:prstGeom prst="rect">
            <a:avLst/>
          </a:prstGeom>
          <a:noFill/>
        </p:spPr>
        <p:txBody>
          <a:bodyPr wrap="square" lIns="45720" rIns="45720" tIns="27432" bIns="27432"/>
          <a:lstStyle/>
          <a:p>
            <a:pPr marL="548640" indent="-548640">
              <a:spcAft>
                <a:spcPts val="300"/>
              </a:spcAft>
              <a:buNone/>
              <a:tabLst>
                <a:tab pos="548640" algn="l"/>
              </a:tabLst>
            </a:pPr>
            <a:r>
              <a:rPr sz="1800" b="0" i="0">
                <a:solidFill>
                  <a:srgbClr val="000000"/>
                </a:solidFill>
                <a:latin typeface="Times New Roman"/>
                <a:ea typeface="Times New Roman"/>
                <a:cs typeface="Times New Roman"/>
              </a:rPr>
              <a:t>[9]	</a:t>
            </a:r>
            <a:r>
              <a:rPr sz="1800" b="0" i="0">
                <a:solidFill>
                  <a:srgbClr val="000000"/>
                </a:solidFill>
                <a:latin typeface="Times New Roman"/>
                <a:ea typeface="Times New Roman"/>
                <a:cs typeface="Times New Roman"/>
              </a:rPr>
              <a:t>A. Kane et al., "pgvector: Open-source vector similarity search for Postgres," GitHub repository, 2026. Accessed: Oct. 6, 2026. [Online]. Available: https://github.com/pgvector/pgvector</a:t>
            </a:r>
          </a:p>
          <a:p>
            <a:pPr marL="548640" indent="-548640">
              <a:spcAft>
                <a:spcPts val="300"/>
              </a:spcAft>
              <a:buNone/>
              <a:tabLst>
                <a:tab pos="548640" algn="l"/>
              </a:tabLst>
            </a:pPr>
            <a:r>
              <a:rPr sz="1800" b="0" i="0">
                <a:solidFill>
                  <a:srgbClr val="000000"/>
                </a:solidFill>
                <a:latin typeface="Times New Roman"/>
                <a:ea typeface="Times New Roman"/>
                <a:cs typeface="Times New Roman"/>
              </a:rPr>
              <a:t>[10]	</a:t>
            </a:r>
            <a:r>
              <a:rPr sz="1800" b="0" i="0">
                <a:solidFill>
                  <a:srgbClr val="000000"/>
                </a:solidFill>
                <a:latin typeface="Times New Roman"/>
                <a:ea typeface="Times New Roman"/>
                <a:cs typeface="Times New Roman"/>
              </a:rPr>
              <a:t>G. V. Cormack, C. L. A. Clarke, and S. Büttcher, "Reciprocal rank fusion outperforms Condorcet and individual rank learning methods," in </a:t>
            </a:r>
            <a:r>
              <a:rPr sz="1800" b="0" i="1">
                <a:solidFill>
                  <a:srgbClr val="000000"/>
                </a:solidFill>
                <a:latin typeface="Times New Roman"/>
                <a:ea typeface="Times New Roman"/>
                <a:cs typeface="Times New Roman"/>
              </a:rPr>
              <a:t>Proc. 32nd Int. ACM SIGIR Conf. Res. Develop. Inf. Retrieval</a:t>
            </a:r>
            <a:r>
              <a:rPr sz="1800" b="0" i="0">
                <a:solidFill>
                  <a:srgbClr val="000000"/>
                </a:solidFill>
                <a:latin typeface="Times New Roman"/>
                <a:ea typeface="Times New Roman"/>
                <a:cs typeface="Times New Roman"/>
              </a:rPr>
              <a:t>, Boston, MA, USA, 2009, pp. 758–759, doi: 10.1145/1571941.1572114.</a:t>
            </a:r>
          </a:p>
          <a:p>
            <a:pPr marL="548640" indent="-548640">
              <a:spcAft>
                <a:spcPts val="300"/>
              </a:spcAft>
              <a:buNone/>
              <a:tabLst>
                <a:tab pos="548640" algn="l"/>
              </a:tabLst>
            </a:pPr>
            <a:r>
              <a:rPr sz="1800" b="0" i="0">
                <a:solidFill>
                  <a:srgbClr val="000000"/>
                </a:solidFill>
                <a:latin typeface="Times New Roman"/>
                <a:ea typeface="Times New Roman"/>
                <a:cs typeface="Times New Roman"/>
              </a:rPr>
              <a:t>[11]	</a:t>
            </a:r>
            <a:r>
              <a:rPr sz="1800" b="0" i="0">
                <a:solidFill>
                  <a:srgbClr val="000000"/>
                </a:solidFill>
                <a:latin typeface="Times New Roman"/>
                <a:ea typeface="Times New Roman"/>
                <a:cs typeface="Times New Roman"/>
              </a:rPr>
              <a:t>Neo4j, Inc., "Query the database," in </a:t>
            </a:r>
            <a:r>
              <a:rPr sz="1800" b="0" i="1">
                <a:solidFill>
                  <a:srgbClr val="000000"/>
                </a:solidFill>
                <a:latin typeface="Times New Roman"/>
                <a:ea typeface="Times New Roman"/>
                <a:cs typeface="Times New Roman"/>
              </a:rPr>
              <a:t>Neo4j HTTP API Manual</a:t>
            </a:r>
            <a:r>
              <a:rPr sz="1800" b="0" i="0">
                <a:solidFill>
                  <a:srgbClr val="000000"/>
                </a:solidFill>
                <a:latin typeface="Times New Roman"/>
                <a:ea typeface="Times New Roman"/>
                <a:cs typeface="Times New Roman"/>
              </a:rPr>
              <a:t>, v5, 2026. Accessed: Oct. 6, 2026. [Online]. Available: https://neo4j.com/docs/http-api/5/query/</a:t>
            </a:r>
          </a:p>
          <a:p>
            <a:pPr marL="548640" indent="-548640">
              <a:spcAft>
                <a:spcPts val="300"/>
              </a:spcAft>
              <a:buNone/>
              <a:tabLst>
                <a:tab pos="548640" algn="l"/>
              </a:tabLst>
            </a:pPr>
            <a:r>
              <a:rPr sz="1800" b="0" i="0">
                <a:solidFill>
                  <a:srgbClr val="000000"/>
                </a:solidFill>
                <a:latin typeface="Times New Roman"/>
                <a:ea typeface="Times New Roman"/>
                <a:cs typeface="Times New Roman"/>
              </a:rPr>
              <a:t>[12]	</a:t>
            </a:r>
            <a:r>
              <a:rPr sz="1800" b="0" i="0">
                <a:solidFill>
                  <a:srgbClr val="000000"/>
                </a:solidFill>
                <a:latin typeface="Times New Roman"/>
                <a:ea typeface="Times New Roman"/>
                <a:cs typeface="Times New Roman"/>
              </a:rPr>
              <a:t>Y. Zhang et al., "Qwen3 Embedding: Advancing text embedding and reranking through foundation models," 2025, </a:t>
            </a:r>
            <a:r>
              <a:rPr sz="1800" b="0" i="1">
                <a:solidFill>
                  <a:srgbClr val="000000"/>
                </a:solidFill>
                <a:latin typeface="Times New Roman"/>
                <a:ea typeface="Times New Roman"/>
                <a:cs typeface="Times New Roman"/>
              </a:rPr>
              <a:t>arXiv:2506.05176</a:t>
            </a:r>
            <a:r>
              <a:rPr sz="1800" b="0" i="0">
                <a:solidFill>
                  <a:srgbClr val="000000"/>
                </a:solidFill>
                <a:latin typeface="Times New Roman"/>
                <a:ea typeface="Times New Roman"/>
                <a:cs typeface="Times New Roman"/>
              </a:rPr>
              <a:t>.</a:t>
            </a:r>
          </a:p>
          <a:p>
            <a:pPr marL="548640" indent="-548640">
              <a:spcAft>
                <a:spcPts val="300"/>
              </a:spcAft>
              <a:buNone/>
              <a:tabLst>
                <a:tab pos="548640" algn="l"/>
              </a:tabLst>
            </a:pPr>
            <a:r>
              <a:rPr sz="1800" b="0" i="0">
                <a:solidFill>
                  <a:srgbClr val="000000"/>
                </a:solidFill>
                <a:latin typeface="Times New Roman"/>
                <a:ea typeface="Times New Roman"/>
                <a:cs typeface="Times New Roman"/>
              </a:rPr>
              <a:t>[13]	</a:t>
            </a:r>
            <a:r>
              <a:rPr sz="1800" b="0" i="0">
                <a:solidFill>
                  <a:srgbClr val="000000"/>
                </a:solidFill>
                <a:latin typeface="Times New Roman"/>
                <a:ea typeface="Times New Roman"/>
                <a:cs typeface="Times New Roman"/>
              </a:rPr>
              <a:t>M. Zechner et al., "pi: AI agent toolkit," GitHub repository, 2026. Accessed: Oct. 6, 2026. [Online]. Available: https://github.com/earendil-works/pi</a:t>
            </a:r>
          </a:p>
          <a:p>
            <a:pPr marL="548640" indent="-548640">
              <a:spcAft>
                <a:spcPts val="300"/>
              </a:spcAft>
              <a:buNone/>
              <a:tabLst>
                <a:tab pos="548640" algn="l"/>
              </a:tabLst>
            </a:pPr>
            <a:r>
              <a:rPr sz="1800" b="0" i="0">
                <a:solidFill>
                  <a:srgbClr val="000000"/>
                </a:solidFill>
                <a:latin typeface="Times New Roman"/>
                <a:ea typeface="Times New Roman"/>
                <a:cs typeface="Times New Roman"/>
              </a:rPr>
              <a:t>[14]	</a:t>
            </a:r>
            <a:r>
              <a:rPr sz="1800" b="0" i="0">
                <a:solidFill>
                  <a:srgbClr val="000000"/>
                </a:solidFill>
                <a:latin typeface="Times New Roman"/>
                <a:ea typeface="Times New Roman"/>
                <a:cs typeface="Times New Roman"/>
              </a:rPr>
              <a:t>T. Dettmers, A. Pagnoni, A. Holtzman, and L. Zettlemoyer, "QLoRA: Efficient finetuning of quantized LLMs," in </a:t>
            </a:r>
            <a:r>
              <a:rPr sz="1800" b="0" i="1">
                <a:solidFill>
                  <a:srgbClr val="000000"/>
                </a:solidFill>
                <a:latin typeface="Times New Roman"/>
                <a:ea typeface="Times New Roman"/>
                <a:cs typeface="Times New Roman"/>
              </a:rPr>
              <a:t>Proc. Adv. Neural Inf. Process. Syst. (NeurIPS)</a:t>
            </a:r>
            <a:r>
              <a:rPr sz="1800" b="0" i="0">
                <a:solidFill>
                  <a:srgbClr val="000000"/>
                </a:solidFill>
                <a:latin typeface="Times New Roman"/>
                <a:ea typeface="Times New Roman"/>
                <a:cs typeface="Times New Roman"/>
              </a:rPr>
              <a:t>, vol. 36, 2023, pp. 10088–10115.</a:t>
            </a:r>
          </a:p>
          <a:p>
            <a:pPr marL="548640" indent="-548640">
              <a:spcAft>
                <a:spcPts val="300"/>
              </a:spcAft>
              <a:buNone/>
              <a:tabLst>
                <a:tab pos="548640" algn="l"/>
              </a:tabLst>
            </a:pPr>
            <a:r>
              <a:rPr sz="1800" b="0" i="0">
                <a:solidFill>
                  <a:srgbClr val="000000"/>
                </a:solidFill>
                <a:latin typeface="Times New Roman"/>
                <a:ea typeface="Times New Roman"/>
                <a:cs typeface="Times New Roman"/>
              </a:rPr>
              <a:t>[15]	</a:t>
            </a:r>
            <a:r>
              <a:rPr sz="1800" b="0" i="0">
                <a:solidFill>
                  <a:srgbClr val="000000"/>
                </a:solidFill>
                <a:latin typeface="Times New Roman"/>
                <a:ea typeface="Times New Roman"/>
                <a:cs typeface="Times New Roman"/>
              </a:rPr>
              <a:t>A. Maharana, D.-H. Lee, S. Tulyakov, M. Bansal, F. Barbieri, and Y. Fang, "Evaluating very long-term conversational memory of LLM agents," in </a:t>
            </a:r>
            <a:r>
              <a:rPr sz="1800" b="0" i="1">
                <a:solidFill>
                  <a:srgbClr val="000000"/>
                </a:solidFill>
                <a:latin typeface="Times New Roman"/>
                <a:ea typeface="Times New Roman"/>
                <a:cs typeface="Times New Roman"/>
              </a:rPr>
              <a:t>Proc. 62nd Annu. Meeting Assoc. Comput. Linguist.</a:t>
            </a:r>
            <a:r>
              <a:rPr sz="1800" b="0" i="0">
                <a:solidFill>
                  <a:srgbClr val="000000"/>
                </a:solidFill>
                <a:latin typeface="Times New Roman"/>
                <a:ea typeface="Times New Roman"/>
                <a:cs typeface="Times New Roman"/>
              </a:rPr>
              <a:t>, Bangkok, Thailand, 2024, pp. 13851–13870, doi: 10.18653/v1/2024.acl-long.747.</a:t>
            </a:r>
          </a:p>
        </p:txBody>
      </p:sp>
    </p:spTree>
  </p:cSld>
  <p:clrMapOvr>
    <a:masterClrMapping/>
  </p:clrMapOvr>
</p:sld>
</file>

<file path=ppt/theme/theme1.xml><?xml version="1.0" encoding="utf-8"?>
<a:theme xmlns:a="http://schemas.openxmlformats.org/drawingml/2006/main" xmlns:r="http://schemas.openxmlformats.org/officeDocument/2006/relationships" name="Second Review">
  <a:themeElements>
    <a:clrScheme name="Second Review">
      <a:dk1>
        <a:srgbClr val="000000"/>
      </a:dk1>
      <a:lt1>
        <a:srgbClr val="FFFFFF"/>
      </a:lt1>
      <a:dk2>
        <a:srgbClr val="333333"/>
      </a:dk2>
      <a:lt2>
        <a:srgbClr val="F2F2F2"/>
      </a:lt2>
      <a:accent1>
        <a:srgbClr val="333333"/>
      </a:accent1>
      <a:accent2>
        <a:srgbClr val="595959"/>
      </a:accent2>
      <a:accent3>
        <a:srgbClr val="808080"/>
      </a:accent3>
      <a:accent4>
        <a:srgbClr val="BFBFBF"/>
      </a:accent4>
      <a:accent5>
        <a:srgbClr val="D9D9D9"/>
      </a:accent5>
      <a:accent6>
        <a:srgbClr val="F2F2F2"/>
      </a:accent6>
      <a:hlink>
        <a:srgbClr val="333333"/>
      </a:hlink>
      <a:folHlink>
        <a:srgbClr val="595959"/>
      </a:folHlink>
    </a:clrScheme>
    <a:fontScheme name="Second Review">
      <a:majorFont>
        <a:latin typeface="Times New Roman" pitchFamily="0" charset="1"/>
        <a:ea typeface=""/>
        <a:cs typeface=""/>
      </a:majorFont>
      <a:minorFont>
        <a:latin typeface="Times New Roman"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146</TotalTime>
  <Application>LibreOffice/26.2.6.3$Linux_X86_64 LibreOffice_project/620$Build-3</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2026-10-06T07:36:11Z</dcterms:created>
  <dc:creator>Team 13</dc:creator>
  <dc:description/>
  <dc:language>en-US</dc:language>
  <cp:lastModifiedBy/>
  <dcterms:modified xsi:type="dcterms:W3CDTF">2026-10-14T16:59:10Z</dcterms:modified>
  <cp:revision>16</cp:revision>
  <dc:subject>Second Project Review</dc:subject>
  <dc:title>Long-Term Memory Engine for AI Agents in Rust, Second Review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On-screen Show (16:9)</vt:lpwstr>
  </property>
  <property fmtid="{D5CDD505-2E9C-101B-9397-08002B2CF9AE}" pid="4" name="Slides">
    <vt:i4>16</vt:i4>
  </property>
</Properties>
</file>