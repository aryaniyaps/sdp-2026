
<file path=[Content_Types].xml><?xml version="1.0" encoding="utf-8"?>
<Types xmlns="http://schemas.openxmlformats.org/package/2006/content-types">
  <Default Extension="fntdata" ContentType="application/x-fontdata"/>
  <Default Extension="jpeg" ContentType="image/jpeg"/>
  <Default Extension="png" ContentType="image/png"/>
  <Default Extension="rels" ContentType="application/vnd.openxmlformats-package.relationships+xml"/>
  <Default Extension="xml" ContentType="application/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Override PartName="/ppt/presentation.xml" ContentType="application/vnd.openxmlformats-officedocument.presentationml.presentation.main+xml"/>
  <Override PartName="/ppt/slideMasters/slideMaster1.xml" ContentType="application/vnd.openxmlformats-officedocument.presentationml.slideMaster+xml"/>
  <Override PartName="/ppt/theme/theme1.xml" ContentType="application/vnd.openxmlformats-officedocument.theme+xml"/>
  <Override PartName="/ppt/theme/theme4.xml" ContentType="application/vnd.openxmlformats-officedocument.theme+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Masters/notesMaster1.xml" ContentType="application/vnd.openxmlformats-officedocument.presentationml.notesMaster+xml"/>
  <Override PartName="/ppt/presProps.xml" ContentType="application/vnd.openxmlformats-officedocument.presentationml.presProps+xml"/>
  <Override PartName="/ppt/media/image12.svg" ContentType="image/svg"/>
  <Override PartName="/ppt/media/image10.svg" ContentType="image/svg"/>
  <Override PartName="/ppt/media/image4.svg" ContentType="image/svg"/>
  <Override PartName="/ppt/media/image8.svg" ContentType="image/svg"/>
  <Override PartName="/ppt/media/image14.svg" ContentType="image/svg"/>
  <Override PartName="/ppt/media/image6.svg" ContentType="image/svg"/>
  <Override PartName="/ppt/slides/slide12.xml" ContentType="application/vnd.openxmlformats-officedocument.presentationml.slide+xml"/>
  <Override PartName="/ppt/slides/slide8.xml" ContentType="application/vnd.openxmlformats-officedocument.presentationml.slide+xml"/>
  <Override PartName="/ppt/slides/slide10.xml" ContentType="application/vnd.openxmlformats-officedocument.presentationml.slide+xml"/>
  <Override PartName="/ppt/slides/slide6.xml" ContentType="application/vnd.openxmlformats-officedocument.presentationml.slide+xml"/>
  <Override PartName="/ppt/slides/slide14.xml" ContentType="application/vnd.openxmlformats-officedocument.presentationml.slide+xml"/>
  <Override PartName="/ppt/slides/slide21.xml" ContentType="application/vnd.openxmlformats-officedocument.presentationml.slide+xml"/>
  <Override PartName="/ppt/slides/slide15.xml" ContentType="application/vnd.openxmlformats-officedocument.presentationml.slide+xml"/>
  <Override PartName="/ppt/slides/slide3.xml" ContentType="application/vnd.openxmlformats-officedocument.presentationml.slide+xml"/>
  <Override PartName="/ppt/slides/slide20.xml" ContentType="application/vnd.openxmlformats-officedocument.presentationml.slide+xml"/>
  <Override PartName="/ppt/slides/slide18.xml" ContentType="application/vnd.openxmlformats-officedocument.presentationml.slide+xml"/>
  <Override PartName="/ppt/slides/slide1.xml" ContentType="application/vnd.openxmlformats-officedocument.presentationml.slide+xml"/>
  <Override PartName="/ppt/slides/slide16.xml" ContentType="application/vnd.openxmlformats-officedocument.presentationml.slide+xml"/>
  <Override PartName="/ppt/slides/slide7.xml" ContentType="application/vnd.openxmlformats-officedocument.presentationml.slide+xml"/>
  <Override PartName="/ppt/slides/slide2.xml" ContentType="application/vnd.openxmlformats-officedocument.presentationml.slide+xml"/>
  <Override PartName="/ppt/slides/slide17.xml" ContentType="application/vnd.openxmlformats-officedocument.presentationml.slide+xml"/>
  <Override PartName="/ppt/slides/slide13.xml" ContentType="application/vnd.openxmlformats-officedocument.presentationml.slide+xml"/>
  <Override PartName="/ppt/slides/slide9.xml" ContentType="application/vnd.openxmlformats-officedocument.presentationml.slide+xml"/>
  <Override PartName="/ppt/slides/slide4.xml" ContentType="application/vnd.openxmlformats-officedocument.presentationml.slide+xml"/>
  <Override PartName="/ppt/slides/slide11.xml" ContentType="application/vnd.openxmlformats-officedocument.presentationml.slide+xml"/>
  <Override PartName="/ppt/slides/slide19.xml" ContentType="application/vnd.openxmlformats-officedocument.presentationml.slide+xml"/>
  <Override PartName="/ppt/slides/slide23.xml" ContentType="application/vnd.openxmlformats-officedocument.presentationml.slide+xml"/>
  <Override PartName="/ppt/slides/slide22.xml" ContentType="application/vnd.openxmlformats-officedocument.presentationml.slide+xml"/>
  <Override PartName="/ppt/slides/slide5.xml" ContentType="application/vnd.openxmlformats-officedocument.presentationml.slid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19.xml" ContentType="application/vnd.openxmlformats-officedocument.presentationml.notesSlide+xml"/>
  <Override PartName="/ppt/notesSlides/notesSlide5.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16.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Types>
</file>

<file path=_rels/.rels><?xml version="1.0" encoding="UTF-8"?>
<Relationships xmlns="http://schemas.openxmlformats.org/package/2006/relationships"><Relationship Id="rId1" Type="http://schemas.openxmlformats.org/package/2006/relationships/metadata/core-properties" Target="docProps/core.xml"/><Relationship Id="rId2" Type="http://schemas.openxmlformats.org/officeDocument/2006/relationships/extended-properties" Target="docProps/app.xml"/><Relationship Id="rId3" Type="http://schemas.openxmlformats.org/officeDocument/2006/relationships/custom-properties" Target="docProps/custom.xml"/><Relationship Id="rId4" Type="http://schemas.openxmlformats.org/officeDocument/2006/relationships/officeDocument" Target="ppt/presentation.xml"/>
</Relationships>
</file>

<file path=ppt/presentation.xml><?xml version="1.0" encoding="utf-8"?>
<p:presentation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sldMasterIdLst>
    <p:sldMasterId id="2147483648" r:id="rId2"/>
  </p:sldMasterIdLst>
  <p:notesMasterIdLst>
    <p:notesMasterId r:id="rId3"/>
  </p:notesMasterIdLst>
  <p:sldIdLst>
    <p:sldId id="256" r:id="rId4"/>
    <p:sldId id="257" r:id="rId5"/>
    <p:sldId id="258" r:id="rId6"/>
    <p:sldId id="259" r:id="rId7"/>
    <p:sldId id="260" r:id="rId8"/>
    <p:sldId id="261" r:id="rId9"/>
    <p:sldId id="262" r:id="rId10"/>
    <p:sldId id="263" r:id="rId11"/>
    <p:sldId id="264" r:id="rId12"/>
    <p:sldId id="265" r:id="rId13"/>
    <p:sldId id="266" r:id="rId14"/>
    <p:sldId id="267" r:id="rId15"/>
    <p:sldId id="268" r:id="rId16"/>
    <p:sldId id="269" r:id="rId17"/>
    <p:sldId id="270" r:id="rId18"/>
    <p:sldId id="271" r:id="rId19"/>
    <p:sldId id="272" r:id="rId20"/>
    <p:sldId id="273" r:id="rId21"/>
    <p:sldId id="274" r:id="rId22"/>
    <p:sldId id="275" r:id="rId23"/>
    <p:sldId id="276" r:id="rId24"/>
    <p:sldId id="277" r:id="rId25"/>
    <p:sldId id="278" r:id="rId26"/>
  </p:sldIdLst>
  <p:sldSz cx="12192000" cy="6858000"/>
  <p:notesSz cx="6858000" cy="12192000"/>
</p:presentation>
</file>

<file path=ppt/presProps.xml><?xml version="1.0" encoding="utf-8"?>
<p:presentationPr xmlns:a="http://schemas.openxmlformats.org/drawingml/2006/main" xmlns:p="http://schemas.openxmlformats.org/presentationml/2006/main" xmlns:r="http://schemas.openxmlformats.org/officeDocument/2006/relationships">
  <p:showPr showNarration="1"/>
</p:presentationPr>
</file>

<file path=ppt/_rels/presentation.xml.rels><?xml version="1.0" encoding="UTF-8"?>
<Relationships xmlns="http://schemas.openxmlformats.org/package/2006/relationships"><Relationship Id="rId1" Type="http://schemas.openxmlformats.org/officeDocument/2006/relationships/theme" Target="theme/theme1.xml"/><Relationship Id="rId2" Type="http://schemas.openxmlformats.org/officeDocument/2006/relationships/slideMaster" Target="slideMasters/slideMaster1.xml"/><Relationship Id="rId3" Type="http://schemas.openxmlformats.org/officeDocument/2006/relationships/notesMaster" Target="notesMasters/notesMaster1.xml"/><Relationship Id="rId4" Type="http://schemas.openxmlformats.org/officeDocument/2006/relationships/slide" Target="slides/slide1.xml"/><Relationship Id="rId5" Type="http://schemas.openxmlformats.org/officeDocument/2006/relationships/slide" Target="slides/slide2.xml"/><Relationship Id="rId6" Type="http://schemas.openxmlformats.org/officeDocument/2006/relationships/slide" Target="slides/slide3.xml"/><Relationship Id="rId7" Type="http://schemas.openxmlformats.org/officeDocument/2006/relationships/slide" Target="slides/slide4.xml"/><Relationship Id="rId8" Type="http://schemas.openxmlformats.org/officeDocument/2006/relationships/slide" Target="slides/slide5.xml"/><Relationship Id="rId9" Type="http://schemas.openxmlformats.org/officeDocument/2006/relationships/slide" Target="slides/slide6.xml"/><Relationship Id="rId10" Type="http://schemas.openxmlformats.org/officeDocument/2006/relationships/slide" Target="slides/slide7.xml"/><Relationship Id="rId11" Type="http://schemas.openxmlformats.org/officeDocument/2006/relationships/slide" Target="slides/slide8.xml"/><Relationship Id="rId12" Type="http://schemas.openxmlformats.org/officeDocument/2006/relationships/slide" Target="slides/slide9.xml"/><Relationship Id="rId13" Type="http://schemas.openxmlformats.org/officeDocument/2006/relationships/slide" Target="slides/slide10.xml"/><Relationship Id="rId14" Type="http://schemas.openxmlformats.org/officeDocument/2006/relationships/slide" Target="slides/slide11.xml"/><Relationship Id="rId15" Type="http://schemas.openxmlformats.org/officeDocument/2006/relationships/slide" Target="slides/slide12.xml"/><Relationship Id="rId16" Type="http://schemas.openxmlformats.org/officeDocument/2006/relationships/slide" Target="slides/slide13.xml"/><Relationship Id="rId17" Type="http://schemas.openxmlformats.org/officeDocument/2006/relationships/slide" Target="slides/slide14.xml"/><Relationship Id="rId18" Type="http://schemas.openxmlformats.org/officeDocument/2006/relationships/slide" Target="slides/slide15.xml"/><Relationship Id="rId19" Type="http://schemas.openxmlformats.org/officeDocument/2006/relationships/slide" Target="slides/slide16.xml"/><Relationship Id="rId20" Type="http://schemas.openxmlformats.org/officeDocument/2006/relationships/slide" Target="slides/slide17.xml"/><Relationship Id="rId21" Type="http://schemas.openxmlformats.org/officeDocument/2006/relationships/slide" Target="slides/slide18.xml"/><Relationship Id="rId22" Type="http://schemas.openxmlformats.org/officeDocument/2006/relationships/slide" Target="slides/slide19.xml"/><Relationship Id="rId23" Type="http://schemas.openxmlformats.org/officeDocument/2006/relationships/slide" Target="slides/slide20.xml"/><Relationship Id="rId24" Type="http://schemas.openxmlformats.org/officeDocument/2006/relationships/slide" Target="slides/slide21.xml"/><Relationship Id="rId25" Type="http://schemas.openxmlformats.org/officeDocument/2006/relationships/slide" Target="slides/slide22.xml"/><Relationship Id="rId26" Type="http://schemas.openxmlformats.org/officeDocument/2006/relationships/slide" Target="slides/slide23.xml"/><Relationship Id="rId27" Type="http://schemas.openxmlformats.org/officeDocument/2006/relationships/presProps" Target="presProps.xml"/>
</Relationships>
</file>

<file path=ppt/notesMasters/_rels/notesMaster1.xml.rels><?xml version="1.0" encoding="UTF-8"?>
<Relationships xmlns="http://schemas.openxmlformats.org/package/2006/relationships"><Relationship Id="rId1" Type="http://schemas.openxmlformats.org/officeDocument/2006/relationships/theme" Target="../theme/theme4.xml"/>
</Relationships>
</file>

<file path=ppt/notesMasters/notesMaster1.xml><?xml version="1.0" encoding="utf-8"?>
<p:notes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0" name="PlaceHolder 1"/>
          <p:cNvSpPr>
            <a:spLocks noGrp="1"/>
          </p:cNvSpPr>
          <p:nvPr>
            <p:ph type="sldImg"/>
          </p:nvPr>
        </p:nvSpPr>
        <p:spPr>
          <a:xfrm>
            <a:off x="0" y="764280"/>
            <a:ext cx="0" cy="0"/>
          </a:xfrm>
          <a:prstGeom prst="rect">
            <a:avLst/>
          </a:prstGeom>
          <a:noFill/>
          <a:ln w="0">
            <a:noFill/>
          </a:ln>
        </p:spPr>
        <p:txBody>
          <a:bodyPr lIns="0" tIns="0" rIns="0" bIns="0" anchor="ctr">
            <a:noAutofit/>
          </a:bodyPr>
          <a:p>
            <a:r>
              <a:rPr lang="en-US" sz="3600" b="0" u="none" strike="noStrike">
                <a:solidFill>
                  <a:schemeClr val="dk1"/>
                </a:solidFill>
                <a:effectLst/>
                <a:uFillTx/>
                <a:latin typeface="Times New Roman"/>
              </a:rPr>
              <a:t>Click to move the slide</a:t>
            </a:r>
            <a:endParaRPr lang="en-US" sz="3600" b="0" u="none" strike="noStrike">
              <a:solidFill>
                <a:schemeClr val="dk1"/>
              </a:solidFill>
              <a:effectLst/>
              <a:uFillTx/>
              <a:latin typeface="Times New Roman"/>
            </a:endParaRPr>
          </a:p>
        </p:txBody>
      </p:sp>
      <p:sp>
        <p:nvSpPr>
          <p:cNvPr id="11" name="PlaceHolder 2"/>
          <p:cNvSpPr>
            <a:spLocks noGrp="1"/>
          </p:cNvSpPr>
          <p:nvPr>
            <p:ph type="body"/>
          </p:nvPr>
        </p:nvSpPr>
        <p:spPr>
          <a:xfrm>
            <a:off x="777240" y="4777560"/>
            <a:ext cx="6217560" cy="4525920"/>
          </a:xfrm>
          <a:prstGeom prst="rect">
            <a:avLst/>
          </a:prstGeom>
          <a:noFill/>
          <a:ln w="0">
            <a:noFill/>
          </a:ln>
        </p:spPr>
        <p:txBody>
          <a:bodyPr lIns="0" tIns="0" rIns="0" bIns="0" anchor="t">
            <a:noAutofit/>
          </a:bodyPr>
          <a:p>
            <a:pPr indent="0" algn="l">
              <a:buNone/>
            </a:pPr>
            <a:r>
              <a:rPr lang="en-US" sz="2000" b="0" u="none" strike="noStrike">
                <a:solidFill>
                  <a:srgbClr val="000000"/>
                </a:solidFill>
                <a:effectLst/>
                <a:uFillTx/>
                <a:latin typeface="Arial"/>
              </a:rPr>
              <a:t>Click to edit the notes format</a:t>
            </a:r>
            <a:endParaRPr lang="en-US" sz="2000" b="0" u="none" strike="noStrike">
              <a:solidFill>
                <a:srgbClr val="000000"/>
              </a:solidFill>
              <a:effectLst/>
              <a:uFillTx/>
              <a:latin typeface="Arial"/>
            </a:endParaRPr>
          </a:p>
        </p:txBody>
      </p:sp>
      <p:sp>
        <p:nvSpPr>
          <p:cNvPr id="12" name="PlaceHolder 3"/>
          <p:cNvSpPr>
            <a:spLocks noGrp="1"/>
          </p:cNvSpPr>
          <p:nvPr>
            <p:ph type="hdr"/>
          </p:nvPr>
        </p:nvSpPr>
        <p:spPr>
          <a:xfrm>
            <a:off x="0" y="0"/>
            <a:ext cx="3372840" cy="502560"/>
          </a:xfrm>
          <a:prstGeom prst="rect">
            <a:avLst/>
          </a:prstGeom>
          <a:noFill/>
          <a:ln w="0">
            <a:noFill/>
          </a:ln>
        </p:spPr>
        <p:txBody>
          <a:bodyPr lIns="0" tIns="0" rIns="0" bIns="0" anchor="t">
            <a:noAutofit/>
          </a:bodyPr>
          <a:p>
            <a:pPr indent="0" algn="l">
              <a:buNone/>
            </a:pPr>
            <a:r>
              <a:rPr lang="en-US" sz="1400" b="0" u="none" strike="noStrike">
                <a:solidFill>
                  <a:srgbClr val="000000"/>
                </a:solidFill>
                <a:effectLst/>
                <a:uFillTx/>
                <a:latin typeface="Times New Roman"/>
              </a:rPr>
              <a:t>&lt;header&gt;</a:t>
            </a:r>
            <a:endParaRPr lang="en-US" sz="1400" b="0" u="none" strike="noStrike">
              <a:solidFill>
                <a:srgbClr val="000000"/>
              </a:solidFill>
              <a:effectLst/>
              <a:uFillTx/>
              <a:latin typeface="Times New Roman"/>
            </a:endParaRPr>
          </a:p>
        </p:txBody>
      </p:sp>
      <p:sp>
        <p:nvSpPr>
          <p:cNvPr id="13" name="PlaceHolder 4"/>
          <p:cNvSpPr>
            <a:spLocks noGrp="1"/>
          </p:cNvSpPr>
          <p:nvPr>
            <p:ph type="dt" idx="2"/>
          </p:nvPr>
        </p:nvSpPr>
        <p:spPr>
          <a:xfrm>
            <a:off x="4399200" y="0"/>
            <a:ext cx="3372840" cy="502560"/>
          </a:xfrm>
          <a:prstGeom prst="rect">
            <a:avLst/>
          </a:prstGeom>
          <a:noFill/>
          <a:ln w="0">
            <a:noFill/>
          </a:ln>
        </p:spPr>
        <p:txBody>
          <a:bodyPr lIns="0" tIns="0" rIns="0" bIns="0" anchor="t">
            <a:noAutofit/>
          </a:bodyPr>
          <a:lstStyle>
            <a:lvl1pPr indent="0" algn="r">
              <a:buNone/>
              <a:defRPr lang="en-US" sz="1400" b="0" u="none" strike="noStrike">
                <a:solidFill>
                  <a:srgbClr val="000000"/>
                </a:solidFill>
                <a:effectLst/>
                <a:uFillTx/>
                <a:latin typeface="Times New Roman"/>
              </a:defRPr>
            </a:lvl1pPr>
          </a:lstStyle>
          <a:p>
            <a:pPr indent="0" algn="r">
              <a:buNone/>
            </a:pPr>
            <a:r>
              <a:rPr lang="en-US" sz="1400" b="0" u="none" strike="noStrike">
                <a:solidFill>
                  <a:srgbClr val="000000"/>
                </a:solidFill>
                <a:effectLst/>
                <a:uFillTx/>
                <a:latin typeface="Times New Roman"/>
              </a:rPr>
              <a:t>&lt;date/time&gt;</a:t>
            </a:r>
            <a:endParaRPr lang="en-US" sz="1400" b="0" u="none" strike="noStrike">
              <a:solidFill>
                <a:srgbClr val="000000"/>
              </a:solidFill>
              <a:effectLst/>
              <a:uFillTx/>
              <a:latin typeface="Times New Roman"/>
            </a:endParaRPr>
          </a:p>
        </p:txBody>
      </p:sp>
      <p:sp>
        <p:nvSpPr>
          <p:cNvPr id="14" name="PlaceHolder 5"/>
          <p:cNvSpPr>
            <a:spLocks noGrp="1"/>
          </p:cNvSpPr>
          <p:nvPr>
            <p:ph type="ftr" idx="3"/>
          </p:nvPr>
        </p:nvSpPr>
        <p:spPr>
          <a:xfrm>
            <a:off x="0" y="9555480"/>
            <a:ext cx="3372840" cy="502560"/>
          </a:xfrm>
          <a:prstGeom prst="rect">
            <a:avLst/>
          </a:prstGeom>
          <a:noFill/>
          <a:ln w="0">
            <a:noFill/>
          </a:ln>
        </p:spPr>
        <p:txBody>
          <a:bodyPr lIns="0" tIns="0" rIns="0" bIns="0" anchor="b">
            <a:noAutofit/>
          </a:bodyPr>
          <a:lstStyle>
            <a:lvl1pPr indent="0" algn="l">
              <a:buNone/>
              <a:defRPr lang="en-US" sz="1400" b="0" u="none" strike="noStrike">
                <a:solidFill>
                  <a:srgbClr val="000000"/>
                </a:solidFill>
                <a:effectLst/>
                <a:uFillTx/>
                <a:latin typeface="Times New Roman"/>
              </a:defRPr>
            </a:lvl1pPr>
          </a:lstStyle>
          <a:p>
            <a:pPr indent="0" algn="l">
              <a:buNone/>
            </a:pPr>
            <a:r>
              <a:rPr lang="en-US" sz="1400" b="0" u="none" strike="noStrike">
                <a:solidFill>
                  <a:srgbClr val="000000"/>
                </a:solidFill>
                <a:effectLst/>
                <a:uFillTx/>
                <a:latin typeface="Times New Roman"/>
              </a:rPr>
              <a:t>&lt;footer&gt;</a:t>
            </a:r>
            <a:endParaRPr lang="en-US" sz="1400" b="0" u="none" strike="noStrike">
              <a:solidFill>
                <a:srgbClr val="000000"/>
              </a:solidFill>
              <a:effectLst/>
              <a:uFillTx/>
              <a:latin typeface="Times New Roman"/>
            </a:endParaRPr>
          </a:p>
        </p:txBody>
      </p:sp>
      <p:sp>
        <p:nvSpPr>
          <p:cNvPr id="15" name="PlaceHolder 6"/>
          <p:cNvSpPr>
            <a:spLocks noGrp="1"/>
          </p:cNvSpPr>
          <p:nvPr>
            <p:ph type="sldNum" idx="4"/>
          </p:nvPr>
        </p:nvSpPr>
        <p:spPr>
          <a:xfrm>
            <a:off x="4399200" y="9555480"/>
            <a:ext cx="3372840" cy="502560"/>
          </a:xfrm>
          <a:prstGeom prst="rect">
            <a:avLst/>
          </a:prstGeom>
          <a:noFill/>
          <a:ln w="0">
            <a:noFill/>
          </a:ln>
        </p:spPr>
        <p:txBody>
          <a:bodyPr lIns="0" tIns="0" rIns="0" bIns="0" anchor="b">
            <a:noAutofit/>
          </a:bodyPr>
          <a:lstStyle>
            <a:lvl1pPr indent="0" algn="r">
              <a:buNone/>
              <a:defRPr lang="en-US" sz="1400" b="0" u="none" strike="noStrike">
                <a:solidFill>
                  <a:srgbClr val="000000"/>
                </a:solidFill>
                <a:effectLst/>
                <a:uFillTx/>
                <a:latin typeface="Times New Roman"/>
              </a:defRPr>
            </a:lvl1pPr>
          </a:lstStyle>
          <a:p>
            <a:pPr indent="0" algn="r">
              <a:buNone/>
            </a:pPr>
            <a:fld id="{317634A3-7D26-4BCA-864F-E88368E6EC61}" type="slidenum">
              <a:rPr lang="en-US" sz="1400" b="0" u="none" strike="noStrike">
                <a:solidFill>
                  <a:srgbClr val="000000"/>
                </a:solidFill>
                <a:effectLst/>
                <a:uFillTx/>
                <a:latin typeface="Times New Roman"/>
              </a:rPr>
              <a:t>&lt;number&gt;</a:t>
            </a:fld>
            <a:endParaRPr lang="en-US" sz="1400" b="0" u="none" strike="noStrike">
              <a:solidFill>
                <a:srgbClr val="000000"/>
              </a:solidFill>
              <a:effectLst/>
              <a:uFillTx/>
              <a:latin typeface="Times New Roman"/>
            </a:endParaRPr>
          </a:p>
        </p:txBody>
      </p:sp>
    </p:spTree>
  </p:cSld>
  <p:clrMap bg1="lt1" bg2="lt2" tx1="dk1" tx2="dk2" accent1="accent1" accent2="accent2" accent3="accent3" accent4="accent4" accent5="accent5" accent6="accent6" hlink="hlink" folHlink="folHlink"/>
</p:notesMaster>
</file>

<file path=ppt/notesSlides/_rels/notesSlide1.xml.rels><?xml version="1.0" encoding="UTF-8"?>
<Relationships xmlns="http://schemas.openxmlformats.org/package/2006/relationships"><Relationship Id="rId1" Type="http://schemas.openxmlformats.org/officeDocument/2006/relationships/slide" Target="../slides/slide1.xml"/><Relationship Id="rId2" Type="http://schemas.openxmlformats.org/officeDocument/2006/relationships/notesMaster" Target="../notesMasters/notesMaster1.xml"/>
</Relationships>
</file>

<file path=ppt/notesSlides/_rels/notesSlide2.xml.rels><?xml version="1.0" encoding="UTF-8"?>
<Relationships xmlns="http://schemas.openxmlformats.org/package/2006/relationships"><Relationship Id="rId1" Type="http://schemas.openxmlformats.org/officeDocument/2006/relationships/slide" Target="../slides/slide2.xml"/><Relationship Id="rId2" Type="http://schemas.openxmlformats.org/officeDocument/2006/relationships/notesMaster" Target="../notesMasters/notesMaster1.xml"/>
</Relationships>
</file>

<file path=ppt/notesSlides/_rels/notesSlide3.xml.rels><?xml version="1.0" encoding="UTF-8"?>
<Relationships xmlns="http://schemas.openxmlformats.org/package/2006/relationships"><Relationship Id="rId1" Type="http://schemas.openxmlformats.org/officeDocument/2006/relationships/slide" Target="../slides/slide3.xml"/><Relationship Id="rId2" Type="http://schemas.openxmlformats.org/officeDocument/2006/relationships/notesMaster" Target="../notesMasters/notesMaster1.xml"/>
</Relationships>
</file>

<file path=ppt/notesSlides/_rels/notesSlide4.xml.rels><?xml version="1.0" encoding="UTF-8"?>
<Relationships xmlns="http://schemas.openxmlformats.org/package/2006/relationships"><Relationship Id="rId1" Type="http://schemas.openxmlformats.org/officeDocument/2006/relationships/slide" Target="../slides/slide4.xml"/><Relationship Id="rId2" Type="http://schemas.openxmlformats.org/officeDocument/2006/relationships/notesMaster" Target="../notesMasters/notesMaster1.xml"/>
</Relationships>
</file>

<file path=ppt/notesSlides/_rels/notesSlide5.xml.rels><?xml version="1.0" encoding="UTF-8"?>
<Relationships xmlns="http://schemas.openxmlformats.org/package/2006/relationships"><Relationship Id="rId1" Type="http://schemas.openxmlformats.org/officeDocument/2006/relationships/slide" Target="../slides/slide5.xml"/><Relationship Id="rId2" Type="http://schemas.openxmlformats.org/officeDocument/2006/relationships/notesMaster" Target="../notesMasters/notesMaster1.xml"/>
</Relationships>
</file>

<file path=ppt/notesSlides/_rels/notesSlide16.xml.rels><?xml version="1.0" encoding="UTF-8"?>
<Relationships xmlns="http://schemas.openxmlformats.org/package/2006/relationships"><Relationship Id="rId1" Type="http://schemas.openxmlformats.org/officeDocument/2006/relationships/slide" Target="../slides/slide16.xml"/><Relationship Id="rId2" Type="http://schemas.openxmlformats.org/officeDocument/2006/relationships/notesMaster" Target="../notesMasters/notesMaster1.xml"/>
</Relationships>
</file>

<file path=ppt/notesSlides/_rels/notesSlide19.xml.rels><?xml version="1.0" encoding="UTF-8"?>
<Relationships xmlns="http://schemas.openxmlformats.org/package/2006/relationships"><Relationship Id="rId1" Type="http://schemas.openxmlformats.org/officeDocument/2006/relationships/slide" Target="../slides/slide19.xml"/><Relationship Id="rId2" Type="http://schemas.openxmlformats.org/officeDocument/2006/relationships/notesMaster" Target="../notesMasters/notesMaster1.xml"/>
</Relationships>
</file>

<file path=ppt/notesSlides/_rels/notesSlide20.xml.rels><?xml version="1.0" encoding="UTF-8"?>
<Relationships xmlns="http://schemas.openxmlformats.org/package/2006/relationships"><Relationship Id="rId1" Type="http://schemas.openxmlformats.org/officeDocument/2006/relationships/slide" Target="../slides/slide20.xml"/><Relationship Id="rId2" Type="http://schemas.openxmlformats.org/officeDocument/2006/relationships/notesMaster" Target="../notesMasters/notesMaster1.xml"/>
</Relationships>
</file>

<file path=ppt/notesSlides/_rels/notesSlide21.xml.rels><?xml version="1.0" encoding="UTF-8"?>
<Relationships xmlns="http://schemas.openxmlformats.org/package/2006/relationships"><Relationship Id="rId1" Type="http://schemas.openxmlformats.org/officeDocument/2006/relationships/slide" Target="../slides/slide21.xml"/><Relationship Id="rId2" Type="http://schemas.openxmlformats.org/officeDocument/2006/relationships/notesMaster" Target="../notesMasters/notesMaster1.xml"/>
</Relationships>
</file>

<file path=ppt/notesSlides/_rels/notesSlide22.xml.rels><?xml version="1.0" encoding="UTF-8"?>
<Relationships xmlns="http://schemas.openxmlformats.org/package/2006/relationships"><Relationship Id="rId1" Type="http://schemas.openxmlformats.org/officeDocument/2006/relationships/slide" Target="../slides/slide22.xml"/><Relationship Id="rId2" Type="http://schemas.openxmlformats.org/officeDocument/2006/relationships/notesMaster" Target="../notesMasters/notesMaster1.xml"/>
</Relationships>
</file>

<file path=ppt/notesSlides/_rels/notesSlide23.xml.rels><?xml version="1.0" encoding="UTF-8"?>
<Relationships xmlns="http://schemas.openxmlformats.org/package/2006/relationships"><Relationship Id="rId1" Type="http://schemas.openxmlformats.org/officeDocument/2006/relationships/slide" Target="../slides/slide23.xml"/><Relationship Id="rId2" Type="http://schemas.openxmlformats.org/officeDocument/2006/relationships/notesMaster" Target="../notesMasters/notesMaster1.xml"/>
</Relationships>
</file>

<file path=ppt/notesSlides/notesSlide1.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96" name="PlaceHolder 1"/>
          <p:cNvSpPr>
            <a:spLocks noGrp="1"/>
          </p:cNvSpPr>
          <p:nvPr>
            <p:ph type="sldImg"/>
          </p:nvPr>
        </p:nvSpPr>
        <p:spPr>
          <a:xfrm>
            <a:off x="685800" y="1143000"/>
            <a:ext cx="5485320" cy="3085200"/>
          </a:xfrm>
          <a:prstGeom prst="rect">
            <a:avLst/>
          </a:prstGeom>
          <a:ln w="0">
            <a:noFill/>
          </a:ln>
        </p:spPr>
      </p:sp>
      <p:sp>
        <p:nvSpPr>
          <p:cNvPr id="97" name="PlaceHolder 2"/>
          <p:cNvSpPr>
            <a:spLocks noGrp="1"/>
          </p:cNvSpPr>
          <p:nvPr>
            <p:ph type="body"/>
          </p:nvPr>
        </p:nvSpPr>
        <p:spPr>
          <a:xfrm>
            <a:off x="685800" y="4400640"/>
            <a:ext cx="5485320" cy="3599280"/>
          </a:xfrm>
          <a:prstGeom prst="rect">
            <a:avLst/>
          </a:prstGeom>
          <a:noFill/>
          <a:ln w="0">
            <a:noFill/>
          </a:ln>
        </p:spPr>
        <p:txBody>
          <a:bodyPr lIns="91440" tIns="45720" rIns="91440" bIns="45720" anchor="t">
            <a:noAutofit/>
          </a:bodyPr>
          <a:p>
            <a:pPr indent="0" algn="l">
              <a:lnSpc>
                <a:spcPct val="100000"/>
              </a:lnSpc>
              <a:buNone/>
              <a:tabLst>
                <a:tab pos="0" algn="l"/>
              </a:tabLst>
            </a:pPr>
            <a:r>
              <a:rPr lang="en-US" sz="2000" b="0" u="none" strike="noStrike">
                <a:solidFill>
                  <a:srgbClr val="000000"/>
                </a:solidFill>
                <a:effectLst/>
                <a:uFillTx/>
                <a:latin typeface="Arial"/>
              </a:rPr>
              <a:t>We are Team 13, and this is our second review of the Long-Term Memory Engine for AI agents, written in Rust.</a:t>
            </a:r>
            <a:endParaRPr lang="en-US" sz="2000" b="0" u="none" strike="noStrike">
              <a:solidFill>
                <a:srgbClr val="000000"/>
              </a:solidFill>
              <a:effectLst/>
              <a:uFillTx/>
              <a:latin typeface="Arial"/>
            </a:endParaRPr>
          </a:p>
          <a:p>
            <a:pPr indent="0" algn="l">
              <a:lnSpc>
                <a:spcPct val="100000"/>
              </a:lnSpc>
              <a:spcBef>
                <a:spcPts val="601"/>
              </a:spcBef>
              <a:buNone/>
              <a:tabLst>
                <a:tab pos="0" algn="l"/>
              </a:tabLst>
            </a:pPr>
            <a:r>
              <a:rPr lang="en-US" sz="2000" b="0" u="none" strike="noStrike">
                <a:solidFill>
                  <a:srgbClr val="000000"/>
                </a:solidFill>
                <a:effectLst/>
                <a:uFillTx/>
                <a:latin typeface="Arial"/>
              </a:rPr>
              <a:t>The engine stores what an agent is told, keeps every assertion tied to its source, and brings the right assertions back in a later session.</a:t>
            </a:r>
            <a:endParaRPr lang="en-US" sz="2000" b="0" u="none" strike="noStrike">
              <a:solidFill>
                <a:srgbClr val="000000"/>
              </a:solidFill>
              <a:effectLst/>
              <a:uFillTx/>
              <a:latin typeface="Arial"/>
            </a:endParaRPr>
          </a:p>
          <a:p>
            <a:pPr indent="0" algn="l">
              <a:lnSpc>
                <a:spcPct val="100000"/>
              </a:lnSpc>
              <a:spcBef>
                <a:spcPts val="601"/>
              </a:spcBef>
              <a:buNone/>
              <a:tabLst>
                <a:tab pos="0" algn="l"/>
              </a:tabLst>
            </a:pPr>
            <a:r>
              <a:rPr lang="en-US" sz="2000" b="0" u="none" strike="noStrike">
                <a:solidFill>
                  <a:srgbClr val="000000"/>
                </a:solidFill>
                <a:effectLst/>
                <a:uFillTx/>
                <a:latin typeface="Arial"/>
              </a:rPr>
              <a:t>We will go through the problem, what changed since the first review, the design, the numbers we measured and what is still left to do. Pi in this deck is the Pi coding agent, not a Raspberry Pi.</a:t>
            </a:r>
            <a:endParaRPr lang="en-US" sz="2000" b="0" u="none" strike="noStrike">
              <a:solidFill>
                <a:srgbClr val="000000"/>
              </a:solidFill>
              <a:effectLst/>
              <a:uFillTx/>
              <a:latin typeface="Arial"/>
            </a:endParaRPr>
          </a:p>
        </p:txBody>
      </p:sp>
      <p:sp>
        <p:nvSpPr>
          <p:cNvPr id="98" name="PlaceHolder 3"/>
          <p:cNvSpPr>
            <a:spLocks noGrp="1"/>
          </p:cNvSpPr>
          <p:nvPr>
            <p:ph type="sldNum" idx="15"/>
          </p:nvPr>
        </p:nvSpPr>
        <p:spPr>
          <a:xfrm>
            <a:off x="3884760" y="8685360"/>
            <a:ext cx="2970720" cy="457560"/>
          </a:xfrm>
          <a:prstGeom prst="rect">
            <a:avLst/>
          </a:prstGeom>
          <a:noFill/>
          <a:ln w="0">
            <a:noFill/>
          </a:ln>
        </p:spPr>
        <p:txBody>
          <a:bodyPr lIns="91440" tIns="45720" rIns="91440" bIns="45720" anchor="b">
            <a:noAutofit/>
          </a:bodyPr>
          <a:lstStyle>
            <a:lvl1pPr indent="0" algn="r" defTabSz="914400">
              <a:lnSpc>
                <a:spcPct val="100000"/>
              </a:lnSpc>
              <a:buNone/>
              <a:tabLst>
                <a:tab pos="0" algn="l"/>
              </a:tabLst>
              <a:defRPr lang="en-US" sz="1200" b="0" u="none" strike="noStrike">
                <a:solidFill>
                  <a:schemeClr val="dk1"/>
                </a:solidFill>
                <a:effectLst/>
                <a:uFillTx/>
                <a:latin typeface="+mn-lt"/>
                <a:ea typeface="+mn-ea"/>
              </a:defRPr>
            </a:lvl1pPr>
          </a:lstStyle>
          <a:p>
            <a:pPr indent="0" algn="r" defTabSz="914400">
              <a:lnSpc>
                <a:spcPct val="100000"/>
              </a:lnSpc>
              <a:buNone/>
              <a:tabLst>
                <a:tab pos="0" algn="l"/>
              </a:tabLst>
            </a:pPr>
            <a:fld id="{3EA25BEB-A7A5-40D7-B7AC-0E97B534B315}" type="slidenum">
              <a:rPr lang="en-US" sz="1200" b="0" u="none" strike="noStrike">
                <a:solidFill>
                  <a:schemeClr val="dk1"/>
                </a:solidFill>
                <a:effectLst/>
                <a:uFillTx/>
                <a:latin typeface="+mn-lt"/>
                <a:ea typeface="+mn-ea"/>
              </a:rPr>
              <a:t>&lt;number&gt;</a:t>
            </a:fld>
            <a:endParaRPr lang="en-US" sz="1200" b="0" u="none" strike="noStrike">
              <a:solidFill>
                <a:srgbClr val="000000"/>
              </a:solidFill>
              <a:effectLst/>
              <a:uFillTx/>
              <a:latin typeface="Times New Roman"/>
            </a:endParaRPr>
          </a:p>
        </p:txBody>
      </p:sp>
    </p:spTree>
  </p:cSld>
</p:notes>
</file>

<file path=ppt/notesSlides/notesSlide2.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99" name="PlaceHolder 1"/>
          <p:cNvSpPr>
            <a:spLocks noGrp="1"/>
          </p:cNvSpPr>
          <p:nvPr>
            <p:ph type="sldImg"/>
          </p:nvPr>
        </p:nvSpPr>
        <p:spPr>
          <a:xfrm>
            <a:off x="685800" y="1143000"/>
            <a:ext cx="5485320" cy="3085200"/>
          </a:xfrm>
          <a:prstGeom prst="rect">
            <a:avLst/>
          </a:prstGeom>
          <a:ln w="0">
            <a:noFill/>
          </a:ln>
        </p:spPr>
      </p:sp>
      <p:sp>
        <p:nvSpPr>
          <p:cNvPr id="100" name="PlaceHolder 2"/>
          <p:cNvSpPr>
            <a:spLocks noGrp="1"/>
          </p:cNvSpPr>
          <p:nvPr>
            <p:ph type="body"/>
          </p:nvPr>
        </p:nvSpPr>
        <p:spPr>
          <a:xfrm>
            <a:off x="685800" y="4400640"/>
            <a:ext cx="5485320" cy="3599280"/>
          </a:xfrm>
          <a:prstGeom prst="rect">
            <a:avLst/>
          </a:prstGeom>
          <a:noFill/>
          <a:ln w="0">
            <a:noFill/>
          </a:ln>
        </p:spPr>
        <p:txBody>
          <a:bodyPr lIns="91440" tIns="45720" rIns="91440" bIns="45720" anchor="t">
            <a:noAutofit/>
          </a:bodyPr>
          <a:p>
            <a:pPr indent="0" algn="l">
              <a:lnSpc>
                <a:spcPct val="100000"/>
              </a:lnSpc>
              <a:buNone/>
              <a:tabLst>
                <a:tab pos="0" algn="l"/>
              </a:tabLst>
            </a:pPr>
            <a:r>
              <a:rPr lang="en-US" sz="2000" b="0" u="none" strike="noStrike">
                <a:solidFill>
                  <a:srgbClr val="000000"/>
                </a:solidFill>
                <a:effectLst/>
                <a:uFillTx/>
                <a:latin typeface="Arial"/>
              </a:rPr>
              <a:t>An LLM call has no memory of earlier calls, so an agent that works over many sessions needs a store of what was said, what changed and where each assertion came from. Lost in the Middle found that models often answer worse when the relevant passage sits in the middle of a long input [1].</a:t>
            </a:r>
            <a:endParaRPr lang="en-US" sz="2000" b="0" u="none" strike="noStrike">
              <a:solidFill>
                <a:srgbClr val="000000"/>
              </a:solidFill>
              <a:effectLst/>
              <a:uFillTx/>
              <a:latin typeface="Arial"/>
            </a:endParaRPr>
          </a:p>
          <a:p>
            <a:pPr indent="0" algn="l">
              <a:lnSpc>
                <a:spcPct val="100000"/>
              </a:lnSpc>
              <a:spcBef>
                <a:spcPts val="601"/>
              </a:spcBef>
              <a:buNone/>
              <a:tabLst>
                <a:tab pos="0" algn="l"/>
              </a:tabLst>
            </a:pPr>
            <a:r>
              <a:rPr lang="en-US" sz="2000" b="0" u="none" strike="noStrike">
                <a:solidFill>
                  <a:srgbClr val="000000"/>
                </a:solidFill>
                <a:effectLst/>
                <a:uFillTx/>
                <a:latin typeface="Arial"/>
              </a:rPr>
              <a:t>LongMemEval lists five things a memory system has to do: extract information, reason across sessions, reason about time, handle updates and say when it does not know [2]. The boxed statement is the problem we build for: raw events kept as sources, assertions with a validity interval, and a context that fits a token budget where every item shows its quote and its status.</a:t>
            </a:r>
            <a:endParaRPr lang="en-US" sz="2000" b="0" u="none" strike="noStrike">
              <a:solidFill>
                <a:srgbClr val="000000"/>
              </a:solidFill>
              <a:effectLst/>
              <a:uFillTx/>
              <a:latin typeface="Arial"/>
            </a:endParaRPr>
          </a:p>
          <a:p>
            <a:pPr indent="0" algn="l">
              <a:lnSpc>
                <a:spcPct val="100000"/>
              </a:lnSpc>
              <a:spcBef>
                <a:spcPts val="601"/>
              </a:spcBef>
              <a:buNone/>
              <a:tabLst>
                <a:tab pos="0" algn="l"/>
              </a:tabLst>
            </a:pPr>
            <a:r>
              <a:rPr lang="en-US" sz="2000" b="0" u="none" strike="noStrike">
                <a:solidFill>
                  <a:srgbClr val="000000"/>
                </a:solidFill>
                <a:effectLst/>
                <a:uFillTx/>
                <a:latin typeface="Arial"/>
              </a:rPr>
              <a:t>The Friday and Tuesday example shows the behaviour we require. Our scripted Pi check tests the same thing with a detail that is told and then corrected.</a:t>
            </a:r>
            <a:endParaRPr lang="en-US" sz="2000" b="0" u="none" strike="noStrike">
              <a:solidFill>
                <a:srgbClr val="000000"/>
              </a:solidFill>
              <a:effectLst/>
              <a:uFillTx/>
              <a:latin typeface="Arial"/>
            </a:endParaRPr>
          </a:p>
        </p:txBody>
      </p:sp>
      <p:sp>
        <p:nvSpPr>
          <p:cNvPr id="101" name="PlaceHolder 3"/>
          <p:cNvSpPr>
            <a:spLocks noGrp="1"/>
          </p:cNvSpPr>
          <p:nvPr>
            <p:ph type="sldNum" idx="16"/>
          </p:nvPr>
        </p:nvSpPr>
        <p:spPr>
          <a:xfrm>
            <a:off x="3884760" y="8685360"/>
            <a:ext cx="2970720" cy="457560"/>
          </a:xfrm>
          <a:prstGeom prst="rect">
            <a:avLst/>
          </a:prstGeom>
          <a:noFill/>
          <a:ln w="0">
            <a:noFill/>
          </a:ln>
        </p:spPr>
        <p:txBody>
          <a:bodyPr lIns="91440" tIns="45720" rIns="91440" bIns="45720" anchor="b">
            <a:noAutofit/>
          </a:bodyPr>
          <a:lstStyle>
            <a:lvl1pPr indent="0" algn="r" defTabSz="914400">
              <a:lnSpc>
                <a:spcPct val="100000"/>
              </a:lnSpc>
              <a:buNone/>
              <a:tabLst>
                <a:tab pos="0" algn="l"/>
              </a:tabLst>
              <a:defRPr lang="en-US" sz="1200" b="0" u="none" strike="noStrike">
                <a:solidFill>
                  <a:schemeClr val="dk1"/>
                </a:solidFill>
                <a:effectLst/>
                <a:uFillTx/>
                <a:latin typeface="+mn-lt"/>
                <a:ea typeface="+mn-ea"/>
              </a:defRPr>
            </a:lvl1pPr>
          </a:lstStyle>
          <a:p>
            <a:pPr indent="0" algn="r" defTabSz="914400">
              <a:lnSpc>
                <a:spcPct val="100000"/>
              </a:lnSpc>
              <a:buNone/>
              <a:tabLst>
                <a:tab pos="0" algn="l"/>
              </a:tabLst>
            </a:pPr>
            <a:fld id="{87C5AE5F-CD1D-4C6B-89DF-13B9ED9FA1DF}" type="slidenum">
              <a:rPr lang="en-US" sz="1200" b="0" u="none" strike="noStrike">
                <a:solidFill>
                  <a:schemeClr val="dk1"/>
                </a:solidFill>
                <a:effectLst/>
                <a:uFillTx/>
                <a:latin typeface="+mn-lt"/>
                <a:ea typeface="+mn-ea"/>
              </a:rPr>
              <a:t>&lt;number&gt;</a:t>
            </a:fld>
            <a:endParaRPr lang="en-US" sz="1200" b="0" u="none" strike="noStrike">
              <a:solidFill>
                <a:srgbClr val="000000"/>
              </a:solidFill>
              <a:effectLst/>
              <a:uFillTx/>
              <a:latin typeface="Times New Roman"/>
            </a:endParaRPr>
          </a:p>
        </p:txBody>
      </p:sp>
    </p:spTree>
  </p:cSld>
</p:notes>
</file>

<file path=ppt/notesSlides/notesSlide3.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02" name="PlaceHolder 1"/>
          <p:cNvSpPr>
            <a:spLocks noGrp="1"/>
          </p:cNvSpPr>
          <p:nvPr>
            <p:ph type="sldImg"/>
          </p:nvPr>
        </p:nvSpPr>
        <p:spPr>
          <a:xfrm>
            <a:off x="685800" y="1143000"/>
            <a:ext cx="5485320" cy="3085200"/>
          </a:xfrm>
          <a:prstGeom prst="rect">
            <a:avLst/>
          </a:prstGeom>
          <a:ln w="0">
            <a:noFill/>
          </a:ln>
        </p:spPr>
      </p:sp>
      <p:sp>
        <p:nvSpPr>
          <p:cNvPr id="103" name="PlaceHolder 2"/>
          <p:cNvSpPr>
            <a:spLocks noGrp="1"/>
          </p:cNvSpPr>
          <p:nvPr>
            <p:ph type="body"/>
          </p:nvPr>
        </p:nvSpPr>
        <p:spPr>
          <a:xfrm>
            <a:off x="685800" y="4400640"/>
            <a:ext cx="5485320" cy="3599280"/>
          </a:xfrm>
          <a:prstGeom prst="rect">
            <a:avLst/>
          </a:prstGeom>
          <a:noFill/>
          <a:ln w="0">
            <a:noFill/>
          </a:ln>
        </p:spPr>
        <p:txBody>
          <a:bodyPr lIns="91440" tIns="45720" rIns="91440" bIns="45720" anchor="t">
            <a:noAutofit/>
          </a:bodyPr>
          <a:p>
            <a:pPr indent="0" algn="l">
              <a:lnSpc>
                <a:spcPct val="100000"/>
              </a:lnSpc>
              <a:buNone/>
              <a:tabLst>
                <a:tab pos="0" algn="l"/>
              </a:tabLst>
            </a:pPr>
            <a:r>
              <a:rPr lang="en-US" sz="2000" b="0" u="none" strike="noStrike">
                <a:solidFill>
                  <a:srgbClr val="000000"/>
                </a:solidFill>
                <a:effectLst/>
                <a:uFillTx/>
                <a:latin typeface="Arial"/>
              </a:rPr>
              <a:t>MemGPT is a preprint, and we found no peer reviewed version [3]. Letta grew out of it, and the current Letta documentation calls the original memory blocks legacy, so the row describes the paper and not the product.</a:t>
            </a:r>
            <a:endParaRPr lang="en-US" sz="2000" b="0" u="none" strike="noStrike">
              <a:solidFill>
                <a:srgbClr val="000000"/>
              </a:solidFill>
              <a:effectLst/>
              <a:uFillTx/>
              <a:latin typeface="Arial"/>
            </a:endParaRPr>
          </a:p>
          <a:p>
            <a:pPr indent="0" algn="l">
              <a:lnSpc>
                <a:spcPct val="100000"/>
              </a:lnSpc>
              <a:spcBef>
                <a:spcPts val="601"/>
              </a:spcBef>
              <a:buNone/>
              <a:tabLst>
                <a:tab pos="0" algn="l"/>
              </a:tabLst>
            </a:pPr>
            <a:r>
              <a:rPr lang="en-US" sz="2000" b="0" u="none" strike="noStrike">
                <a:solidFill>
                  <a:srgbClr val="000000"/>
                </a:solidFill>
                <a:effectLst/>
                <a:uFillTx/>
                <a:latin typeface="Arial"/>
              </a:rPr>
              <a:t>Zep and Mem0 report their own results, and the authors of both work for those companies [4], [5]. Zep reports 71.2% on LongMemEval with gpt-4o against 60.2% for the full history, and Mem0 used only LoCoMo, where the full history scored higher than Mem0 on the judge metric.</a:t>
            </a:r>
            <a:endParaRPr lang="en-US" sz="2000" b="0" u="none" strike="noStrike">
              <a:solidFill>
                <a:srgbClr val="000000"/>
              </a:solidFill>
              <a:effectLst/>
              <a:uFillTx/>
              <a:latin typeface="Arial"/>
            </a:endParaRPr>
          </a:p>
          <a:p>
            <a:pPr indent="0" algn="l">
              <a:lnSpc>
                <a:spcPct val="100000"/>
              </a:lnSpc>
              <a:spcBef>
                <a:spcPts val="601"/>
              </a:spcBef>
              <a:buNone/>
              <a:tabLst>
                <a:tab pos="0" algn="l"/>
              </a:tabLst>
            </a:pPr>
            <a:r>
              <a:rPr lang="en-US" sz="2000" b="0" u="none" strike="noStrike">
                <a:solidFill>
                  <a:srgbClr val="000000"/>
                </a:solidFill>
                <a:effectLst/>
                <a:uFillTx/>
                <a:latin typeface="Arial"/>
              </a:rPr>
              <a:t>We cite Supermemory and Hindsight for how they work only, and we do not repeat their numbers [6], [7]. The five works use different benchmarks, judges and models, so their scores cannot be ranked against each other.</a:t>
            </a:r>
            <a:endParaRPr lang="en-US" sz="2000" b="0" u="none" strike="noStrike">
              <a:solidFill>
                <a:srgbClr val="000000"/>
              </a:solidFill>
              <a:effectLst/>
              <a:uFillTx/>
              <a:latin typeface="Arial"/>
            </a:endParaRPr>
          </a:p>
        </p:txBody>
      </p:sp>
      <p:sp>
        <p:nvSpPr>
          <p:cNvPr id="104" name="PlaceHolder 3"/>
          <p:cNvSpPr>
            <a:spLocks noGrp="1"/>
          </p:cNvSpPr>
          <p:nvPr>
            <p:ph type="sldNum" idx="17"/>
          </p:nvPr>
        </p:nvSpPr>
        <p:spPr>
          <a:xfrm>
            <a:off x="3884760" y="8685360"/>
            <a:ext cx="2970720" cy="457560"/>
          </a:xfrm>
          <a:prstGeom prst="rect">
            <a:avLst/>
          </a:prstGeom>
          <a:noFill/>
          <a:ln w="0">
            <a:noFill/>
          </a:ln>
        </p:spPr>
        <p:txBody>
          <a:bodyPr lIns="91440" tIns="45720" rIns="91440" bIns="45720" anchor="b">
            <a:noAutofit/>
          </a:bodyPr>
          <a:lstStyle>
            <a:lvl1pPr indent="0" algn="r" defTabSz="914400">
              <a:lnSpc>
                <a:spcPct val="100000"/>
              </a:lnSpc>
              <a:buNone/>
              <a:tabLst>
                <a:tab pos="0" algn="l"/>
              </a:tabLst>
              <a:defRPr lang="en-US" sz="1200" b="0" u="none" strike="noStrike">
                <a:solidFill>
                  <a:schemeClr val="dk1"/>
                </a:solidFill>
                <a:effectLst/>
                <a:uFillTx/>
                <a:latin typeface="+mn-lt"/>
                <a:ea typeface="+mn-ea"/>
              </a:defRPr>
            </a:lvl1pPr>
          </a:lstStyle>
          <a:p>
            <a:pPr indent="0" algn="r" defTabSz="914400">
              <a:lnSpc>
                <a:spcPct val="100000"/>
              </a:lnSpc>
              <a:buNone/>
              <a:tabLst>
                <a:tab pos="0" algn="l"/>
              </a:tabLst>
            </a:pPr>
            <a:fld id="{E3D559CA-1B4D-4B51-A041-3A1C7E7E9E09}" type="slidenum">
              <a:rPr lang="en-US" sz="1200" b="0" u="none" strike="noStrike">
                <a:solidFill>
                  <a:schemeClr val="dk1"/>
                </a:solidFill>
                <a:effectLst/>
                <a:uFillTx/>
                <a:latin typeface="+mn-lt"/>
                <a:ea typeface="+mn-ea"/>
              </a:rPr>
              <a:t>&lt;number&gt;</a:t>
            </a:fld>
            <a:endParaRPr lang="en-US" sz="1200" b="0" u="none" strike="noStrike">
              <a:solidFill>
                <a:srgbClr val="000000"/>
              </a:solidFill>
              <a:effectLst/>
              <a:uFillTx/>
              <a:latin typeface="Times New Roman"/>
            </a:endParaRPr>
          </a:p>
        </p:txBody>
      </p:sp>
    </p:spTree>
  </p:cSld>
</p:notes>
</file>

<file path=ppt/notesSlides/notesSlide4.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05" name="PlaceHolder 1"/>
          <p:cNvSpPr>
            <a:spLocks noGrp="1"/>
          </p:cNvSpPr>
          <p:nvPr>
            <p:ph type="sldImg"/>
          </p:nvPr>
        </p:nvSpPr>
        <p:spPr>
          <a:xfrm>
            <a:off x="685800" y="1143000"/>
            <a:ext cx="5485320" cy="3085200"/>
          </a:xfrm>
          <a:prstGeom prst="rect">
            <a:avLst/>
          </a:prstGeom>
          <a:ln w="0">
            <a:noFill/>
          </a:ln>
        </p:spPr>
      </p:sp>
      <p:sp>
        <p:nvSpPr>
          <p:cNvPr id="106" name="PlaceHolder 2"/>
          <p:cNvSpPr>
            <a:spLocks noGrp="1"/>
          </p:cNvSpPr>
          <p:nvPr>
            <p:ph type="body"/>
          </p:nvPr>
        </p:nvSpPr>
        <p:spPr>
          <a:xfrm>
            <a:off x="685800" y="4400640"/>
            <a:ext cx="5485320" cy="3599280"/>
          </a:xfrm>
          <a:prstGeom prst="rect">
            <a:avLst/>
          </a:prstGeom>
          <a:noFill/>
          <a:ln w="0">
            <a:noFill/>
          </a:ln>
        </p:spPr>
        <p:txBody>
          <a:bodyPr lIns="91440" tIns="45720" rIns="91440" bIns="45720" anchor="t">
            <a:noAutofit/>
          </a:bodyPr>
          <a:p>
            <a:pPr indent="0" algn="l">
              <a:lnSpc>
                <a:spcPct val="100000"/>
              </a:lnSpc>
              <a:buNone/>
              <a:tabLst>
                <a:tab pos="0" algn="l"/>
              </a:tabLst>
            </a:pPr>
            <a:r>
              <a:rPr lang="en-US" sz="2000" b="0" u="none" strike="noStrike">
                <a:solidFill>
                  <a:srgbClr val="000000"/>
                </a:solidFill>
                <a:effectLst/>
                <a:uFillTx/>
                <a:latin typeface="Arial"/>
              </a:rPr>
              <a:t>In the First Review we treated memory as plain chunks of text that we searched by keywords and vectors, with no context around a stored item. So we could not tell which one was newer, what it was linked to, or where it came from.</a:t>
            </a:r>
            <a:endParaRPr lang="en-US" sz="2000" b="0" u="none" strike="noStrike">
              <a:solidFill>
                <a:srgbClr val="000000"/>
              </a:solidFill>
              <a:effectLst/>
              <a:uFillTx/>
              <a:latin typeface="Arial"/>
            </a:endParaRPr>
          </a:p>
          <a:p>
            <a:pPr indent="0" algn="l">
              <a:lnSpc>
                <a:spcPct val="100000"/>
              </a:lnSpc>
              <a:spcBef>
                <a:spcPts val="601"/>
              </a:spcBef>
              <a:buNone/>
              <a:tabLst>
                <a:tab pos="0" algn="l"/>
              </a:tabLst>
            </a:pPr>
            <a:r>
              <a:rPr lang="en-US" sz="2000" b="0" u="none" strike="noStrike">
                <a:solidFill>
                  <a:srgbClr val="000000"/>
                </a:solidFill>
                <a:effectLst/>
                <a:uFillTx/>
                <a:latin typeface="Arial"/>
              </a:rPr>
              <a:t>The right column lists what went wrong when we actually ran it on 2026-10-06, and each one was reproduced against a live service. Most of them are fixed or reduced now, but repeated assertions, memory output fed back as input and a misleading health check are still open.</a:t>
            </a:r>
            <a:endParaRPr lang="en-US" sz="2000" b="0" u="none" strike="noStrike">
              <a:solidFill>
                <a:srgbClr val="000000"/>
              </a:solidFill>
              <a:effectLst/>
              <a:uFillTx/>
              <a:latin typeface="Arial"/>
            </a:endParaRPr>
          </a:p>
          <a:p>
            <a:pPr indent="0" algn="l">
              <a:lnSpc>
                <a:spcPct val="100000"/>
              </a:lnSpc>
              <a:spcBef>
                <a:spcPts val="601"/>
              </a:spcBef>
              <a:buNone/>
              <a:tabLst>
                <a:tab pos="0" algn="l"/>
              </a:tabLst>
            </a:pPr>
            <a:r>
              <a:rPr lang="en-US" sz="2000" b="0" u="none" strike="noStrike">
                <a:solidFill>
                  <a:srgbClr val="000000"/>
                </a:solidFill>
                <a:effectLst/>
                <a:uFillTx/>
                <a:latin typeface="Arial"/>
              </a:rPr>
              <a:t>The knowledge graph fixed the design problems, because assertions are linked to each other and to their quotes, and it helped us a lot while building it. Vijaylaxmi Ma’am’s guidance pointed us towards the graph, and we have not measured the retrieval gain yet because the LongMemEval run is pending.</a:t>
            </a:r>
            <a:endParaRPr lang="en-US" sz="2000" b="0" u="none" strike="noStrike">
              <a:solidFill>
                <a:srgbClr val="000000"/>
              </a:solidFill>
              <a:effectLst/>
              <a:uFillTx/>
              <a:latin typeface="Arial"/>
            </a:endParaRPr>
          </a:p>
        </p:txBody>
      </p:sp>
      <p:sp>
        <p:nvSpPr>
          <p:cNvPr id="107" name="PlaceHolder 3"/>
          <p:cNvSpPr>
            <a:spLocks noGrp="1"/>
          </p:cNvSpPr>
          <p:nvPr>
            <p:ph type="sldNum" idx="18"/>
          </p:nvPr>
        </p:nvSpPr>
        <p:spPr>
          <a:xfrm>
            <a:off x="3884760" y="8685360"/>
            <a:ext cx="2970720" cy="457560"/>
          </a:xfrm>
          <a:prstGeom prst="rect">
            <a:avLst/>
          </a:prstGeom>
          <a:noFill/>
          <a:ln w="0">
            <a:noFill/>
          </a:ln>
        </p:spPr>
        <p:txBody>
          <a:bodyPr lIns="91440" tIns="45720" rIns="91440" bIns="45720" anchor="b">
            <a:noAutofit/>
          </a:bodyPr>
          <a:lstStyle>
            <a:lvl1pPr indent="0" algn="r" defTabSz="914400">
              <a:lnSpc>
                <a:spcPct val="100000"/>
              </a:lnSpc>
              <a:buNone/>
              <a:tabLst>
                <a:tab pos="0" algn="l"/>
              </a:tabLst>
              <a:defRPr lang="en-US" sz="1200" b="0" u="none" strike="noStrike">
                <a:solidFill>
                  <a:schemeClr val="dk1"/>
                </a:solidFill>
                <a:effectLst/>
                <a:uFillTx/>
                <a:latin typeface="+mn-lt"/>
                <a:ea typeface="+mn-ea"/>
              </a:defRPr>
            </a:lvl1pPr>
          </a:lstStyle>
          <a:p>
            <a:pPr indent="0" algn="r" defTabSz="914400">
              <a:lnSpc>
                <a:spcPct val="100000"/>
              </a:lnSpc>
              <a:buNone/>
              <a:tabLst>
                <a:tab pos="0" algn="l"/>
              </a:tabLst>
            </a:pPr>
            <a:fld id="{4A7EFB3A-7361-4F2C-BDC9-08270AC36F9E}" type="slidenum">
              <a:rPr lang="en-US" sz="1200" b="0" u="none" strike="noStrike">
                <a:solidFill>
                  <a:schemeClr val="dk1"/>
                </a:solidFill>
                <a:effectLst/>
                <a:uFillTx/>
                <a:latin typeface="+mn-lt"/>
                <a:ea typeface="+mn-ea"/>
              </a:rPr>
              <a:t>&lt;number&gt;</a:t>
            </a:fld>
            <a:endParaRPr lang="en-US" sz="1200" b="0" u="none" strike="noStrike">
              <a:solidFill>
                <a:srgbClr val="000000"/>
              </a:solidFill>
              <a:effectLst/>
              <a:uFillTx/>
              <a:latin typeface="Times New Roman"/>
            </a:endParaRPr>
          </a:p>
        </p:txBody>
      </p:sp>
    </p:spTree>
  </p:cSld>
</p:notes>
</file>

<file path=ppt/notesSlides/notesSlide5.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08" name="PlaceHolder 1"/>
          <p:cNvSpPr>
            <a:spLocks noGrp="1"/>
          </p:cNvSpPr>
          <p:nvPr>
            <p:ph type="sldImg"/>
          </p:nvPr>
        </p:nvSpPr>
        <p:spPr>
          <a:xfrm>
            <a:off x="685800" y="1143000"/>
            <a:ext cx="5485320" cy="3085200"/>
          </a:xfrm>
          <a:prstGeom prst="rect">
            <a:avLst/>
          </a:prstGeom>
          <a:ln w="0">
            <a:noFill/>
          </a:ln>
        </p:spPr>
      </p:sp>
      <p:sp>
        <p:nvSpPr>
          <p:cNvPr id="109" name="PlaceHolder 2"/>
          <p:cNvSpPr>
            <a:spLocks noGrp="1"/>
          </p:cNvSpPr>
          <p:nvPr>
            <p:ph type="body"/>
          </p:nvPr>
        </p:nvSpPr>
        <p:spPr>
          <a:xfrm>
            <a:off x="685800" y="4400640"/>
            <a:ext cx="5485320" cy="3599280"/>
          </a:xfrm>
          <a:prstGeom prst="rect">
            <a:avLst/>
          </a:prstGeom>
          <a:noFill/>
          <a:ln w="0">
            <a:noFill/>
          </a:ln>
        </p:spPr>
        <p:txBody>
          <a:bodyPr lIns="91440" tIns="45720" rIns="91440" bIns="45720" anchor="t">
            <a:noAutofit/>
          </a:bodyPr>
          <a:p>
            <a:pPr indent="0" algn="l">
              <a:lnSpc>
                <a:spcPct val="100000"/>
              </a:lnSpc>
              <a:buNone/>
              <a:tabLst>
                <a:tab pos="0" algn="l"/>
              </a:tabLst>
            </a:pPr>
            <a:r>
              <a:rPr lang="en-US" sz="2000" b="0" u="none" strike="noStrike">
                <a:solidFill>
                  <a:srgbClr val="000000"/>
                </a:solidFill>
                <a:effectLst/>
                <a:uFillTx/>
                <a:latin typeface="Arial"/>
              </a:rPr>
              <a:t>The first seven rows are the objectives we set in the First Review, and the Pi row is the only one we added. Reproducibility had no number in the First Review, so we describe it in words.</a:t>
            </a:r>
            <a:endParaRPr lang="en-US" sz="2000" b="0" u="none" strike="noStrike">
              <a:solidFill>
                <a:srgbClr val="000000"/>
              </a:solidFill>
              <a:effectLst/>
              <a:uFillTx/>
              <a:latin typeface="Arial"/>
            </a:endParaRPr>
          </a:p>
          <a:p>
            <a:pPr indent="0" algn="l">
              <a:lnSpc>
                <a:spcPct val="100000"/>
              </a:lnSpc>
              <a:spcBef>
                <a:spcPts val="601"/>
              </a:spcBef>
              <a:buNone/>
              <a:tabLst>
                <a:tab pos="0" algn="l"/>
              </a:tabLst>
            </a:pPr>
            <a:r>
              <a:rPr lang="en-US" sz="2000" b="0" u="none" strike="noStrike">
                <a:solidFill>
                  <a:srgbClr val="000000"/>
                </a:solidFill>
                <a:effectLst/>
                <a:uFillTx/>
                <a:latin typeface="Arial"/>
              </a:rPr>
              <a:t>Every number in the Measured column comes from one machine on 2026-10-06, mostly from our own user:dev namespace with 323 assertions, so none of it is a benchmark result. The two targets we miss are the median context size and the latency when the date planner runs.</a:t>
            </a:r>
            <a:endParaRPr lang="en-US" sz="2000" b="0" u="none" strike="noStrike">
              <a:solidFill>
                <a:srgbClr val="000000"/>
              </a:solidFill>
              <a:effectLst/>
              <a:uFillTx/>
              <a:latin typeface="Arial"/>
            </a:endParaRPr>
          </a:p>
          <a:p>
            <a:pPr indent="0" algn="l">
              <a:lnSpc>
                <a:spcPct val="100000"/>
              </a:lnSpc>
              <a:spcBef>
                <a:spcPts val="601"/>
              </a:spcBef>
              <a:buNone/>
              <a:tabLst>
                <a:tab pos="0" algn="l"/>
              </a:tabLst>
            </a:pPr>
            <a:r>
              <a:rPr lang="en-US" sz="2000" b="0" u="none" strike="noStrike">
                <a:solidFill>
                  <a:srgbClr val="000000"/>
                </a:solidFill>
                <a:effectLst/>
                <a:uFillTx/>
                <a:latin typeface="Arial"/>
              </a:rPr>
              <a:t>Retrieval quality is not run yet, because LongMemEval-S needs a 277 MB dataset and a lot of model use.</a:t>
            </a:r>
            <a:endParaRPr lang="en-US" sz="2000" b="0" u="none" strike="noStrike">
              <a:solidFill>
                <a:srgbClr val="000000"/>
              </a:solidFill>
              <a:effectLst/>
              <a:uFillTx/>
              <a:latin typeface="Arial"/>
            </a:endParaRPr>
          </a:p>
        </p:txBody>
      </p:sp>
      <p:sp>
        <p:nvSpPr>
          <p:cNvPr id="110" name="PlaceHolder 3"/>
          <p:cNvSpPr>
            <a:spLocks noGrp="1"/>
          </p:cNvSpPr>
          <p:nvPr>
            <p:ph type="sldNum" idx="19"/>
          </p:nvPr>
        </p:nvSpPr>
        <p:spPr>
          <a:xfrm>
            <a:off x="3884760" y="8685360"/>
            <a:ext cx="2970720" cy="457560"/>
          </a:xfrm>
          <a:prstGeom prst="rect">
            <a:avLst/>
          </a:prstGeom>
          <a:noFill/>
          <a:ln w="0">
            <a:noFill/>
          </a:ln>
        </p:spPr>
        <p:txBody>
          <a:bodyPr lIns="91440" tIns="45720" rIns="91440" bIns="45720" anchor="b">
            <a:noAutofit/>
          </a:bodyPr>
          <a:lstStyle>
            <a:lvl1pPr indent="0" algn="r" defTabSz="914400">
              <a:lnSpc>
                <a:spcPct val="100000"/>
              </a:lnSpc>
              <a:buNone/>
              <a:tabLst>
                <a:tab pos="0" algn="l"/>
              </a:tabLst>
              <a:defRPr lang="en-US" sz="1200" b="0" u="none" strike="noStrike">
                <a:solidFill>
                  <a:schemeClr val="dk1"/>
                </a:solidFill>
                <a:effectLst/>
                <a:uFillTx/>
                <a:latin typeface="+mn-lt"/>
                <a:ea typeface="+mn-ea"/>
              </a:defRPr>
            </a:lvl1pPr>
          </a:lstStyle>
          <a:p>
            <a:pPr indent="0" algn="r" defTabSz="914400">
              <a:lnSpc>
                <a:spcPct val="100000"/>
              </a:lnSpc>
              <a:buNone/>
              <a:tabLst>
                <a:tab pos="0" algn="l"/>
              </a:tabLst>
            </a:pPr>
            <a:fld id="{2340EC68-3A93-45FB-B3C2-662459C6A314}" type="slidenum">
              <a:rPr lang="en-US" sz="1200" b="0" u="none" strike="noStrike">
                <a:solidFill>
                  <a:schemeClr val="dk1"/>
                </a:solidFill>
                <a:effectLst/>
                <a:uFillTx/>
                <a:latin typeface="+mn-lt"/>
                <a:ea typeface="+mn-ea"/>
              </a:rPr>
              <a:t>&lt;number&gt;</a:t>
            </a:fld>
            <a:endParaRPr lang="en-US" sz="1200" b="0" u="none" strike="noStrike">
              <a:solidFill>
                <a:srgbClr val="000000"/>
              </a:solidFill>
              <a:effectLst/>
              <a:uFillTx/>
              <a:latin typeface="Times New Roman"/>
            </a:endParaRPr>
          </a:p>
        </p:txBody>
      </p:sp>
    </p:spTree>
  </p:cSld>
</p:notes>
</file>

<file path=ppt/notesSlides/notesSlide16.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11" name="PlaceHolder 1"/>
          <p:cNvSpPr>
            <a:spLocks noGrp="1"/>
          </p:cNvSpPr>
          <p:nvPr>
            <p:ph type="sldImg"/>
          </p:nvPr>
        </p:nvSpPr>
        <p:spPr>
          <a:xfrm>
            <a:off x="685800" y="1143000"/>
            <a:ext cx="5485320" cy="3085200"/>
          </a:xfrm>
          <a:prstGeom prst="rect">
            <a:avLst/>
          </a:prstGeom>
          <a:ln w="0">
            <a:noFill/>
          </a:ln>
        </p:spPr>
      </p:sp>
      <p:sp>
        <p:nvSpPr>
          <p:cNvPr id="112" name="PlaceHolder 2"/>
          <p:cNvSpPr>
            <a:spLocks noGrp="1"/>
          </p:cNvSpPr>
          <p:nvPr>
            <p:ph type="body"/>
          </p:nvPr>
        </p:nvSpPr>
        <p:spPr>
          <a:xfrm>
            <a:off x="685800" y="4400640"/>
            <a:ext cx="5485320" cy="3599280"/>
          </a:xfrm>
          <a:prstGeom prst="rect">
            <a:avLst/>
          </a:prstGeom>
          <a:noFill/>
          <a:ln w="0">
            <a:noFill/>
          </a:ln>
        </p:spPr>
        <p:txBody>
          <a:bodyPr lIns="91440" tIns="45720" rIns="91440" bIns="45720" anchor="t">
            <a:noAutofit/>
          </a:bodyPr>
          <a:p>
            <a:pPr indent="0" algn="l">
              <a:lnSpc>
                <a:spcPct val="100000"/>
              </a:lnSpc>
              <a:buNone/>
              <a:tabLst>
                <a:tab pos="0" algn="l"/>
              </a:tabLst>
            </a:pPr>
            <a:r>
              <a:rPr lang="en-US" sz="2000" b="0" u="none" strike="noStrike">
                <a:solidFill>
                  <a:srgbClr val="000000"/>
                </a:solidFill>
                <a:effectLst/>
                <a:uFillTx/>
                <a:latin typeface="Arial"/>
              </a:rPr>
              <a:t>Versions come from Cargo.lock, rust-toolchain.toml and docker-compose.yml. Compose pins only the floating tag pg17, the running database reports pgvector 0.8.6, and Pi is locked at 1.0.2 while 0.85.0 is installed on the workstation.</a:t>
            </a:r>
            <a:endParaRPr lang="en-US" sz="2000" b="0" u="none" strike="noStrike">
              <a:solidFill>
                <a:srgbClr val="000000"/>
              </a:solidFill>
              <a:effectLst/>
              <a:uFillTx/>
              <a:latin typeface="Arial"/>
            </a:endParaRPr>
          </a:p>
          <a:p>
            <a:pPr indent="0" algn="l">
              <a:lnSpc>
                <a:spcPct val="100000"/>
              </a:lnSpc>
              <a:spcBef>
                <a:spcPts val="601"/>
              </a:spcBef>
              <a:buNone/>
              <a:tabLst>
                <a:tab pos="0" algn="l"/>
              </a:tabLst>
            </a:pPr>
            <a:r>
              <a:rPr lang="en-US" sz="2000" b="0" u="none" strike="noStrike">
                <a:solidFill>
                  <a:srgbClr val="000000"/>
                </a:solidFill>
                <a:effectLst/>
                <a:uFillTx/>
                <a:latin typeface="Arial"/>
              </a:rPr>
              <a:t>The local Qwen2.5-14B extractor is In progress and not usable yet, because it passed validation on 2 of 10 test batches.</a:t>
            </a:r>
            <a:endParaRPr lang="en-US" sz="2000" b="0" u="none" strike="noStrike">
              <a:solidFill>
                <a:srgbClr val="000000"/>
              </a:solidFill>
              <a:effectLst/>
              <a:uFillTx/>
              <a:latin typeface="Arial"/>
            </a:endParaRPr>
          </a:p>
          <a:p>
            <a:pPr indent="0" algn="l">
              <a:lnSpc>
                <a:spcPct val="100000"/>
              </a:lnSpc>
              <a:spcBef>
                <a:spcPts val="601"/>
              </a:spcBef>
              <a:buNone/>
              <a:tabLst>
                <a:tab pos="0" algn="l"/>
              </a:tabLst>
            </a:pPr>
            <a:r>
              <a:rPr lang="en-US" sz="2000" b="0" u="none" strike="noStrike">
                <a:solidFill>
                  <a:srgbClr val="000000"/>
                </a:solidFill>
                <a:effectLst/>
                <a:uFillTx/>
                <a:latin typeface="Arial"/>
              </a:rPr>
              <a:t>The development namespace user:dev was filled through POST /api/v2/retain with the project documents and source plus invented example details. The distillation corpus holds 784 windows and 3,706 memories from 10 LoCoMo conversations, with 642 training windows from 8 of them and 142 held out from the other 2. LoCoMo [15] is released under CC BY-NC 4.0, so we still have to confirm that keeping its turns in the repository is allowed.</a:t>
            </a:r>
            <a:endParaRPr lang="en-US" sz="2000" b="0" u="none" strike="noStrike">
              <a:solidFill>
                <a:srgbClr val="000000"/>
              </a:solidFill>
              <a:effectLst/>
              <a:uFillTx/>
              <a:latin typeface="Arial"/>
            </a:endParaRPr>
          </a:p>
        </p:txBody>
      </p:sp>
      <p:sp>
        <p:nvSpPr>
          <p:cNvPr id="113" name="PlaceHolder 3"/>
          <p:cNvSpPr>
            <a:spLocks noGrp="1"/>
          </p:cNvSpPr>
          <p:nvPr>
            <p:ph type="sldNum" idx="20"/>
          </p:nvPr>
        </p:nvSpPr>
        <p:spPr>
          <a:xfrm>
            <a:off x="3884760" y="8685360"/>
            <a:ext cx="2970720" cy="457560"/>
          </a:xfrm>
          <a:prstGeom prst="rect">
            <a:avLst/>
          </a:prstGeom>
          <a:noFill/>
          <a:ln w="0">
            <a:noFill/>
          </a:ln>
        </p:spPr>
        <p:txBody>
          <a:bodyPr lIns="91440" tIns="45720" rIns="91440" bIns="45720" anchor="b">
            <a:noAutofit/>
          </a:bodyPr>
          <a:lstStyle>
            <a:lvl1pPr indent="0" algn="r" defTabSz="914400">
              <a:lnSpc>
                <a:spcPct val="100000"/>
              </a:lnSpc>
              <a:buNone/>
              <a:tabLst>
                <a:tab pos="0" algn="l"/>
              </a:tabLst>
              <a:defRPr lang="en-US" sz="1200" b="0" u="none" strike="noStrike">
                <a:solidFill>
                  <a:schemeClr val="dk1"/>
                </a:solidFill>
                <a:effectLst/>
                <a:uFillTx/>
                <a:latin typeface="+mn-lt"/>
                <a:ea typeface="+mn-ea"/>
              </a:defRPr>
            </a:lvl1pPr>
          </a:lstStyle>
          <a:p>
            <a:pPr indent="0" algn="r" defTabSz="914400">
              <a:lnSpc>
                <a:spcPct val="100000"/>
              </a:lnSpc>
              <a:buNone/>
              <a:tabLst>
                <a:tab pos="0" algn="l"/>
              </a:tabLst>
            </a:pPr>
            <a:fld id="{6FFDC455-F505-4DD0-8FD0-EEDF15C9B5D9}" type="slidenum">
              <a:rPr lang="en-US" sz="1200" b="0" u="none" strike="noStrike">
                <a:solidFill>
                  <a:schemeClr val="dk1"/>
                </a:solidFill>
                <a:effectLst/>
                <a:uFillTx/>
                <a:latin typeface="+mn-lt"/>
                <a:ea typeface="+mn-ea"/>
              </a:rPr>
              <a:t>&lt;number&gt;</a:t>
            </a:fld>
            <a:endParaRPr lang="en-US" sz="1200" b="0" u="none" strike="noStrike">
              <a:solidFill>
                <a:srgbClr val="000000"/>
              </a:solidFill>
              <a:effectLst/>
              <a:uFillTx/>
              <a:latin typeface="Times New Roman"/>
            </a:endParaRPr>
          </a:p>
        </p:txBody>
      </p:sp>
    </p:spTree>
  </p:cSld>
</p:notes>
</file>

<file path=ppt/notesSlides/notesSlide19.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14" name="PlaceHolder 1"/>
          <p:cNvSpPr>
            <a:spLocks noGrp="1"/>
          </p:cNvSpPr>
          <p:nvPr>
            <p:ph type="sldImg"/>
          </p:nvPr>
        </p:nvSpPr>
        <p:spPr>
          <a:xfrm>
            <a:off x="685800" y="1143000"/>
            <a:ext cx="5485320" cy="3085200"/>
          </a:xfrm>
          <a:prstGeom prst="rect">
            <a:avLst/>
          </a:prstGeom>
          <a:ln w="0">
            <a:noFill/>
          </a:ln>
        </p:spPr>
      </p:sp>
      <p:sp>
        <p:nvSpPr>
          <p:cNvPr id="115" name="PlaceHolder 2"/>
          <p:cNvSpPr>
            <a:spLocks noGrp="1"/>
          </p:cNvSpPr>
          <p:nvPr>
            <p:ph type="body"/>
          </p:nvPr>
        </p:nvSpPr>
        <p:spPr>
          <a:xfrm>
            <a:off x="685800" y="4400640"/>
            <a:ext cx="5485320" cy="3599280"/>
          </a:xfrm>
          <a:prstGeom prst="rect">
            <a:avLst/>
          </a:prstGeom>
          <a:noFill/>
          <a:ln w="0">
            <a:noFill/>
          </a:ln>
        </p:spPr>
        <p:txBody>
          <a:bodyPr lIns="91440" tIns="45720" rIns="91440" bIns="45720" anchor="t">
            <a:noAutofit/>
          </a:bodyPr>
          <a:p>
            <a:pPr indent="0" algn="l">
              <a:lnSpc>
                <a:spcPct val="100000"/>
              </a:lnSpc>
              <a:buNone/>
              <a:tabLst>
                <a:tab pos="0" algn="l"/>
              </a:tabLst>
            </a:pPr>
            <a:r>
              <a:rPr lang="en-US" sz="2000" b="0" u="none" strike="noStrike">
                <a:solidFill>
                  <a:srgbClr val="000000"/>
                </a:solidFill>
                <a:effectLst/>
                <a:uFillTx/>
                <a:latin typeface="Arial"/>
              </a:rPr>
              <a:t>Figure 2 is a real capture from the screen recording pi-two-sessions-shared-memory.mp4, which is 86 seconds long and sits in the second-review folder next to this deck, so copy it to the presenting machine. It shows two real interactive Pi sessions with the memory extension. Figures 1 and 3 were captured again on 20 October 2026 from the same two-session flow after the terminology change, with Pi on Claude Sonnet 5.5 and a fresh namespace, review:team13-demo. The recording itself still shows the earlier labels.</a:t>
            </a:r>
            <a:endParaRPr lang="en-US" sz="2000" b="0" u="none" strike="noStrike">
              <a:solidFill>
                <a:srgbClr val="000000"/>
              </a:solidFill>
              <a:effectLst/>
              <a:uFillTx/>
              <a:latin typeface="Arial"/>
            </a:endParaRPr>
          </a:p>
          <a:p>
            <a:pPr indent="0" algn="l">
              <a:lnSpc>
                <a:spcPct val="100000"/>
              </a:lnSpc>
              <a:spcBef>
                <a:spcPts val="601"/>
              </a:spcBef>
              <a:buNone/>
              <a:tabLst>
                <a:tab pos="0" algn="l"/>
              </a:tabLst>
            </a:pPr>
            <a:r>
              <a:rPr lang="en-US" sz="2000" b="0" u="none" strike="noStrike">
                <a:solidFill>
                  <a:srgbClr val="000000"/>
                </a:solidFill>
                <a:effectLst/>
                <a:uFillTx/>
                <a:latin typeface="Arial"/>
              </a:rPr>
              <a:t>In Figure 1 session 1 in payments-api is told three invented example details and saves them with memory_remember, and in Figure 2 session 2 in mobile-app starts with no history. Figure 3 shows the end of the memory the extension injected from session 1, an attribute assertion with its source quote, and then the answer.</a:t>
            </a:r>
            <a:endParaRPr lang="en-US" sz="2000" b="0" u="none" strike="noStrike">
              <a:solidFill>
                <a:srgbClr val="000000"/>
              </a:solidFill>
              <a:effectLst/>
              <a:uFillTx/>
              <a:latin typeface="Arial"/>
            </a:endParaRPr>
          </a:p>
          <a:p>
            <a:pPr indent="0" algn="l">
              <a:lnSpc>
                <a:spcPct val="100000"/>
              </a:lnSpc>
              <a:spcBef>
                <a:spcPts val="601"/>
              </a:spcBef>
              <a:buNone/>
              <a:tabLst>
                <a:tab pos="0" algn="l"/>
              </a:tabLst>
            </a:pPr>
            <a:r>
              <a:rPr lang="en-US" sz="2000" b="0" u="none" strike="noStrike">
                <a:solidFill>
                  <a:srgbClr val="000000"/>
                </a:solidFill>
                <a:effectLst/>
                <a:uFillTx/>
                <a:latin typeface="Arial"/>
              </a:rPr>
              <a:t>Figure 4 is a screenshot of our graph page for review:team13-demo, cropped to the graph and the details panel of the selected assertion. The two release-freeze statements were sent through the retain API, and the Friday assertion supersedes and contradicts the earlier Thursday assertion. A hosted copy runs Pi next to the same graph for a live demo, and the recording is the fallback.</a:t>
            </a:r>
            <a:endParaRPr lang="en-US" sz="2000" b="0" u="none" strike="noStrike">
              <a:solidFill>
                <a:srgbClr val="000000"/>
              </a:solidFill>
              <a:effectLst/>
              <a:uFillTx/>
              <a:latin typeface="Arial"/>
            </a:endParaRPr>
          </a:p>
        </p:txBody>
      </p:sp>
      <p:sp>
        <p:nvSpPr>
          <p:cNvPr id="116" name="PlaceHolder 3"/>
          <p:cNvSpPr>
            <a:spLocks noGrp="1"/>
          </p:cNvSpPr>
          <p:nvPr>
            <p:ph type="sldNum" idx="21"/>
          </p:nvPr>
        </p:nvSpPr>
        <p:spPr>
          <a:xfrm>
            <a:off x="3884760" y="8685360"/>
            <a:ext cx="2970720" cy="457560"/>
          </a:xfrm>
          <a:prstGeom prst="rect">
            <a:avLst/>
          </a:prstGeom>
          <a:noFill/>
          <a:ln w="0">
            <a:noFill/>
          </a:ln>
        </p:spPr>
        <p:txBody>
          <a:bodyPr lIns="91440" tIns="45720" rIns="91440" bIns="45720" anchor="b">
            <a:noAutofit/>
          </a:bodyPr>
          <a:lstStyle>
            <a:lvl1pPr indent="0" algn="r" defTabSz="914400">
              <a:lnSpc>
                <a:spcPct val="100000"/>
              </a:lnSpc>
              <a:buNone/>
              <a:tabLst>
                <a:tab pos="0" algn="l"/>
              </a:tabLst>
              <a:defRPr lang="en-US" sz="1200" b="0" u="none" strike="noStrike">
                <a:solidFill>
                  <a:schemeClr val="dk1"/>
                </a:solidFill>
                <a:effectLst/>
                <a:uFillTx/>
                <a:latin typeface="+mn-lt"/>
                <a:ea typeface="+mn-ea"/>
              </a:defRPr>
            </a:lvl1pPr>
          </a:lstStyle>
          <a:p>
            <a:pPr indent="0" algn="r" defTabSz="914400">
              <a:lnSpc>
                <a:spcPct val="100000"/>
              </a:lnSpc>
              <a:buNone/>
              <a:tabLst>
                <a:tab pos="0" algn="l"/>
              </a:tabLst>
            </a:pPr>
            <a:fld id="{6815D30F-DA14-44ED-8F99-E6E00AD834F8}" type="slidenum">
              <a:rPr lang="en-US" sz="1200" b="0" u="none" strike="noStrike">
                <a:solidFill>
                  <a:schemeClr val="dk1"/>
                </a:solidFill>
                <a:effectLst/>
                <a:uFillTx/>
                <a:latin typeface="+mn-lt"/>
                <a:ea typeface="+mn-ea"/>
              </a:rPr>
              <a:t>&lt;number&gt;</a:t>
            </a:fld>
            <a:endParaRPr lang="en-US" sz="1200" b="0" u="none" strike="noStrike">
              <a:solidFill>
                <a:srgbClr val="000000"/>
              </a:solidFill>
              <a:effectLst/>
              <a:uFillTx/>
              <a:latin typeface="Times New Roman"/>
            </a:endParaRPr>
          </a:p>
        </p:txBody>
      </p:sp>
    </p:spTree>
  </p:cSld>
</p:notes>
</file>

<file path=ppt/notesSlides/notesSlide20.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17" name="PlaceHolder 1"/>
          <p:cNvSpPr>
            <a:spLocks noGrp="1"/>
          </p:cNvSpPr>
          <p:nvPr>
            <p:ph type="sldImg"/>
          </p:nvPr>
        </p:nvSpPr>
        <p:spPr>
          <a:xfrm>
            <a:off x="685800" y="1143000"/>
            <a:ext cx="5485320" cy="3085200"/>
          </a:xfrm>
          <a:prstGeom prst="rect">
            <a:avLst/>
          </a:prstGeom>
          <a:ln w="0">
            <a:noFill/>
          </a:ln>
        </p:spPr>
      </p:sp>
      <p:sp>
        <p:nvSpPr>
          <p:cNvPr id="118" name="PlaceHolder 2"/>
          <p:cNvSpPr>
            <a:spLocks noGrp="1"/>
          </p:cNvSpPr>
          <p:nvPr>
            <p:ph type="body"/>
          </p:nvPr>
        </p:nvSpPr>
        <p:spPr>
          <a:xfrm>
            <a:off x="685800" y="4400640"/>
            <a:ext cx="5485320" cy="3599280"/>
          </a:xfrm>
          <a:prstGeom prst="rect">
            <a:avLst/>
          </a:prstGeom>
          <a:noFill/>
          <a:ln w="0">
            <a:noFill/>
          </a:ln>
        </p:spPr>
        <p:txBody>
          <a:bodyPr lIns="91440" tIns="45720" rIns="91440" bIns="45720" anchor="t">
            <a:noAutofit/>
          </a:bodyPr>
          <a:p>
            <a:pPr indent="0" algn="l">
              <a:lnSpc>
                <a:spcPct val="100000"/>
              </a:lnSpc>
              <a:buNone/>
              <a:tabLst>
                <a:tab pos="0" algn="l"/>
              </a:tabLst>
            </a:pPr>
            <a:r>
              <a:rPr lang="en-US" sz="2000" b="0" u="none" strike="noStrike">
                <a:solidFill>
                  <a:srgbClr val="000000"/>
                </a:solidFill>
                <a:effectLst/>
                <a:uFillTx/>
                <a:latin typeface="Arial"/>
              </a:rPr>
              <a:t>Every row is one measurement on one machine, mostly on our own user:dev namespace, so none of this is a benchmark result. The two numbers that miss their target are the median context size and the latency when the date planner runs.</a:t>
            </a:r>
            <a:endParaRPr lang="en-US" sz="2000" b="0" u="none" strike="noStrike">
              <a:solidFill>
                <a:srgbClr val="000000"/>
              </a:solidFill>
              <a:effectLst/>
              <a:uFillTx/>
              <a:latin typeface="Arial"/>
            </a:endParaRPr>
          </a:p>
          <a:p>
            <a:pPr indent="0" algn="l">
              <a:lnSpc>
                <a:spcPct val="100000"/>
              </a:lnSpc>
              <a:spcBef>
                <a:spcPts val="601"/>
              </a:spcBef>
              <a:buNone/>
              <a:tabLst>
                <a:tab pos="0" algn="l"/>
              </a:tabLst>
            </a:pPr>
            <a:r>
              <a:rPr lang="en-US" sz="2000" b="0" u="none" strike="noStrike">
                <a:solidFill>
                  <a:srgbClr val="000000"/>
                </a:solidFill>
                <a:effectLst/>
                <a:uFillTx/>
                <a:latin typeface="Arial"/>
              </a:rPr>
              <a:t>For latency we sent 300 requests at 10 per second, using 40 questions about the stored project. Four questions contain words such as when or before, which start a date-planning model call of 1.6 to 2.1 s, and without that call p95 is 72 ms.</a:t>
            </a:r>
            <a:endParaRPr lang="en-US" sz="2000" b="0" u="none" strike="noStrike">
              <a:solidFill>
                <a:srgbClr val="000000"/>
              </a:solidFill>
              <a:effectLst/>
              <a:uFillTx/>
              <a:latin typeface="Arial"/>
            </a:endParaRPr>
          </a:p>
          <a:p>
            <a:pPr indent="0" algn="l">
              <a:lnSpc>
                <a:spcPct val="100000"/>
              </a:lnSpc>
              <a:spcBef>
                <a:spcPts val="601"/>
              </a:spcBef>
              <a:buNone/>
              <a:tabLst>
                <a:tab pos="0" algn="l"/>
              </a:tabLst>
            </a:pPr>
            <a:r>
              <a:rPr lang="en-US" sz="2000" b="0" u="none" strike="noStrike">
                <a:solidFill>
                  <a:srgbClr val="000000"/>
                </a:solidFill>
                <a:effectLst/>
                <a:uFillTx/>
                <a:latin typeface="Arial"/>
              </a:rPr>
              <a:t>The local model row replays 10 of the 18 document batches that the hosted model had already processed, and the 14B model passed 2 of them. LongMemEval-S has not been run, because it needs a 277 MB dataset and a lot of model use, so we cannot say yet that memory improves answers.</a:t>
            </a:r>
            <a:endParaRPr lang="en-US" sz="2000" b="0" u="none" strike="noStrike">
              <a:solidFill>
                <a:srgbClr val="000000"/>
              </a:solidFill>
              <a:effectLst/>
              <a:uFillTx/>
              <a:latin typeface="Arial"/>
            </a:endParaRPr>
          </a:p>
        </p:txBody>
      </p:sp>
      <p:sp>
        <p:nvSpPr>
          <p:cNvPr id="119" name="PlaceHolder 3"/>
          <p:cNvSpPr>
            <a:spLocks noGrp="1"/>
          </p:cNvSpPr>
          <p:nvPr>
            <p:ph type="sldNum" idx="22"/>
          </p:nvPr>
        </p:nvSpPr>
        <p:spPr>
          <a:xfrm>
            <a:off x="3884760" y="8685360"/>
            <a:ext cx="2970720" cy="457560"/>
          </a:xfrm>
          <a:prstGeom prst="rect">
            <a:avLst/>
          </a:prstGeom>
          <a:noFill/>
          <a:ln w="0">
            <a:noFill/>
          </a:ln>
        </p:spPr>
        <p:txBody>
          <a:bodyPr lIns="91440" tIns="45720" rIns="91440" bIns="45720" anchor="b">
            <a:noAutofit/>
          </a:bodyPr>
          <a:lstStyle>
            <a:lvl1pPr indent="0" algn="r" defTabSz="914400">
              <a:lnSpc>
                <a:spcPct val="100000"/>
              </a:lnSpc>
              <a:buNone/>
              <a:tabLst>
                <a:tab pos="0" algn="l"/>
              </a:tabLst>
              <a:defRPr lang="en-US" sz="1200" b="0" u="none" strike="noStrike">
                <a:solidFill>
                  <a:schemeClr val="dk1"/>
                </a:solidFill>
                <a:effectLst/>
                <a:uFillTx/>
                <a:latin typeface="+mn-lt"/>
                <a:ea typeface="+mn-ea"/>
              </a:defRPr>
            </a:lvl1pPr>
          </a:lstStyle>
          <a:p>
            <a:pPr indent="0" algn="r" defTabSz="914400">
              <a:lnSpc>
                <a:spcPct val="100000"/>
              </a:lnSpc>
              <a:buNone/>
              <a:tabLst>
                <a:tab pos="0" algn="l"/>
              </a:tabLst>
            </a:pPr>
            <a:fld id="{A43F50B0-69EB-4D89-A3AD-00F9F99C7EF7}" type="slidenum">
              <a:rPr lang="en-US" sz="1200" b="0" u="none" strike="noStrike">
                <a:solidFill>
                  <a:schemeClr val="dk1"/>
                </a:solidFill>
                <a:effectLst/>
                <a:uFillTx/>
                <a:latin typeface="+mn-lt"/>
                <a:ea typeface="+mn-ea"/>
              </a:rPr>
              <a:t>&lt;number&gt;</a:t>
            </a:fld>
            <a:endParaRPr lang="en-US" sz="1200" b="0" u="none" strike="noStrike">
              <a:solidFill>
                <a:srgbClr val="000000"/>
              </a:solidFill>
              <a:effectLst/>
              <a:uFillTx/>
              <a:latin typeface="Times New Roman"/>
            </a:endParaRPr>
          </a:p>
        </p:txBody>
      </p:sp>
    </p:spTree>
  </p:cSld>
</p:notes>
</file>

<file path=ppt/notesSlides/notesSlide21.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20" name="PlaceHolder 1"/>
          <p:cNvSpPr>
            <a:spLocks noGrp="1"/>
          </p:cNvSpPr>
          <p:nvPr>
            <p:ph type="sldImg"/>
          </p:nvPr>
        </p:nvSpPr>
        <p:spPr>
          <a:xfrm>
            <a:off x="685800" y="1143000"/>
            <a:ext cx="5485320" cy="3085200"/>
          </a:xfrm>
          <a:prstGeom prst="rect">
            <a:avLst/>
          </a:prstGeom>
          <a:ln w="0">
            <a:noFill/>
          </a:ln>
        </p:spPr>
      </p:sp>
      <p:sp>
        <p:nvSpPr>
          <p:cNvPr id="121" name="PlaceHolder 2"/>
          <p:cNvSpPr>
            <a:spLocks noGrp="1"/>
          </p:cNvSpPr>
          <p:nvPr>
            <p:ph type="body"/>
          </p:nvPr>
        </p:nvSpPr>
        <p:spPr>
          <a:xfrm>
            <a:off x="685800" y="4400640"/>
            <a:ext cx="5485320" cy="3599280"/>
          </a:xfrm>
          <a:prstGeom prst="rect">
            <a:avLst/>
          </a:prstGeom>
          <a:noFill/>
          <a:ln w="0">
            <a:noFill/>
          </a:ln>
        </p:spPr>
        <p:txBody>
          <a:bodyPr lIns="91440" tIns="45720" rIns="91440" bIns="45720" anchor="t">
            <a:noAutofit/>
          </a:bodyPr>
          <a:p>
            <a:pPr indent="0" algn="l">
              <a:lnSpc>
                <a:spcPct val="100000"/>
              </a:lnSpc>
              <a:buNone/>
              <a:tabLst>
                <a:tab pos="0" algn="l"/>
              </a:tabLst>
            </a:pPr>
            <a:r>
              <a:rPr lang="en-US" sz="2000" b="0" u="none" strike="noStrike">
                <a:solidFill>
                  <a:srgbClr val="000000"/>
                </a:solidFill>
                <a:effectLst/>
                <a:uFillTx/>
                <a:latin typeface="Arial"/>
              </a:rPr>
              <a:t>Every row is one measurement on one machine, mostly on our own user:dev namespace, so none of this is a benchmark result. The two numbers that miss their target are the median context size and the latency when the date planner runs.</a:t>
            </a:r>
            <a:endParaRPr lang="en-US" sz="2000" b="0" u="none" strike="noStrike">
              <a:solidFill>
                <a:srgbClr val="000000"/>
              </a:solidFill>
              <a:effectLst/>
              <a:uFillTx/>
              <a:latin typeface="Arial"/>
            </a:endParaRPr>
          </a:p>
          <a:p>
            <a:pPr indent="0" algn="l">
              <a:lnSpc>
                <a:spcPct val="100000"/>
              </a:lnSpc>
              <a:spcBef>
                <a:spcPts val="601"/>
              </a:spcBef>
              <a:buNone/>
              <a:tabLst>
                <a:tab pos="0" algn="l"/>
              </a:tabLst>
            </a:pPr>
            <a:r>
              <a:rPr lang="en-US" sz="2000" b="0" u="none" strike="noStrike">
                <a:solidFill>
                  <a:srgbClr val="000000"/>
                </a:solidFill>
                <a:effectLst/>
                <a:uFillTx/>
                <a:latin typeface="Arial"/>
              </a:rPr>
              <a:t>For latency we sent 300 requests at 10 per second, using 40 questions about the stored project. Four questions contain words such as when or before, which start a date-planning model call of 1.6 to 2.1 s, and without that call p95 is 72 ms.</a:t>
            </a:r>
            <a:endParaRPr lang="en-US" sz="2000" b="0" u="none" strike="noStrike">
              <a:solidFill>
                <a:srgbClr val="000000"/>
              </a:solidFill>
              <a:effectLst/>
              <a:uFillTx/>
              <a:latin typeface="Arial"/>
            </a:endParaRPr>
          </a:p>
          <a:p>
            <a:pPr indent="0" algn="l">
              <a:lnSpc>
                <a:spcPct val="100000"/>
              </a:lnSpc>
              <a:spcBef>
                <a:spcPts val="601"/>
              </a:spcBef>
              <a:buNone/>
              <a:tabLst>
                <a:tab pos="0" algn="l"/>
              </a:tabLst>
            </a:pPr>
            <a:r>
              <a:rPr lang="en-US" sz="2000" b="0" u="none" strike="noStrike">
                <a:solidFill>
                  <a:srgbClr val="000000"/>
                </a:solidFill>
                <a:effectLst/>
                <a:uFillTx/>
                <a:latin typeface="Arial"/>
              </a:rPr>
              <a:t>The local model row replays 10 of the 18 document batches that the hosted model had already processed, and the 14B model passed 2 of them. LongMemEval-S has not been run, because it needs a 277 MB dataset and a lot of model use, so we cannot say yet that memory improves answers.</a:t>
            </a:r>
            <a:endParaRPr lang="en-US" sz="2000" b="0" u="none" strike="noStrike">
              <a:solidFill>
                <a:srgbClr val="000000"/>
              </a:solidFill>
              <a:effectLst/>
              <a:uFillTx/>
              <a:latin typeface="Arial"/>
            </a:endParaRPr>
          </a:p>
        </p:txBody>
      </p:sp>
      <p:sp>
        <p:nvSpPr>
          <p:cNvPr id="122" name="PlaceHolder 3"/>
          <p:cNvSpPr>
            <a:spLocks noGrp="1"/>
          </p:cNvSpPr>
          <p:nvPr>
            <p:ph type="sldNum" idx="23"/>
          </p:nvPr>
        </p:nvSpPr>
        <p:spPr>
          <a:xfrm>
            <a:off x="3884760" y="8685360"/>
            <a:ext cx="2970720" cy="457560"/>
          </a:xfrm>
          <a:prstGeom prst="rect">
            <a:avLst/>
          </a:prstGeom>
          <a:noFill/>
          <a:ln w="0">
            <a:noFill/>
          </a:ln>
        </p:spPr>
        <p:txBody>
          <a:bodyPr lIns="91440" tIns="45720" rIns="91440" bIns="45720" anchor="b">
            <a:noAutofit/>
          </a:bodyPr>
          <a:lstStyle>
            <a:lvl1pPr indent="0" algn="r" defTabSz="914400">
              <a:lnSpc>
                <a:spcPct val="100000"/>
              </a:lnSpc>
              <a:buNone/>
              <a:tabLst>
                <a:tab pos="0" algn="l"/>
              </a:tabLst>
              <a:defRPr lang="en-US" sz="1200" b="0" u="none" strike="noStrike">
                <a:solidFill>
                  <a:schemeClr val="dk1"/>
                </a:solidFill>
                <a:effectLst/>
                <a:uFillTx/>
                <a:latin typeface="+mn-lt"/>
                <a:ea typeface="+mn-ea"/>
              </a:defRPr>
            </a:lvl1pPr>
          </a:lstStyle>
          <a:p>
            <a:pPr indent="0" algn="r" defTabSz="914400">
              <a:lnSpc>
                <a:spcPct val="100000"/>
              </a:lnSpc>
              <a:buNone/>
              <a:tabLst>
                <a:tab pos="0" algn="l"/>
              </a:tabLst>
            </a:pPr>
            <a:fld id="{27C7954A-8E6F-4492-AFBB-A17B71028DC5}" type="slidenum">
              <a:rPr lang="en-US" sz="1200" b="0" u="none" strike="noStrike">
                <a:solidFill>
                  <a:schemeClr val="dk1"/>
                </a:solidFill>
                <a:effectLst/>
                <a:uFillTx/>
                <a:latin typeface="+mn-lt"/>
                <a:ea typeface="+mn-ea"/>
              </a:rPr>
              <a:t>&lt;number&gt;</a:t>
            </a:fld>
            <a:endParaRPr lang="en-US" sz="1200" b="0" u="none" strike="noStrike">
              <a:solidFill>
                <a:srgbClr val="000000"/>
              </a:solidFill>
              <a:effectLst/>
              <a:uFillTx/>
              <a:latin typeface="Times New Roman"/>
            </a:endParaRPr>
          </a:p>
        </p:txBody>
      </p:sp>
    </p:spTree>
  </p:cSld>
</p:notes>
</file>

<file path=ppt/notesSlides/notesSlide22.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23" name="PlaceHolder 1"/>
          <p:cNvSpPr>
            <a:spLocks noGrp="1"/>
          </p:cNvSpPr>
          <p:nvPr>
            <p:ph type="sldImg"/>
          </p:nvPr>
        </p:nvSpPr>
        <p:spPr>
          <a:xfrm>
            <a:off x="685800" y="1143000"/>
            <a:ext cx="5485320" cy="3085200"/>
          </a:xfrm>
          <a:prstGeom prst="rect">
            <a:avLst/>
          </a:prstGeom>
          <a:ln w="0">
            <a:noFill/>
          </a:ln>
        </p:spPr>
      </p:sp>
      <p:sp>
        <p:nvSpPr>
          <p:cNvPr id="124" name="PlaceHolder 2"/>
          <p:cNvSpPr>
            <a:spLocks noGrp="1"/>
          </p:cNvSpPr>
          <p:nvPr>
            <p:ph type="body"/>
          </p:nvPr>
        </p:nvSpPr>
        <p:spPr>
          <a:xfrm>
            <a:off x="685800" y="4400640"/>
            <a:ext cx="5485320" cy="3599280"/>
          </a:xfrm>
          <a:prstGeom prst="rect">
            <a:avLst/>
          </a:prstGeom>
          <a:noFill/>
          <a:ln w="0">
            <a:noFill/>
          </a:ln>
        </p:spPr>
        <p:txBody>
          <a:bodyPr lIns="91440" tIns="45720" rIns="91440" bIns="45720" anchor="t">
            <a:noAutofit/>
          </a:bodyPr>
          <a:p>
            <a:pPr indent="0" algn="l">
              <a:lnSpc>
                <a:spcPct val="100000"/>
              </a:lnSpc>
              <a:buNone/>
              <a:tabLst>
                <a:tab pos="0" algn="l"/>
              </a:tabLst>
            </a:pPr>
            <a:r>
              <a:rPr lang="en-US" sz="2000" b="0" u="none" strike="noStrike">
                <a:solidFill>
                  <a:srgbClr val="000000"/>
                </a:solidFill>
                <a:effectLst/>
                <a:uFillTx/>
                <a:latin typeface="Arial"/>
              </a:rPr>
              <a:t>Completed means the feature is implemented in code, and it does not mean it has been measured to be good. The results slide shows which modules have numbers so far and which have none.</a:t>
            </a:r>
            <a:endParaRPr lang="en-US" sz="2000" b="0" u="none" strike="noStrike">
              <a:solidFill>
                <a:srgbClr val="000000"/>
              </a:solidFill>
              <a:effectLst/>
              <a:uFillTx/>
              <a:latin typeface="Arial"/>
            </a:endParaRPr>
          </a:p>
          <a:p>
            <a:pPr indent="0" algn="l">
              <a:lnSpc>
                <a:spcPct val="100000"/>
              </a:lnSpc>
              <a:spcBef>
                <a:spcPts val="601"/>
              </a:spcBef>
              <a:buNone/>
              <a:tabLst>
                <a:tab pos="0" algn="l"/>
              </a:tabLst>
            </a:pPr>
            <a:r>
              <a:rPr lang="en-US" sz="2000" b="0" u="none" strike="noStrike">
                <a:solidFill>
                  <a:srgbClr val="000000"/>
                </a:solidFill>
                <a:effectLst/>
                <a:uFillTx/>
                <a:latin typeface="Arial"/>
              </a:rPr>
              <a:t>M4 covers jobs, consolidation, traces, metrics and the LongMemEval runner, and decay, re-embedding and backup are Planned. The local 14B extractor is In progress because it passed validation on only 2 of 10 test batches.</a:t>
            </a:r>
            <a:endParaRPr lang="en-US" sz="2000" b="0" u="none" strike="noStrike">
              <a:solidFill>
                <a:srgbClr val="000000"/>
              </a:solidFill>
              <a:effectLst/>
              <a:uFillTx/>
              <a:latin typeface="Arial"/>
            </a:endParaRPr>
          </a:p>
          <a:p>
            <a:pPr indent="0" algn="l">
              <a:lnSpc>
                <a:spcPct val="100000"/>
              </a:lnSpc>
              <a:spcBef>
                <a:spcPts val="601"/>
              </a:spcBef>
              <a:buNone/>
              <a:tabLst>
                <a:tab pos="0" algn="l"/>
              </a:tabLst>
            </a:pPr>
            <a:r>
              <a:rPr lang="en-US" sz="2000" b="0" u="none" strike="noStrike">
                <a:solidFill>
                  <a:srgbClr val="000000"/>
                </a:solidFill>
                <a:effectLst/>
                <a:uFillTx/>
                <a:latin typeface="Arial"/>
              </a:rPr>
              <a:t>The student is In progress because we have the pipeline, corpus and scores but not the 139 MB adapter in the repository, and nothing serves it yet. Serving it needs the LoRA weights combined with the base model, a GGUF conversion, ollama create and a schema decision, since the student learned the V1 style schema.</a:t>
            </a:r>
            <a:endParaRPr lang="en-US" sz="2000" b="0" u="none" strike="noStrike">
              <a:solidFill>
                <a:srgbClr val="000000"/>
              </a:solidFill>
              <a:effectLst/>
              <a:uFillTx/>
              <a:latin typeface="Arial"/>
            </a:endParaRPr>
          </a:p>
        </p:txBody>
      </p:sp>
      <p:sp>
        <p:nvSpPr>
          <p:cNvPr id="125" name="PlaceHolder 3"/>
          <p:cNvSpPr>
            <a:spLocks noGrp="1"/>
          </p:cNvSpPr>
          <p:nvPr>
            <p:ph type="sldNum" idx="24"/>
          </p:nvPr>
        </p:nvSpPr>
        <p:spPr>
          <a:xfrm>
            <a:off x="3884760" y="8685360"/>
            <a:ext cx="2970720" cy="457560"/>
          </a:xfrm>
          <a:prstGeom prst="rect">
            <a:avLst/>
          </a:prstGeom>
          <a:noFill/>
          <a:ln w="0">
            <a:noFill/>
          </a:ln>
        </p:spPr>
        <p:txBody>
          <a:bodyPr lIns="91440" tIns="45720" rIns="91440" bIns="45720" anchor="b">
            <a:noAutofit/>
          </a:bodyPr>
          <a:lstStyle>
            <a:lvl1pPr indent="0" algn="r" defTabSz="914400">
              <a:lnSpc>
                <a:spcPct val="100000"/>
              </a:lnSpc>
              <a:buNone/>
              <a:tabLst>
                <a:tab pos="0" algn="l"/>
              </a:tabLst>
              <a:defRPr lang="en-US" sz="1200" b="0" u="none" strike="noStrike">
                <a:solidFill>
                  <a:schemeClr val="dk1"/>
                </a:solidFill>
                <a:effectLst/>
                <a:uFillTx/>
                <a:latin typeface="+mn-lt"/>
                <a:ea typeface="+mn-ea"/>
              </a:defRPr>
            </a:lvl1pPr>
          </a:lstStyle>
          <a:p>
            <a:pPr indent="0" algn="r" defTabSz="914400">
              <a:lnSpc>
                <a:spcPct val="100000"/>
              </a:lnSpc>
              <a:buNone/>
              <a:tabLst>
                <a:tab pos="0" algn="l"/>
              </a:tabLst>
            </a:pPr>
            <a:fld id="{08F664C1-EBD9-4C84-9B7D-A759CD9AAE94}" type="slidenum">
              <a:rPr lang="en-US" sz="1200" b="0" u="none" strike="noStrike">
                <a:solidFill>
                  <a:schemeClr val="dk1"/>
                </a:solidFill>
                <a:effectLst/>
                <a:uFillTx/>
                <a:latin typeface="+mn-lt"/>
                <a:ea typeface="+mn-ea"/>
              </a:rPr>
              <a:t>&lt;number&gt;</a:t>
            </a:fld>
            <a:endParaRPr lang="en-US" sz="1200" b="0" u="none" strike="noStrike">
              <a:solidFill>
                <a:srgbClr val="000000"/>
              </a:solidFill>
              <a:effectLst/>
              <a:uFillTx/>
              <a:latin typeface="Times New Roman"/>
            </a:endParaRPr>
          </a:p>
        </p:txBody>
      </p:sp>
    </p:spTree>
  </p:cSld>
</p:notes>
</file>

<file path=ppt/notesSlides/notesSlide23.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26" name="PlaceHolder 1"/>
          <p:cNvSpPr>
            <a:spLocks noGrp="1"/>
          </p:cNvSpPr>
          <p:nvPr>
            <p:ph type="sldImg"/>
          </p:nvPr>
        </p:nvSpPr>
        <p:spPr>
          <a:xfrm>
            <a:off x="685800" y="1143000"/>
            <a:ext cx="5485320" cy="3085200"/>
          </a:xfrm>
          <a:prstGeom prst="rect">
            <a:avLst/>
          </a:prstGeom>
          <a:ln w="0">
            <a:noFill/>
          </a:ln>
        </p:spPr>
      </p:sp>
      <p:sp>
        <p:nvSpPr>
          <p:cNvPr id="127" name="PlaceHolder 2"/>
          <p:cNvSpPr>
            <a:spLocks noGrp="1"/>
          </p:cNvSpPr>
          <p:nvPr>
            <p:ph type="body"/>
          </p:nvPr>
        </p:nvSpPr>
        <p:spPr>
          <a:xfrm>
            <a:off x="685800" y="4400640"/>
            <a:ext cx="5485320" cy="3599280"/>
          </a:xfrm>
          <a:prstGeom prst="rect">
            <a:avLst/>
          </a:prstGeom>
          <a:noFill/>
          <a:ln w="0">
            <a:noFill/>
          </a:ln>
        </p:spPr>
        <p:txBody>
          <a:bodyPr lIns="91440" tIns="45720" rIns="91440" bIns="45720" anchor="t">
            <a:noAutofit/>
          </a:bodyPr>
          <a:p>
            <a:pPr indent="0" algn="l">
              <a:lnSpc>
                <a:spcPct val="100000"/>
              </a:lnSpc>
              <a:buNone/>
              <a:tabLst>
                <a:tab pos="0" algn="l"/>
              </a:tabLst>
            </a:pPr>
            <a:r>
              <a:rPr lang="en-US" sz="2000" b="0" u="none" strike="noStrike">
                <a:solidFill>
                  <a:srgbClr val="000000"/>
                </a:solidFill>
                <a:effectLst/>
                <a:uFillTx/>
                <a:latin typeface="Arial"/>
              </a:rPr>
              <a:t>All entries were checked against their primary sources on 2026-10-06.</a:t>
            </a:r>
            <a:endParaRPr lang="en-US" sz="2000" b="0" u="none" strike="noStrike">
              <a:solidFill>
                <a:srgbClr val="000000"/>
              </a:solidFill>
              <a:effectLst/>
              <a:uFillTx/>
              <a:latin typeface="Arial"/>
            </a:endParaRPr>
          </a:p>
          <a:p>
            <a:pPr indent="0" algn="l">
              <a:lnSpc>
                <a:spcPct val="100000"/>
              </a:lnSpc>
              <a:spcBef>
                <a:spcPts val="601"/>
              </a:spcBef>
              <a:buNone/>
              <a:tabLst>
                <a:tab pos="0" algn="l"/>
              </a:tabLst>
            </a:pPr>
            <a:r>
              <a:rPr lang="en-US" sz="2000" b="0" u="none" strike="noStrike">
                <a:solidFill>
                  <a:srgbClr val="000000"/>
                </a:solidFill>
                <a:effectLst/>
                <a:uFillTx/>
                <a:latin typeface="Arial"/>
              </a:rPr>
              <a:t>Peer reviewed: Liu et al. (TACL 2024), Wu et al. (ICLR 2025), Maharana et al. (ACL 2024), Chhikara et al. (ECAI 2025), Cormack et al. (SIGIR 2009) and Dettmers et al. (NeurIPS 2023).</a:t>
            </a:r>
            <a:endParaRPr lang="en-US" sz="2000" b="0" u="none" strike="noStrike">
              <a:solidFill>
                <a:srgbClr val="000000"/>
              </a:solidFill>
              <a:effectLst/>
              <a:uFillTx/>
              <a:latin typeface="Arial"/>
            </a:endParaRPr>
          </a:p>
          <a:p>
            <a:pPr indent="0" algn="l">
              <a:lnSpc>
                <a:spcPct val="100000"/>
              </a:lnSpc>
              <a:spcBef>
                <a:spcPts val="601"/>
              </a:spcBef>
              <a:buNone/>
              <a:tabLst>
                <a:tab pos="0" algn="l"/>
              </a:tabLst>
            </a:pPr>
            <a:r>
              <a:rPr lang="en-US" sz="2000" b="0" u="none" strike="noStrike">
                <a:solidFill>
                  <a:srgbClr val="000000"/>
                </a:solidFill>
                <a:effectLst/>
                <a:uFillTx/>
                <a:latin typeface="Arial"/>
              </a:rPr>
              <a:t>Preprints: Packer et al., Rasmussen et al. (written by Zep staff), Latimer et al. (vendor affiliated) and Zhang et al.</a:t>
            </a:r>
            <a:endParaRPr lang="en-US" sz="2000" b="0" u="none" strike="noStrike">
              <a:solidFill>
                <a:srgbClr val="000000"/>
              </a:solidFill>
              <a:effectLst/>
              <a:uFillTx/>
              <a:latin typeface="Arial"/>
            </a:endParaRPr>
          </a:p>
          <a:p>
            <a:pPr indent="0" algn="l">
              <a:lnSpc>
                <a:spcPct val="100000"/>
              </a:lnSpc>
              <a:spcBef>
                <a:spcPts val="601"/>
              </a:spcBef>
              <a:buNone/>
              <a:tabLst>
                <a:tab pos="0" algn="l"/>
              </a:tabLst>
            </a:pPr>
            <a:r>
              <a:rPr lang="en-US" sz="2000" b="0" u="none" strike="noStrike">
                <a:solidFill>
                  <a:srgbClr val="000000"/>
                </a:solidFill>
                <a:effectLst/>
                <a:uFillTx/>
                <a:latin typeface="Arial"/>
              </a:rPr>
              <a:t>PostgreSQL and Neo4j are official documentation, and pgvector and Pi are software repositories.</a:t>
            </a:r>
            <a:endParaRPr lang="en-US" sz="2000" b="0" u="none" strike="noStrike">
              <a:solidFill>
                <a:srgbClr val="000000"/>
              </a:solidFill>
              <a:effectLst/>
              <a:uFillTx/>
              <a:latin typeface="Arial"/>
            </a:endParaRPr>
          </a:p>
          <a:p>
            <a:pPr indent="0" algn="l">
              <a:lnSpc>
                <a:spcPct val="100000"/>
              </a:lnSpc>
              <a:spcBef>
                <a:spcPts val="601"/>
              </a:spcBef>
              <a:buNone/>
              <a:tabLst>
                <a:tab pos="0" algn="l"/>
              </a:tabLst>
            </a:pPr>
            <a:r>
              <a:rPr lang="en-US" sz="2000" b="0" u="none" strike="noStrike">
                <a:solidFill>
                  <a:srgbClr val="000000"/>
                </a:solidFill>
                <a:effectLst/>
                <a:uFillTx/>
                <a:latin typeface="Arial"/>
              </a:rPr>
              <a:t>Reference [6] is a vendor hosted web report and is not peer reviewed, and its numbers are vendor reported and were not reproduced by us, so the deck cites it for mechanism only.</a:t>
            </a:r>
            <a:endParaRPr lang="en-US" sz="2000" b="0" u="none" strike="noStrike">
              <a:solidFill>
                <a:srgbClr val="000000"/>
              </a:solidFill>
              <a:effectLst/>
              <a:uFillTx/>
              <a:latin typeface="Arial"/>
            </a:endParaRPr>
          </a:p>
        </p:txBody>
      </p:sp>
      <p:sp>
        <p:nvSpPr>
          <p:cNvPr id="128" name="PlaceHolder 3"/>
          <p:cNvSpPr>
            <a:spLocks noGrp="1"/>
          </p:cNvSpPr>
          <p:nvPr>
            <p:ph type="sldNum" idx="25"/>
          </p:nvPr>
        </p:nvSpPr>
        <p:spPr>
          <a:xfrm>
            <a:off x="3884760" y="8685360"/>
            <a:ext cx="2970720" cy="457560"/>
          </a:xfrm>
          <a:prstGeom prst="rect">
            <a:avLst/>
          </a:prstGeom>
          <a:noFill/>
          <a:ln w="0">
            <a:noFill/>
          </a:ln>
        </p:spPr>
        <p:txBody>
          <a:bodyPr lIns="91440" tIns="45720" rIns="91440" bIns="45720" anchor="b">
            <a:noAutofit/>
          </a:bodyPr>
          <a:lstStyle>
            <a:lvl1pPr indent="0" algn="r" defTabSz="914400">
              <a:lnSpc>
                <a:spcPct val="100000"/>
              </a:lnSpc>
              <a:buNone/>
              <a:tabLst>
                <a:tab pos="0" algn="l"/>
              </a:tabLst>
              <a:defRPr lang="en-US" sz="1200" b="0" u="none" strike="noStrike">
                <a:solidFill>
                  <a:schemeClr val="dk1"/>
                </a:solidFill>
                <a:effectLst/>
                <a:uFillTx/>
                <a:latin typeface="+mn-lt"/>
                <a:ea typeface="+mn-ea"/>
              </a:defRPr>
            </a:lvl1pPr>
          </a:lstStyle>
          <a:p>
            <a:pPr indent="0" algn="r" defTabSz="914400">
              <a:lnSpc>
                <a:spcPct val="100000"/>
              </a:lnSpc>
              <a:buNone/>
              <a:tabLst>
                <a:tab pos="0" algn="l"/>
              </a:tabLst>
            </a:pPr>
            <a:fld id="{3B850B66-4F94-4013-8464-36A38E8C6744}" type="slidenum">
              <a:rPr lang="en-US" sz="1200" b="0" u="none" strike="noStrike">
                <a:solidFill>
                  <a:schemeClr val="dk1"/>
                </a:solidFill>
                <a:effectLst/>
                <a:uFillTx/>
                <a:latin typeface="+mn-lt"/>
                <a:ea typeface="+mn-ea"/>
              </a:rPr>
              <a:t>&lt;number&gt;</a:t>
            </a:fld>
            <a:endParaRPr lang="en-US" sz="1200" b="0" u="none" strike="noStrike">
              <a:solidFill>
                <a:srgbClr val="000000"/>
              </a:solidFill>
              <a:effectLst/>
              <a:uFillTx/>
              <a:latin typeface="Times New Roman"/>
            </a:endParaRPr>
          </a:p>
        </p:txBody>
      </p:sp>
    </p:spTree>
  </p:cSld>
</p:notes>
</file>

<file path=ppt/slideLayouts/_rels/slideLayout1.xml.rels><?xml version="1.0" encoding="UTF-8"?>
<Relationships xmlns="http://schemas.openxmlformats.org/package/2006/relationships"><Relationship Id="rId1" Type="http://schemas.openxmlformats.org/officeDocument/2006/relationships/slideMaster" Target="../slideMasters/slideMaster1.xml"/>
</Relationships>
</file>

<file path=ppt/slideLayouts/_rels/slideLayout2.xml.rels><?xml version="1.0" encoding="UTF-8"?>
<Relationships xmlns="http://schemas.openxmlformats.org/package/2006/relationships"><Relationship Id="rId1" Type="http://schemas.openxmlformats.org/officeDocument/2006/relationships/slideMaster" Target="../slideMasters/slideMaster1.xml"/>
</Relationships>
</file>

<file path=ppt/slideLayouts/_rels/slideLayout3.xml.rels><?xml version="1.0" encoding="UTF-8"?>
<Relationships xmlns="http://schemas.openxmlformats.org/package/2006/relationships"><Relationship Id="rId1" Type="http://schemas.openxmlformats.org/officeDocument/2006/relationships/slideMaster" Target="../slideMasters/slideMaster1.xml"/>
</Relationships>
</file>

<file path=ppt/slideLayouts/slideLayout1.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DEFAULT">
    <p:bg>
      <p:bgPr>
        <a:solidFill>
          <a:srgbClr val="FFFFFF"/>
        </a:solidFill>
      </p:bgPr>
    </p:bg>
    <p:spTree>
      <p:nvGrpSpPr>
        <p:cNvPr id="1" name=""/>
        <p:cNvGrpSpPr/>
        <p:nvPr/>
      </p:nvGrpSpPr>
      <p:grpSpPr>
        <a:xfrm>
          <a:off x="0" y="0"/>
          <a:ext cx="0" cy="0"/>
          <a:chOff x="0" y="0"/>
          <a:chExt cx="0" cy="0"/>
        </a:xfrm>
      </p:grpSpPr>
    </p:spTree>
  </p:cSld>
</p:sldLayout>
</file>

<file path=ppt/slideLayouts/slideLayout2.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CONTENT">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228600" y="228600"/>
            <a:ext cx="11733480" cy="6399720"/>
          </a:xfrm>
          <a:prstGeom prst="rect">
            <a:avLst/>
          </a:prstGeom>
          <a:noFill/>
          <a:ln w="12700">
            <a:solidFill>
              <a:srgbClr val="000000"/>
            </a:solidFill>
            <a:round/>
          </a:ln>
        </p:spPr>
        <p:style>
          <a:lnRef idx="0"/>
          <a:fillRef idx="0"/>
          <a:effectRef idx="0"/>
          <a:fontRef idx="minor"/>
        </p:style>
        <p:txBody>
          <a:bodyPr lIns="90000" tIns="45000" rIns="90000" bIns="45000" anchor="t">
            <a:noAutofit/>
          </a:bodyPr>
          <a:p>
            <a:endParaRPr lang="en-US" sz="1800" b="0" u="none" strike="noStrike">
              <a:solidFill>
                <a:srgbClr val="000000"/>
              </a:solidFill>
              <a:effectLst/>
              <a:uFillTx/>
              <a:latin typeface="Arial"/>
            </a:endParaRPr>
          </a:p>
        </p:txBody>
      </p:sp>
      <p:sp>
        <p:nvSpPr>
          <p:cNvPr id="3" name="Shape 1"/>
          <p:cNvSpPr/>
          <p:nvPr/>
        </p:nvSpPr>
        <p:spPr>
          <a:xfrm>
            <a:off x="594360" y="6382440"/>
            <a:ext cx="11002680" cy="360"/>
          </a:xfrm>
          <a:prstGeom prst="line">
            <a:avLst/>
          </a:prstGeom>
          <a:ln w="9525">
            <a:solidFill>
              <a:srgbClr val="BFBFBF"/>
            </a:solidFill>
            <a:round/>
          </a:ln>
        </p:spPr>
        <p:style>
          <a:lnRef idx="0"/>
          <a:fillRef idx="0"/>
          <a:effectRef idx="0"/>
          <a:fontRef idx="minor"/>
        </p:style>
        <p:txBody>
          <a:bodyPr lIns="90000" tIns="-44640" rIns="90000" bIns="-44640" anchor="t" anchorCtr="1">
            <a:noAutofit/>
          </a:bodyPr>
          <a:p>
            <a:endParaRPr lang="en-US" sz="1800" b="0" u="none" strike="noStrike">
              <a:solidFill>
                <a:srgbClr val="000000"/>
              </a:solidFill>
              <a:effectLst/>
              <a:uFillTx/>
              <a:latin typeface="Arial"/>
            </a:endParaRPr>
          </a:p>
        </p:txBody>
      </p:sp>
      <p:sp>
        <p:nvSpPr>
          <p:cNvPr id="4" name="PlaceHolder 1"/>
          <p:cNvSpPr>
            <a:spLocks noGrp="1"/>
          </p:cNvSpPr>
          <p:nvPr>
            <p:ph type="title"/>
          </p:nvPr>
        </p:nvSpPr>
        <p:spPr>
          <a:xfrm>
            <a:off x="594360" y="384120"/>
            <a:ext cx="9813240" cy="776160"/>
          </a:xfrm>
          <a:prstGeom prst="rect">
            <a:avLst/>
          </a:prstGeom>
          <a:noFill/>
          <a:ln w="0">
            <a:noFill/>
          </a:ln>
        </p:spPr>
        <p:txBody>
          <a:bodyPr lIns="90000" tIns="45000" rIns="90000" bIns="45000" anchor="t">
            <a:noAutofit/>
          </a:bodyPr>
          <a:lstStyle>
            <a:lvl1pPr indent="0" algn="l">
              <a:lnSpc>
                <a:spcPct val="100000"/>
              </a:lnSpc>
              <a:buNone/>
              <a:tabLst>
                <a:tab pos="0" algn="l"/>
              </a:tabLst>
              <a:defRPr lang="en-US" sz="3000" b="0" u="none" strike="noStrike">
                <a:solidFill>
                  <a:schemeClr val="dk1"/>
                </a:solidFill>
                <a:effectLst/>
                <a:uFillTx/>
                <a:latin typeface="Times New Roman"/>
              </a:defRPr>
            </a:lvl1pPr>
          </a:lstStyle>
          <a:p>
            <a:pPr indent="0" algn="l">
              <a:lnSpc>
                <a:spcPct val="100000"/>
              </a:lnSpc>
              <a:buNone/>
              <a:tabLst>
                <a:tab pos="0" algn="l"/>
              </a:tabLst>
            </a:pPr>
            <a:r>
              <a:rPr lang="en-US" sz="3000" b="0" u="none" strike="noStrike">
                <a:solidFill>
                  <a:schemeClr val="dk1"/>
                </a:solidFill>
                <a:effectLst/>
                <a:uFillTx/>
                <a:latin typeface="Times New Roman"/>
              </a:rPr>
              <a:t>Click to edit the title text format</a:t>
            </a:r>
            <a:endParaRPr lang="en-US" sz="3000" b="0" u="none" strike="noStrike">
              <a:solidFill>
                <a:schemeClr val="dk1"/>
              </a:solidFill>
              <a:effectLst/>
              <a:uFillTx/>
              <a:latin typeface="Times New Roman"/>
            </a:endParaRPr>
          </a:p>
        </p:txBody>
      </p:sp>
      <p:sp>
        <p:nvSpPr>
          <p:cNvPr id="5" name="PlaceHolder 2"/>
          <p:cNvSpPr>
            <a:spLocks noGrp="1"/>
          </p:cNvSpPr>
          <p:nvPr>
            <p:ph type="sldNum" idx="1"/>
          </p:nvPr>
        </p:nvSpPr>
        <p:spPr>
          <a:xfrm>
            <a:off x="10865880" y="384120"/>
            <a:ext cx="730440" cy="456120"/>
          </a:xfrm>
          <a:prstGeom prst="rect">
            <a:avLst/>
          </a:prstGeom>
          <a:noFill/>
          <a:ln w="0">
            <a:noFill/>
          </a:ln>
        </p:spPr>
        <p:txBody>
          <a:bodyPr lIns="90000" tIns="45000" rIns="90000" bIns="45000" anchor="t">
            <a:noAutofit/>
          </a:bodyPr>
          <a:lstStyle>
            <a:lvl1pPr indent="0" algn="r" defTabSz="914400">
              <a:lnSpc>
                <a:spcPct val="100000"/>
              </a:lnSpc>
              <a:buNone/>
              <a:tabLst>
                <a:tab pos="0" algn="l"/>
              </a:tabLst>
              <a:defRPr lang="en-US" sz="1600" b="0" u="none" strike="noStrike">
                <a:solidFill>
                  <a:srgbClr val="000000"/>
                </a:solidFill>
                <a:effectLst/>
                <a:uFillTx/>
                <a:latin typeface="Times New Roman"/>
                <a:ea typeface="Times New Roman"/>
              </a:defRPr>
            </a:lvl1pPr>
          </a:lstStyle>
          <a:p>
            <a:pPr indent="0" algn="r" defTabSz="914400">
              <a:lnSpc>
                <a:spcPct val="100000"/>
              </a:lnSpc>
              <a:buNone/>
              <a:tabLst>
                <a:tab pos="0" algn="l"/>
              </a:tabLst>
            </a:pPr>
            <a:fld id="{1E1AC1F3-9096-47FB-BC1A-BBB711A1D522}" type="slidenum">
              <a:rPr lang="en-US" sz="1600" b="0" u="none" strike="noStrike">
                <a:solidFill>
                  <a:srgbClr val="000000"/>
                </a:solidFill>
                <a:effectLst/>
                <a:uFillTx/>
                <a:latin typeface="Times New Roman"/>
                <a:ea typeface="Times New Roman"/>
              </a:rPr>
              <a:t>&lt;number&gt;</a:t>
            </a:fld>
            <a:endParaRPr lang="en-US" sz="1600" b="0" u="none" strike="noStrike">
              <a:solidFill>
                <a:srgbClr val="000000"/>
              </a:solidFill>
              <a:effectLst/>
              <a:uFillTx/>
              <a:latin typeface="Times New Roman"/>
            </a:endParaRPr>
          </a:p>
        </p:txBody>
      </p:sp>
      <p:sp>
        <p:nvSpPr>
          <p:cNvPr id="6" name="PlaceHolder 3"/>
          <p:cNvSpPr>
            <a:spLocks noGrp="1"/>
          </p:cNvSpPr>
          <p:nvPr>
            <p:ph type="body"/>
          </p:nvPr>
        </p:nvSpPr>
        <p:spPr>
          <a:xfrm>
            <a:off x="609480" y="1604520"/>
            <a:ext cx="10971720" cy="3976560"/>
          </a:xfrm>
          <a:prstGeom prst="rect">
            <a:avLst/>
          </a:prstGeom>
          <a:noFill/>
          <a:ln w="0">
            <a:noFill/>
          </a:ln>
        </p:spPr>
        <p:txBody>
          <a:bodyPr lIns="0" tIns="0" rIns="0" bIns="0" anchor="t">
            <a:normAutofit/>
          </a:bodyPr>
          <a:lstStyle>
            <a:lvl1pPr algn="l">
              <a:lnSpc>
                <a:spcPct val="100000"/>
              </a:lnSpc>
              <a:spcBef>
                <a:spcPts val="1417"/>
              </a:spcBef>
              <a:buClr>
                <a:srgbClr val="000000"/>
              </a:buClr>
              <a:buSzPct val="45000"/>
              <a:buFont typeface="Wingdings" charset="2"/>
              <a:buChar char=""/>
              <a:defRPr lang="en-US" sz="3200" b="0" u="none" strike="noStrike">
                <a:solidFill>
                  <a:schemeClr val="dk1"/>
                </a:solidFill>
                <a:effectLst/>
                <a:uFillTx/>
                <a:latin typeface="Times New Roman"/>
              </a:defRPr>
            </a:lvl1pPr>
            <a:lvl2pPr lvl="1" algn="l">
              <a:lnSpc>
                <a:spcPct val="100000"/>
              </a:lnSpc>
              <a:spcBef>
                <a:spcPts val="1134"/>
              </a:spcBef>
              <a:buClr>
                <a:srgbClr val="000000"/>
              </a:buClr>
              <a:buSzPct val="75000"/>
              <a:buFont typeface="Symbol" charset="2"/>
              <a:buChar char=""/>
              <a:defRPr lang="en-US" sz="2400" b="0" u="none" strike="noStrike">
                <a:solidFill>
                  <a:schemeClr val="dk1"/>
                </a:solidFill>
                <a:effectLst/>
                <a:uFillTx/>
                <a:latin typeface="Times New Roman"/>
              </a:defRPr>
            </a:lvl2pPr>
            <a:lvl3pPr lvl="2" algn="l">
              <a:lnSpc>
                <a:spcPct val="100000"/>
              </a:lnSpc>
              <a:spcBef>
                <a:spcPts val="850"/>
              </a:spcBef>
              <a:buClr>
                <a:srgbClr val="000000"/>
              </a:buClr>
              <a:buSzPct val="45000"/>
              <a:buFont typeface="Wingdings" charset="2"/>
              <a:buChar char=""/>
              <a:defRPr lang="en-US" sz="2000" b="0" u="none" strike="noStrike">
                <a:solidFill>
                  <a:schemeClr val="dk1"/>
                </a:solidFill>
                <a:effectLst/>
                <a:uFillTx/>
                <a:latin typeface="Times New Roman"/>
              </a:defRPr>
            </a:lvl3pPr>
            <a:lvl4pPr lvl="3" algn="l">
              <a:lnSpc>
                <a:spcPct val="100000"/>
              </a:lnSpc>
              <a:spcBef>
                <a:spcPts val="567"/>
              </a:spcBef>
              <a:buClr>
                <a:srgbClr val="000000"/>
              </a:buClr>
              <a:buSzPct val="75000"/>
              <a:buFont typeface="Symbol" charset="2"/>
              <a:buChar char=""/>
              <a:defRPr lang="en-US" sz="2000" b="0" u="none" strike="noStrike">
                <a:solidFill>
                  <a:schemeClr val="dk1"/>
                </a:solidFill>
                <a:effectLst/>
                <a:uFillTx/>
                <a:latin typeface="Times New Roman"/>
              </a:defRPr>
            </a:lvl4pPr>
            <a:lvl5pPr lvl="4" algn="l">
              <a:lnSpc>
                <a:spcPct val="100000"/>
              </a:lnSpc>
              <a:spcBef>
                <a:spcPts val="283"/>
              </a:spcBef>
              <a:buClr>
                <a:srgbClr val="000000"/>
              </a:buClr>
              <a:buSzPct val="45000"/>
              <a:buFont typeface="Wingdings" charset="2"/>
              <a:buChar char=""/>
              <a:defRPr lang="en-US" sz="2000" b="0" u="none" strike="noStrike">
                <a:solidFill>
                  <a:schemeClr val="dk1"/>
                </a:solidFill>
                <a:effectLst/>
                <a:uFillTx/>
                <a:latin typeface="Times New Roman"/>
              </a:defRPr>
            </a:lvl5pPr>
            <a:lvl6pPr lvl="5" algn="l">
              <a:lnSpc>
                <a:spcPct val="100000"/>
              </a:lnSpc>
              <a:spcBef>
                <a:spcPts val="283"/>
              </a:spcBef>
              <a:buClr>
                <a:srgbClr val="000000"/>
              </a:buClr>
              <a:buSzPct val="45000"/>
              <a:buFont typeface="Wingdings" charset="2"/>
              <a:buChar char=""/>
              <a:defRPr lang="en-US" sz="2000" b="0" u="none" strike="noStrike">
                <a:solidFill>
                  <a:schemeClr val="dk1"/>
                </a:solidFill>
                <a:effectLst/>
                <a:uFillTx/>
                <a:latin typeface="Times New Roman"/>
              </a:defRPr>
            </a:lvl6pPr>
            <a:lvl7pPr lvl="6" algn="l">
              <a:lnSpc>
                <a:spcPct val="100000"/>
              </a:lnSpc>
              <a:spcBef>
                <a:spcPts val="283"/>
              </a:spcBef>
              <a:buClr>
                <a:srgbClr val="000000"/>
              </a:buClr>
              <a:buSzPct val="45000"/>
              <a:buFont typeface="Wingdings" charset="2"/>
              <a:buChar char=""/>
              <a:defRPr lang="en-US" sz="2000" b="0" u="none" strike="noStrike">
                <a:solidFill>
                  <a:schemeClr val="dk1"/>
                </a:solidFill>
                <a:effectLst/>
                <a:uFillTx/>
                <a:latin typeface="Times New Roman"/>
              </a:defRPr>
            </a:lvl7pPr>
          </a:lstStyle>
          <a:p>
            <a:pPr marL="432000" indent="-324000" algn="l">
              <a:lnSpc>
                <a:spcPct val="100000"/>
              </a:lnSpc>
              <a:spcBef>
                <a:spcPts val="1417"/>
              </a:spcBef>
              <a:buClr>
                <a:srgbClr val="000000"/>
              </a:buClr>
              <a:buSzPct val="45000"/>
              <a:buFont typeface="Wingdings" charset="2"/>
              <a:buChar char=""/>
            </a:pPr>
            <a:r>
              <a:rPr lang="en-US" sz="3200" b="0" u="none" strike="noStrike">
                <a:solidFill>
                  <a:schemeClr val="dk1"/>
                </a:solidFill>
                <a:effectLst/>
                <a:uFillTx/>
                <a:latin typeface="Times New Roman"/>
              </a:rPr>
              <a:t>Click to edit the outline text format</a:t>
            </a:r>
            <a:endParaRPr lang="en-US" sz="3200" b="0" u="none" strike="noStrike">
              <a:solidFill>
                <a:schemeClr val="dk1"/>
              </a:solidFill>
              <a:effectLst/>
              <a:uFillTx/>
              <a:latin typeface="Times New Roman"/>
            </a:endParaRPr>
          </a:p>
          <a:p>
            <a:pPr marL="864000" lvl="1" indent="-324000" algn="l">
              <a:lnSpc>
                <a:spcPct val="100000"/>
              </a:lnSpc>
              <a:spcBef>
                <a:spcPts val="1134"/>
              </a:spcBef>
              <a:buClr>
                <a:srgbClr val="000000"/>
              </a:buClr>
              <a:buSzPct val="75000"/>
              <a:buFont typeface="Symbol" charset="2"/>
              <a:buChar char=""/>
            </a:pPr>
            <a:r>
              <a:rPr lang="en-US" sz="2400" b="0" u="none" strike="noStrike">
                <a:solidFill>
                  <a:schemeClr val="dk1"/>
                </a:solidFill>
                <a:effectLst/>
                <a:uFillTx/>
                <a:latin typeface="Times New Roman"/>
              </a:rPr>
              <a:t>Second Outline Level</a:t>
            </a:r>
            <a:endParaRPr lang="en-US" sz="2400" b="0" u="none" strike="noStrike">
              <a:solidFill>
                <a:schemeClr val="dk1"/>
              </a:solidFill>
              <a:effectLst/>
              <a:uFillTx/>
              <a:latin typeface="Times New Roman"/>
            </a:endParaRPr>
          </a:p>
          <a:p>
            <a:pPr marL="1296000" lvl="2" indent="-288000" algn="l">
              <a:lnSpc>
                <a:spcPct val="100000"/>
              </a:lnSpc>
              <a:spcBef>
                <a:spcPts val="850"/>
              </a:spcBef>
              <a:buClr>
                <a:srgbClr val="000000"/>
              </a:buClr>
              <a:buSzPct val="45000"/>
              <a:buFont typeface="Wingdings" charset="2"/>
              <a:buChar char=""/>
            </a:pPr>
            <a:r>
              <a:rPr lang="en-US" sz="2000" b="0" u="none" strike="noStrike">
                <a:solidFill>
                  <a:schemeClr val="dk1"/>
                </a:solidFill>
                <a:effectLst/>
                <a:uFillTx/>
                <a:latin typeface="Times New Roman"/>
              </a:rPr>
              <a:t>Third Outline Level</a:t>
            </a:r>
            <a:endParaRPr lang="en-US" sz="2000" b="0" u="none" strike="noStrike">
              <a:solidFill>
                <a:schemeClr val="dk1"/>
              </a:solidFill>
              <a:effectLst/>
              <a:uFillTx/>
              <a:latin typeface="Times New Roman"/>
            </a:endParaRPr>
          </a:p>
          <a:p>
            <a:pPr marL="1728000" lvl="3" indent="-216000" algn="l">
              <a:lnSpc>
                <a:spcPct val="100000"/>
              </a:lnSpc>
              <a:spcBef>
                <a:spcPts val="567"/>
              </a:spcBef>
              <a:buClr>
                <a:srgbClr val="000000"/>
              </a:buClr>
              <a:buSzPct val="75000"/>
              <a:buFont typeface="Symbol" charset="2"/>
              <a:buChar char=""/>
            </a:pPr>
            <a:r>
              <a:rPr lang="en-US" sz="2000" b="0" u="none" strike="noStrike">
                <a:solidFill>
                  <a:schemeClr val="dk1"/>
                </a:solidFill>
                <a:effectLst/>
                <a:uFillTx/>
                <a:latin typeface="Times New Roman"/>
              </a:rPr>
              <a:t>Fourth Outline Level</a:t>
            </a:r>
            <a:endParaRPr lang="en-US" sz="2000" b="0" u="none" strike="noStrike">
              <a:solidFill>
                <a:schemeClr val="dk1"/>
              </a:solidFill>
              <a:effectLst/>
              <a:uFillTx/>
              <a:latin typeface="Times New Roman"/>
            </a:endParaRPr>
          </a:p>
          <a:p>
            <a:pPr marL="2160000" lvl="4" indent="-216000" algn="l">
              <a:lnSpc>
                <a:spcPct val="100000"/>
              </a:lnSpc>
              <a:spcBef>
                <a:spcPts val="283"/>
              </a:spcBef>
              <a:buClr>
                <a:srgbClr val="000000"/>
              </a:buClr>
              <a:buSzPct val="45000"/>
              <a:buFont typeface="Wingdings" charset="2"/>
              <a:buChar char=""/>
            </a:pPr>
            <a:r>
              <a:rPr lang="en-US" sz="2000" b="0" u="none" strike="noStrike">
                <a:solidFill>
                  <a:schemeClr val="dk1"/>
                </a:solidFill>
                <a:effectLst/>
                <a:uFillTx/>
                <a:latin typeface="Times New Roman"/>
              </a:rPr>
              <a:t>Fifth Outline Level</a:t>
            </a:r>
            <a:endParaRPr lang="en-US" sz="2000" b="0" u="none" strike="noStrike">
              <a:solidFill>
                <a:schemeClr val="dk1"/>
              </a:solidFill>
              <a:effectLst/>
              <a:uFillTx/>
              <a:latin typeface="Times New Roman"/>
            </a:endParaRPr>
          </a:p>
          <a:p>
            <a:pPr marL="2592000" lvl="5" indent="-216000" algn="l">
              <a:lnSpc>
                <a:spcPct val="100000"/>
              </a:lnSpc>
              <a:spcBef>
                <a:spcPts val="283"/>
              </a:spcBef>
              <a:buClr>
                <a:srgbClr val="000000"/>
              </a:buClr>
              <a:buSzPct val="45000"/>
              <a:buFont typeface="Wingdings" charset="2"/>
              <a:buChar char=""/>
            </a:pPr>
            <a:r>
              <a:rPr lang="en-US" sz="2000" b="0" u="none" strike="noStrike">
                <a:solidFill>
                  <a:schemeClr val="dk1"/>
                </a:solidFill>
                <a:effectLst/>
                <a:uFillTx/>
                <a:latin typeface="Times New Roman"/>
              </a:rPr>
              <a:t>Sixth Outline Level</a:t>
            </a:r>
            <a:endParaRPr lang="en-US" sz="2000" b="0" u="none" strike="noStrike">
              <a:solidFill>
                <a:schemeClr val="dk1"/>
              </a:solidFill>
              <a:effectLst/>
              <a:uFillTx/>
              <a:latin typeface="Times New Roman"/>
            </a:endParaRPr>
          </a:p>
          <a:p>
            <a:pPr marL="3024000" lvl="6" indent="-216000" algn="l">
              <a:lnSpc>
                <a:spcPct val="100000"/>
              </a:lnSpc>
              <a:spcBef>
                <a:spcPts val="283"/>
              </a:spcBef>
              <a:buClr>
                <a:srgbClr val="000000"/>
              </a:buClr>
              <a:buSzPct val="45000"/>
              <a:buFont typeface="Wingdings" charset="2"/>
              <a:buChar char=""/>
            </a:pPr>
            <a:r>
              <a:rPr lang="en-US" sz="2000" b="0" u="none" strike="noStrike">
                <a:solidFill>
                  <a:schemeClr val="dk1"/>
                </a:solidFill>
                <a:effectLst/>
                <a:uFillTx/>
                <a:latin typeface="Times New Roman"/>
              </a:rPr>
              <a:t>Seventh Outline Level</a:t>
            </a:r>
            <a:endParaRPr lang="en-US" sz="2000" b="0" u="none" strike="noStrike">
              <a:solidFill>
                <a:schemeClr val="dk1"/>
              </a:solidFill>
              <a:effectLst/>
              <a:uFillTx/>
              <a:latin typeface="Times New Roman"/>
            </a:endParaRPr>
          </a:p>
        </p:txBody>
      </p:sp>
    </p:spTree>
  </p:cSld>
</p:sldLayout>
</file>

<file path=ppt/slideLayouts/slideLayout3.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TITLE">
    <p:bg>
      <p:bgPr>
        <a:solidFill>
          <a:srgbClr val="FFFFFF"/>
        </a:solidFill>
      </p:bgPr>
    </p:bg>
    <p:spTree>
      <p:nvGrpSpPr>
        <p:cNvPr id="1" name=""/>
        <p:cNvGrpSpPr/>
        <p:nvPr/>
      </p:nvGrpSpPr>
      <p:grpSpPr>
        <a:xfrm>
          <a:off x="0" y="0"/>
          <a:ext cx="0" cy="0"/>
          <a:chOff x="0" y="0"/>
          <a:chExt cx="0" cy="0"/>
        </a:xfrm>
      </p:grpSpPr>
      <p:sp>
        <p:nvSpPr>
          <p:cNvPr id="7" name="Shape 0"/>
          <p:cNvSpPr/>
          <p:nvPr/>
        </p:nvSpPr>
        <p:spPr>
          <a:xfrm>
            <a:off x="228600" y="228600"/>
            <a:ext cx="11733480" cy="6399720"/>
          </a:xfrm>
          <a:prstGeom prst="rect">
            <a:avLst/>
          </a:prstGeom>
          <a:noFill/>
          <a:ln w="12700">
            <a:solidFill>
              <a:srgbClr val="000000"/>
            </a:solidFill>
            <a:round/>
          </a:ln>
        </p:spPr>
        <p:style>
          <a:lnRef idx="0"/>
          <a:fillRef idx="0"/>
          <a:effectRef idx="0"/>
          <a:fontRef idx="minor"/>
        </p:style>
        <p:txBody>
          <a:bodyPr lIns="90000" tIns="45000" rIns="90000" bIns="45000" anchor="t">
            <a:noAutofit/>
          </a:bodyPr>
          <a:p>
            <a:endParaRPr lang="en-US" sz="1800" b="0" u="none" strike="noStrike">
              <a:solidFill>
                <a:srgbClr val="000000"/>
              </a:solidFill>
              <a:effectLst/>
              <a:uFillTx/>
              <a:latin typeface="Arial"/>
            </a:endParaRPr>
          </a:p>
        </p:txBody>
      </p:sp>
      <p:sp>
        <p:nvSpPr>
          <p:cNvPr id="8" name="PlaceHolder 1"/>
          <p:cNvSpPr>
            <a:spLocks noGrp="1"/>
          </p:cNvSpPr>
          <p:nvPr>
            <p:ph type="title"/>
          </p:nvPr>
        </p:nvSpPr>
        <p:spPr>
          <a:xfrm>
            <a:off x="594360" y="1737360"/>
            <a:ext cx="10999080" cy="1370520"/>
          </a:xfrm>
          <a:prstGeom prst="rect">
            <a:avLst/>
          </a:prstGeom>
          <a:noFill/>
          <a:ln w="0">
            <a:noFill/>
          </a:ln>
        </p:spPr>
        <p:txBody>
          <a:bodyPr lIns="90000" tIns="45000" rIns="90000" bIns="45000" anchor="t">
            <a:noAutofit/>
          </a:bodyPr>
          <a:lstStyle>
            <a:lvl1pPr indent="0" algn="l">
              <a:lnSpc>
                <a:spcPct val="100000"/>
              </a:lnSpc>
              <a:buNone/>
              <a:tabLst>
                <a:tab pos="0" algn="l"/>
              </a:tabLst>
              <a:defRPr lang="en-US" sz="3600" b="0" u="none" strike="noStrike">
                <a:solidFill>
                  <a:schemeClr val="dk1"/>
                </a:solidFill>
                <a:effectLst/>
                <a:uFillTx/>
                <a:latin typeface="Times New Roman"/>
              </a:defRPr>
            </a:lvl1pPr>
          </a:lstStyle>
          <a:p>
            <a:pPr indent="0" algn="l">
              <a:lnSpc>
                <a:spcPct val="100000"/>
              </a:lnSpc>
              <a:buNone/>
              <a:tabLst>
                <a:tab pos="0" algn="l"/>
              </a:tabLst>
            </a:pPr>
            <a:r>
              <a:rPr lang="en-US" sz="3600" b="0" u="none" strike="noStrike">
                <a:solidFill>
                  <a:schemeClr val="dk1"/>
                </a:solidFill>
                <a:effectLst/>
                <a:uFillTx/>
                <a:latin typeface="Times New Roman"/>
              </a:rPr>
              <a:t>Click to edit the title text format</a:t>
            </a:r>
            <a:endParaRPr lang="en-US" sz="3600" b="0" u="none" strike="noStrike">
              <a:solidFill>
                <a:schemeClr val="dk1"/>
              </a:solidFill>
              <a:effectLst/>
              <a:uFillTx/>
              <a:latin typeface="Times New Roman"/>
            </a:endParaRPr>
          </a:p>
        </p:txBody>
      </p:sp>
      <p:sp>
        <p:nvSpPr>
          <p:cNvPr id="9" name="PlaceHolder 2"/>
          <p:cNvSpPr>
            <a:spLocks noGrp="1"/>
          </p:cNvSpPr>
          <p:nvPr>
            <p:ph type="body"/>
          </p:nvPr>
        </p:nvSpPr>
        <p:spPr>
          <a:xfrm>
            <a:off x="609480" y="1604520"/>
            <a:ext cx="10971720" cy="3976560"/>
          </a:xfrm>
          <a:prstGeom prst="rect">
            <a:avLst/>
          </a:prstGeom>
          <a:noFill/>
          <a:ln w="0">
            <a:noFill/>
          </a:ln>
        </p:spPr>
        <p:txBody>
          <a:bodyPr lIns="0" tIns="0" rIns="0" bIns="0" anchor="t">
            <a:normAutofit/>
          </a:bodyPr>
          <a:lstStyle>
            <a:lvl1pPr algn="l">
              <a:lnSpc>
                <a:spcPct val="100000"/>
              </a:lnSpc>
              <a:spcBef>
                <a:spcPts val="1417"/>
              </a:spcBef>
              <a:buClr>
                <a:srgbClr val="000000"/>
              </a:buClr>
              <a:buSzPct val="45000"/>
              <a:buFont typeface="Wingdings" charset="2"/>
              <a:buChar char=""/>
              <a:defRPr lang="en-US" sz="3200" b="0" u="none" strike="noStrike">
                <a:solidFill>
                  <a:schemeClr val="dk1"/>
                </a:solidFill>
                <a:effectLst/>
                <a:uFillTx/>
                <a:latin typeface="Times New Roman"/>
              </a:defRPr>
            </a:lvl1pPr>
            <a:lvl2pPr lvl="1" algn="l">
              <a:lnSpc>
                <a:spcPct val="100000"/>
              </a:lnSpc>
              <a:spcBef>
                <a:spcPts val="1134"/>
              </a:spcBef>
              <a:buClr>
                <a:srgbClr val="000000"/>
              </a:buClr>
              <a:buSzPct val="75000"/>
              <a:buFont typeface="Symbol" charset="2"/>
              <a:buChar char=""/>
              <a:defRPr lang="en-US" sz="2400" b="0" u="none" strike="noStrike">
                <a:solidFill>
                  <a:schemeClr val="dk1"/>
                </a:solidFill>
                <a:effectLst/>
                <a:uFillTx/>
                <a:latin typeface="Times New Roman"/>
              </a:defRPr>
            </a:lvl2pPr>
            <a:lvl3pPr lvl="2" algn="l">
              <a:lnSpc>
                <a:spcPct val="100000"/>
              </a:lnSpc>
              <a:spcBef>
                <a:spcPts val="850"/>
              </a:spcBef>
              <a:buClr>
                <a:srgbClr val="000000"/>
              </a:buClr>
              <a:buSzPct val="45000"/>
              <a:buFont typeface="Wingdings" charset="2"/>
              <a:buChar char=""/>
              <a:defRPr lang="en-US" sz="2000" b="0" u="none" strike="noStrike">
                <a:solidFill>
                  <a:schemeClr val="dk1"/>
                </a:solidFill>
                <a:effectLst/>
                <a:uFillTx/>
                <a:latin typeface="Times New Roman"/>
              </a:defRPr>
            </a:lvl3pPr>
            <a:lvl4pPr lvl="3" algn="l">
              <a:lnSpc>
                <a:spcPct val="100000"/>
              </a:lnSpc>
              <a:spcBef>
                <a:spcPts val="567"/>
              </a:spcBef>
              <a:buClr>
                <a:srgbClr val="000000"/>
              </a:buClr>
              <a:buSzPct val="75000"/>
              <a:buFont typeface="Symbol" charset="2"/>
              <a:buChar char=""/>
              <a:defRPr lang="en-US" sz="2000" b="0" u="none" strike="noStrike">
                <a:solidFill>
                  <a:schemeClr val="dk1"/>
                </a:solidFill>
                <a:effectLst/>
                <a:uFillTx/>
                <a:latin typeface="Times New Roman"/>
              </a:defRPr>
            </a:lvl4pPr>
            <a:lvl5pPr lvl="4" algn="l">
              <a:lnSpc>
                <a:spcPct val="100000"/>
              </a:lnSpc>
              <a:spcBef>
                <a:spcPts val="283"/>
              </a:spcBef>
              <a:buClr>
                <a:srgbClr val="000000"/>
              </a:buClr>
              <a:buSzPct val="45000"/>
              <a:buFont typeface="Wingdings" charset="2"/>
              <a:buChar char=""/>
              <a:defRPr lang="en-US" sz="2000" b="0" u="none" strike="noStrike">
                <a:solidFill>
                  <a:schemeClr val="dk1"/>
                </a:solidFill>
                <a:effectLst/>
                <a:uFillTx/>
                <a:latin typeface="Times New Roman"/>
              </a:defRPr>
            </a:lvl5pPr>
            <a:lvl6pPr lvl="5" algn="l">
              <a:lnSpc>
                <a:spcPct val="100000"/>
              </a:lnSpc>
              <a:spcBef>
                <a:spcPts val="283"/>
              </a:spcBef>
              <a:buClr>
                <a:srgbClr val="000000"/>
              </a:buClr>
              <a:buSzPct val="45000"/>
              <a:buFont typeface="Wingdings" charset="2"/>
              <a:buChar char=""/>
              <a:defRPr lang="en-US" sz="2000" b="0" u="none" strike="noStrike">
                <a:solidFill>
                  <a:schemeClr val="dk1"/>
                </a:solidFill>
                <a:effectLst/>
                <a:uFillTx/>
                <a:latin typeface="Times New Roman"/>
              </a:defRPr>
            </a:lvl6pPr>
            <a:lvl7pPr lvl="6" algn="l">
              <a:lnSpc>
                <a:spcPct val="100000"/>
              </a:lnSpc>
              <a:spcBef>
                <a:spcPts val="283"/>
              </a:spcBef>
              <a:buClr>
                <a:srgbClr val="000000"/>
              </a:buClr>
              <a:buSzPct val="45000"/>
              <a:buFont typeface="Wingdings" charset="2"/>
              <a:buChar char=""/>
              <a:defRPr lang="en-US" sz="2000" b="0" u="none" strike="noStrike">
                <a:solidFill>
                  <a:schemeClr val="dk1"/>
                </a:solidFill>
                <a:effectLst/>
                <a:uFillTx/>
                <a:latin typeface="Times New Roman"/>
              </a:defRPr>
            </a:lvl7pPr>
          </a:lstStyle>
          <a:p>
            <a:pPr marL="432000" indent="-324000" algn="l">
              <a:lnSpc>
                <a:spcPct val="100000"/>
              </a:lnSpc>
              <a:spcBef>
                <a:spcPts val="1417"/>
              </a:spcBef>
              <a:buClr>
                <a:srgbClr val="000000"/>
              </a:buClr>
              <a:buSzPct val="45000"/>
              <a:buFont typeface="Wingdings" charset="2"/>
              <a:buChar char=""/>
            </a:pPr>
            <a:r>
              <a:rPr lang="en-US" sz="3200" b="0" u="none" strike="noStrike">
                <a:solidFill>
                  <a:schemeClr val="dk1"/>
                </a:solidFill>
                <a:effectLst/>
                <a:uFillTx/>
                <a:latin typeface="Times New Roman"/>
              </a:rPr>
              <a:t>Click to edit the outline text format</a:t>
            </a:r>
            <a:endParaRPr lang="en-US" sz="3200" b="0" u="none" strike="noStrike">
              <a:solidFill>
                <a:schemeClr val="dk1"/>
              </a:solidFill>
              <a:effectLst/>
              <a:uFillTx/>
              <a:latin typeface="Times New Roman"/>
            </a:endParaRPr>
          </a:p>
          <a:p>
            <a:pPr marL="864000" lvl="1" indent="-324000" algn="l">
              <a:lnSpc>
                <a:spcPct val="100000"/>
              </a:lnSpc>
              <a:spcBef>
                <a:spcPts val="1134"/>
              </a:spcBef>
              <a:buClr>
                <a:srgbClr val="000000"/>
              </a:buClr>
              <a:buSzPct val="75000"/>
              <a:buFont typeface="Symbol" charset="2"/>
              <a:buChar char=""/>
            </a:pPr>
            <a:r>
              <a:rPr lang="en-US" sz="2400" b="0" u="none" strike="noStrike">
                <a:solidFill>
                  <a:schemeClr val="dk1"/>
                </a:solidFill>
                <a:effectLst/>
                <a:uFillTx/>
                <a:latin typeface="Times New Roman"/>
              </a:rPr>
              <a:t>Second Outline Level</a:t>
            </a:r>
            <a:endParaRPr lang="en-US" sz="2400" b="0" u="none" strike="noStrike">
              <a:solidFill>
                <a:schemeClr val="dk1"/>
              </a:solidFill>
              <a:effectLst/>
              <a:uFillTx/>
              <a:latin typeface="Times New Roman"/>
            </a:endParaRPr>
          </a:p>
          <a:p>
            <a:pPr marL="1296000" lvl="2" indent="-288000" algn="l">
              <a:lnSpc>
                <a:spcPct val="100000"/>
              </a:lnSpc>
              <a:spcBef>
                <a:spcPts val="850"/>
              </a:spcBef>
              <a:buClr>
                <a:srgbClr val="000000"/>
              </a:buClr>
              <a:buSzPct val="45000"/>
              <a:buFont typeface="Wingdings" charset="2"/>
              <a:buChar char=""/>
            </a:pPr>
            <a:r>
              <a:rPr lang="en-US" sz="2000" b="0" u="none" strike="noStrike">
                <a:solidFill>
                  <a:schemeClr val="dk1"/>
                </a:solidFill>
                <a:effectLst/>
                <a:uFillTx/>
                <a:latin typeface="Times New Roman"/>
              </a:rPr>
              <a:t>Third Outline Level</a:t>
            </a:r>
            <a:endParaRPr lang="en-US" sz="2000" b="0" u="none" strike="noStrike">
              <a:solidFill>
                <a:schemeClr val="dk1"/>
              </a:solidFill>
              <a:effectLst/>
              <a:uFillTx/>
              <a:latin typeface="Times New Roman"/>
            </a:endParaRPr>
          </a:p>
          <a:p>
            <a:pPr marL="1728000" lvl="3" indent="-216000" algn="l">
              <a:lnSpc>
                <a:spcPct val="100000"/>
              </a:lnSpc>
              <a:spcBef>
                <a:spcPts val="567"/>
              </a:spcBef>
              <a:buClr>
                <a:srgbClr val="000000"/>
              </a:buClr>
              <a:buSzPct val="75000"/>
              <a:buFont typeface="Symbol" charset="2"/>
              <a:buChar char=""/>
            </a:pPr>
            <a:r>
              <a:rPr lang="en-US" sz="2000" b="0" u="none" strike="noStrike">
                <a:solidFill>
                  <a:schemeClr val="dk1"/>
                </a:solidFill>
                <a:effectLst/>
                <a:uFillTx/>
                <a:latin typeface="Times New Roman"/>
              </a:rPr>
              <a:t>Fourth Outline Level</a:t>
            </a:r>
            <a:endParaRPr lang="en-US" sz="2000" b="0" u="none" strike="noStrike">
              <a:solidFill>
                <a:schemeClr val="dk1"/>
              </a:solidFill>
              <a:effectLst/>
              <a:uFillTx/>
              <a:latin typeface="Times New Roman"/>
            </a:endParaRPr>
          </a:p>
          <a:p>
            <a:pPr marL="2160000" lvl="4" indent="-216000" algn="l">
              <a:lnSpc>
                <a:spcPct val="100000"/>
              </a:lnSpc>
              <a:spcBef>
                <a:spcPts val="283"/>
              </a:spcBef>
              <a:buClr>
                <a:srgbClr val="000000"/>
              </a:buClr>
              <a:buSzPct val="45000"/>
              <a:buFont typeface="Wingdings" charset="2"/>
              <a:buChar char=""/>
            </a:pPr>
            <a:r>
              <a:rPr lang="en-US" sz="2000" b="0" u="none" strike="noStrike">
                <a:solidFill>
                  <a:schemeClr val="dk1"/>
                </a:solidFill>
                <a:effectLst/>
                <a:uFillTx/>
                <a:latin typeface="Times New Roman"/>
              </a:rPr>
              <a:t>Fifth Outline Level</a:t>
            </a:r>
            <a:endParaRPr lang="en-US" sz="2000" b="0" u="none" strike="noStrike">
              <a:solidFill>
                <a:schemeClr val="dk1"/>
              </a:solidFill>
              <a:effectLst/>
              <a:uFillTx/>
              <a:latin typeface="Times New Roman"/>
            </a:endParaRPr>
          </a:p>
          <a:p>
            <a:pPr marL="2592000" lvl="5" indent="-216000" algn="l">
              <a:lnSpc>
                <a:spcPct val="100000"/>
              </a:lnSpc>
              <a:spcBef>
                <a:spcPts val="283"/>
              </a:spcBef>
              <a:buClr>
                <a:srgbClr val="000000"/>
              </a:buClr>
              <a:buSzPct val="45000"/>
              <a:buFont typeface="Wingdings" charset="2"/>
              <a:buChar char=""/>
            </a:pPr>
            <a:r>
              <a:rPr lang="en-US" sz="2000" b="0" u="none" strike="noStrike">
                <a:solidFill>
                  <a:schemeClr val="dk1"/>
                </a:solidFill>
                <a:effectLst/>
                <a:uFillTx/>
                <a:latin typeface="Times New Roman"/>
              </a:rPr>
              <a:t>Sixth Outline Level</a:t>
            </a:r>
            <a:endParaRPr lang="en-US" sz="2000" b="0" u="none" strike="noStrike">
              <a:solidFill>
                <a:schemeClr val="dk1"/>
              </a:solidFill>
              <a:effectLst/>
              <a:uFillTx/>
              <a:latin typeface="Times New Roman"/>
            </a:endParaRPr>
          </a:p>
          <a:p>
            <a:pPr marL="3024000" lvl="6" indent="-216000" algn="l">
              <a:lnSpc>
                <a:spcPct val="100000"/>
              </a:lnSpc>
              <a:spcBef>
                <a:spcPts val="283"/>
              </a:spcBef>
              <a:buClr>
                <a:srgbClr val="000000"/>
              </a:buClr>
              <a:buSzPct val="45000"/>
              <a:buFont typeface="Wingdings" charset="2"/>
              <a:buChar char=""/>
            </a:pPr>
            <a:r>
              <a:rPr lang="en-US" sz="2000" b="0" u="none" strike="noStrike">
                <a:solidFill>
                  <a:schemeClr val="dk1"/>
                </a:solidFill>
                <a:effectLst/>
                <a:uFillTx/>
                <a:latin typeface="Times New Roman"/>
              </a:rPr>
              <a:t>Seventh Outline Level</a:t>
            </a:r>
            <a:endParaRPr lang="en-US" sz="2000" b="0" u="none" strike="noStrike">
              <a:solidFill>
                <a:schemeClr val="dk1"/>
              </a:solidFill>
              <a:effectLst/>
              <a:uFillTx/>
              <a:latin typeface="Times New Roman"/>
            </a:endParaRPr>
          </a:p>
        </p:txBody>
      </p:sp>
    </p:spTree>
  </p:cSld>
</p:sldLayout>
</file>

<file path=ppt/slideMasters/_rels/slideMaster1.xml.rels><?xml version="1.0" encoding="UTF-8"?>
<Relationships xmlns="http://schemas.openxmlformats.org/package/2006/relationships"><Relationship Id="rId1" Type="http://schemas.openxmlformats.org/officeDocument/2006/relationships/theme" Target="../theme/theme1.xml"/><Relationship Id="rId2" Type="http://schemas.openxmlformats.org/officeDocument/2006/relationships/slideLayout" Target="../slideLayouts/slideLayout1.xml"/><Relationship Id="rId3" Type="http://schemas.openxmlformats.org/officeDocument/2006/relationships/slideLayout" Target="../slideLayouts/slideLayout2.xml"/><Relationship Id="rId4" Type="http://schemas.openxmlformats.org/officeDocument/2006/relationships/slideLayout" Target="../slideLayouts/slideLayout3.xml"/>
</Relationships>
</file>

<file path=ppt/slideMasters/slideMaster1.xml><?xml version="1.0" encoding="utf-8"?>
<p:sld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2"/>
    <p:sldLayoutId id="2147483650" r:id="rId3"/>
    <p:sldLayoutId id="2147483651" r:id="rId4"/>
  </p:sldLayoutIdLst>
</p:sldMaster>
</file>

<file path=ppt/slides/_rels/slide1.xml.rels><?xml version="1.0" encoding="UTF-8"?>
<Relationships xmlns="http://schemas.openxmlformats.org/package/2006/relationships"><Relationship Id="rId1" Type="http://schemas.openxmlformats.org/officeDocument/2006/relationships/image" Target="../media/image1.png"/><Relationship Id="rId2" Type="http://schemas.openxmlformats.org/officeDocument/2006/relationships/image" Target="../media/image2.png"/><Relationship Id="rId3" Type="http://schemas.openxmlformats.org/officeDocument/2006/relationships/slideLayout" Target="../slideLayouts/slideLayout3.xml"/><Relationship Id="rId4" Type="http://schemas.openxmlformats.org/officeDocument/2006/relationships/notesSlide" Target="../notesSlides/notesSlide1.xml"/>
</Relationships>
</file>

<file path=ppt/slides/_rels/slide2.xml.rels><?xml version="1.0" encoding="UTF-8"?>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
</Relationships>
</file>

<file path=ppt/slides/_rels/slide3.xml.rels><?xml version="1.0" encoding="UTF-8"?>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
</Relationships>
</file>

<file path=ppt/slides/_rels/slide4.xml.rels><?xml version="1.0" encoding="UTF-8"?>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
</Relationships>
</file>

<file path=ppt/slides/_rels/slide5.xml.rels><?xml version="1.0" encoding="UTF-8"?>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
</Relationships>
</file>

<file path=ppt/slides/_rels/slide6.xml.rels><?xml version="1.0" encoding="UTF-8"?>
<Relationships xmlns="http://schemas.openxmlformats.org/package/2006/relationships"><Relationship Id="rId1" Type="http://schemas.openxmlformats.org/officeDocument/2006/relationships/image" Target="../media/image3.png"/><Relationship Id="rId2" Type="http://schemas.openxmlformats.org/officeDocument/2006/relationships/image" Target="../media/image4.svg"/><Relationship Id="rId3" Type="http://schemas.openxmlformats.org/officeDocument/2006/relationships/slideLayout" Target="../slideLayouts/slideLayout2.xml"/>
</Relationships>
</file>

<file path=ppt/slides/_rels/slide7.xml.rels><?xml version="1.0" encoding="UTF-8"?>
<Relationships xmlns="http://schemas.openxmlformats.org/package/2006/relationships"><Relationship Id="rId1" Type="http://schemas.openxmlformats.org/officeDocument/2006/relationships/image" Target="../media/image5.png"/><Relationship Id="rId2" Type="http://schemas.openxmlformats.org/officeDocument/2006/relationships/image" Target="../media/image6.svg"/><Relationship Id="rId3" Type="http://schemas.openxmlformats.org/officeDocument/2006/relationships/slideLayout" Target="../slideLayouts/slideLayout2.xml"/>
</Relationships>
</file>

<file path=ppt/slides/_rels/slide8.xml.rels><?xml version="1.0" encoding="UTF-8"?>
<Relationships xmlns="http://schemas.openxmlformats.org/package/2006/relationships"><Relationship Id="rId1" Type="http://schemas.openxmlformats.org/officeDocument/2006/relationships/image" Target="../media/image7.png"/><Relationship Id="rId2" Type="http://schemas.openxmlformats.org/officeDocument/2006/relationships/image" Target="../media/image8.svg"/><Relationship Id="rId3" Type="http://schemas.openxmlformats.org/officeDocument/2006/relationships/slideLayout" Target="../slideLayouts/slideLayout2.xml"/>
</Relationships>
</file>

<file path=ppt/slides/_rels/slide9.xml.rels><?xml version="1.0" encoding="UTF-8"?>
<Relationships xmlns="http://schemas.openxmlformats.org/package/2006/relationships"><Relationship Id="rId1" Type="http://schemas.openxmlformats.org/officeDocument/2006/relationships/image" Target="../media/image9.png"/><Relationship Id="rId2" Type="http://schemas.openxmlformats.org/officeDocument/2006/relationships/image" Target="../media/image10.svg"/><Relationship Id="rId3" Type="http://schemas.openxmlformats.org/officeDocument/2006/relationships/slideLayout" Target="../slideLayouts/slideLayout2.xml"/>
</Relationships>
</file>

<file path=ppt/slides/_rels/slide10.xml.rels><?xml version="1.0" encoding="UTF-8"?>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svg"/><Relationship Id="rId3" Type="http://schemas.openxmlformats.org/officeDocument/2006/relationships/slideLayout" Target="../slideLayouts/slideLayout2.xml"/>
</Relationships>
</file>

<file path=ppt/slides/_rels/slide11.xml.rels><?xml version="1.0" encoding="UTF-8"?>
<Relationships xmlns="http://schemas.openxmlformats.org/package/2006/relationships"><Relationship Id="rId1" Type="http://schemas.openxmlformats.org/officeDocument/2006/relationships/image" Target="../media/image13.png"/><Relationship Id="rId2" Type="http://schemas.openxmlformats.org/officeDocument/2006/relationships/image" Target="../media/image14.svg"/><Relationship Id="rId3" Type="http://schemas.openxmlformats.org/officeDocument/2006/relationships/slideLayout" Target="../slideLayouts/slideLayout2.xml"/>
</Relationships>
</file>

<file path=ppt/slides/_rels/slide12.xml.rels><?xml version="1.0" encoding="UTF-8"?>
<Relationships xmlns="http://schemas.openxmlformats.org/package/2006/relationships"><Relationship Id="rId1" Type="http://schemas.openxmlformats.org/officeDocument/2006/relationships/slideLayout" Target="../slideLayouts/slideLayout2.xml"/>
</Relationships>
</file>

<file path=ppt/slides/_rels/slide13.xml.rels><?xml version="1.0" encoding="UTF-8"?>
<Relationships xmlns="http://schemas.openxmlformats.org/package/2006/relationships"><Relationship Id="rId1" Type="http://schemas.openxmlformats.org/officeDocument/2006/relationships/slideLayout" Target="../slideLayouts/slideLayout2.xml"/>
</Relationships>
</file>

<file path=ppt/slides/_rels/slide14.xml.rels><?xml version="1.0" encoding="UTF-8"?>
<Relationships xmlns="http://schemas.openxmlformats.org/package/2006/relationships"><Relationship Id="rId1" Type="http://schemas.openxmlformats.org/officeDocument/2006/relationships/slideLayout" Target="../slideLayouts/slideLayout2.xml"/>
</Relationships>
</file>

<file path=ppt/slides/_rels/slide15.xml.rels><?xml version="1.0" encoding="UTF-8"?>
<Relationships xmlns="http://schemas.openxmlformats.org/package/2006/relationships"><Relationship Id="rId1" Type="http://schemas.openxmlformats.org/officeDocument/2006/relationships/slideLayout" Target="../slideLayouts/slideLayout2.xml"/>
</Relationships>
</file>

<file path=ppt/slides/_rels/slide16.xml.rels><?xml version="1.0" encoding="UTF-8"?>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
</Relationships>
</file>

<file path=ppt/slides/_rels/slide17.xml.rels><?xml version="1.0" encoding="UTF-8"?>
<Relationships xmlns="http://schemas.openxmlformats.org/package/2006/relationships"><Relationship Id="rId1" Type="http://schemas.openxmlformats.org/officeDocument/2006/relationships/slideLayout" Target="../slideLayouts/slideLayout2.xml"/>
</Relationships>
</file>

<file path=ppt/slides/_rels/slide18.xml.rels><?xml version="1.0" encoding="UTF-8"?>
<Relationships xmlns="http://schemas.openxmlformats.org/package/2006/relationships"><Relationship Id="rId1" Type="http://schemas.openxmlformats.org/officeDocument/2006/relationships/image" Target="../media/image15.png"/><Relationship Id="rId2" Type="http://schemas.openxmlformats.org/officeDocument/2006/relationships/slideLayout" Target="../slideLayouts/slideLayout2.xml"/>
</Relationships>
</file>

<file path=ppt/slides/_rels/slide19.xml.rels><?xml version="1.0" encoding="UTF-8"?>
<Relationships xmlns="http://schemas.openxmlformats.org/package/2006/relationships"><Relationship Id="rId1" Type="http://schemas.openxmlformats.org/officeDocument/2006/relationships/image" Target="../media/image16.png"/><Relationship Id="rId2" Type="http://schemas.openxmlformats.org/officeDocument/2006/relationships/image" Target="../media/image17.png"/><Relationship Id="rId3" Type="http://schemas.openxmlformats.org/officeDocument/2006/relationships/image" Target="../media/image18.png"/><Relationship Id="rId4" Type="http://schemas.openxmlformats.org/officeDocument/2006/relationships/image" Target="../media/image19.png"/><Relationship Id="rId5" Type="http://schemas.openxmlformats.org/officeDocument/2006/relationships/slideLayout" Target="../slideLayouts/slideLayout2.xml"/><Relationship Id="rId6" Type="http://schemas.openxmlformats.org/officeDocument/2006/relationships/notesSlide" Target="../notesSlides/notesSlide19.xml"/>
</Relationships>
</file>

<file path=ppt/slides/_rels/slide20.xml.rels><?xml version="1.0" encoding="UTF-8"?>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0.xml"/>
</Relationships>
</file>

<file path=ppt/slides/_rels/slide21.xml.rels><?xml version="1.0" encoding="UTF-8"?>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1.xml"/>
</Relationships>
</file>

<file path=ppt/slides/_rels/slide22.xml.rels><?xml version="1.0" encoding="UTF-8"?>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2.xml"/>
</Relationships>
</file>

<file path=ppt/slides/_rels/slide23.xml.rels><?xml version="1.0" encoding="UTF-8"?>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3.xml"/>
</Relationships>
</file>

<file path=ppt/slides/slide1.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6" name="PlaceHolder 1"/>
          <p:cNvSpPr>
            <a:spLocks noGrp="1"/>
          </p:cNvSpPr>
          <p:nvPr>
            <p:ph type="title" hasCustomPrompt="1"/>
          </p:nvPr>
        </p:nvSpPr>
        <p:spPr>
          <a:xfrm>
            <a:off x="594360" y="1737360"/>
            <a:ext cx="10999080" cy="1370520"/>
          </a:xfrm>
          <a:prstGeom prst="rect">
            <a:avLst/>
          </a:prstGeom>
          <a:noFill/>
          <a:ln w="0">
            <a:noFill/>
          </a:ln>
        </p:spPr>
        <p:txBody>
          <a:bodyPr lIns="0" tIns="0" rIns="0" bIns="0" anchor="ctr">
            <a:noAutofit/>
          </a:bodyPr>
          <a:p>
            <a:pPr indent="0" algn="ctr" defTabSz="914400">
              <a:lnSpc>
                <a:spcPct val="100000"/>
              </a:lnSpc>
              <a:buNone/>
              <a:tabLst>
                <a:tab pos="0" algn="l"/>
              </a:tabLst>
            </a:pPr>
            <a:r>
              <a:rPr lang="en-US" sz="3600" b="1" u="none" strike="noStrike">
                <a:solidFill>
                  <a:srgbClr val="000000"/>
                </a:solidFill>
                <a:effectLst/>
                <a:uFillTx/>
                <a:latin typeface="Times New Roman"/>
                <a:ea typeface="Times New Roman"/>
              </a:rPr>
              <a:t>LONG-TERM MEMORY ENGINE FOR AI AGENTS</a:t>
            </a:r>
            <a:endParaRPr lang="en-US" sz="3600" b="0" u="none" strike="noStrike">
              <a:solidFill>
                <a:schemeClr val="dk1"/>
              </a:solidFill>
              <a:effectLst/>
              <a:uFillTx/>
              <a:latin typeface="Times New Roman"/>
            </a:endParaRPr>
          </a:p>
        </p:txBody>
      </p:sp>
      <p:sp>
        <p:nvSpPr>
          <p:cNvPr id="17" name="Text 1"/>
          <p:cNvSpPr/>
          <p:nvPr/>
        </p:nvSpPr>
        <p:spPr>
          <a:xfrm>
            <a:off x="594360" y="3429000"/>
            <a:ext cx="10999080" cy="456120"/>
          </a:xfrm>
          <a:prstGeom prst="rect">
            <a:avLst/>
          </a:prstGeom>
          <a:noFill/>
          <a:ln w="0">
            <a:noFill/>
          </a:ln>
        </p:spPr>
        <p:style>
          <a:lnRef idx="0"/>
          <a:fillRef idx="0"/>
          <a:effectRef idx="0"/>
          <a:fontRef idx="minor"/>
        </p:style>
        <p:txBody>
          <a:bodyPr lIns="0" tIns="0" rIns="0" bIns="0" anchor="ctr">
            <a:noAutofit/>
          </a:bodyPr>
          <a:p>
            <a:pPr algn="ctr" defTabSz="914400">
              <a:lnSpc>
                <a:spcPct val="100000"/>
              </a:lnSpc>
              <a:tabLst>
                <a:tab pos="0" algn="l"/>
              </a:tabLst>
            </a:pPr>
            <a:r>
              <a:rPr lang="en-US" sz="2400" b="0" u="none" strike="noStrike">
                <a:solidFill>
                  <a:srgbClr val="000000"/>
                </a:solidFill>
                <a:effectLst/>
                <a:uFillTx/>
                <a:latin typeface="Times New Roman"/>
                <a:ea typeface="Times New Roman"/>
              </a:rPr>
              <a:t>Second Project Review</a:t>
            </a:r>
            <a:endParaRPr lang="en-US" sz="2400" b="0" u="none" strike="noStrike">
              <a:solidFill>
                <a:srgbClr val="000000"/>
              </a:solidFill>
              <a:effectLst/>
              <a:uFillTx/>
              <a:latin typeface="Arial"/>
            </a:endParaRPr>
          </a:p>
        </p:txBody>
      </p:sp>
      <p:pic>
        <p:nvPicPr>
          <p:cNvPr id="18" name="Image 0" descr="Anna University logo: a gear with a factory and an open book inside a ring, and the motto Progress through Knowledge"/>
          <p:cNvPicPr/>
          <p:nvPr/>
        </p:nvPicPr>
        <p:blipFill>
          <a:blip r:embed="rId1"/>
          <a:stretch/>
        </p:blipFill>
        <p:spPr>
          <a:xfrm>
            <a:off x="640080" y="457200"/>
            <a:ext cx="1228320" cy="1096200"/>
          </a:xfrm>
          <a:prstGeom prst="rect">
            <a:avLst/>
          </a:prstGeom>
          <a:noFill/>
          <a:ln w="0">
            <a:noFill/>
          </a:ln>
        </p:spPr>
      </p:pic>
      <p:pic>
        <p:nvPicPr>
          <p:cNvPr id="19" name="Image 1" descr="College of Engineering, Guindy crest: a winged shield with a rising sun and bridge, and the motto Labor Omnia Vincit"/>
          <p:cNvPicPr/>
          <p:nvPr/>
        </p:nvPicPr>
        <p:blipFill>
          <a:blip r:embed="rId2"/>
          <a:stretch/>
        </p:blipFill>
        <p:spPr>
          <a:xfrm>
            <a:off x="10260720" y="457200"/>
            <a:ext cx="1287000" cy="1096200"/>
          </a:xfrm>
          <a:prstGeom prst="rect">
            <a:avLst/>
          </a:prstGeom>
          <a:noFill/>
          <a:ln w="0">
            <a:noFill/>
          </a:ln>
        </p:spPr>
      </p:pic>
      <p:sp>
        <p:nvSpPr>
          <p:cNvPr id="20" name="Text 2"/>
          <p:cNvSpPr/>
          <p:nvPr/>
        </p:nvSpPr>
        <p:spPr>
          <a:xfrm>
            <a:off x="2377440" y="502920"/>
            <a:ext cx="7432920" cy="1004760"/>
          </a:xfrm>
          <a:prstGeom prst="rect">
            <a:avLst/>
          </a:prstGeom>
          <a:noFill/>
          <a:ln w="0">
            <a:noFill/>
          </a:ln>
        </p:spPr>
        <p:style>
          <a:lnRef idx="0"/>
          <a:fillRef idx="0"/>
          <a:effectRef idx="0"/>
          <a:fontRef idx="minor"/>
        </p:style>
        <p:txBody>
          <a:bodyPr lIns="0" tIns="0" rIns="0" bIns="0" anchor="ctr">
            <a:noAutofit/>
          </a:bodyPr>
          <a:p>
            <a:pPr algn="ctr" defTabSz="914400">
              <a:lnSpc>
                <a:spcPct val="100000"/>
              </a:lnSpc>
              <a:spcAft>
                <a:spcPts val="400"/>
              </a:spcAft>
              <a:tabLst>
                <a:tab pos="0" algn="l"/>
              </a:tabLst>
            </a:pPr>
            <a:r>
              <a:rPr lang="en-US" sz="1800" b="0" u="none" strike="noStrike">
                <a:solidFill>
                  <a:srgbClr val="000000"/>
                </a:solidFill>
                <a:effectLst/>
                <a:uFillTx/>
                <a:latin typeface="Times New Roman"/>
                <a:ea typeface="Times New Roman"/>
              </a:rPr>
              <a:t>Department of Information Technology</a:t>
            </a:r>
            <a:endParaRPr lang="en-US" sz="1800" b="0" u="none" strike="noStrike">
              <a:solidFill>
                <a:srgbClr val="000000"/>
              </a:solidFill>
              <a:effectLst/>
              <a:uFillTx/>
              <a:latin typeface="Arial"/>
            </a:endParaRPr>
          </a:p>
          <a:p>
            <a:pPr algn="ctr" defTabSz="914400">
              <a:lnSpc>
                <a:spcPct val="100000"/>
              </a:lnSpc>
              <a:spcAft>
                <a:spcPts val="400"/>
              </a:spcAft>
              <a:tabLst>
                <a:tab pos="0" algn="l"/>
              </a:tabLst>
            </a:pPr>
            <a:r>
              <a:rPr lang="en-US" sz="1800" b="0" u="none" strike="noStrike">
                <a:solidFill>
                  <a:srgbClr val="000000"/>
                </a:solidFill>
                <a:effectLst/>
                <a:uFillTx/>
                <a:latin typeface="Times New Roman"/>
                <a:ea typeface="Times New Roman"/>
              </a:rPr>
              <a:t>College of Engineering, Guindy</a:t>
            </a:r>
            <a:endParaRPr lang="en-US" sz="1800" b="0" u="none" strike="noStrike">
              <a:solidFill>
                <a:srgbClr val="000000"/>
              </a:solidFill>
              <a:effectLst/>
              <a:uFillTx/>
              <a:latin typeface="Arial"/>
            </a:endParaRPr>
          </a:p>
          <a:p>
            <a:pPr algn="ctr" defTabSz="914400">
              <a:lnSpc>
                <a:spcPct val="100000"/>
              </a:lnSpc>
              <a:spcAft>
                <a:spcPts val="400"/>
              </a:spcAft>
              <a:tabLst>
                <a:tab pos="0" algn="l"/>
              </a:tabLst>
            </a:pPr>
            <a:r>
              <a:rPr lang="en-US" sz="1800" b="0" u="none" strike="noStrike">
                <a:solidFill>
                  <a:srgbClr val="000000"/>
                </a:solidFill>
                <a:effectLst/>
                <a:uFillTx/>
                <a:latin typeface="Times New Roman"/>
                <a:ea typeface="Times New Roman"/>
              </a:rPr>
              <a:t>Anna University, Chennai-25</a:t>
            </a:r>
            <a:endParaRPr lang="en-US" sz="1800" b="0" u="none" strike="noStrike">
              <a:solidFill>
                <a:srgbClr val="000000"/>
              </a:solidFill>
              <a:effectLst/>
              <a:uFillTx/>
              <a:latin typeface="Arial"/>
            </a:endParaRPr>
          </a:p>
        </p:txBody>
      </p:sp>
      <p:sp>
        <p:nvSpPr>
          <p:cNvPr id="21" name="Text 3"/>
          <p:cNvSpPr/>
          <p:nvPr/>
        </p:nvSpPr>
        <p:spPr>
          <a:xfrm>
            <a:off x="822960" y="4617720"/>
            <a:ext cx="5485320" cy="1461960"/>
          </a:xfrm>
          <a:prstGeom prst="rect">
            <a:avLst/>
          </a:prstGeom>
          <a:noFill/>
          <a:ln w="0">
            <a:noFill/>
          </a:ln>
        </p:spPr>
        <p:style>
          <a:lnRef idx="0"/>
          <a:fillRef idx="0"/>
          <a:effectRef idx="0"/>
          <a:fontRef idx="minor"/>
        </p:style>
        <p:txBody>
          <a:bodyPr lIns="0" tIns="0" rIns="0" bIns="0" anchor="t">
            <a:noAutofit/>
          </a:bodyPr>
          <a:p>
            <a:pPr defTabSz="914400">
              <a:lnSpc>
                <a:spcPct val="100000"/>
              </a:lnSpc>
              <a:spcAft>
                <a:spcPts val="700"/>
              </a:spcAft>
              <a:tabLst>
                <a:tab pos="0" algn="l"/>
              </a:tabLst>
            </a:pPr>
            <a:r>
              <a:rPr lang="en-US" sz="1600" b="1" u="none" strike="noStrike">
                <a:solidFill>
                  <a:srgbClr val="1A1A1A"/>
                </a:solidFill>
                <a:effectLst/>
                <a:uFillTx/>
                <a:latin typeface="Times New Roman"/>
                <a:ea typeface="Times New Roman"/>
              </a:rPr>
              <a:t>GUIDE:</a:t>
            </a:r>
            <a:endParaRPr lang="en-US" sz="1600" b="0" u="none" strike="noStrike">
              <a:solidFill>
                <a:srgbClr val="000000"/>
              </a:solidFill>
              <a:effectLst/>
              <a:uFillTx/>
              <a:latin typeface="Arial"/>
            </a:endParaRPr>
          </a:p>
          <a:p>
            <a:pPr defTabSz="914400">
              <a:lnSpc>
                <a:spcPct val="100000"/>
              </a:lnSpc>
              <a:spcAft>
                <a:spcPts val="700"/>
              </a:spcAft>
              <a:tabLst>
                <a:tab pos="0" algn="l"/>
              </a:tabLst>
            </a:pPr>
            <a:r>
              <a:rPr lang="en-US" sz="1600" b="0" u="none" strike="noStrike">
                <a:solidFill>
                  <a:srgbClr val="1A1A1A"/>
                </a:solidFill>
                <a:effectLst/>
                <a:uFillTx/>
                <a:latin typeface="Times New Roman"/>
                <a:ea typeface="Times New Roman"/>
              </a:rPr>
              <a:t>DR. BAMA SRINIVASAN</a:t>
            </a:r>
            <a:endParaRPr lang="en-US" sz="1600" b="0" u="none" strike="noStrike">
              <a:solidFill>
                <a:srgbClr val="000000"/>
              </a:solidFill>
              <a:effectLst/>
              <a:uFillTx/>
              <a:latin typeface="Arial"/>
            </a:endParaRPr>
          </a:p>
          <a:p>
            <a:pPr defTabSz="914400">
              <a:lnSpc>
                <a:spcPct val="100000"/>
              </a:lnSpc>
              <a:spcAft>
                <a:spcPts val="700"/>
              </a:spcAft>
              <a:tabLst>
                <a:tab pos="0" algn="l"/>
              </a:tabLst>
            </a:pPr>
            <a:r>
              <a:rPr lang="en-US" sz="1600" b="0" u="none" strike="noStrike">
                <a:solidFill>
                  <a:srgbClr val="1A1A1A"/>
                </a:solidFill>
                <a:effectLst/>
                <a:uFillTx/>
                <a:latin typeface="Times New Roman"/>
                <a:ea typeface="Times New Roman"/>
              </a:rPr>
              <a:t>DEPARTMENT OF INFORMATION TECHNOLOGY</a:t>
            </a:r>
            <a:endParaRPr lang="en-US" sz="1600" b="0" u="none" strike="noStrike">
              <a:solidFill>
                <a:srgbClr val="000000"/>
              </a:solidFill>
              <a:effectLst/>
              <a:uFillTx/>
              <a:latin typeface="Arial"/>
            </a:endParaRPr>
          </a:p>
          <a:p>
            <a:pPr defTabSz="914400">
              <a:lnSpc>
                <a:spcPct val="100000"/>
              </a:lnSpc>
              <a:spcAft>
                <a:spcPts val="700"/>
              </a:spcAft>
              <a:tabLst>
                <a:tab pos="0" algn="l"/>
              </a:tabLst>
            </a:pPr>
            <a:r>
              <a:rPr lang="en-US" sz="1600" b="0" u="none" strike="noStrike">
                <a:solidFill>
                  <a:srgbClr val="1A1A1A"/>
                </a:solidFill>
                <a:effectLst/>
                <a:uFillTx/>
                <a:latin typeface="Times New Roman"/>
                <a:ea typeface="Times New Roman"/>
              </a:rPr>
              <a:t>CEG, ANNA UNIVERSITY</a:t>
            </a:r>
            <a:endParaRPr lang="en-US" sz="1600" b="0" u="none" strike="noStrike">
              <a:solidFill>
                <a:srgbClr val="000000"/>
              </a:solidFill>
              <a:effectLst/>
              <a:uFillTx/>
              <a:latin typeface="Arial"/>
            </a:endParaRPr>
          </a:p>
        </p:txBody>
      </p:sp>
      <p:sp>
        <p:nvSpPr>
          <p:cNvPr id="22" name="Text 4"/>
          <p:cNvSpPr/>
          <p:nvPr/>
        </p:nvSpPr>
        <p:spPr>
          <a:xfrm>
            <a:off x="6858000" y="4617720"/>
            <a:ext cx="4662360" cy="1461960"/>
          </a:xfrm>
          <a:prstGeom prst="rect">
            <a:avLst/>
          </a:prstGeom>
          <a:noFill/>
          <a:ln w="0">
            <a:noFill/>
          </a:ln>
        </p:spPr>
        <p:style>
          <a:lnRef idx="0"/>
          <a:fillRef idx="0"/>
          <a:effectRef idx="0"/>
          <a:fontRef idx="minor"/>
        </p:style>
        <p:txBody>
          <a:bodyPr lIns="0" tIns="0" rIns="0" bIns="0" anchor="t">
            <a:noAutofit/>
          </a:bodyPr>
          <a:p>
            <a:pPr defTabSz="914400">
              <a:lnSpc>
                <a:spcPct val="100000"/>
              </a:lnSpc>
              <a:spcAft>
                <a:spcPts val="700"/>
              </a:spcAft>
              <a:tabLst>
                <a:tab pos="0" algn="l"/>
              </a:tabLst>
            </a:pPr>
            <a:r>
              <a:rPr lang="en-US" sz="1600" b="1" u="none" strike="noStrike">
                <a:solidFill>
                  <a:srgbClr val="1A1A1A"/>
                </a:solidFill>
                <a:effectLst/>
                <a:uFillTx/>
                <a:latin typeface="Times New Roman"/>
                <a:ea typeface="Times New Roman"/>
              </a:rPr>
              <a:t>TEAM MEMBERS:</a:t>
            </a:r>
            <a:endParaRPr lang="en-US" sz="1600" b="0" u="none" strike="noStrike">
              <a:solidFill>
                <a:srgbClr val="000000"/>
              </a:solidFill>
              <a:effectLst/>
              <a:uFillTx/>
              <a:latin typeface="Arial"/>
            </a:endParaRPr>
          </a:p>
          <a:p>
            <a:pPr defTabSz="914400">
              <a:lnSpc>
                <a:spcPct val="100000"/>
              </a:lnSpc>
              <a:spcAft>
                <a:spcPts val="700"/>
              </a:spcAft>
              <a:tabLst>
                <a:tab pos="0" algn="l"/>
              </a:tabLst>
            </a:pPr>
            <a:r>
              <a:rPr lang="en-US" sz="1600" b="0" u="none" strike="noStrike">
                <a:solidFill>
                  <a:srgbClr val="1A1A1A"/>
                </a:solidFill>
                <a:effectLst/>
                <a:uFillTx/>
                <a:latin typeface="Times New Roman"/>
                <a:ea typeface="Times New Roman"/>
              </a:rPr>
              <a:t>M. KRITHIKRAJ, 2023115004</a:t>
            </a:r>
            <a:endParaRPr lang="en-US" sz="1600" b="0" u="none" strike="noStrike">
              <a:solidFill>
                <a:srgbClr val="000000"/>
              </a:solidFill>
              <a:effectLst/>
              <a:uFillTx/>
              <a:latin typeface="Arial"/>
            </a:endParaRPr>
          </a:p>
          <a:p>
            <a:pPr defTabSz="914400">
              <a:lnSpc>
                <a:spcPct val="100000"/>
              </a:lnSpc>
              <a:spcAft>
                <a:spcPts val="700"/>
              </a:spcAft>
              <a:tabLst>
                <a:tab pos="0" algn="l"/>
              </a:tabLst>
            </a:pPr>
            <a:r>
              <a:rPr lang="en-US" sz="1600" b="0" u="none" strike="noStrike">
                <a:solidFill>
                  <a:srgbClr val="1A1A1A"/>
                </a:solidFill>
                <a:effectLst/>
                <a:uFillTx/>
                <a:latin typeface="Times New Roman"/>
                <a:ea typeface="Times New Roman"/>
              </a:rPr>
              <a:t>ALSTON S, 2023115006</a:t>
            </a:r>
            <a:endParaRPr lang="en-US" sz="1600" b="0" u="none" strike="noStrike">
              <a:solidFill>
                <a:srgbClr val="000000"/>
              </a:solidFill>
              <a:effectLst/>
              <a:uFillTx/>
              <a:latin typeface="Arial"/>
            </a:endParaRPr>
          </a:p>
          <a:p>
            <a:pPr defTabSz="914400">
              <a:lnSpc>
                <a:spcPct val="100000"/>
              </a:lnSpc>
              <a:spcAft>
                <a:spcPts val="700"/>
              </a:spcAft>
              <a:tabLst>
                <a:tab pos="0" algn="l"/>
              </a:tabLst>
            </a:pPr>
            <a:r>
              <a:rPr lang="en-US" sz="1600" b="0" u="none" strike="noStrike">
                <a:solidFill>
                  <a:srgbClr val="1A1A1A"/>
                </a:solidFill>
                <a:effectLst/>
                <a:uFillTx/>
                <a:latin typeface="Times New Roman"/>
                <a:ea typeface="Times New Roman"/>
              </a:rPr>
              <a:t>ARYAN I, 2023115021</a:t>
            </a:r>
            <a:endParaRPr lang="en-US" sz="1600" b="0" u="none" strike="noStrike">
              <a:solidFill>
                <a:srgbClr val="000000"/>
              </a:solidFill>
              <a:effectLst/>
              <a:uFillTx/>
              <a:latin typeface="Arial"/>
            </a:endParaRPr>
          </a:p>
          <a:p>
            <a:pPr defTabSz="914400">
              <a:lnSpc>
                <a:spcPct val="100000"/>
              </a:lnSpc>
              <a:spcAft>
                <a:spcPts val="700"/>
              </a:spcAft>
              <a:tabLst>
                <a:tab pos="0" algn="l"/>
              </a:tabLst>
            </a:pPr>
            <a:r>
              <a:rPr lang="en-US" sz="1600" b="0" u="none" strike="noStrike">
                <a:solidFill>
                  <a:srgbClr val="1A1A1A"/>
                </a:solidFill>
                <a:effectLst/>
                <a:uFillTx/>
                <a:latin typeface="Times New Roman"/>
                <a:ea typeface="Times New Roman"/>
              </a:rPr>
              <a:t>HARI SRINIVASAN, 2023115022</a:t>
            </a:r>
            <a:endParaRPr lang="en-US" sz="1600" b="0" u="none" strike="noStrik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2.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3" name="PlaceHolder 1"/>
          <p:cNvSpPr>
            <a:spLocks noGrp="1"/>
          </p:cNvSpPr>
          <p:nvPr>
            <p:ph type="title" hasCustomPrompt="1"/>
          </p:nvPr>
        </p:nvSpPr>
        <p:spPr>
          <a:xfrm>
            <a:off x="594360" y="384120"/>
            <a:ext cx="9813240" cy="776160"/>
          </a:xfrm>
          <a:prstGeom prst="rect">
            <a:avLst/>
          </a:prstGeom>
          <a:noFill/>
          <a:ln w="0">
            <a:noFill/>
          </a:ln>
        </p:spPr>
        <p:txBody>
          <a:bodyPr lIns="0" tIns="0" rIns="0" bIns="0" anchor="ctr">
            <a:noAutofit/>
          </a:bodyPr>
          <a:p>
            <a:pPr indent="0" algn="l" defTabSz="914400">
              <a:lnSpc>
                <a:spcPct val="100000"/>
              </a:lnSpc>
              <a:buNone/>
              <a:tabLst>
                <a:tab pos="0" algn="l"/>
              </a:tabLst>
            </a:pPr>
            <a:r>
              <a:rPr lang="en-US" sz="3000" b="0" u="none" strike="noStrike">
                <a:solidFill>
                  <a:srgbClr val="000000"/>
                </a:solidFill>
                <a:effectLst/>
                <a:uFillTx/>
                <a:latin typeface="Times New Roman"/>
                <a:ea typeface="Times New Roman"/>
              </a:rPr>
              <a:t>PROBLEM STATEMENT</a:t>
            </a:r>
            <a:endParaRPr lang="en-US" sz="3000" b="0" u="none" strike="noStrike">
              <a:solidFill>
                <a:schemeClr val="dk1"/>
              </a:solidFill>
              <a:effectLst/>
              <a:uFillTx/>
              <a:latin typeface="Times New Roman"/>
            </a:endParaRPr>
          </a:p>
        </p:txBody>
      </p:sp>
      <p:sp>
        <p:nvSpPr>
          <p:cNvPr id="24" name="Text 3"/>
          <p:cNvSpPr/>
          <p:nvPr/>
        </p:nvSpPr>
        <p:spPr>
          <a:xfrm>
            <a:off x="594360" y="1810440"/>
            <a:ext cx="5988240" cy="2010600"/>
          </a:xfrm>
          <a:prstGeom prst="rect">
            <a:avLst/>
          </a:prstGeom>
          <a:noFill/>
          <a:ln w="0">
            <a:noFill/>
          </a:ln>
        </p:spPr>
        <p:style>
          <a:lnRef idx="0"/>
          <a:fillRef idx="0"/>
          <a:effectRef idx="0"/>
          <a:fontRef idx="minor"/>
        </p:style>
        <p:txBody>
          <a:bodyPr lIns="0" tIns="0" rIns="0" bIns="0" anchor="t">
            <a:noAutofit/>
          </a:bodyPr>
          <a:p>
            <a:pPr marL="228600" indent="-228600" defTabSz="914400">
              <a:lnSpc>
                <a:spcPct val="100000"/>
              </a:lnSpc>
              <a:spcBef>
                <a:spcPts val="1191"/>
              </a:spcBef>
              <a:spcAft>
                <a:spcPts val="992"/>
              </a:spcAft>
              <a:buClr>
                <a:srgbClr val="1A1A1A"/>
              </a:buClr>
              <a:buFont typeface="Symbol" charset="2"/>
              <a:buChar char=""/>
            </a:pPr>
            <a:r>
              <a:rPr lang="en-US" sz="1500" b="0" u="none" strike="noStrike">
                <a:solidFill>
                  <a:srgbClr val="1A1A1A"/>
                </a:solidFill>
                <a:effectLst/>
                <a:uFillTx/>
                <a:latin typeface="Times New Roman"/>
                <a:ea typeface="Times New Roman"/>
              </a:rPr>
              <a:t>General purpose AI agents operating without persistent memory may lose relevant user instructions and project decisions when tasks continue across sessions.</a:t>
            </a:r>
            <a:endParaRPr lang="en-US" sz="1500" b="0" u="none" strike="noStrike">
              <a:solidFill>
                <a:srgbClr val="000000"/>
              </a:solidFill>
              <a:effectLst/>
              <a:uFillTx/>
              <a:latin typeface="Arial"/>
            </a:endParaRPr>
          </a:p>
          <a:p>
            <a:pPr marL="228600" indent="-228600" defTabSz="914400">
              <a:lnSpc>
                <a:spcPct val="100000"/>
              </a:lnSpc>
              <a:spcBef>
                <a:spcPts val="1191"/>
              </a:spcBef>
              <a:spcAft>
                <a:spcPts val="992"/>
              </a:spcAft>
              <a:buClr>
                <a:srgbClr val="1A1A1A"/>
              </a:buClr>
              <a:buFont typeface="Symbol" charset="2"/>
              <a:buChar char=""/>
            </a:pPr>
            <a:r>
              <a:rPr lang="en-US" sz="1500" b="0" u="none" strike="noStrike">
                <a:solidFill>
                  <a:srgbClr val="1A1A1A"/>
                </a:solidFill>
                <a:effectLst/>
                <a:uFillTx/>
                <a:latin typeface="Times New Roman"/>
                <a:ea typeface="Times New Roman"/>
              </a:rPr>
              <a:t>When instructions change, these agents may reuse outdated information or miss earlier corrections, leading to inconsistent results.</a:t>
            </a:r>
            <a:endParaRPr lang="en-US" sz="1500" b="0" u="none" strike="noStrike">
              <a:solidFill>
                <a:srgbClr val="000000"/>
              </a:solidFill>
              <a:effectLst/>
              <a:uFillTx/>
              <a:latin typeface="Arial"/>
            </a:endParaRPr>
          </a:p>
          <a:p>
            <a:pPr marL="228600" indent="-228600" defTabSz="914400">
              <a:lnSpc>
                <a:spcPct val="100000"/>
              </a:lnSpc>
              <a:spcBef>
                <a:spcPts val="1191"/>
              </a:spcBef>
              <a:spcAft>
                <a:spcPts val="992"/>
              </a:spcAft>
              <a:buClr>
                <a:srgbClr val="1A1A1A"/>
              </a:buClr>
              <a:buFont typeface="Symbol" charset="2"/>
              <a:buChar char=""/>
            </a:pPr>
            <a:r>
              <a:rPr lang="en-US" sz="1500" b="0" u="none" strike="noStrike">
                <a:solidFill>
                  <a:srgbClr val="1A1A1A"/>
                </a:solidFill>
                <a:effectLst/>
                <a:uFillTx/>
                <a:latin typeface="Times New Roman"/>
                <a:ea typeface="Times New Roman"/>
              </a:rPr>
              <a:t>Users must repeatedly provide context and correct the same mistakes, making long-running tasks difficult to manage.</a:t>
            </a:r>
            <a:endParaRPr lang="en-US" sz="1500" b="0" u="none" strike="noStrike">
              <a:solidFill>
                <a:srgbClr val="000000"/>
              </a:solidFill>
              <a:effectLst/>
              <a:uFillTx/>
              <a:latin typeface="Arial"/>
            </a:endParaRPr>
          </a:p>
        </p:txBody>
      </p:sp>
      <p:sp>
        <p:nvSpPr>
          <p:cNvPr id="25" name="PlaceHolder 2"/>
          <p:cNvSpPr>
            <a:spLocks noGrp="1"/>
          </p:cNvSpPr>
          <p:nvPr>
            <p:ph type="sldNum" idx="5"/>
          </p:nvPr>
        </p:nvSpPr>
        <p:spPr>
          <a:xfrm>
            <a:off x="10865880" y="384120"/>
            <a:ext cx="730440" cy="456120"/>
          </a:xfrm>
          <a:prstGeom prst="rect">
            <a:avLst/>
          </a:prstGeom>
          <a:noFill/>
          <a:ln w="0">
            <a:noFill/>
          </a:ln>
        </p:spPr>
        <p:txBody>
          <a:bodyPr lIns="90000" tIns="45000" rIns="90000" bIns="45000" anchor="t">
            <a:noAutofit/>
          </a:bodyPr>
          <a:lstStyle>
            <a:lvl1pPr indent="0" algn="r" defTabSz="914400">
              <a:lnSpc>
                <a:spcPct val="100000"/>
              </a:lnSpc>
              <a:buNone/>
              <a:tabLst>
                <a:tab pos="0" algn="l"/>
              </a:tabLst>
              <a:defRPr lang="en-US" sz="1600" b="0" u="none" strike="noStrike">
                <a:solidFill>
                  <a:srgbClr val="000000"/>
                </a:solidFill>
                <a:effectLst/>
                <a:uFillTx/>
                <a:latin typeface="Times New Roman"/>
                <a:ea typeface="Times New Roman"/>
              </a:defRPr>
            </a:lvl1pPr>
          </a:lstStyle>
          <a:p>
            <a:pPr indent="0" algn="r" defTabSz="914400">
              <a:lnSpc>
                <a:spcPct val="100000"/>
              </a:lnSpc>
              <a:buNone/>
              <a:tabLst>
                <a:tab pos="0" algn="l"/>
              </a:tabLst>
            </a:pPr>
            <a:fld id="{9873986A-C957-40DB-B7BB-3EB1CE963720}" type="slidenum">
              <a:rPr lang="en-US" sz="1600" b="0" u="none" strike="noStrike">
                <a:solidFill>
                  <a:srgbClr val="000000"/>
                </a:solidFill>
                <a:effectLst/>
                <a:uFillTx/>
                <a:latin typeface="Times New Roman"/>
                <a:ea typeface="Times New Roman"/>
              </a:rPr>
              <a:t>&lt;number&gt;</a:t>
            </a:fld>
            <a:endParaRPr lang="en-US" sz="1600" b="0" u="none" strike="noStrike">
              <a:solidFill>
                <a:srgbClr val="000000"/>
              </a:solidFill>
              <a:effectLst/>
              <a:uFillTx/>
              <a:latin typeface="Times New Roman"/>
            </a:endParaRPr>
          </a:p>
        </p:txBody>
      </p:sp>
    </p:spTree>
  </p:cSld>
  <mc:AlternateContent>
    <mc:Choice Requires="p14">
      <p:transition spd="slow" p14:dur="2000"/>
    </mc:Choice>
    <mc:Fallback>
      <p:transition spd="slow"/>
    </mc:Fallback>
  </mc:AlternateContent>
</p:sld>
</file>

<file path=ppt/slides/slide3.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6" name="PlaceHolder 1"/>
          <p:cNvSpPr>
            <a:spLocks noGrp="1"/>
          </p:cNvSpPr>
          <p:nvPr>
            <p:ph type="title" hasCustomPrompt="1"/>
          </p:nvPr>
        </p:nvSpPr>
        <p:spPr>
          <a:xfrm>
            <a:off x="594360" y="384120"/>
            <a:ext cx="9813240" cy="776160"/>
          </a:xfrm>
          <a:prstGeom prst="rect">
            <a:avLst/>
          </a:prstGeom>
          <a:noFill/>
          <a:ln w="0">
            <a:noFill/>
          </a:ln>
        </p:spPr>
        <p:txBody>
          <a:bodyPr lIns="0" tIns="0" rIns="0" bIns="0" anchor="ctr">
            <a:noAutofit/>
          </a:bodyPr>
          <a:p>
            <a:pPr indent="0" algn="l" defTabSz="914400">
              <a:lnSpc>
                <a:spcPct val="100000"/>
              </a:lnSpc>
              <a:buNone/>
              <a:tabLst>
                <a:tab pos="0" algn="l"/>
              </a:tabLst>
            </a:pPr>
            <a:r>
              <a:rPr lang="en-US" sz="3000" b="0" u="none" strike="noStrike">
                <a:solidFill>
                  <a:srgbClr val="000000"/>
                </a:solidFill>
                <a:effectLst/>
                <a:uFillTx/>
                <a:latin typeface="Times New Roman"/>
                <a:ea typeface="Times New Roman"/>
              </a:rPr>
              <a:t>LITERATURE SURVEY</a:t>
            </a:r>
            <a:endParaRPr lang="en-US" sz="3000" b="0" u="none" strike="noStrike">
              <a:solidFill>
                <a:schemeClr val="dk1"/>
              </a:solidFill>
              <a:effectLst/>
              <a:uFillTx/>
              <a:latin typeface="Times New Roman"/>
            </a:endParaRPr>
          </a:p>
        </p:txBody>
      </p:sp>
      <p:graphicFrame>
        <p:nvGraphicFramePr>
          <p:cNvPr id="27" name="Table 0"/>
          <p:cNvGraphicFramePr/>
          <p:nvPr/>
        </p:nvGraphicFramePr>
        <p:xfrm>
          <a:off x="627120" y="1179360"/>
          <a:ext cx="10999800" cy="4644720"/>
        </p:xfrm>
        <a:graphic>
          <a:graphicData uri="http://schemas.openxmlformats.org/drawingml/2006/table">
            <a:tbl>
              <a:tblPr/>
              <a:tblGrid>
                <a:gridCol w="1828800"/>
                <a:gridCol w="2606040"/>
                <a:gridCol w="2560320"/>
                <a:gridCol w="2240280"/>
                <a:gridCol w="1764720"/>
              </a:tblGrid>
              <a:tr h="0">
                <a:tc>
                  <a:txBody>
                    <a:bodyPr lIns="63720" tIns="36360" rIns="63720" bIns="36360" anchor="t">
                      <a:noAutofit/>
                    </a:bodyPr>
                    <a:p>
                      <a:pPr defTabSz="914400">
                        <a:lnSpc>
                          <a:spcPct val="100000"/>
                        </a:lnSpc>
                        <a:tabLst>
                          <a:tab pos="0" algn="l"/>
                        </a:tabLst>
                      </a:pPr>
                      <a:r>
                        <a:rPr lang="en-US" sz="1200" b="1" u="none" strike="noStrike">
                          <a:solidFill>
                            <a:srgbClr val="000000"/>
                          </a:solidFill>
                          <a:effectLst/>
                          <a:uFillTx/>
                          <a:latin typeface="Times New Roman"/>
                          <a:ea typeface="Times New Roman"/>
                        </a:rPr>
                        <a:t>Work</a:t>
                      </a:r>
                      <a:endParaRPr lang="en-US" sz="1200" b="0" u="none" strike="noStrike">
                        <a:solidFill>
                          <a:srgbClr val="000000"/>
                        </a:solidFill>
                        <a:effectLst/>
                        <a:uFillTx/>
                        <a:latin typeface="Arial"/>
                      </a:endParaRPr>
                    </a:p>
                  </a:txBody>
                  <a:tcPr anchor="t" marL="63720" marR="63720" marT="36360" marB="36360">
                    <a:lnL w="9360">
                      <a:solidFill>
                        <a:srgbClr val="333333"/>
                      </a:solidFill>
                      <a:prstDash val="solid"/>
                    </a:lnL>
                    <a:lnR w="9360">
                      <a:solidFill>
                        <a:srgbClr val="333333"/>
                      </a:solidFill>
                      <a:prstDash val="solid"/>
                    </a:lnR>
                    <a:lnT w="9360">
                      <a:solidFill>
                        <a:srgbClr val="333333"/>
                      </a:solidFill>
                      <a:prstDash val="solid"/>
                    </a:lnT>
                    <a:lnB w="9360">
                      <a:solidFill>
                        <a:srgbClr val="333333"/>
                      </a:solidFill>
                      <a:prstDash val="solid"/>
                    </a:lnB>
                    <a:solidFill>
                      <a:srgbClr val="F2F2F2"/>
                    </a:solidFill>
                  </a:tcPr>
                </a:tc>
                <a:tc>
                  <a:txBody>
                    <a:bodyPr lIns="63720" tIns="36360" rIns="63720" bIns="36360" anchor="t">
                      <a:noAutofit/>
                    </a:bodyPr>
                    <a:p>
                      <a:pPr defTabSz="914400">
                        <a:lnSpc>
                          <a:spcPct val="100000"/>
                        </a:lnSpc>
                        <a:tabLst>
                          <a:tab pos="0" algn="l"/>
                        </a:tabLst>
                      </a:pPr>
                      <a:r>
                        <a:rPr lang="en-US" sz="1200" b="1" u="none" strike="noStrike">
                          <a:solidFill>
                            <a:srgbClr val="000000"/>
                          </a:solidFill>
                          <a:effectLst/>
                          <a:uFillTx/>
                          <a:latin typeface="Times New Roman"/>
                          <a:ea typeface="Times New Roman"/>
                        </a:rPr>
                        <a:t>Mechanism</a:t>
                      </a:r>
                      <a:endParaRPr lang="en-US" sz="1200" b="0" u="none" strike="noStrike">
                        <a:solidFill>
                          <a:srgbClr val="000000"/>
                        </a:solidFill>
                        <a:effectLst/>
                        <a:uFillTx/>
                        <a:latin typeface="Arial"/>
                      </a:endParaRPr>
                    </a:p>
                  </a:txBody>
                  <a:tcPr anchor="t" marL="63720" marR="63720" marT="36360" marB="36360">
                    <a:lnL w="9360">
                      <a:solidFill>
                        <a:srgbClr val="333333"/>
                      </a:solidFill>
                      <a:prstDash val="solid"/>
                    </a:lnL>
                    <a:lnR w="9360">
                      <a:solidFill>
                        <a:srgbClr val="333333"/>
                      </a:solidFill>
                      <a:prstDash val="solid"/>
                    </a:lnR>
                    <a:lnT w="9360">
                      <a:solidFill>
                        <a:srgbClr val="333333"/>
                      </a:solidFill>
                      <a:prstDash val="solid"/>
                    </a:lnT>
                    <a:lnB w="9360">
                      <a:solidFill>
                        <a:srgbClr val="333333"/>
                      </a:solidFill>
                      <a:prstDash val="solid"/>
                    </a:lnB>
                    <a:solidFill>
                      <a:srgbClr val="F2F2F2"/>
                    </a:solidFill>
                  </a:tcPr>
                </a:tc>
                <a:tc>
                  <a:txBody>
                    <a:bodyPr lIns="63720" tIns="36360" rIns="63720" bIns="36360" anchor="t">
                      <a:noAutofit/>
                    </a:bodyPr>
                    <a:p>
                      <a:pPr defTabSz="914400">
                        <a:lnSpc>
                          <a:spcPct val="100000"/>
                        </a:lnSpc>
                        <a:tabLst>
                          <a:tab pos="0" algn="l"/>
                        </a:tabLst>
                      </a:pPr>
                      <a:r>
                        <a:rPr lang="en-US" sz="1200" b="1" u="none" strike="noStrike">
                          <a:solidFill>
                            <a:srgbClr val="000000"/>
                          </a:solidFill>
                          <a:effectLst/>
                          <a:uFillTx/>
                          <a:latin typeface="Times New Roman"/>
                          <a:ea typeface="Times New Roman"/>
                        </a:rPr>
                        <a:t>Evidence as reported by the source</a:t>
                      </a:r>
                      <a:endParaRPr lang="en-US" sz="1200" b="0" u="none" strike="noStrike">
                        <a:solidFill>
                          <a:srgbClr val="000000"/>
                        </a:solidFill>
                        <a:effectLst/>
                        <a:uFillTx/>
                        <a:latin typeface="Arial"/>
                      </a:endParaRPr>
                    </a:p>
                  </a:txBody>
                  <a:tcPr anchor="t" marL="63720" marR="63720" marT="36360" marB="36360">
                    <a:lnL w="9360">
                      <a:solidFill>
                        <a:srgbClr val="333333"/>
                      </a:solidFill>
                      <a:prstDash val="solid"/>
                    </a:lnL>
                    <a:lnR w="9360">
                      <a:solidFill>
                        <a:srgbClr val="333333"/>
                      </a:solidFill>
                      <a:prstDash val="solid"/>
                    </a:lnR>
                    <a:lnT w="9360">
                      <a:solidFill>
                        <a:srgbClr val="333333"/>
                      </a:solidFill>
                      <a:prstDash val="solid"/>
                    </a:lnT>
                    <a:lnB w="9360">
                      <a:solidFill>
                        <a:srgbClr val="333333"/>
                      </a:solidFill>
                      <a:prstDash val="solid"/>
                    </a:lnB>
                    <a:solidFill>
                      <a:srgbClr val="F2F2F2"/>
                    </a:solidFill>
                  </a:tcPr>
                </a:tc>
                <a:tc>
                  <a:txBody>
                    <a:bodyPr lIns="63720" tIns="36360" rIns="63720" bIns="36360" anchor="t">
                      <a:noAutofit/>
                    </a:bodyPr>
                    <a:p>
                      <a:pPr defTabSz="914400">
                        <a:lnSpc>
                          <a:spcPct val="100000"/>
                        </a:lnSpc>
                        <a:tabLst>
                          <a:tab pos="0" algn="l"/>
                        </a:tabLst>
                      </a:pPr>
                      <a:r>
                        <a:rPr lang="en-US" sz="1200" b="1" u="none" strike="noStrike">
                          <a:solidFill>
                            <a:srgbClr val="000000"/>
                          </a:solidFill>
                          <a:effectLst/>
                          <a:uFillTx/>
                          <a:latin typeface="Times New Roman"/>
                          <a:ea typeface="Times New Roman"/>
                        </a:rPr>
                        <a:t>Limitation</a:t>
                      </a:r>
                      <a:endParaRPr lang="en-US" sz="1200" b="0" u="none" strike="noStrike">
                        <a:solidFill>
                          <a:srgbClr val="000000"/>
                        </a:solidFill>
                        <a:effectLst/>
                        <a:uFillTx/>
                        <a:latin typeface="Arial"/>
                      </a:endParaRPr>
                    </a:p>
                  </a:txBody>
                  <a:tcPr anchor="t" marL="63720" marR="63720" marT="36360" marB="36360">
                    <a:lnL w="9360">
                      <a:solidFill>
                        <a:srgbClr val="333333"/>
                      </a:solidFill>
                      <a:prstDash val="solid"/>
                    </a:lnL>
                    <a:lnR w="9360">
                      <a:solidFill>
                        <a:srgbClr val="333333"/>
                      </a:solidFill>
                      <a:prstDash val="solid"/>
                    </a:lnR>
                    <a:lnT w="9360">
                      <a:solidFill>
                        <a:srgbClr val="333333"/>
                      </a:solidFill>
                      <a:prstDash val="solid"/>
                    </a:lnT>
                    <a:lnB w="9360">
                      <a:solidFill>
                        <a:srgbClr val="333333"/>
                      </a:solidFill>
                      <a:prstDash val="solid"/>
                    </a:lnB>
                    <a:solidFill>
                      <a:srgbClr val="F2F2F2"/>
                    </a:solidFill>
                  </a:tcPr>
                </a:tc>
                <a:tc>
                  <a:txBody>
                    <a:bodyPr lIns="63720" tIns="36360" rIns="63720" bIns="36360" anchor="t">
                      <a:noAutofit/>
                    </a:bodyPr>
                    <a:p>
                      <a:pPr defTabSz="914400">
                        <a:lnSpc>
                          <a:spcPct val="100000"/>
                        </a:lnSpc>
                        <a:tabLst>
                          <a:tab pos="0" algn="l"/>
                        </a:tabLst>
                      </a:pPr>
                      <a:r>
                        <a:rPr lang="en-US" sz="1200" b="1" u="none" strike="noStrike">
                          <a:solidFill>
                            <a:srgbClr val="000000"/>
                          </a:solidFill>
                          <a:effectLst/>
                          <a:uFillTx/>
                          <a:latin typeface="Times New Roman"/>
                          <a:ea typeface="Times New Roman"/>
                        </a:rPr>
                        <a:t>Relevance here</a:t>
                      </a:r>
                      <a:endParaRPr lang="en-US" sz="1200" b="0" u="none" strike="noStrike">
                        <a:solidFill>
                          <a:srgbClr val="000000"/>
                        </a:solidFill>
                        <a:effectLst/>
                        <a:uFillTx/>
                        <a:latin typeface="Arial"/>
                      </a:endParaRPr>
                    </a:p>
                  </a:txBody>
                  <a:tcPr anchor="t" marL="63720" marR="63720" marT="36360" marB="36360">
                    <a:lnL w="9360">
                      <a:solidFill>
                        <a:srgbClr val="333333"/>
                      </a:solidFill>
                      <a:prstDash val="solid"/>
                    </a:lnL>
                    <a:lnR w="9360">
                      <a:solidFill>
                        <a:srgbClr val="333333"/>
                      </a:solidFill>
                      <a:prstDash val="solid"/>
                    </a:lnR>
                    <a:lnT w="9360">
                      <a:solidFill>
                        <a:srgbClr val="333333"/>
                      </a:solidFill>
                      <a:prstDash val="solid"/>
                    </a:lnT>
                    <a:lnB w="9360">
                      <a:solidFill>
                        <a:srgbClr val="333333"/>
                      </a:solidFill>
                      <a:prstDash val="solid"/>
                    </a:lnB>
                    <a:solidFill>
                      <a:srgbClr val="F2F2F2"/>
                    </a:solidFill>
                  </a:tcPr>
                </a:tc>
              </a:tr>
              <a:tr h="0">
                <a:tc>
                  <a:txBody>
                    <a:bodyPr lIns="63720" tIns="36360" rIns="63720" bIns="36360" anchor="t">
                      <a:noAutofit/>
                    </a:bodyPr>
                    <a:p>
                      <a:pPr defTabSz="914400">
                        <a:lnSpc>
                          <a:spcPct val="100000"/>
                        </a:lnSpc>
                        <a:tabLst>
                          <a:tab pos="0" algn="l"/>
                        </a:tabLst>
                      </a:pPr>
                      <a:r>
                        <a:rPr lang="en-US" sz="1200" b="1" u="none" strike="noStrike">
                          <a:solidFill>
                            <a:srgbClr val="1A1A1A"/>
                          </a:solidFill>
                          <a:effectLst/>
                          <a:uFillTx/>
                          <a:latin typeface="Times New Roman"/>
                          <a:ea typeface="Times New Roman"/>
                        </a:rPr>
                        <a:t>MemGPT, later Letta, Packer et al., 2023 [3].</a:t>
                      </a:r>
                      <a:endParaRPr lang="en-US" sz="1200" b="0" u="none" strike="noStrike">
                        <a:solidFill>
                          <a:srgbClr val="000000"/>
                        </a:solidFill>
                        <a:effectLst/>
                        <a:uFillTx/>
                        <a:latin typeface="Arial"/>
                      </a:endParaRPr>
                    </a:p>
                  </a:txBody>
                  <a:tcPr anchor="t" marL="63720" marR="63720" marT="36360" marB="36360">
                    <a:lnL w="9360">
                      <a:solidFill>
                        <a:srgbClr val="333333"/>
                      </a:solidFill>
                      <a:prstDash val="solid"/>
                    </a:lnL>
                    <a:lnR w="9360">
                      <a:solidFill>
                        <a:srgbClr val="333333"/>
                      </a:solidFill>
                      <a:prstDash val="solid"/>
                    </a:lnR>
                    <a:lnT w="9360">
                      <a:solidFill>
                        <a:srgbClr val="333333"/>
                      </a:solidFill>
                      <a:prstDash val="solid"/>
                    </a:lnT>
                    <a:lnB w="9360">
                      <a:solidFill>
                        <a:srgbClr val="333333"/>
                      </a:solidFill>
                      <a:prstDash val="solid"/>
                    </a:lnB>
                    <a:noFill/>
                  </a:tcPr>
                </a:tc>
                <a:tc>
                  <a:txBody>
                    <a:bodyPr lIns="63720" tIns="36360" rIns="63720" bIns="36360" anchor="t">
                      <a:noAutofit/>
                    </a:bodyPr>
                    <a:p>
                      <a:pPr defTabSz="914400">
                        <a:lnSpc>
                          <a:spcPct val="100000"/>
                        </a:lnSpc>
                        <a:tabLst>
                          <a:tab pos="0" algn="l"/>
                        </a:tabLst>
                      </a:pPr>
                      <a:r>
                        <a:rPr lang="en-US" sz="1200" b="0" u="none" strike="noStrike">
                          <a:solidFill>
                            <a:srgbClr val="1A1A1A"/>
                          </a:solidFill>
                          <a:effectLst/>
                          <a:uFillTx/>
                          <a:latin typeface="Times New Roman"/>
                          <a:ea typeface="Times New Roman"/>
                        </a:rPr>
                        <a:t>Prompt split into main context and external recall and archival storage. The model moves data between them with function calls.</a:t>
                      </a:r>
                      <a:endParaRPr lang="en-US" sz="1200" b="0" u="none" strike="noStrike">
                        <a:solidFill>
                          <a:srgbClr val="000000"/>
                        </a:solidFill>
                        <a:effectLst/>
                        <a:uFillTx/>
                        <a:latin typeface="Arial"/>
                      </a:endParaRPr>
                    </a:p>
                  </a:txBody>
                  <a:tcPr anchor="t" marL="63720" marR="63720" marT="36360" marB="36360">
                    <a:lnL w="9360">
                      <a:solidFill>
                        <a:srgbClr val="333333"/>
                      </a:solidFill>
                      <a:prstDash val="solid"/>
                    </a:lnL>
                    <a:lnR w="9360">
                      <a:solidFill>
                        <a:srgbClr val="333333"/>
                      </a:solidFill>
                      <a:prstDash val="solid"/>
                    </a:lnR>
                    <a:lnT w="9360">
                      <a:solidFill>
                        <a:srgbClr val="333333"/>
                      </a:solidFill>
                      <a:prstDash val="solid"/>
                    </a:lnT>
                    <a:lnB w="9360">
                      <a:solidFill>
                        <a:srgbClr val="333333"/>
                      </a:solidFill>
                      <a:prstDash val="solid"/>
                    </a:lnB>
                    <a:noFill/>
                  </a:tcPr>
                </a:tc>
                <a:tc>
                  <a:txBody>
                    <a:bodyPr lIns="63720" tIns="36360" rIns="63720" bIns="36360" anchor="t">
                      <a:noAutofit/>
                    </a:bodyPr>
                    <a:p>
                      <a:pPr defTabSz="914400">
                        <a:lnSpc>
                          <a:spcPct val="100000"/>
                        </a:lnSpc>
                        <a:tabLst>
                          <a:tab pos="0" algn="l"/>
                        </a:tabLst>
                      </a:pPr>
                      <a:r>
                        <a:rPr lang="en-US" sz="1200" b="0" u="none" strike="noStrike">
                          <a:solidFill>
                            <a:srgbClr val="1A1A1A"/>
                          </a:solidFill>
                          <a:effectLst/>
                          <a:uFillTx/>
                          <a:latin typeface="Times New Roman"/>
                          <a:ea typeface="Times New Roman"/>
                        </a:rPr>
                        <a:t>Authors’ own tests on OpenAI models. Deep memory retrieval: 92.5% with GPT-4 plus MemGPT against 32.1% for GPT-4 reading a summary.</a:t>
                      </a:r>
                      <a:endParaRPr lang="en-US" sz="1200" b="0" u="none" strike="noStrike">
                        <a:solidFill>
                          <a:srgbClr val="000000"/>
                        </a:solidFill>
                        <a:effectLst/>
                        <a:uFillTx/>
                        <a:latin typeface="Arial"/>
                      </a:endParaRPr>
                    </a:p>
                  </a:txBody>
                  <a:tcPr anchor="t" marL="63720" marR="63720" marT="36360" marB="36360">
                    <a:lnL w="9360">
                      <a:solidFill>
                        <a:srgbClr val="333333"/>
                      </a:solidFill>
                      <a:prstDash val="solid"/>
                    </a:lnL>
                    <a:lnR w="9360">
                      <a:solidFill>
                        <a:srgbClr val="333333"/>
                      </a:solidFill>
                      <a:prstDash val="solid"/>
                    </a:lnR>
                    <a:lnT w="9360">
                      <a:solidFill>
                        <a:srgbClr val="333333"/>
                      </a:solidFill>
                      <a:prstDash val="solid"/>
                    </a:lnT>
                    <a:lnB w="9360">
                      <a:solidFill>
                        <a:srgbClr val="333333"/>
                      </a:solidFill>
                      <a:prstDash val="solid"/>
                    </a:lnB>
                    <a:noFill/>
                  </a:tcPr>
                </a:tc>
                <a:tc>
                  <a:txBody>
                    <a:bodyPr lIns="63720" tIns="36360" rIns="63720" bIns="36360" anchor="t">
                      <a:noAutofit/>
                    </a:bodyPr>
                    <a:p>
                      <a:pPr defTabSz="914400">
                        <a:lnSpc>
                          <a:spcPct val="100000"/>
                        </a:lnSpc>
                        <a:tabLst>
                          <a:tab pos="0" algn="l"/>
                        </a:tabLst>
                      </a:pPr>
                      <a:r>
                        <a:rPr lang="en-US" sz="1200" b="0" u="none" strike="noStrike">
                          <a:solidFill>
                            <a:srgbClr val="1A1A1A"/>
                          </a:solidFill>
                          <a:effectLst/>
                          <a:uFillTx/>
                          <a:latin typeface="Times New Roman"/>
                          <a:ea typeface="Times New Roman"/>
                        </a:rPr>
                        <a:t>Memory edits depend on the model’s function calling. No latency or token cost figures in the paper.</a:t>
                      </a:r>
                      <a:endParaRPr lang="en-US" sz="1200" b="0" u="none" strike="noStrike">
                        <a:solidFill>
                          <a:srgbClr val="000000"/>
                        </a:solidFill>
                        <a:effectLst/>
                        <a:uFillTx/>
                        <a:latin typeface="Arial"/>
                      </a:endParaRPr>
                    </a:p>
                  </a:txBody>
                  <a:tcPr anchor="t" marL="63720" marR="63720" marT="36360" marB="36360">
                    <a:lnL w="9360">
                      <a:solidFill>
                        <a:srgbClr val="333333"/>
                      </a:solidFill>
                      <a:prstDash val="solid"/>
                    </a:lnL>
                    <a:lnR w="9360">
                      <a:solidFill>
                        <a:srgbClr val="333333"/>
                      </a:solidFill>
                      <a:prstDash val="solid"/>
                    </a:lnR>
                    <a:lnT w="9360">
                      <a:solidFill>
                        <a:srgbClr val="333333"/>
                      </a:solidFill>
                      <a:prstDash val="solid"/>
                    </a:lnT>
                    <a:lnB w="9360">
                      <a:solidFill>
                        <a:srgbClr val="333333"/>
                      </a:solidFill>
                      <a:prstDash val="solid"/>
                    </a:lnB>
                    <a:noFill/>
                  </a:tcPr>
                </a:tc>
                <a:tc>
                  <a:txBody>
                    <a:bodyPr lIns="63720" tIns="36360" rIns="63720" bIns="36360" anchor="t">
                      <a:noAutofit/>
                    </a:bodyPr>
                    <a:p>
                      <a:pPr defTabSz="914400">
                        <a:lnSpc>
                          <a:spcPct val="100000"/>
                        </a:lnSpc>
                        <a:tabLst>
                          <a:tab pos="0" algn="l"/>
                        </a:tabLst>
                      </a:pPr>
                      <a:r>
                        <a:rPr lang="en-US" sz="1200" b="0" u="none" strike="noStrike">
                          <a:solidFill>
                            <a:srgbClr val="1A1A1A"/>
                          </a:solidFill>
                          <a:effectLst/>
                          <a:uFillTx/>
                          <a:latin typeface="Times New Roman"/>
                          <a:ea typeface="Times New Roman"/>
                        </a:rPr>
                        <a:t>Origin of memory kept outside the prompt. Here, service code applies the version rules to assertions the model extracts.</a:t>
                      </a:r>
                      <a:endParaRPr lang="en-US" sz="1200" b="0" u="none" strike="noStrike">
                        <a:solidFill>
                          <a:srgbClr val="000000"/>
                        </a:solidFill>
                        <a:effectLst/>
                        <a:uFillTx/>
                        <a:latin typeface="Arial"/>
                      </a:endParaRPr>
                    </a:p>
                  </a:txBody>
                  <a:tcPr anchor="t" marL="63720" marR="63720" marT="36360" marB="36360">
                    <a:lnL w="9360">
                      <a:solidFill>
                        <a:srgbClr val="333333"/>
                      </a:solidFill>
                      <a:prstDash val="solid"/>
                    </a:lnL>
                    <a:lnR w="9360">
                      <a:solidFill>
                        <a:srgbClr val="333333"/>
                      </a:solidFill>
                      <a:prstDash val="solid"/>
                    </a:lnR>
                    <a:lnT w="9360">
                      <a:solidFill>
                        <a:srgbClr val="333333"/>
                      </a:solidFill>
                      <a:prstDash val="solid"/>
                    </a:lnT>
                    <a:lnB w="9360">
                      <a:solidFill>
                        <a:srgbClr val="333333"/>
                      </a:solidFill>
                      <a:prstDash val="solid"/>
                    </a:lnB>
                    <a:noFill/>
                  </a:tcPr>
                </a:tc>
              </a:tr>
              <a:tr h="0">
                <a:tc>
                  <a:txBody>
                    <a:bodyPr lIns="63720" tIns="36360" rIns="63720" bIns="36360" anchor="t">
                      <a:noAutofit/>
                    </a:bodyPr>
                    <a:p>
                      <a:pPr defTabSz="914400">
                        <a:lnSpc>
                          <a:spcPct val="100000"/>
                        </a:lnSpc>
                        <a:tabLst>
                          <a:tab pos="0" algn="l"/>
                        </a:tabLst>
                      </a:pPr>
                      <a:r>
                        <a:rPr lang="en-US" sz="1200" b="1" u="none" strike="noStrike">
                          <a:solidFill>
                            <a:srgbClr val="1A1A1A"/>
                          </a:solidFill>
                          <a:effectLst/>
                          <a:uFillTx/>
                          <a:latin typeface="Times New Roman"/>
                          <a:ea typeface="Times New Roman"/>
                        </a:rPr>
                        <a:t>Zep and Graphiti, Rasmussen et al., 2025 [4].</a:t>
                      </a:r>
                      <a:endParaRPr lang="en-US" sz="1200" b="0" u="none" strike="noStrike">
                        <a:solidFill>
                          <a:srgbClr val="000000"/>
                        </a:solidFill>
                        <a:effectLst/>
                        <a:uFillTx/>
                        <a:latin typeface="Arial"/>
                      </a:endParaRPr>
                    </a:p>
                  </a:txBody>
                  <a:tcPr anchor="t" marL="63720" marR="63720" marT="36360" marB="36360">
                    <a:lnL w="9360">
                      <a:solidFill>
                        <a:srgbClr val="333333"/>
                      </a:solidFill>
                      <a:prstDash val="solid"/>
                    </a:lnL>
                    <a:lnR w="9360">
                      <a:solidFill>
                        <a:srgbClr val="333333"/>
                      </a:solidFill>
                      <a:prstDash val="solid"/>
                    </a:lnR>
                    <a:lnT w="9360">
                      <a:solidFill>
                        <a:srgbClr val="333333"/>
                      </a:solidFill>
                      <a:prstDash val="solid"/>
                    </a:lnT>
                    <a:lnB w="9360">
                      <a:solidFill>
                        <a:srgbClr val="333333"/>
                      </a:solidFill>
                      <a:prstDash val="solid"/>
                    </a:lnB>
                    <a:noFill/>
                  </a:tcPr>
                </a:tc>
                <a:tc>
                  <a:txBody>
                    <a:bodyPr lIns="63720" tIns="36360" rIns="63720" bIns="36360" anchor="t">
                      <a:noAutofit/>
                    </a:bodyPr>
                    <a:p>
                      <a:pPr defTabSz="914400">
                        <a:lnSpc>
                          <a:spcPct val="100000"/>
                        </a:lnSpc>
                        <a:tabLst>
                          <a:tab pos="0" algn="l"/>
                        </a:tabLst>
                      </a:pPr>
                      <a:r>
                        <a:rPr lang="en-US" sz="1200" b="0" u="none" strike="noStrike">
                          <a:solidFill>
                            <a:srgbClr val="1A1A1A"/>
                          </a:solidFill>
                          <a:effectLst/>
                          <a:uFillTx/>
                          <a:latin typeface="Times New Roman"/>
                          <a:ea typeface="Times New Roman"/>
                        </a:rPr>
                        <a:t>Temporal knowledge graph of episodes, entities and facts. Each fact has valid and invalid times, and a contradicting fact ends the old one.</a:t>
                      </a:r>
                      <a:endParaRPr lang="en-US" sz="1200" b="0" u="none" strike="noStrike">
                        <a:solidFill>
                          <a:srgbClr val="000000"/>
                        </a:solidFill>
                        <a:effectLst/>
                        <a:uFillTx/>
                        <a:latin typeface="Arial"/>
                      </a:endParaRPr>
                    </a:p>
                  </a:txBody>
                  <a:tcPr anchor="t" marL="63720" marR="63720" marT="36360" marB="36360">
                    <a:lnL w="9360">
                      <a:solidFill>
                        <a:srgbClr val="333333"/>
                      </a:solidFill>
                      <a:prstDash val="solid"/>
                    </a:lnL>
                    <a:lnR w="9360">
                      <a:solidFill>
                        <a:srgbClr val="333333"/>
                      </a:solidFill>
                      <a:prstDash val="solid"/>
                    </a:lnR>
                    <a:lnT w="9360">
                      <a:solidFill>
                        <a:srgbClr val="333333"/>
                      </a:solidFill>
                      <a:prstDash val="solid"/>
                    </a:lnT>
                    <a:lnB w="9360">
                      <a:solidFill>
                        <a:srgbClr val="333333"/>
                      </a:solidFill>
                      <a:prstDash val="solid"/>
                    </a:lnB>
                    <a:noFill/>
                  </a:tcPr>
                </a:tc>
                <a:tc>
                  <a:txBody>
                    <a:bodyPr lIns="63720" tIns="36360" rIns="63720" bIns="36360" anchor="t">
                      <a:noAutofit/>
                    </a:bodyPr>
                    <a:p>
                      <a:pPr defTabSz="914400">
                        <a:lnSpc>
                          <a:spcPct val="100000"/>
                        </a:lnSpc>
                        <a:tabLst>
                          <a:tab pos="0" algn="l"/>
                        </a:tabLst>
                      </a:pPr>
                      <a:r>
                        <a:rPr lang="en-US" sz="1200" b="0" u="none" strike="noStrike">
                          <a:solidFill>
                            <a:srgbClr val="1A1A1A"/>
                          </a:solidFill>
                          <a:effectLst/>
                          <a:uFillTx/>
                          <a:latin typeface="Times New Roman"/>
                          <a:ea typeface="Times New Roman"/>
                        </a:rPr>
                        <a:t>Authors’ own LongMemEval run: 71.2% with gpt-4o against 60.2% for the full 115k-token history.</a:t>
                      </a:r>
                      <a:endParaRPr lang="en-US" sz="1200" b="0" u="none" strike="noStrike">
                        <a:solidFill>
                          <a:srgbClr val="000000"/>
                        </a:solidFill>
                        <a:effectLst/>
                        <a:uFillTx/>
                        <a:latin typeface="Arial"/>
                      </a:endParaRPr>
                    </a:p>
                  </a:txBody>
                  <a:tcPr anchor="t" marL="63720" marR="63720" marT="36360" marB="36360">
                    <a:lnL w="9360">
                      <a:solidFill>
                        <a:srgbClr val="333333"/>
                      </a:solidFill>
                      <a:prstDash val="solid"/>
                    </a:lnL>
                    <a:lnR w="9360">
                      <a:solidFill>
                        <a:srgbClr val="333333"/>
                      </a:solidFill>
                      <a:prstDash val="solid"/>
                    </a:lnR>
                    <a:lnT w="9360">
                      <a:solidFill>
                        <a:srgbClr val="333333"/>
                      </a:solidFill>
                      <a:prstDash val="solid"/>
                    </a:lnT>
                    <a:lnB w="9360">
                      <a:solidFill>
                        <a:srgbClr val="333333"/>
                      </a:solidFill>
                      <a:prstDash val="solid"/>
                    </a:lnB>
                    <a:noFill/>
                  </a:tcPr>
                </a:tc>
                <a:tc>
                  <a:txBody>
                    <a:bodyPr lIns="63720" tIns="36360" rIns="63720" bIns="36360" anchor="t">
                      <a:noAutofit/>
                    </a:bodyPr>
                    <a:p>
                      <a:pPr defTabSz="914400">
                        <a:lnSpc>
                          <a:spcPct val="100000"/>
                        </a:lnSpc>
                        <a:tabLst>
                          <a:tab pos="0" algn="l"/>
                        </a:tabLst>
                      </a:pPr>
                      <a:r>
                        <a:rPr lang="en-US" sz="1200" b="0" u="none" strike="noStrike">
                          <a:solidFill>
                            <a:srgbClr val="1A1A1A"/>
                          </a:solidFill>
                          <a:effectLst/>
                          <a:uFillTx/>
                          <a:latin typeface="Times New Roman"/>
                          <a:ea typeface="Times New Roman"/>
                        </a:rPr>
                        <a:t>Single configuration, no repeated runs. The authors call their other benchmark (DMR) weak. Needs a graph database.</a:t>
                      </a:r>
                      <a:endParaRPr lang="en-US" sz="1200" b="0" u="none" strike="noStrike">
                        <a:solidFill>
                          <a:srgbClr val="000000"/>
                        </a:solidFill>
                        <a:effectLst/>
                        <a:uFillTx/>
                        <a:latin typeface="Arial"/>
                      </a:endParaRPr>
                    </a:p>
                  </a:txBody>
                  <a:tcPr anchor="t" marL="63720" marR="63720" marT="36360" marB="36360">
                    <a:lnL w="9360">
                      <a:solidFill>
                        <a:srgbClr val="333333"/>
                      </a:solidFill>
                      <a:prstDash val="solid"/>
                    </a:lnL>
                    <a:lnR w="9360">
                      <a:solidFill>
                        <a:srgbClr val="333333"/>
                      </a:solidFill>
                      <a:prstDash val="solid"/>
                    </a:lnR>
                    <a:lnT w="9360">
                      <a:solidFill>
                        <a:srgbClr val="333333"/>
                      </a:solidFill>
                      <a:prstDash val="solid"/>
                    </a:lnT>
                    <a:lnB w="9360">
                      <a:solidFill>
                        <a:srgbClr val="333333"/>
                      </a:solidFill>
                      <a:prstDash val="solid"/>
                    </a:lnB>
                    <a:noFill/>
                  </a:tcPr>
                </a:tc>
                <a:tc>
                  <a:txBody>
                    <a:bodyPr lIns="63720" tIns="36360" rIns="63720" bIns="36360" anchor="t">
                      <a:noAutofit/>
                    </a:bodyPr>
                    <a:p>
                      <a:pPr defTabSz="914400">
                        <a:lnSpc>
                          <a:spcPct val="100000"/>
                        </a:lnSpc>
                        <a:tabLst>
                          <a:tab pos="0" algn="l"/>
                        </a:tabLst>
                      </a:pPr>
                      <a:r>
                        <a:rPr lang="en-US" sz="1200" b="0" u="none" strike="noStrike">
                          <a:solidFill>
                            <a:srgbClr val="1A1A1A"/>
                          </a:solidFill>
                          <a:effectLst/>
                          <a:uFillTx/>
                          <a:latin typeface="Times New Roman"/>
                          <a:ea typeface="Times New Roman"/>
                        </a:rPr>
                        <a:t>Closest design for validity intervals. We also run Neo4j, but only as a projection we can rebuild.</a:t>
                      </a:r>
                      <a:endParaRPr lang="en-US" sz="1200" b="0" u="none" strike="noStrike">
                        <a:solidFill>
                          <a:srgbClr val="000000"/>
                        </a:solidFill>
                        <a:effectLst/>
                        <a:uFillTx/>
                        <a:latin typeface="Arial"/>
                      </a:endParaRPr>
                    </a:p>
                  </a:txBody>
                  <a:tcPr anchor="t" marL="63720" marR="63720" marT="36360" marB="36360">
                    <a:lnL w="9360">
                      <a:solidFill>
                        <a:srgbClr val="333333"/>
                      </a:solidFill>
                      <a:prstDash val="solid"/>
                    </a:lnL>
                    <a:lnR w="9360">
                      <a:solidFill>
                        <a:srgbClr val="333333"/>
                      </a:solidFill>
                      <a:prstDash val="solid"/>
                    </a:lnR>
                    <a:lnT w="9360">
                      <a:solidFill>
                        <a:srgbClr val="333333"/>
                      </a:solidFill>
                      <a:prstDash val="solid"/>
                    </a:lnT>
                    <a:lnB w="9360">
                      <a:solidFill>
                        <a:srgbClr val="333333"/>
                      </a:solidFill>
                      <a:prstDash val="solid"/>
                    </a:lnB>
                    <a:noFill/>
                  </a:tcPr>
                </a:tc>
              </a:tr>
              <a:tr h="0">
                <a:tc>
                  <a:txBody>
                    <a:bodyPr lIns="63720" tIns="36360" rIns="63720" bIns="36360" anchor="t">
                      <a:noAutofit/>
                    </a:bodyPr>
                    <a:p>
                      <a:pPr defTabSz="914400">
                        <a:lnSpc>
                          <a:spcPct val="100000"/>
                        </a:lnSpc>
                        <a:tabLst>
                          <a:tab pos="0" algn="l"/>
                        </a:tabLst>
                      </a:pPr>
                      <a:r>
                        <a:rPr lang="en-US" sz="1200" b="1" u="none" strike="noStrike">
                          <a:solidFill>
                            <a:srgbClr val="1A1A1A"/>
                          </a:solidFill>
                          <a:effectLst/>
                          <a:uFillTx/>
                          <a:latin typeface="Times New Roman"/>
                          <a:ea typeface="Times New Roman"/>
                        </a:rPr>
                        <a:t>Mem0, Chhikara et al., 2025 [5].</a:t>
                      </a:r>
                      <a:endParaRPr lang="en-US" sz="1200" b="0" u="none" strike="noStrike">
                        <a:solidFill>
                          <a:srgbClr val="000000"/>
                        </a:solidFill>
                        <a:effectLst/>
                        <a:uFillTx/>
                        <a:latin typeface="Arial"/>
                      </a:endParaRPr>
                    </a:p>
                  </a:txBody>
                  <a:tcPr anchor="t" marL="63720" marR="63720" marT="36360" marB="36360">
                    <a:lnL w="9360">
                      <a:solidFill>
                        <a:srgbClr val="333333"/>
                      </a:solidFill>
                      <a:prstDash val="solid"/>
                    </a:lnL>
                    <a:lnR w="9360">
                      <a:solidFill>
                        <a:srgbClr val="333333"/>
                      </a:solidFill>
                      <a:prstDash val="solid"/>
                    </a:lnR>
                    <a:lnT w="9360">
                      <a:solidFill>
                        <a:srgbClr val="333333"/>
                      </a:solidFill>
                      <a:prstDash val="solid"/>
                    </a:lnT>
                    <a:lnB w="9360">
                      <a:solidFill>
                        <a:srgbClr val="333333"/>
                      </a:solidFill>
                      <a:prstDash val="solid"/>
                    </a:lnB>
                    <a:noFill/>
                  </a:tcPr>
                </a:tc>
                <a:tc>
                  <a:txBody>
                    <a:bodyPr lIns="63720" tIns="36360" rIns="63720" bIns="36360" anchor="t">
                      <a:noAutofit/>
                    </a:bodyPr>
                    <a:p>
                      <a:pPr defTabSz="914400">
                        <a:lnSpc>
                          <a:spcPct val="100000"/>
                        </a:lnSpc>
                        <a:tabLst>
                          <a:tab pos="0" algn="l"/>
                        </a:tabLst>
                      </a:pPr>
                      <a:r>
                        <a:rPr lang="en-US" sz="1200" b="0" u="none" strike="noStrike">
                          <a:solidFill>
                            <a:srgbClr val="1A1A1A"/>
                          </a:solidFill>
                          <a:effectLst/>
                          <a:uFillTx/>
                          <a:latin typeface="Times New Roman"/>
                          <a:ea typeface="Times New Roman"/>
                        </a:rPr>
                        <a:t>An LLM extracts candidate facts, compares each with the nearest stored memories, then chooses add, update, delete or no-op.</a:t>
                      </a:r>
                      <a:endParaRPr lang="en-US" sz="1200" b="0" u="none" strike="noStrike">
                        <a:solidFill>
                          <a:srgbClr val="000000"/>
                        </a:solidFill>
                        <a:effectLst/>
                        <a:uFillTx/>
                        <a:latin typeface="Arial"/>
                      </a:endParaRPr>
                    </a:p>
                  </a:txBody>
                  <a:tcPr anchor="t" marL="63720" marR="63720" marT="36360" marB="36360">
                    <a:lnL w="9360">
                      <a:solidFill>
                        <a:srgbClr val="333333"/>
                      </a:solidFill>
                      <a:prstDash val="solid"/>
                    </a:lnL>
                    <a:lnR w="9360">
                      <a:solidFill>
                        <a:srgbClr val="333333"/>
                      </a:solidFill>
                      <a:prstDash val="solid"/>
                    </a:lnR>
                    <a:lnT w="9360">
                      <a:solidFill>
                        <a:srgbClr val="333333"/>
                      </a:solidFill>
                      <a:prstDash val="solid"/>
                    </a:lnT>
                    <a:lnB w="9360">
                      <a:solidFill>
                        <a:srgbClr val="333333"/>
                      </a:solidFill>
                      <a:prstDash val="solid"/>
                    </a:lnB>
                    <a:noFill/>
                  </a:tcPr>
                </a:tc>
                <a:tc>
                  <a:txBody>
                    <a:bodyPr lIns="63720" tIns="36360" rIns="63720" bIns="36360" anchor="t">
                      <a:noAutofit/>
                    </a:bodyPr>
                    <a:p>
                      <a:pPr defTabSz="914400">
                        <a:lnSpc>
                          <a:spcPct val="100000"/>
                        </a:lnSpc>
                        <a:tabLst>
                          <a:tab pos="0" algn="l"/>
                        </a:tabLst>
                      </a:pPr>
                      <a:r>
                        <a:rPr lang="en-US" sz="1200" b="0" u="none" strike="noStrike">
                          <a:solidFill>
                            <a:srgbClr val="1A1A1A"/>
                          </a:solidFill>
                          <a:effectLst/>
                          <a:uFillTx/>
                          <a:latin typeface="Times New Roman"/>
                          <a:ea typeface="Times New Roman"/>
                        </a:rPr>
                        <a:t>LoCoMo only, authors’ run. Judge score 66.9 for Mem0, 72.9 for the full history, which had a p95 latency of 17 s against 1.4 s.</a:t>
                      </a:r>
                      <a:endParaRPr lang="en-US" sz="1200" b="0" u="none" strike="noStrike">
                        <a:solidFill>
                          <a:srgbClr val="000000"/>
                        </a:solidFill>
                        <a:effectLst/>
                        <a:uFillTx/>
                        <a:latin typeface="Arial"/>
                      </a:endParaRPr>
                    </a:p>
                  </a:txBody>
                  <a:tcPr anchor="t" marL="63720" marR="63720" marT="36360" marB="36360">
                    <a:lnL w="9360">
                      <a:solidFill>
                        <a:srgbClr val="333333"/>
                      </a:solidFill>
                      <a:prstDash val="solid"/>
                    </a:lnL>
                    <a:lnR w="9360">
                      <a:solidFill>
                        <a:srgbClr val="333333"/>
                      </a:solidFill>
                      <a:prstDash val="solid"/>
                    </a:lnR>
                    <a:lnT w="9360">
                      <a:solidFill>
                        <a:srgbClr val="333333"/>
                      </a:solidFill>
                      <a:prstDash val="solid"/>
                    </a:lnT>
                    <a:lnB w="9360">
                      <a:solidFill>
                        <a:srgbClr val="333333"/>
                      </a:solidFill>
                      <a:prstDash val="solid"/>
                    </a:lnB>
                    <a:noFill/>
                  </a:tcPr>
                </a:tc>
                <a:tc>
                  <a:txBody>
                    <a:bodyPr lIns="63720" tIns="36360" rIns="63720" bIns="36360" anchor="t">
                      <a:noAutofit/>
                    </a:bodyPr>
                    <a:p>
                      <a:pPr defTabSz="914400">
                        <a:lnSpc>
                          <a:spcPct val="100000"/>
                        </a:lnSpc>
                        <a:tabLst>
                          <a:tab pos="0" algn="l"/>
                        </a:tabLst>
                      </a:pPr>
                      <a:r>
                        <a:rPr lang="en-US" sz="1200" b="0" u="none" strike="noStrike">
                          <a:solidFill>
                            <a:srgbClr val="1A1A1A"/>
                          </a:solidFill>
                          <a:effectLst/>
                          <a:uFillTx/>
                          <a:latin typeface="Times New Roman"/>
                          <a:ea typeface="Times New Roman"/>
                        </a:rPr>
                        <a:t>One benchmark and an unnamed judge model. The open-source release has since dropped update, delete and graph memory.</a:t>
                      </a:r>
                      <a:endParaRPr lang="en-US" sz="1200" b="0" u="none" strike="noStrike">
                        <a:solidFill>
                          <a:srgbClr val="000000"/>
                        </a:solidFill>
                        <a:effectLst/>
                        <a:uFillTx/>
                        <a:latin typeface="Arial"/>
                      </a:endParaRPr>
                    </a:p>
                  </a:txBody>
                  <a:tcPr anchor="t" marL="63720" marR="63720" marT="36360" marB="36360">
                    <a:lnL w="9360">
                      <a:solidFill>
                        <a:srgbClr val="333333"/>
                      </a:solidFill>
                      <a:prstDash val="solid"/>
                    </a:lnL>
                    <a:lnR w="9360">
                      <a:solidFill>
                        <a:srgbClr val="333333"/>
                      </a:solidFill>
                      <a:prstDash val="solid"/>
                    </a:lnR>
                    <a:lnT w="9360">
                      <a:solidFill>
                        <a:srgbClr val="333333"/>
                      </a:solidFill>
                      <a:prstDash val="solid"/>
                    </a:lnT>
                    <a:lnB w="9360">
                      <a:solidFill>
                        <a:srgbClr val="333333"/>
                      </a:solidFill>
                      <a:prstDash val="solid"/>
                    </a:lnB>
                    <a:noFill/>
                  </a:tcPr>
                </a:tc>
                <a:tc>
                  <a:txBody>
                    <a:bodyPr lIns="63720" tIns="36360" rIns="63720" bIns="36360" anchor="t">
                      <a:noAutofit/>
                    </a:bodyPr>
                    <a:p>
                      <a:pPr defTabSz="914400">
                        <a:lnSpc>
                          <a:spcPct val="100000"/>
                        </a:lnSpc>
                        <a:tabLst>
                          <a:tab pos="0" algn="l"/>
                        </a:tabLst>
                      </a:pPr>
                      <a:r>
                        <a:rPr lang="en-US" sz="1200" b="0" u="none" strike="noStrike">
                          <a:solidFill>
                            <a:srgbClr val="1A1A1A"/>
                          </a:solidFill>
                          <a:effectLst/>
                          <a:uFillTx/>
                          <a:latin typeface="Times New Roman"/>
                          <a:ea typeface="Times New Roman"/>
                        </a:rPr>
                        <a:t>Same extract then compare idea. Here the update rule is code (cardinality and correction flag), not an LLM choice per assertion.</a:t>
                      </a:r>
                      <a:endParaRPr lang="en-US" sz="1200" b="0" u="none" strike="noStrike">
                        <a:solidFill>
                          <a:srgbClr val="000000"/>
                        </a:solidFill>
                        <a:effectLst/>
                        <a:uFillTx/>
                        <a:latin typeface="Arial"/>
                      </a:endParaRPr>
                    </a:p>
                  </a:txBody>
                  <a:tcPr anchor="t" marL="63720" marR="63720" marT="36360" marB="36360">
                    <a:lnL w="9360">
                      <a:solidFill>
                        <a:srgbClr val="333333"/>
                      </a:solidFill>
                      <a:prstDash val="solid"/>
                    </a:lnL>
                    <a:lnR w="9360">
                      <a:solidFill>
                        <a:srgbClr val="333333"/>
                      </a:solidFill>
                      <a:prstDash val="solid"/>
                    </a:lnR>
                    <a:lnT w="9360">
                      <a:solidFill>
                        <a:srgbClr val="333333"/>
                      </a:solidFill>
                      <a:prstDash val="solid"/>
                    </a:lnT>
                    <a:lnB w="9360">
                      <a:solidFill>
                        <a:srgbClr val="333333"/>
                      </a:solidFill>
                      <a:prstDash val="solid"/>
                    </a:lnB>
                    <a:noFill/>
                  </a:tcPr>
                </a:tc>
              </a:tr>
              <a:tr h="0">
                <a:tc>
                  <a:txBody>
                    <a:bodyPr lIns="63720" tIns="36360" rIns="63720" bIns="36360" anchor="t">
                      <a:noAutofit/>
                    </a:bodyPr>
                    <a:p>
                      <a:pPr defTabSz="914400">
                        <a:lnSpc>
                          <a:spcPct val="100000"/>
                        </a:lnSpc>
                        <a:tabLst>
                          <a:tab pos="0" algn="l"/>
                        </a:tabLst>
                      </a:pPr>
                      <a:r>
                        <a:rPr lang="en-US" sz="1200" b="1" u="none" strike="noStrike">
                          <a:solidFill>
                            <a:srgbClr val="1A1A1A"/>
                          </a:solidFill>
                          <a:effectLst/>
                          <a:uFillTx/>
                          <a:latin typeface="Times New Roman"/>
                          <a:ea typeface="Times New Roman"/>
                        </a:rPr>
                        <a:t>Supermemory, Daga et al., 2026 [6].</a:t>
                      </a:r>
                      <a:endParaRPr lang="en-US" sz="1200" b="0" u="none" strike="noStrike">
                        <a:solidFill>
                          <a:srgbClr val="000000"/>
                        </a:solidFill>
                        <a:effectLst/>
                        <a:uFillTx/>
                        <a:latin typeface="Arial"/>
                      </a:endParaRPr>
                    </a:p>
                  </a:txBody>
                  <a:tcPr anchor="t" marL="63720" marR="63720" marT="36360" marB="36360">
                    <a:lnL w="9360">
                      <a:solidFill>
                        <a:srgbClr val="333333"/>
                      </a:solidFill>
                      <a:prstDash val="solid"/>
                    </a:lnL>
                    <a:lnR w="9360">
                      <a:solidFill>
                        <a:srgbClr val="333333"/>
                      </a:solidFill>
                      <a:prstDash val="solid"/>
                    </a:lnR>
                    <a:lnT w="9360">
                      <a:solidFill>
                        <a:srgbClr val="333333"/>
                      </a:solidFill>
                      <a:prstDash val="solid"/>
                    </a:lnT>
                    <a:lnB w="9360">
                      <a:solidFill>
                        <a:srgbClr val="333333"/>
                      </a:solidFill>
                      <a:prstDash val="solid"/>
                    </a:lnB>
                    <a:noFill/>
                  </a:tcPr>
                </a:tc>
                <a:tc>
                  <a:txBody>
                    <a:bodyPr lIns="63720" tIns="36360" rIns="63720" bIns="36360" anchor="t">
                      <a:noAutofit/>
                    </a:bodyPr>
                    <a:p>
                      <a:pPr defTabSz="914400">
                        <a:lnSpc>
                          <a:spcPct val="100000"/>
                        </a:lnSpc>
                        <a:tabLst>
                          <a:tab pos="0" algn="l"/>
                        </a:tabLst>
                      </a:pPr>
                      <a:r>
                        <a:rPr lang="en-US" sz="1200" b="0" u="none" strike="noStrike">
                          <a:solidFill>
                            <a:srgbClr val="1A1A1A"/>
                          </a:solidFill>
                          <a:effectLst/>
                          <a:uFillTx/>
                          <a:latin typeface="Times New Roman"/>
                          <a:ea typeface="Times New Roman"/>
                        </a:rPr>
                        <a:t>Atomic memories linked to source chunks, with updates, extends and derives links and two timestamps.</a:t>
                      </a:r>
                      <a:endParaRPr lang="en-US" sz="1200" b="0" u="none" strike="noStrike">
                        <a:solidFill>
                          <a:srgbClr val="000000"/>
                        </a:solidFill>
                        <a:effectLst/>
                        <a:uFillTx/>
                        <a:latin typeface="Arial"/>
                      </a:endParaRPr>
                    </a:p>
                  </a:txBody>
                  <a:tcPr anchor="t" marL="63720" marR="63720" marT="36360" marB="36360">
                    <a:lnL w="9360">
                      <a:solidFill>
                        <a:srgbClr val="333333"/>
                      </a:solidFill>
                      <a:prstDash val="solid"/>
                    </a:lnL>
                    <a:lnR w="9360">
                      <a:solidFill>
                        <a:srgbClr val="333333"/>
                      </a:solidFill>
                      <a:prstDash val="solid"/>
                    </a:lnR>
                    <a:lnT w="9360">
                      <a:solidFill>
                        <a:srgbClr val="333333"/>
                      </a:solidFill>
                      <a:prstDash val="solid"/>
                    </a:lnT>
                    <a:lnB w="9360">
                      <a:solidFill>
                        <a:srgbClr val="333333"/>
                      </a:solidFill>
                      <a:prstDash val="solid"/>
                    </a:lnB>
                    <a:noFill/>
                  </a:tcPr>
                </a:tc>
                <a:tc>
                  <a:txBody>
                    <a:bodyPr lIns="63720" tIns="36360" rIns="63720" bIns="36360" anchor="t">
                      <a:noAutofit/>
                    </a:bodyPr>
                    <a:p>
                      <a:pPr defTabSz="914400">
                        <a:lnSpc>
                          <a:spcPct val="100000"/>
                        </a:lnSpc>
                        <a:tabLst>
                          <a:tab pos="0" algn="l"/>
                        </a:tabLst>
                      </a:pPr>
                      <a:r>
                        <a:rPr lang="en-US" sz="1200" b="0" u="none" strike="noStrike">
                          <a:solidFill>
                            <a:srgbClr val="1A1A1A"/>
                          </a:solidFill>
                          <a:effectLst/>
                          <a:uFillTx/>
                          <a:latin typeface="Times New Roman"/>
                          <a:ea typeface="Times New Roman"/>
                        </a:rPr>
                        <a:t>Reports LongMemEval-S results by category from its own run. Numbers not repeated here.</a:t>
                      </a:r>
                      <a:endParaRPr lang="en-US" sz="1200" b="0" u="none" strike="noStrike">
                        <a:solidFill>
                          <a:srgbClr val="000000"/>
                        </a:solidFill>
                        <a:effectLst/>
                        <a:uFillTx/>
                        <a:latin typeface="Arial"/>
                      </a:endParaRPr>
                    </a:p>
                  </a:txBody>
                  <a:tcPr anchor="t" marL="63720" marR="63720" marT="36360" marB="36360">
                    <a:lnL w="9360">
                      <a:solidFill>
                        <a:srgbClr val="333333"/>
                      </a:solidFill>
                      <a:prstDash val="solid"/>
                    </a:lnL>
                    <a:lnR w="9360">
                      <a:solidFill>
                        <a:srgbClr val="333333"/>
                      </a:solidFill>
                      <a:prstDash val="solid"/>
                    </a:lnR>
                    <a:lnT w="9360">
                      <a:solidFill>
                        <a:srgbClr val="333333"/>
                      </a:solidFill>
                      <a:prstDash val="solid"/>
                    </a:lnT>
                    <a:lnB w="9360">
                      <a:solidFill>
                        <a:srgbClr val="333333"/>
                      </a:solidFill>
                      <a:prstDash val="solid"/>
                    </a:lnB>
                    <a:noFill/>
                  </a:tcPr>
                </a:tc>
                <a:tc>
                  <a:txBody>
                    <a:bodyPr lIns="63720" tIns="36360" rIns="63720" bIns="36360" anchor="t">
                      <a:noAutofit/>
                    </a:bodyPr>
                    <a:p>
                      <a:pPr defTabSz="914400">
                        <a:lnSpc>
                          <a:spcPct val="100000"/>
                        </a:lnSpc>
                        <a:tabLst>
                          <a:tab pos="0" algn="l"/>
                        </a:tabLst>
                      </a:pPr>
                      <a:r>
                        <a:rPr lang="en-US" sz="1200" b="0" u="none" strike="noStrike">
                          <a:solidFill>
                            <a:srgbClr val="1A1A1A"/>
                          </a:solidFill>
                          <a:effectLst/>
                          <a:uFillTx/>
                          <a:latin typeface="Times New Roman"/>
                          <a:ea typeface="Times New Roman"/>
                        </a:rPr>
                        <a:t>Engine source closed. The headline depends on the answer model, and the metric “aggregation” is not defined.</a:t>
                      </a:r>
                      <a:endParaRPr lang="en-US" sz="1200" b="0" u="none" strike="noStrike">
                        <a:solidFill>
                          <a:srgbClr val="000000"/>
                        </a:solidFill>
                        <a:effectLst/>
                        <a:uFillTx/>
                        <a:latin typeface="Arial"/>
                      </a:endParaRPr>
                    </a:p>
                  </a:txBody>
                  <a:tcPr anchor="t" marL="63720" marR="63720" marT="36360" marB="36360">
                    <a:lnL w="9360">
                      <a:solidFill>
                        <a:srgbClr val="333333"/>
                      </a:solidFill>
                      <a:prstDash val="solid"/>
                    </a:lnL>
                    <a:lnR w="9360">
                      <a:solidFill>
                        <a:srgbClr val="333333"/>
                      </a:solidFill>
                      <a:prstDash val="solid"/>
                    </a:lnR>
                    <a:lnT w="9360">
                      <a:solidFill>
                        <a:srgbClr val="333333"/>
                      </a:solidFill>
                      <a:prstDash val="solid"/>
                    </a:lnT>
                    <a:lnB w="9360">
                      <a:solidFill>
                        <a:srgbClr val="333333"/>
                      </a:solidFill>
                      <a:prstDash val="solid"/>
                    </a:lnB>
                    <a:noFill/>
                  </a:tcPr>
                </a:tc>
                <a:tc>
                  <a:txBody>
                    <a:bodyPr lIns="63720" tIns="36360" rIns="63720" bIns="36360" anchor="t">
                      <a:noAutofit/>
                    </a:bodyPr>
                    <a:p>
                      <a:pPr defTabSz="914400">
                        <a:lnSpc>
                          <a:spcPct val="100000"/>
                        </a:lnSpc>
                        <a:tabLst>
                          <a:tab pos="0" algn="l"/>
                        </a:tabLst>
                      </a:pPr>
                      <a:r>
                        <a:rPr lang="en-US" sz="1200" b="0" u="none" strike="noStrike">
                          <a:solidFill>
                            <a:srgbClr val="1A1A1A"/>
                          </a:solidFill>
                          <a:effectLst/>
                          <a:uFillTx/>
                          <a:latin typeface="Times New Roman"/>
                          <a:ea typeface="Times New Roman"/>
                        </a:rPr>
                        <a:t>Named as a design influence in our repository. Used for mechanism only.</a:t>
                      </a:r>
                      <a:endParaRPr lang="en-US" sz="1200" b="0" u="none" strike="noStrike">
                        <a:solidFill>
                          <a:srgbClr val="000000"/>
                        </a:solidFill>
                        <a:effectLst/>
                        <a:uFillTx/>
                        <a:latin typeface="Arial"/>
                      </a:endParaRPr>
                    </a:p>
                  </a:txBody>
                  <a:tcPr anchor="t" marL="63720" marR="63720" marT="36360" marB="36360">
                    <a:lnL w="9360">
                      <a:solidFill>
                        <a:srgbClr val="333333"/>
                      </a:solidFill>
                      <a:prstDash val="solid"/>
                    </a:lnL>
                    <a:lnR w="9360">
                      <a:solidFill>
                        <a:srgbClr val="333333"/>
                      </a:solidFill>
                      <a:prstDash val="solid"/>
                    </a:lnR>
                    <a:lnT w="9360">
                      <a:solidFill>
                        <a:srgbClr val="333333"/>
                      </a:solidFill>
                      <a:prstDash val="solid"/>
                    </a:lnT>
                    <a:lnB w="9360">
                      <a:solidFill>
                        <a:srgbClr val="333333"/>
                      </a:solidFill>
                      <a:prstDash val="solid"/>
                    </a:lnB>
                    <a:noFill/>
                  </a:tcPr>
                </a:tc>
              </a:tr>
              <a:tr h="0">
                <a:tc>
                  <a:txBody>
                    <a:bodyPr lIns="63720" tIns="36360" rIns="63720" bIns="36360" anchor="t">
                      <a:noAutofit/>
                    </a:bodyPr>
                    <a:p>
                      <a:pPr defTabSz="914400">
                        <a:lnSpc>
                          <a:spcPct val="100000"/>
                        </a:lnSpc>
                        <a:tabLst>
                          <a:tab pos="0" algn="l"/>
                        </a:tabLst>
                      </a:pPr>
                      <a:r>
                        <a:rPr lang="en-US" sz="1200" b="1" u="none" strike="noStrike">
                          <a:solidFill>
                            <a:srgbClr val="1A1A1A"/>
                          </a:solidFill>
                          <a:effectLst/>
                          <a:uFillTx/>
                          <a:latin typeface="Times New Roman"/>
                          <a:ea typeface="Times New Roman"/>
                        </a:rPr>
                        <a:t>Hindsight, Latimer et al., 2025 [7].</a:t>
                      </a:r>
                      <a:endParaRPr lang="en-US" sz="1200" b="0" u="none" strike="noStrike">
                        <a:solidFill>
                          <a:srgbClr val="000000"/>
                        </a:solidFill>
                        <a:effectLst/>
                        <a:uFillTx/>
                        <a:latin typeface="Arial"/>
                      </a:endParaRPr>
                    </a:p>
                    <a:p>
                      <a:pPr defTabSz="914400">
                        <a:lnSpc>
                          <a:spcPct val="100000"/>
                        </a:lnSpc>
                        <a:tabLst>
                          <a:tab pos="0" algn="l"/>
                        </a:tabLst>
                      </a:pPr>
                      <a:endParaRPr lang="en-US" sz="1200" b="0" u="none" strike="noStrike">
                        <a:solidFill>
                          <a:srgbClr val="000000"/>
                        </a:solidFill>
                        <a:effectLst/>
                        <a:uFillTx/>
                        <a:latin typeface="Arial"/>
                      </a:endParaRPr>
                    </a:p>
                  </a:txBody>
                  <a:tcPr anchor="t" marL="63720" marR="63720" marT="36360" marB="36360">
                    <a:lnL w="9360">
                      <a:solidFill>
                        <a:srgbClr val="333333"/>
                      </a:solidFill>
                      <a:prstDash val="solid"/>
                    </a:lnL>
                    <a:lnR w="9360">
                      <a:solidFill>
                        <a:srgbClr val="333333"/>
                      </a:solidFill>
                      <a:prstDash val="solid"/>
                    </a:lnR>
                    <a:lnT w="9360">
                      <a:solidFill>
                        <a:srgbClr val="333333"/>
                      </a:solidFill>
                      <a:prstDash val="solid"/>
                    </a:lnT>
                    <a:lnB w="9360">
                      <a:solidFill>
                        <a:srgbClr val="333333"/>
                      </a:solidFill>
                      <a:prstDash val="solid"/>
                    </a:lnB>
                    <a:noFill/>
                  </a:tcPr>
                </a:tc>
                <a:tc>
                  <a:txBody>
                    <a:bodyPr lIns="63720" tIns="36360" rIns="63720" bIns="36360" anchor="t">
                      <a:noAutofit/>
                    </a:bodyPr>
                    <a:p>
                      <a:pPr defTabSz="914400">
                        <a:lnSpc>
                          <a:spcPct val="100000"/>
                        </a:lnSpc>
                        <a:tabLst>
                          <a:tab pos="0" algn="l"/>
                        </a:tabLst>
                      </a:pPr>
                      <a:r>
                        <a:rPr lang="en-US" sz="1200" b="0" u="none" strike="noStrike">
                          <a:solidFill>
                            <a:srgbClr val="1A1A1A"/>
                          </a:solidFill>
                          <a:effectLst/>
                          <a:uFillTx/>
                          <a:latin typeface="Times New Roman"/>
                          <a:ea typeface="Times New Roman"/>
                        </a:rPr>
                        <a:t>Retain, recall and reflect operations. Recall fuses four retrieval strategies by rank fusion and packs to a token budget.</a:t>
                      </a:r>
                      <a:endParaRPr lang="en-US" sz="1200" b="0" u="none" strike="noStrike">
                        <a:solidFill>
                          <a:srgbClr val="000000"/>
                        </a:solidFill>
                        <a:effectLst/>
                        <a:uFillTx/>
                        <a:latin typeface="Arial"/>
                      </a:endParaRPr>
                    </a:p>
                  </a:txBody>
                  <a:tcPr anchor="t" marL="63720" marR="63720" marT="36360" marB="36360">
                    <a:lnL w="9360">
                      <a:solidFill>
                        <a:srgbClr val="333333"/>
                      </a:solidFill>
                      <a:prstDash val="solid"/>
                    </a:lnL>
                    <a:lnR w="9360">
                      <a:solidFill>
                        <a:srgbClr val="333333"/>
                      </a:solidFill>
                      <a:prstDash val="solid"/>
                    </a:lnR>
                    <a:lnT w="9360">
                      <a:solidFill>
                        <a:srgbClr val="333333"/>
                      </a:solidFill>
                      <a:prstDash val="solid"/>
                    </a:lnT>
                    <a:lnB w="9360">
                      <a:solidFill>
                        <a:srgbClr val="333333"/>
                      </a:solidFill>
                      <a:prstDash val="solid"/>
                    </a:lnB>
                    <a:noFill/>
                  </a:tcPr>
                </a:tc>
                <a:tc>
                  <a:txBody>
                    <a:bodyPr lIns="63720" tIns="36360" rIns="63720" bIns="36360" anchor="t">
                      <a:noAutofit/>
                    </a:bodyPr>
                    <a:p>
                      <a:pPr defTabSz="914400">
                        <a:lnSpc>
                          <a:spcPct val="100000"/>
                        </a:lnSpc>
                        <a:tabLst>
                          <a:tab pos="0" algn="l"/>
                        </a:tabLst>
                      </a:pPr>
                      <a:r>
                        <a:rPr lang="en-US" sz="1200" b="0" u="none" strike="noStrike">
                          <a:solidFill>
                            <a:srgbClr val="1A1A1A"/>
                          </a:solidFill>
                          <a:effectLst/>
                          <a:uFillTx/>
                          <a:latin typeface="Times New Roman"/>
                          <a:ea typeface="Times New Roman"/>
                        </a:rPr>
                        <a:t>Reports LongMemEval and LoCoMo results run by the authors. Numbers not repeated here.</a:t>
                      </a:r>
                      <a:endParaRPr lang="en-US" sz="1200" b="0" u="none" strike="noStrike">
                        <a:solidFill>
                          <a:srgbClr val="000000"/>
                        </a:solidFill>
                        <a:effectLst/>
                        <a:uFillTx/>
                        <a:latin typeface="Arial"/>
                      </a:endParaRPr>
                    </a:p>
                  </a:txBody>
                  <a:tcPr anchor="t" marL="63720" marR="63720" marT="36360" marB="36360">
                    <a:lnL w="9360">
                      <a:solidFill>
                        <a:srgbClr val="333333"/>
                      </a:solidFill>
                      <a:prstDash val="solid"/>
                    </a:lnL>
                    <a:lnR w="9360">
                      <a:solidFill>
                        <a:srgbClr val="333333"/>
                      </a:solidFill>
                      <a:prstDash val="solid"/>
                    </a:lnR>
                    <a:lnT w="9360">
                      <a:solidFill>
                        <a:srgbClr val="333333"/>
                      </a:solidFill>
                      <a:prstDash val="solid"/>
                    </a:lnT>
                    <a:lnB w="9360">
                      <a:solidFill>
                        <a:srgbClr val="333333"/>
                      </a:solidFill>
                      <a:prstDash val="solid"/>
                    </a:lnB>
                    <a:noFill/>
                  </a:tcPr>
                </a:tc>
                <a:tc>
                  <a:txBody>
                    <a:bodyPr lIns="63720" tIns="36360" rIns="63720" bIns="36360" anchor="t">
                      <a:noAutofit/>
                    </a:bodyPr>
                    <a:p>
                      <a:pPr defTabSz="914400">
                        <a:lnSpc>
                          <a:spcPct val="100000"/>
                        </a:lnSpc>
                        <a:tabLst>
                          <a:tab pos="0" algn="l"/>
                        </a:tabLst>
                      </a:pPr>
                      <a:r>
                        <a:rPr lang="en-US" sz="1200" b="0" u="none" strike="noStrike">
                          <a:solidFill>
                            <a:srgbClr val="1A1A1A"/>
                          </a:solidFill>
                          <a:effectLst/>
                          <a:uFillTx/>
                          <a:latin typeface="Times New Roman"/>
                          <a:ea typeface="Times New Roman"/>
                        </a:rPr>
                        <a:t>Not peer reviewed. No ablation or variance found, and the token budget used is not stated.</a:t>
                      </a:r>
                      <a:endParaRPr lang="en-US" sz="1200" b="0" u="none" strike="noStrike">
                        <a:solidFill>
                          <a:srgbClr val="000000"/>
                        </a:solidFill>
                        <a:effectLst/>
                        <a:uFillTx/>
                        <a:latin typeface="Arial"/>
                      </a:endParaRPr>
                    </a:p>
                  </a:txBody>
                  <a:tcPr anchor="t" marL="63720" marR="63720" marT="36360" marB="36360">
                    <a:lnL w="9360">
                      <a:solidFill>
                        <a:srgbClr val="333333"/>
                      </a:solidFill>
                      <a:prstDash val="solid"/>
                    </a:lnL>
                    <a:lnR w="9360">
                      <a:solidFill>
                        <a:srgbClr val="333333"/>
                      </a:solidFill>
                      <a:prstDash val="solid"/>
                    </a:lnR>
                    <a:lnT w="9360">
                      <a:solidFill>
                        <a:srgbClr val="333333"/>
                      </a:solidFill>
                      <a:prstDash val="solid"/>
                    </a:lnT>
                    <a:lnB w="9360">
                      <a:solidFill>
                        <a:srgbClr val="333333"/>
                      </a:solidFill>
                      <a:prstDash val="solid"/>
                    </a:lnB>
                    <a:noFill/>
                  </a:tcPr>
                </a:tc>
                <a:tc>
                  <a:txBody>
                    <a:bodyPr lIns="63720" tIns="36360" rIns="63720" bIns="36360" anchor="t">
                      <a:noAutofit/>
                    </a:bodyPr>
                    <a:p>
                      <a:pPr defTabSz="914400">
                        <a:lnSpc>
                          <a:spcPct val="100000"/>
                        </a:lnSpc>
                        <a:tabLst>
                          <a:tab pos="0" algn="l"/>
                        </a:tabLst>
                      </a:pPr>
                      <a:r>
                        <a:rPr lang="en-US" sz="1200" b="0" u="none" strike="noStrike">
                          <a:solidFill>
                            <a:srgbClr val="1A1A1A"/>
                          </a:solidFill>
                          <a:effectLst/>
                          <a:uFillTx/>
                          <a:latin typeface="Times New Roman"/>
                          <a:ea typeface="Times New Roman"/>
                        </a:rPr>
                        <a:t>Named design influence. We have no reranker.</a:t>
                      </a:r>
                      <a:endParaRPr lang="en-US" sz="1200" b="0" u="none" strike="noStrike">
                        <a:solidFill>
                          <a:srgbClr val="000000"/>
                        </a:solidFill>
                        <a:effectLst/>
                        <a:uFillTx/>
                        <a:latin typeface="Arial"/>
                      </a:endParaRPr>
                    </a:p>
                  </a:txBody>
                  <a:tcPr anchor="t" marL="63720" marR="63720" marT="36360" marB="36360">
                    <a:lnL w="9360">
                      <a:solidFill>
                        <a:srgbClr val="333333"/>
                      </a:solidFill>
                      <a:prstDash val="solid"/>
                    </a:lnL>
                    <a:lnR w="9360">
                      <a:solidFill>
                        <a:srgbClr val="333333"/>
                      </a:solidFill>
                      <a:prstDash val="solid"/>
                    </a:lnR>
                    <a:lnT w="9360">
                      <a:solidFill>
                        <a:srgbClr val="333333"/>
                      </a:solidFill>
                      <a:prstDash val="solid"/>
                    </a:lnT>
                    <a:lnB w="9360">
                      <a:solidFill>
                        <a:srgbClr val="333333"/>
                      </a:solidFill>
                      <a:prstDash val="solid"/>
                    </a:lnB>
                    <a:noFill/>
                  </a:tcPr>
                </a:tc>
              </a:tr>
            </a:tbl>
          </a:graphicData>
        </a:graphic>
      </p:graphicFrame>
      <p:sp>
        <p:nvSpPr>
          <p:cNvPr id="28" name="PlaceHolder 2"/>
          <p:cNvSpPr>
            <a:spLocks noGrp="1"/>
          </p:cNvSpPr>
          <p:nvPr>
            <p:ph type="sldNum" idx="6"/>
          </p:nvPr>
        </p:nvSpPr>
        <p:spPr>
          <a:xfrm>
            <a:off x="10865880" y="384120"/>
            <a:ext cx="730440" cy="456120"/>
          </a:xfrm>
          <a:prstGeom prst="rect">
            <a:avLst/>
          </a:prstGeom>
          <a:noFill/>
          <a:ln w="0">
            <a:noFill/>
          </a:ln>
        </p:spPr>
        <p:txBody>
          <a:bodyPr lIns="90000" tIns="45000" rIns="90000" bIns="45000" anchor="t">
            <a:noAutofit/>
          </a:bodyPr>
          <a:lstStyle>
            <a:lvl1pPr indent="0" algn="r" defTabSz="914400">
              <a:lnSpc>
                <a:spcPct val="100000"/>
              </a:lnSpc>
              <a:buNone/>
              <a:tabLst>
                <a:tab pos="0" algn="l"/>
              </a:tabLst>
              <a:defRPr lang="en-US" sz="1600" b="0" u="none" strike="noStrike">
                <a:solidFill>
                  <a:srgbClr val="000000"/>
                </a:solidFill>
                <a:effectLst/>
                <a:uFillTx/>
                <a:latin typeface="Times New Roman"/>
                <a:ea typeface="Times New Roman"/>
              </a:defRPr>
            </a:lvl1pPr>
          </a:lstStyle>
          <a:p>
            <a:pPr indent="0" algn="r" defTabSz="914400">
              <a:lnSpc>
                <a:spcPct val="100000"/>
              </a:lnSpc>
              <a:buNone/>
              <a:tabLst>
                <a:tab pos="0" algn="l"/>
              </a:tabLst>
            </a:pPr>
            <a:fld id="{AEE5BCDD-7FD9-451B-A0E4-848C5AB6BD85}" type="slidenum">
              <a:rPr lang="en-US" sz="1600" b="0" u="none" strike="noStrike">
                <a:solidFill>
                  <a:srgbClr val="000000"/>
                </a:solidFill>
                <a:effectLst/>
                <a:uFillTx/>
                <a:latin typeface="Times New Roman"/>
                <a:ea typeface="Times New Roman"/>
              </a:rPr>
              <a:t>&lt;number&gt;</a:t>
            </a:fld>
            <a:endParaRPr lang="en-US" sz="1600" b="0" u="none" strike="noStrike">
              <a:solidFill>
                <a:srgbClr val="000000"/>
              </a:solidFill>
              <a:effectLst/>
              <a:uFillTx/>
              <a:latin typeface="Times New Roman"/>
            </a:endParaRPr>
          </a:p>
        </p:txBody>
      </p:sp>
    </p:spTree>
  </p:cSld>
  <mc:AlternateContent>
    <mc:Choice Requires="p14">
      <p:transition spd="slow" p14:dur="2000"/>
    </mc:Choice>
    <mc:Fallback>
      <p:transition spd="slow"/>
    </mc:Fallback>
  </mc:AlternateContent>
</p:sld>
</file>

<file path=ppt/slides/slide4.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9" name="PlaceHolder 1"/>
          <p:cNvSpPr>
            <a:spLocks noGrp="1"/>
          </p:cNvSpPr>
          <p:nvPr>
            <p:ph type="title" hasCustomPrompt="1"/>
          </p:nvPr>
        </p:nvSpPr>
        <p:spPr>
          <a:xfrm>
            <a:off x="594360" y="384120"/>
            <a:ext cx="9813240" cy="776160"/>
          </a:xfrm>
          <a:prstGeom prst="rect">
            <a:avLst/>
          </a:prstGeom>
          <a:noFill/>
          <a:ln w="0">
            <a:noFill/>
          </a:ln>
        </p:spPr>
        <p:txBody>
          <a:bodyPr lIns="0" tIns="0" rIns="0" bIns="0" anchor="ctr">
            <a:noAutofit/>
          </a:bodyPr>
          <a:p>
            <a:pPr indent="0" algn="l" defTabSz="914400">
              <a:lnSpc>
                <a:spcPct val="100000"/>
              </a:lnSpc>
              <a:buNone/>
              <a:tabLst>
                <a:tab pos="0" algn="l"/>
              </a:tabLst>
            </a:pPr>
            <a:r>
              <a:rPr lang="en-US" sz="3000" b="0" u="none" strike="noStrike">
                <a:solidFill>
                  <a:srgbClr val="000000"/>
                </a:solidFill>
                <a:effectLst/>
                <a:uFillTx/>
                <a:latin typeface="Times New Roman"/>
                <a:ea typeface="Times New Roman"/>
              </a:rPr>
              <a:t>CHALLENGES/ ISSUES IDENTIFIED</a:t>
            </a:r>
            <a:endParaRPr lang="en-US" sz="3000" b="0" u="none" strike="noStrike">
              <a:solidFill>
                <a:schemeClr val="dk1"/>
              </a:solidFill>
              <a:effectLst/>
              <a:uFillTx/>
              <a:latin typeface="Times New Roman"/>
            </a:endParaRPr>
          </a:p>
        </p:txBody>
      </p:sp>
      <p:sp>
        <p:nvSpPr>
          <p:cNvPr id="30" name="Text 10"/>
          <p:cNvSpPr/>
          <p:nvPr/>
        </p:nvSpPr>
        <p:spPr>
          <a:xfrm>
            <a:off x="594360" y="5897880"/>
            <a:ext cx="11001960" cy="227520"/>
          </a:xfrm>
          <a:prstGeom prst="rect">
            <a:avLst/>
          </a:prstGeom>
          <a:noFill/>
          <a:ln w="0">
            <a:noFill/>
          </a:ln>
        </p:spPr>
        <p:style>
          <a:lnRef idx="0"/>
          <a:fillRef idx="0"/>
          <a:effectRef idx="0"/>
          <a:fontRef idx="minor"/>
        </p:style>
        <p:txBody>
          <a:bodyPr lIns="0" tIns="0" rIns="0" bIns="0" anchor="ctr">
            <a:noAutofit/>
          </a:bodyPr>
          <a:p>
            <a:endParaRPr lang="en-US" sz="1800" b="0" u="none" strike="noStrike">
              <a:solidFill>
                <a:srgbClr val="000000"/>
              </a:solidFill>
              <a:effectLst/>
              <a:uFillTx/>
              <a:latin typeface="Arial"/>
            </a:endParaRPr>
          </a:p>
        </p:txBody>
      </p:sp>
      <p:sp>
        <p:nvSpPr>
          <p:cNvPr id="31" name="PlaceHolder 2"/>
          <p:cNvSpPr>
            <a:spLocks noGrp="1"/>
          </p:cNvSpPr>
          <p:nvPr>
            <p:ph type="sldNum" idx="7"/>
          </p:nvPr>
        </p:nvSpPr>
        <p:spPr>
          <a:xfrm>
            <a:off x="10865880" y="384120"/>
            <a:ext cx="730440" cy="456120"/>
          </a:xfrm>
          <a:prstGeom prst="rect">
            <a:avLst/>
          </a:prstGeom>
          <a:noFill/>
          <a:ln w="0">
            <a:noFill/>
          </a:ln>
        </p:spPr>
        <p:txBody>
          <a:bodyPr lIns="90000" tIns="45000" rIns="90000" bIns="45000" anchor="t">
            <a:noAutofit/>
          </a:bodyPr>
          <a:lstStyle>
            <a:lvl1pPr indent="0" algn="r" defTabSz="914400">
              <a:lnSpc>
                <a:spcPct val="100000"/>
              </a:lnSpc>
              <a:buNone/>
              <a:tabLst>
                <a:tab pos="0" algn="l"/>
              </a:tabLst>
              <a:defRPr lang="en-US" sz="1600" b="0" u="none" strike="noStrike">
                <a:solidFill>
                  <a:srgbClr val="000000"/>
                </a:solidFill>
                <a:effectLst/>
                <a:uFillTx/>
                <a:latin typeface="Times New Roman"/>
                <a:ea typeface="Times New Roman"/>
              </a:defRPr>
            </a:lvl1pPr>
          </a:lstStyle>
          <a:p>
            <a:pPr indent="0" algn="r" defTabSz="914400">
              <a:lnSpc>
                <a:spcPct val="100000"/>
              </a:lnSpc>
              <a:buNone/>
              <a:tabLst>
                <a:tab pos="0" algn="l"/>
              </a:tabLst>
            </a:pPr>
            <a:fld id="{1EC0770B-7440-4C75-B9D6-F0DBEE4DA46D}" type="slidenum">
              <a:rPr lang="en-US" sz="1600" b="0" u="none" strike="noStrike">
                <a:solidFill>
                  <a:srgbClr val="000000"/>
                </a:solidFill>
                <a:effectLst/>
                <a:uFillTx/>
                <a:latin typeface="Times New Roman"/>
                <a:ea typeface="Times New Roman"/>
              </a:rPr>
              <a:t>&lt;number&gt;</a:t>
            </a:fld>
            <a:endParaRPr lang="en-US" sz="1600" b="0" u="none" strike="noStrike">
              <a:solidFill>
                <a:srgbClr val="000000"/>
              </a:solidFill>
              <a:effectLst/>
              <a:uFillTx/>
              <a:latin typeface="Times New Roman"/>
            </a:endParaRPr>
          </a:p>
        </p:txBody>
      </p:sp>
      <p:sp>
        <p:nvSpPr>
          <p:cNvPr id="32" name=""/>
          <p:cNvSpPr/>
          <p:nvPr/>
        </p:nvSpPr>
        <p:spPr>
          <a:xfrm>
            <a:off x="547920" y="1330200"/>
            <a:ext cx="4601160" cy="3505320"/>
          </a:xfrm>
          <a:prstGeom prst="rect">
            <a:avLst/>
          </a:prstGeom>
          <a:noFill/>
          <a:ln w="38160">
            <a:noFill/>
          </a:ln>
        </p:spPr>
        <p:style>
          <a:lnRef idx="0"/>
          <a:fillRef idx="0"/>
          <a:effectRef idx="0"/>
          <a:fontRef idx="minor"/>
        </p:style>
        <p:txBody>
          <a:bodyPr lIns="90000" tIns="45000" rIns="90000" bIns="45000" anchor="t">
            <a:spAutoFit/>
          </a:bodyPr>
          <a:p>
            <a:pPr>
              <a:lnSpc>
                <a:spcPct val="100000"/>
              </a:lnSpc>
            </a:pPr>
            <a:r>
              <a:rPr lang="en-US" sz="1400" b="1" u="none" strike="noStrike">
                <a:solidFill>
                  <a:srgbClr val="000000"/>
                </a:solidFill>
                <a:effectLst/>
                <a:uFillTx/>
                <a:latin typeface="Times New Roman"/>
              </a:rPr>
              <a:t>Fine-tuning</a:t>
            </a:r>
            <a:endParaRPr lang="en-US" sz="1400" b="0" u="none" strike="noStrike">
              <a:solidFill>
                <a:srgbClr val="000000"/>
              </a:solidFill>
              <a:effectLst/>
              <a:uFillTx/>
              <a:latin typeface="Arial"/>
            </a:endParaRPr>
          </a:p>
          <a:p>
            <a:pPr>
              <a:lnSpc>
                <a:spcPct val="100000"/>
              </a:lnSpc>
            </a:pPr>
            <a:endParaRPr lang="en-US" sz="1400" b="0" u="none" strike="noStrike">
              <a:solidFill>
                <a:srgbClr val="000000"/>
              </a:solidFill>
              <a:effectLst/>
              <a:uFillTx/>
              <a:latin typeface="Arial"/>
            </a:endParaRPr>
          </a:p>
          <a:p>
            <a:pPr>
              <a:lnSpc>
                <a:spcPct val="100000"/>
              </a:lnSpc>
            </a:pPr>
            <a:r>
              <a:rPr lang="en-US" sz="1400" b="1" u="none" strike="noStrike">
                <a:solidFill>
                  <a:srgbClr val="000000"/>
                </a:solidFill>
                <a:effectLst/>
                <a:uFillTx/>
                <a:latin typeface="Times New Roman"/>
              </a:rPr>
              <a:t>Moving beyond synthetic examples:</a:t>
            </a:r>
            <a:r>
              <a:rPr lang="en-US" sz="1400" b="0" u="none" strike="noStrike">
                <a:solidFill>
                  <a:srgbClr val="000000"/>
                </a:solidFill>
                <a:effectLst/>
                <a:uFillTx/>
                <a:latin typeface="Times New Roman"/>
              </a:rPr>
              <a:t> Early models scored well on generated tests but struggled with conversations. Only 18 of 33 conversation segments passed extraction checks, requiring changes to the data, prompts and output validation.</a:t>
            </a:r>
            <a:endParaRPr lang="en-US" sz="1400" b="0" u="none" strike="noStrike">
              <a:solidFill>
                <a:srgbClr val="000000"/>
              </a:solidFill>
              <a:effectLst/>
              <a:uFillTx/>
              <a:latin typeface="Arial"/>
            </a:endParaRPr>
          </a:p>
          <a:p>
            <a:pPr>
              <a:lnSpc>
                <a:spcPct val="100000"/>
              </a:lnSpc>
            </a:pPr>
            <a:r>
              <a:rPr lang="en-US" sz="1400" b="1" u="none" strike="noStrike">
                <a:solidFill>
                  <a:srgbClr val="000000"/>
                </a:solidFill>
                <a:effectLst/>
                <a:uFillTx/>
                <a:latin typeface="Times New Roman"/>
              </a:rPr>
              <a:t>Making assertions traceable to their sources:</a:t>
            </a:r>
            <a:r>
              <a:rPr lang="en-US" sz="1400" b="0" u="none" strike="noStrike">
                <a:solidFill>
                  <a:srgbClr val="000000"/>
                </a:solidFill>
                <a:effectLst/>
                <a:uFillTx/>
                <a:latin typeface="Times New Roman"/>
              </a:rPr>
              <a:t> Models mismatched quotations, source references and dates. We revised the output format and reviewed training labels to reduce unsupported assertions.</a:t>
            </a:r>
            <a:endParaRPr lang="en-US" sz="1400" b="0" u="none" strike="noStrike">
              <a:solidFill>
                <a:srgbClr val="000000"/>
              </a:solidFill>
              <a:effectLst/>
              <a:uFillTx/>
              <a:latin typeface="Arial"/>
            </a:endParaRPr>
          </a:p>
          <a:p>
            <a:pPr>
              <a:lnSpc>
                <a:spcPct val="100000"/>
              </a:lnSpc>
            </a:pPr>
            <a:r>
              <a:rPr lang="en-US" sz="1400" b="1" u="none" strike="noStrike">
                <a:solidFill>
                  <a:srgbClr val="000000"/>
                </a:solidFill>
                <a:effectLst/>
                <a:uFillTx/>
                <a:latin typeface="Times New Roman"/>
              </a:rPr>
              <a:t>Improving one task without weakening another:</a:t>
            </a:r>
            <a:r>
              <a:rPr lang="en-US" sz="1400" b="0" u="none" strike="noStrike">
                <a:solidFill>
                  <a:srgbClr val="000000"/>
                </a:solidFill>
                <a:effectLst/>
                <a:uFillTx/>
                <a:latin typeface="Times New Roman"/>
              </a:rPr>
              <a:t> Fine-tuning improved combining assertions and answering questions, but assertion coverage fell from 50/55 to 41/55. Reliable extraction remains an open challenge.</a:t>
            </a:r>
            <a:endParaRPr lang="en-US" sz="1400" b="0" u="none" strike="noStrike">
              <a:solidFill>
                <a:srgbClr val="000000"/>
              </a:solidFill>
              <a:effectLst/>
              <a:uFillTx/>
              <a:latin typeface="Arial"/>
            </a:endParaRPr>
          </a:p>
          <a:p>
            <a:pPr>
              <a:lnSpc>
                <a:spcPct val="100000"/>
              </a:lnSpc>
            </a:pPr>
            <a:endParaRPr lang="en-US" sz="1400" b="0" u="none" strike="noStrike">
              <a:solidFill>
                <a:srgbClr val="000000"/>
              </a:solidFill>
              <a:effectLst/>
              <a:uFillTx/>
              <a:latin typeface="Arial"/>
            </a:endParaRPr>
          </a:p>
        </p:txBody>
      </p:sp>
      <p:sp>
        <p:nvSpPr>
          <p:cNvPr id="33" name=""/>
          <p:cNvSpPr/>
          <p:nvPr/>
        </p:nvSpPr>
        <p:spPr>
          <a:xfrm>
            <a:off x="6142320" y="1371600"/>
            <a:ext cx="5515560" cy="3505320"/>
          </a:xfrm>
          <a:prstGeom prst="rect">
            <a:avLst/>
          </a:prstGeom>
          <a:noFill/>
          <a:ln w="38160">
            <a:noFill/>
          </a:ln>
        </p:spPr>
        <p:style>
          <a:lnRef idx="0"/>
          <a:fillRef idx="0"/>
          <a:effectRef idx="0"/>
          <a:fontRef idx="minor"/>
        </p:style>
        <p:txBody>
          <a:bodyPr lIns="90000" tIns="45000" rIns="90000" bIns="45000" anchor="t">
            <a:spAutoFit/>
          </a:bodyPr>
          <a:p>
            <a:pPr>
              <a:lnSpc>
                <a:spcPct val="100000"/>
              </a:lnSpc>
            </a:pPr>
            <a:r>
              <a:rPr lang="en-US" sz="1400" b="1" u="none" strike="noStrike">
                <a:solidFill>
                  <a:srgbClr val="000000"/>
                </a:solidFill>
                <a:effectLst/>
                <a:uFillTx/>
                <a:latin typeface="Times New Roman"/>
              </a:rPr>
              <a:t>System integration</a:t>
            </a:r>
            <a:endParaRPr lang="en-US" sz="1400" b="0" u="none" strike="noStrike">
              <a:solidFill>
                <a:srgbClr val="000000"/>
              </a:solidFill>
              <a:effectLst/>
              <a:uFillTx/>
              <a:latin typeface="Arial"/>
            </a:endParaRPr>
          </a:p>
          <a:p>
            <a:pPr>
              <a:lnSpc>
                <a:spcPct val="100000"/>
              </a:lnSpc>
            </a:pPr>
            <a:endParaRPr lang="en-US" sz="1400" b="0" u="none" strike="noStrike">
              <a:solidFill>
                <a:srgbClr val="000000"/>
              </a:solidFill>
              <a:effectLst/>
              <a:uFillTx/>
              <a:latin typeface="Arial"/>
            </a:endParaRPr>
          </a:p>
          <a:p>
            <a:pPr>
              <a:lnSpc>
                <a:spcPct val="100000"/>
              </a:lnSpc>
            </a:pPr>
            <a:r>
              <a:rPr lang="en-US" sz="1400" b="1" u="none" strike="noStrike">
                <a:solidFill>
                  <a:srgbClr val="000000"/>
                </a:solidFill>
                <a:effectLst/>
                <a:uFillTx/>
                <a:latin typeface="Times New Roman"/>
              </a:rPr>
              <a:t>Handling corrections without losing history:</a:t>
            </a:r>
            <a:r>
              <a:rPr lang="en-US" sz="1400" b="0" u="none" strike="noStrike">
                <a:solidFill>
                  <a:srgbClr val="000000"/>
                </a:solidFill>
                <a:effectLst/>
                <a:uFillTx/>
                <a:latin typeface="Times New Roman"/>
              </a:rPr>
              <a:t> The model could extract an outdated value again. We revised correction handling to distinguish the current instruction from earlier versions.</a:t>
            </a:r>
            <a:endParaRPr lang="en-US" sz="1400" b="0" u="none" strike="noStrike">
              <a:solidFill>
                <a:srgbClr val="000000"/>
              </a:solidFill>
              <a:effectLst/>
              <a:uFillTx/>
              <a:latin typeface="Arial"/>
            </a:endParaRPr>
          </a:p>
          <a:p>
            <a:pPr>
              <a:lnSpc>
                <a:spcPct val="100000"/>
              </a:lnSpc>
            </a:pPr>
            <a:r>
              <a:rPr lang="en-US" sz="1400" b="1" u="none" strike="noStrike">
                <a:solidFill>
                  <a:srgbClr val="000000"/>
                </a:solidFill>
                <a:effectLst/>
                <a:uFillTx/>
                <a:latin typeface="Times New Roman"/>
              </a:rPr>
              <a:t>Maintaining memory across sessions:</a:t>
            </a:r>
            <a:r>
              <a:rPr lang="en-US" sz="1400" b="0" u="none" strike="noStrike">
                <a:solidFill>
                  <a:srgbClr val="000000"/>
                </a:solidFill>
                <a:effectLst/>
                <a:uFillTx/>
                <a:latin typeface="Times New Roman"/>
              </a:rPr>
              <a:t> Repeated messages created duplicates, recent information was unavailable during processing, and failed jobs blocked later work. Storage, retrieval and retry handling required changes.</a:t>
            </a:r>
            <a:endParaRPr lang="en-US" sz="1400" b="0" u="none" strike="noStrike">
              <a:solidFill>
                <a:srgbClr val="000000"/>
              </a:solidFill>
              <a:effectLst/>
              <a:uFillTx/>
              <a:latin typeface="Arial"/>
            </a:endParaRPr>
          </a:p>
          <a:p>
            <a:pPr>
              <a:lnSpc>
                <a:spcPct val="100000"/>
              </a:lnSpc>
            </a:pPr>
            <a:r>
              <a:rPr lang="en-US" sz="1400" b="1" u="none" strike="noStrike">
                <a:solidFill>
                  <a:srgbClr val="000000"/>
                </a:solidFill>
                <a:effectLst/>
                <a:uFillTx/>
                <a:latin typeface="Times New Roman"/>
              </a:rPr>
              <a:t>Returning useful information quickly: </a:t>
            </a:r>
            <a:r>
              <a:rPr lang="en-US" sz="1400" b="0" u="none" strike="noStrike">
                <a:solidFill>
                  <a:srgbClr val="000000"/>
                </a:solidFill>
                <a:effectLst/>
                <a:uFillTx/>
                <a:latin typeface="Times New Roman"/>
              </a:rPr>
              <a:t>Unrelated memories entered prompts, while date interpretation added delays. We introduced relevance filtering and reduced unnecessary model calls.</a:t>
            </a:r>
            <a:endParaRPr lang="en-US" sz="1400" b="0" u="none" strike="noStrike">
              <a:solidFill>
                <a:srgbClr val="000000"/>
              </a:solidFill>
              <a:effectLst/>
              <a:uFillTx/>
              <a:latin typeface="Arial"/>
            </a:endParaRPr>
          </a:p>
          <a:p>
            <a:pPr>
              <a:lnSpc>
                <a:spcPct val="100000"/>
              </a:lnSpc>
            </a:pPr>
            <a:r>
              <a:rPr lang="en-US" sz="1400" b="1" u="none" strike="noStrike">
                <a:solidFill>
                  <a:srgbClr val="000000"/>
                </a:solidFill>
                <a:effectLst/>
                <a:uFillTx/>
                <a:latin typeface="Times New Roman"/>
              </a:rPr>
              <a:t>Preventing information loss in long conversations:</a:t>
            </a:r>
            <a:r>
              <a:rPr lang="en-US" sz="1400" b="0" u="none" strike="noStrike">
                <a:solidFill>
                  <a:srgbClr val="000000"/>
                </a:solidFill>
                <a:effectLst/>
                <a:uFillTx/>
                <a:latin typeface="Times New Roman"/>
              </a:rPr>
              <a:t> The deployed model silently cut off inputs that exceeded its limit, leaving some information unprocessed. We added input-length checks and processed conversations in smaller sections while preserving the original messages.</a:t>
            </a:r>
            <a:endParaRPr lang="en-US" sz="1400" b="0" u="none" strike="noStrik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5.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34" name="PlaceHolder 1"/>
          <p:cNvSpPr>
            <a:spLocks noGrp="1"/>
          </p:cNvSpPr>
          <p:nvPr>
            <p:ph type="title" hasCustomPrompt="1"/>
          </p:nvPr>
        </p:nvSpPr>
        <p:spPr>
          <a:xfrm>
            <a:off x="594360" y="384120"/>
            <a:ext cx="9813240" cy="776160"/>
          </a:xfrm>
          <a:prstGeom prst="rect">
            <a:avLst/>
          </a:prstGeom>
          <a:noFill/>
          <a:ln w="0">
            <a:noFill/>
          </a:ln>
        </p:spPr>
        <p:txBody>
          <a:bodyPr lIns="0" tIns="0" rIns="0" bIns="0" anchor="ctr">
            <a:noAutofit/>
          </a:bodyPr>
          <a:p>
            <a:pPr indent="0" algn="l" defTabSz="914400">
              <a:lnSpc>
                <a:spcPct val="100000"/>
              </a:lnSpc>
              <a:buNone/>
              <a:tabLst>
                <a:tab pos="0" algn="l"/>
              </a:tabLst>
            </a:pPr>
            <a:r>
              <a:rPr lang="en-US" sz="3000" b="0" u="none" strike="noStrike">
                <a:solidFill>
                  <a:srgbClr val="000000"/>
                </a:solidFill>
                <a:effectLst/>
                <a:uFillTx/>
                <a:latin typeface="Times New Roman"/>
                <a:ea typeface="Times New Roman"/>
              </a:rPr>
              <a:t>OBJECTIVES OF THE PROJECT</a:t>
            </a:r>
            <a:endParaRPr lang="en-US" sz="3000" b="0" u="none" strike="noStrike">
              <a:solidFill>
                <a:schemeClr val="dk1"/>
              </a:solidFill>
              <a:effectLst/>
              <a:uFillTx/>
              <a:latin typeface="Times New Roman"/>
            </a:endParaRPr>
          </a:p>
        </p:txBody>
      </p:sp>
      <p:sp>
        <p:nvSpPr>
          <p:cNvPr id="35" name="PlaceHolder 2"/>
          <p:cNvSpPr>
            <a:spLocks noGrp="1"/>
          </p:cNvSpPr>
          <p:nvPr>
            <p:ph type="sldNum" idx="8"/>
          </p:nvPr>
        </p:nvSpPr>
        <p:spPr>
          <a:xfrm>
            <a:off x="10865880" y="384120"/>
            <a:ext cx="730440" cy="456120"/>
          </a:xfrm>
          <a:prstGeom prst="rect">
            <a:avLst/>
          </a:prstGeom>
          <a:noFill/>
          <a:ln w="0">
            <a:noFill/>
          </a:ln>
        </p:spPr>
        <p:txBody>
          <a:bodyPr lIns="90000" tIns="45000" rIns="90000" bIns="45000" anchor="t">
            <a:noAutofit/>
          </a:bodyPr>
          <a:lstStyle>
            <a:lvl1pPr indent="0" algn="r" defTabSz="914400">
              <a:lnSpc>
                <a:spcPct val="100000"/>
              </a:lnSpc>
              <a:buNone/>
              <a:tabLst>
                <a:tab pos="0" algn="l"/>
              </a:tabLst>
              <a:defRPr lang="en-US" sz="1600" b="0" u="none" strike="noStrike">
                <a:solidFill>
                  <a:srgbClr val="000000"/>
                </a:solidFill>
                <a:effectLst/>
                <a:uFillTx/>
                <a:latin typeface="Times New Roman"/>
                <a:ea typeface="Times New Roman"/>
              </a:defRPr>
            </a:lvl1pPr>
          </a:lstStyle>
          <a:p>
            <a:pPr indent="0" algn="r" defTabSz="914400">
              <a:lnSpc>
                <a:spcPct val="100000"/>
              </a:lnSpc>
              <a:buNone/>
              <a:tabLst>
                <a:tab pos="0" algn="l"/>
              </a:tabLst>
            </a:pPr>
            <a:fld id="{70C8598C-831A-42E2-89AE-A634B9164B4F}" type="slidenum">
              <a:rPr lang="en-US" sz="1600" b="0" u="none" strike="noStrike">
                <a:solidFill>
                  <a:srgbClr val="000000"/>
                </a:solidFill>
                <a:effectLst/>
                <a:uFillTx/>
                <a:latin typeface="Times New Roman"/>
                <a:ea typeface="Times New Roman"/>
              </a:rPr>
              <a:t>&lt;number&gt;</a:t>
            </a:fld>
            <a:endParaRPr lang="en-US" sz="1600" b="0" u="none" strike="noStrike">
              <a:solidFill>
                <a:srgbClr val="000000"/>
              </a:solidFill>
              <a:effectLst/>
              <a:uFillTx/>
              <a:latin typeface="Times New Roman"/>
            </a:endParaRPr>
          </a:p>
        </p:txBody>
      </p:sp>
      <p:sp>
        <p:nvSpPr>
          <p:cNvPr id="36" name=""/>
          <p:cNvSpPr/>
          <p:nvPr/>
        </p:nvSpPr>
        <p:spPr>
          <a:xfrm>
            <a:off x="685800" y="1368360"/>
            <a:ext cx="7693920" cy="2655000"/>
          </a:xfrm>
          <a:prstGeom prst="rect">
            <a:avLst/>
          </a:prstGeom>
          <a:noFill/>
          <a:ln w="38160">
            <a:noFill/>
          </a:ln>
        </p:spPr>
        <p:style>
          <a:lnRef idx="0"/>
          <a:fillRef idx="0"/>
          <a:effectRef idx="0"/>
          <a:fontRef idx="minor"/>
        </p:style>
        <p:txBody>
          <a:bodyPr wrap="none" lIns="90000" tIns="45000" rIns="90000" bIns="45000" anchor="t">
            <a:spAutoFit/>
          </a:bodyPr>
          <a:p>
            <a:pPr marL="216000" indent="-216000">
              <a:lnSpc>
                <a:spcPct val="100000"/>
              </a:lnSpc>
              <a:spcBef>
                <a:spcPts val="1191"/>
              </a:spcBef>
              <a:spcAft>
                <a:spcPts val="992"/>
              </a:spcAft>
              <a:buClr>
                <a:srgbClr val="000000"/>
              </a:buClr>
              <a:buSzPct val="45000"/>
              <a:buFont typeface="Wingdings" charset="2"/>
              <a:buChar char=""/>
            </a:pPr>
            <a:r>
              <a:rPr lang="en-US" sz="1400" b="0" u="none" strike="noStrike">
                <a:solidFill>
                  <a:srgbClr val="000000"/>
                </a:solidFill>
                <a:effectLst/>
                <a:uFillTx/>
                <a:latin typeface="Times New Roman"/>
              </a:rPr>
              <a:t>Retain useful information for general-purpose AI agents across sessions.</a:t>
            </a:r>
            <a:endParaRPr lang="en-US" sz="1400" b="0" u="none" strike="noStrike">
              <a:solidFill>
                <a:srgbClr val="000000"/>
              </a:solidFill>
              <a:effectLst/>
              <a:uFillTx/>
              <a:latin typeface="Arial"/>
            </a:endParaRPr>
          </a:p>
          <a:p>
            <a:pPr marL="216000" indent="-216000">
              <a:lnSpc>
                <a:spcPct val="100000"/>
              </a:lnSpc>
              <a:spcBef>
                <a:spcPts val="1191"/>
              </a:spcBef>
              <a:spcAft>
                <a:spcPts val="992"/>
              </a:spcAft>
              <a:buClr>
                <a:srgbClr val="000000"/>
              </a:buClr>
              <a:buSzPct val="45000"/>
              <a:buFont typeface="Wingdings" charset="2"/>
              <a:buChar char=""/>
            </a:pPr>
            <a:r>
              <a:rPr lang="en-US" sz="1400" b="0" u="none" strike="noStrike">
                <a:solidFill>
                  <a:srgbClr val="000000"/>
                </a:solidFill>
                <a:effectLst/>
                <a:uFillTx/>
                <a:latin typeface="Times New Roman"/>
              </a:rPr>
              <a:t>Keep updated instructions while preserving earlier versions.</a:t>
            </a:r>
            <a:endParaRPr lang="en-US" sz="1400" b="0" u="none" strike="noStrike">
              <a:solidFill>
                <a:srgbClr val="000000"/>
              </a:solidFill>
              <a:effectLst/>
              <a:uFillTx/>
              <a:latin typeface="Arial"/>
            </a:endParaRPr>
          </a:p>
          <a:p>
            <a:pPr marL="216000" indent="-216000">
              <a:lnSpc>
                <a:spcPct val="100000"/>
              </a:lnSpc>
              <a:spcBef>
                <a:spcPts val="1191"/>
              </a:spcBef>
              <a:spcAft>
                <a:spcPts val="992"/>
              </a:spcAft>
              <a:buClr>
                <a:srgbClr val="000000"/>
              </a:buClr>
              <a:buSzPct val="45000"/>
              <a:buFont typeface="Wingdings" charset="2"/>
              <a:buChar char=""/>
            </a:pPr>
            <a:r>
              <a:rPr lang="en-US" sz="1400" b="0" u="none" strike="noStrike">
                <a:solidFill>
                  <a:srgbClr val="000000"/>
                </a:solidFill>
                <a:effectLst/>
                <a:uFillTx/>
                <a:latin typeface="Times New Roman"/>
              </a:rPr>
              <a:t>Link stored assertions to their original messages for verification.</a:t>
            </a:r>
            <a:endParaRPr lang="en-US" sz="1400" b="0" u="none" strike="noStrike">
              <a:solidFill>
                <a:srgbClr val="000000"/>
              </a:solidFill>
              <a:effectLst/>
              <a:uFillTx/>
              <a:latin typeface="Arial"/>
            </a:endParaRPr>
          </a:p>
          <a:p>
            <a:pPr marL="216000" indent="-216000">
              <a:lnSpc>
                <a:spcPct val="100000"/>
              </a:lnSpc>
              <a:spcBef>
                <a:spcPts val="1191"/>
              </a:spcBef>
              <a:spcAft>
                <a:spcPts val="992"/>
              </a:spcAft>
              <a:buClr>
                <a:srgbClr val="000000"/>
              </a:buClr>
              <a:buSzPct val="45000"/>
              <a:buFont typeface="Wingdings" charset="2"/>
              <a:buChar char=""/>
            </a:pPr>
            <a:r>
              <a:rPr lang="en-US" sz="1400" b="0" u="none" strike="noStrike">
                <a:solidFill>
                  <a:srgbClr val="000000"/>
                </a:solidFill>
                <a:effectLst/>
                <a:uFillTx/>
                <a:latin typeface="Times New Roman"/>
              </a:rPr>
              <a:t>Fine-tune a small local model to extract assertions, combine related information and answer with cited evidence.</a:t>
            </a:r>
            <a:endParaRPr lang="en-US" sz="1400" b="0" u="none" strike="noStrike">
              <a:solidFill>
                <a:srgbClr val="000000"/>
              </a:solidFill>
              <a:effectLst/>
              <a:uFillTx/>
              <a:latin typeface="Arial"/>
            </a:endParaRPr>
          </a:p>
          <a:p>
            <a:pPr marL="216000" indent="-216000">
              <a:lnSpc>
                <a:spcPct val="100000"/>
              </a:lnSpc>
              <a:spcBef>
                <a:spcPts val="1191"/>
              </a:spcBef>
              <a:spcAft>
                <a:spcPts val="992"/>
              </a:spcAft>
              <a:buClr>
                <a:srgbClr val="000000"/>
              </a:buClr>
              <a:buSzPct val="45000"/>
              <a:buFont typeface="Wingdings" charset="2"/>
              <a:buChar char=""/>
            </a:pPr>
            <a:r>
              <a:rPr lang="en-US" sz="1400" b="0" u="none" strike="noStrike">
                <a:solidFill>
                  <a:srgbClr val="000000"/>
                </a:solidFill>
                <a:effectLst/>
                <a:uFillTx/>
                <a:latin typeface="Times New Roman"/>
              </a:rPr>
              <a:t>Retrieve relevant information quickly within a limited context size.</a:t>
            </a:r>
            <a:endParaRPr lang="en-US" sz="1400" b="0" u="none" strike="noStrike">
              <a:solidFill>
                <a:srgbClr val="000000"/>
              </a:solidFill>
              <a:effectLst/>
              <a:uFillTx/>
              <a:latin typeface="Arial"/>
            </a:endParaRPr>
          </a:p>
          <a:p>
            <a:pPr marL="216000" indent="-216000">
              <a:lnSpc>
                <a:spcPct val="100000"/>
              </a:lnSpc>
              <a:spcBef>
                <a:spcPts val="1191"/>
              </a:spcBef>
              <a:spcAft>
                <a:spcPts val="992"/>
              </a:spcAft>
              <a:buClr>
                <a:srgbClr val="000000"/>
              </a:buClr>
              <a:buSzPct val="45000"/>
              <a:buFont typeface="Wingdings" charset="2"/>
              <a:buChar char=""/>
            </a:pPr>
            <a:r>
              <a:rPr lang="en-US" sz="1400" b="0" u="none" strike="noStrike">
                <a:solidFill>
                  <a:srgbClr val="000000"/>
                </a:solidFill>
                <a:effectLst/>
                <a:uFillTx/>
                <a:latin typeface="Times New Roman"/>
              </a:rPr>
              <a:t>Evaluate memory accuracy and retrieval performance through repeatable tests.</a:t>
            </a:r>
            <a:endParaRPr lang="en-US" sz="1400" b="0" u="none" strike="noStrik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6.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pic>
        <p:nvPicPr>
          <p:cNvPr id="37" name=""/>
          <p:cNvPicPr/>
          <p:nvPr/>
        </p:nvPicPr>
        <p:blipFill>
          <a:blip r:embed="rId1">
            <a:extLst>
              <a:ext uri="{96DAC541-7B7A-43D3-8B79-37D633B846F1}">
                <asvg:svgBlip xmlns:asvg="http://schemas.microsoft.com/office/drawing/2016/SVG/main" r:embed="rId2"/>
              </a:ext>
            </a:extLst>
          </a:blip>
          <a:stretch/>
        </p:blipFill>
        <p:spPr>
          <a:xfrm>
            <a:off x="1222882" y="438120"/>
            <a:ext cx="9419475" cy="6119880"/>
          </a:xfrm>
          <a:prstGeom prst="rect">
            <a:avLst/>
          </a:prstGeom>
          <a:noFill/>
          <a:ln w="0">
            <a:noFill/>
          </a:ln>
        </p:spPr>
      </p:pic>
    </p:spTree>
  </p:cSld>
  <mc:AlternateContent>
    <mc:Choice Requires="p14">
      <p:transition spd="slow" p14:dur="2000"/>
    </mc:Choice>
    <mc:Fallback>
      <p:transition spd="slow"/>
    </mc:Fallback>
  </mc:AlternateContent>
</p:sld>
</file>

<file path=ppt/slides/slide7.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pic>
        <p:nvPicPr>
          <p:cNvPr id="38" name=""/>
          <p:cNvPicPr/>
          <p:nvPr/>
        </p:nvPicPr>
        <p:blipFill>
          <a:blip r:embed="rId1">
            <a:extLst>
              <a:ext uri="{96DAC541-7B7A-43D3-8B79-37D633B846F1}">
                <asvg:svgBlip xmlns:asvg="http://schemas.microsoft.com/office/drawing/2016/SVG/main" r:embed="rId2"/>
              </a:ext>
            </a:extLst>
          </a:blip>
          <a:stretch/>
        </p:blipFill>
        <p:spPr>
          <a:xfrm>
            <a:off x="2091116" y="457200"/>
            <a:ext cx="7933207" cy="6100800"/>
          </a:xfrm>
          <a:prstGeom prst="rect">
            <a:avLst/>
          </a:prstGeom>
          <a:noFill/>
          <a:ln w="0">
            <a:noFill/>
          </a:ln>
        </p:spPr>
      </p:pic>
    </p:spTree>
  </p:cSld>
  <mc:AlternateContent>
    <mc:Choice Requires="p14">
      <p:transition spd="slow" p14:dur="2000"/>
    </mc:Choice>
    <mc:Fallback>
      <p:transition spd="slow"/>
    </mc:Fallback>
  </mc:AlternateContent>
</p:sld>
</file>

<file path=ppt/slides/slide8.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pic>
        <p:nvPicPr>
          <p:cNvPr id="39" name=""/>
          <p:cNvPicPr/>
          <p:nvPr/>
        </p:nvPicPr>
        <p:blipFill>
          <a:blip r:embed="rId1">
            <a:extLst>
              <a:ext uri="{96DAC541-7B7A-43D3-8B79-37D633B846F1}">
                <asvg:svgBlip xmlns:asvg="http://schemas.microsoft.com/office/drawing/2016/SVG/main" r:embed="rId2"/>
              </a:ext>
            </a:extLst>
          </a:blip>
          <a:stretch/>
        </p:blipFill>
        <p:spPr>
          <a:xfrm>
            <a:off x="685800" y="457200"/>
            <a:ext cx="10900800" cy="5748837"/>
          </a:xfrm>
          <a:prstGeom prst="rect">
            <a:avLst/>
          </a:prstGeom>
          <a:noFill/>
          <a:ln w="0">
            <a:noFill/>
          </a:ln>
        </p:spPr>
      </p:pic>
    </p:spTree>
  </p:cSld>
  <mc:AlternateContent>
    <mc:Choice Requires="p14">
      <p:transition spd="slow" p14:dur="2000"/>
    </mc:Choice>
    <mc:Fallback>
      <p:transition spd="slow"/>
    </mc:Fallback>
  </mc:AlternateContent>
</p:sld>
</file>

<file path=ppt/slides/slide9.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pic>
        <p:nvPicPr>
          <p:cNvPr id="40" name=""/>
          <p:cNvPicPr/>
          <p:nvPr/>
        </p:nvPicPr>
        <p:blipFill>
          <a:blip r:embed="rId1">
            <a:extLst>
              <a:ext uri="{96DAC541-7B7A-43D3-8B79-37D633B846F1}">
                <asvg:svgBlip xmlns:asvg="http://schemas.microsoft.com/office/drawing/2016/SVG/main" r:embed="rId2"/>
              </a:ext>
            </a:extLst>
          </a:blip>
          <a:stretch/>
        </p:blipFill>
        <p:spPr>
          <a:xfrm>
            <a:off x="1299600" y="300600"/>
            <a:ext cx="9600840" cy="6139414"/>
          </a:xfrm>
          <a:prstGeom prst="rect">
            <a:avLst/>
          </a:prstGeom>
          <a:noFill/>
          <a:ln w="0">
            <a:noFill/>
          </a:ln>
        </p:spPr>
      </p:pic>
    </p:spTree>
  </p:cSld>
  <mc:AlternateContent>
    <mc:Choice Requires="p14">
      <p:transition spd="slow" p14:dur="2000"/>
    </mc:Choice>
    <mc:Fallback>
      <p:transition spd="slow"/>
    </mc:Fallback>
  </mc:AlternateContent>
</p:sld>
</file>

<file path=ppt/slides/slide10.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pic>
        <p:nvPicPr>
          <p:cNvPr id="41" name=""/>
          <p:cNvPicPr/>
          <p:nvPr/>
        </p:nvPicPr>
        <p:blipFill>
          <a:blip r:embed="rId1">
            <a:extLst>
              <a:ext uri="{96DAC541-7B7A-43D3-8B79-37D633B846F1}">
                <asvg:svgBlip xmlns:asvg="http://schemas.microsoft.com/office/drawing/2016/SVG/main" r:embed="rId2"/>
              </a:ext>
            </a:extLst>
          </a:blip>
          <a:stretch/>
        </p:blipFill>
        <p:spPr>
          <a:xfrm>
            <a:off x="959980" y="457200"/>
            <a:ext cx="10267120" cy="6100800"/>
          </a:xfrm>
          <a:prstGeom prst="rect">
            <a:avLst/>
          </a:prstGeom>
          <a:noFill/>
          <a:ln w="0">
            <a:noFill/>
          </a:ln>
        </p:spPr>
      </p:pic>
    </p:spTree>
  </p:cSld>
  <mc:AlternateContent>
    <mc:Choice Requires="p14">
      <p:transition spd="slow" p14:dur="2000"/>
    </mc:Choice>
    <mc:Fallback>
      <p:transition spd="slow"/>
    </mc:Fallback>
  </mc:AlternateContent>
</p:sld>
</file>

<file path=ppt/slides/slide11.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pic>
        <p:nvPicPr>
          <p:cNvPr id="42" name=""/>
          <p:cNvPicPr/>
          <p:nvPr/>
        </p:nvPicPr>
        <p:blipFill>
          <a:blip r:embed="rId1">
            <a:extLst>
              <a:ext uri="{96DAC541-7B7A-43D3-8B79-37D633B846F1}">
                <asvg:svgBlip xmlns:asvg="http://schemas.microsoft.com/office/drawing/2016/SVG/main" r:embed="rId2"/>
              </a:ext>
            </a:extLst>
          </a:blip>
          <a:stretch/>
        </p:blipFill>
        <p:spPr>
          <a:xfrm>
            <a:off x="1062754" y="457200"/>
            <a:ext cx="10218531" cy="6100800"/>
          </a:xfrm>
          <a:prstGeom prst="rect">
            <a:avLst/>
          </a:prstGeom>
          <a:noFill/>
          <a:ln w="0">
            <a:noFill/>
          </a:ln>
        </p:spPr>
      </p:pic>
    </p:spTree>
  </p:cSld>
  <mc:AlternateContent>
    <mc:Choice Requires="p14">
      <p:transition spd="slow" p14:dur="2000"/>
    </mc:Choice>
    <mc:Fallback>
      <p:transition spd="slow"/>
    </mc:Fallback>
  </mc:AlternateContent>
</p:sld>
</file>

<file path=ppt/slides/slide12.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graphicFrame>
        <p:nvGraphicFramePr>
          <p:cNvPr id="43" name=""/>
          <p:cNvGraphicFramePr/>
          <p:nvPr/>
        </p:nvGraphicFramePr>
        <p:xfrm>
          <a:off x="590400" y="1400400"/>
          <a:ext cx="10153440" cy="3147480"/>
        </p:xfrm>
        <a:graphic>
          <a:graphicData uri="http://schemas.openxmlformats.org/drawingml/2006/table">
            <a:tbl>
              <a:tblPr/>
              <a:tblGrid>
                <a:gridCol w="2972160"/>
                <a:gridCol w="7181640"/>
              </a:tblGrid>
              <a:tr h="529920">
                <a:tc>
                  <a:txBody>
                    <a:bodyPr lIns="36000" tIns="36000" rIns="36000" bIns="36000" anchor="t">
                      <a:noAutofit/>
                    </a:bodyPr>
                    <a:p>
                      <a:pPr>
                        <a:lnSpc>
                          <a:spcPct val="100000"/>
                        </a:lnSpc>
                        <a:spcBef>
                          <a:spcPts val="675"/>
                        </a:spcBef>
                        <a:spcAft>
                          <a:spcPts val="561"/>
                        </a:spcAft>
                      </a:pPr>
                      <a:r>
                        <a:rPr lang="en-US" sz="1400" b="1" u="none" strike="noStrike">
                          <a:solidFill>
                            <a:srgbClr val="000000"/>
                          </a:solidFill>
                          <a:effectLst/>
                          <a:uFillTx/>
                          <a:latin typeface="Times New Roman"/>
                        </a:rPr>
                        <a:t>Algorithm</a:t>
                      </a:r>
                      <a:endParaRPr lang="en-US" sz="1400" b="0" u="none" strike="noStrike">
                        <a:solidFill>
                          <a:srgbClr val="000000"/>
                        </a:solidFill>
                        <a:effectLst/>
                        <a:uFillTx/>
                        <a:latin typeface="Arial"/>
                      </a:endParaRPr>
                    </a:p>
                  </a:txBody>
                  <a:tcPr anchor="t" marL="36000" marR="36000" marT="36000" marB="36000">
                    <a:lnL w="7200">
                      <a:solidFill>
                        <a:srgbClr val="000000"/>
                      </a:solidFill>
                      <a:prstDash val="solid"/>
                    </a:lnL>
                    <a:lnR w="7200">
                      <a:solidFill>
                        <a:srgbClr val="000000"/>
                      </a:solidFill>
                      <a:prstDash val="solid"/>
                    </a:lnR>
                    <a:lnT w="7200">
                      <a:solidFill>
                        <a:srgbClr val="000000"/>
                      </a:solidFill>
                      <a:prstDash val="solid"/>
                    </a:lnT>
                    <a:lnB w="7200">
                      <a:solidFill>
                        <a:srgbClr val="000000"/>
                      </a:solidFill>
                      <a:prstDash val="solid"/>
                    </a:lnB>
                    <a:noFill/>
                  </a:tcPr>
                </a:tc>
                <a:tc>
                  <a:txBody>
                    <a:bodyPr lIns="36000" tIns="36000" rIns="36000" bIns="36000" anchor="t">
                      <a:noAutofit/>
                    </a:bodyPr>
                    <a:p>
                      <a:pPr>
                        <a:lnSpc>
                          <a:spcPct val="100000"/>
                        </a:lnSpc>
                        <a:spcBef>
                          <a:spcPts val="675"/>
                        </a:spcBef>
                        <a:spcAft>
                          <a:spcPts val="561"/>
                        </a:spcAft>
                      </a:pPr>
                      <a:r>
                        <a:rPr lang="en-US" sz="1400" b="1" u="none" strike="noStrike">
                          <a:solidFill>
                            <a:srgbClr val="000000"/>
                          </a:solidFill>
                          <a:effectLst/>
                          <a:uFillTx/>
                          <a:latin typeface="Times New Roman"/>
                        </a:rPr>
                        <a:t>Purpose</a:t>
                      </a:r>
                      <a:endParaRPr lang="en-US" sz="1400" b="0" u="none" strike="noStrike">
                        <a:solidFill>
                          <a:srgbClr val="000000"/>
                        </a:solidFill>
                        <a:effectLst/>
                        <a:uFillTx/>
                        <a:latin typeface="Arial"/>
                      </a:endParaRPr>
                    </a:p>
                  </a:txBody>
                  <a:tcPr anchor="t" marL="36000" marR="36000" marT="36000" marB="36000">
                    <a:lnL w="7200">
                      <a:solidFill>
                        <a:srgbClr val="000000"/>
                      </a:solidFill>
                      <a:prstDash val="solid"/>
                    </a:lnL>
                    <a:lnR w="7200">
                      <a:solidFill>
                        <a:srgbClr val="000000"/>
                      </a:solidFill>
                      <a:prstDash val="solid"/>
                    </a:lnR>
                    <a:lnT w="7200">
                      <a:solidFill>
                        <a:srgbClr val="000000"/>
                      </a:solidFill>
                      <a:prstDash val="solid"/>
                    </a:lnT>
                    <a:lnB w="7200">
                      <a:solidFill>
                        <a:srgbClr val="000000"/>
                      </a:solidFill>
                      <a:prstDash val="solid"/>
                    </a:lnB>
                    <a:noFill/>
                  </a:tcPr>
                </a:tc>
              </a:tr>
              <a:tr h="435960">
                <a:tc>
                  <a:txBody>
                    <a:bodyPr lIns="36000" tIns="36000" rIns="36000" bIns="36000" anchor="t">
                      <a:noAutofit/>
                    </a:bodyPr>
                    <a:p>
                      <a:pPr>
                        <a:lnSpc>
                          <a:spcPct val="100000"/>
                        </a:lnSpc>
                        <a:spcBef>
                          <a:spcPts val="675"/>
                        </a:spcBef>
                        <a:spcAft>
                          <a:spcPts val="561"/>
                        </a:spcAft>
                      </a:pPr>
                      <a:r>
                        <a:rPr lang="en-US" sz="1200" b="0" u="none" strike="noStrike">
                          <a:solidFill>
                            <a:srgbClr val="000000"/>
                          </a:solidFill>
                          <a:effectLst/>
                          <a:uFillTx/>
                          <a:latin typeface="Times New Roman"/>
                        </a:rPr>
                        <a:t>Priority-based context selection</a:t>
                      </a:r>
                      <a:endParaRPr lang="en-US" sz="1200" b="0" u="none" strike="noStrike">
                        <a:solidFill>
                          <a:srgbClr val="000000"/>
                        </a:solidFill>
                        <a:effectLst/>
                        <a:uFillTx/>
                        <a:latin typeface="Arial"/>
                      </a:endParaRPr>
                    </a:p>
                  </a:txBody>
                  <a:tcPr anchor="t" marL="36000" marR="36000" marT="36000" marB="36000">
                    <a:lnL w="7200">
                      <a:solidFill>
                        <a:srgbClr val="000000"/>
                      </a:solidFill>
                      <a:prstDash val="solid"/>
                    </a:lnL>
                    <a:lnR w="7200">
                      <a:solidFill>
                        <a:srgbClr val="000000"/>
                      </a:solidFill>
                      <a:prstDash val="solid"/>
                    </a:lnR>
                    <a:lnT w="7200">
                      <a:solidFill>
                        <a:srgbClr val="000000"/>
                      </a:solidFill>
                      <a:prstDash val="solid"/>
                    </a:lnT>
                    <a:lnB w="7200">
                      <a:solidFill>
                        <a:srgbClr val="000000"/>
                      </a:solidFill>
                      <a:prstDash val="solid"/>
                    </a:lnB>
                    <a:noFill/>
                  </a:tcPr>
                </a:tc>
                <a:tc>
                  <a:txBody>
                    <a:bodyPr lIns="36000" tIns="36000" rIns="36000" bIns="36000" anchor="t">
                      <a:noAutofit/>
                    </a:bodyPr>
                    <a:p>
                      <a:pPr>
                        <a:lnSpc>
                          <a:spcPct val="100000"/>
                        </a:lnSpc>
                        <a:spcBef>
                          <a:spcPts val="675"/>
                        </a:spcBef>
                        <a:spcAft>
                          <a:spcPts val="561"/>
                        </a:spcAft>
                      </a:pPr>
                      <a:r>
                        <a:rPr lang="en-US" sz="1200" b="0" u="none" strike="noStrike">
                          <a:solidFill>
                            <a:srgbClr val="000000"/>
                          </a:solidFill>
                          <a:effectLst/>
                          <a:uFillTx/>
                          <a:latin typeface="Times New Roman"/>
                        </a:rPr>
                        <a:t>Selects relevant existing assertions that fit the extraction model’s input limit.</a:t>
                      </a:r>
                      <a:endParaRPr lang="en-US" sz="1200" b="0" u="none" strike="noStrike">
                        <a:solidFill>
                          <a:srgbClr val="000000"/>
                        </a:solidFill>
                        <a:effectLst/>
                        <a:uFillTx/>
                        <a:latin typeface="Arial"/>
                      </a:endParaRPr>
                    </a:p>
                  </a:txBody>
                  <a:tcPr anchor="t" marL="36000" marR="36000" marT="36000" marB="36000">
                    <a:lnL w="7200">
                      <a:solidFill>
                        <a:srgbClr val="000000"/>
                      </a:solidFill>
                      <a:prstDash val="solid"/>
                    </a:lnL>
                    <a:lnR w="7200">
                      <a:solidFill>
                        <a:srgbClr val="000000"/>
                      </a:solidFill>
                      <a:prstDash val="solid"/>
                    </a:lnR>
                    <a:lnT w="7200">
                      <a:solidFill>
                        <a:srgbClr val="000000"/>
                      </a:solidFill>
                      <a:prstDash val="solid"/>
                    </a:lnT>
                    <a:lnB w="7200">
                      <a:solidFill>
                        <a:srgbClr val="000000"/>
                      </a:solidFill>
                      <a:prstDash val="solid"/>
                    </a:lnB>
                    <a:noFill/>
                  </a:tcPr>
                </a:tc>
              </a:tr>
              <a:tr h="435960">
                <a:tc>
                  <a:txBody>
                    <a:bodyPr lIns="36000" tIns="36000" rIns="36000" bIns="36000" anchor="t">
                      <a:noAutofit/>
                    </a:bodyPr>
                    <a:p>
                      <a:pPr>
                        <a:lnSpc>
                          <a:spcPct val="100000"/>
                        </a:lnSpc>
                        <a:spcBef>
                          <a:spcPts val="675"/>
                        </a:spcBef>
                        <a:spcAft>
                          <a:spcPts val="561"/>
                        </a:spcAft>
                      </a:pPr>
                      <a:r>
                        <a:rPr lang="en-US" sz="1200" b="0" u="none" strike="noStrike">
                          <a:solidFill>
                            <a:srgbClr val="000000"/>
                          </a:solidFill>
                          <a:effectLst/>
                          <a:uFillTx/>
                          <a:latin typeface="Times New Roman"/>
                        </a:rPr>
                        <a:t>Entity resolution and memory versioning</a:t>
                      </a:r>
                      <a:endParaRPr lang="en-US" sz="1200" b="0" u="none" strike="noStrike">
                        <a:solidFill>
                          <a:srgbClr val="000000"/>
                        </a:solidFill>
                        <a:effectLst/>
                        <a:uFillTx/>
                        <a:latin typeface="Arial"/>
                      </a:endParaRPr>
                    </a:p>
                  </a:txBody>
                  <a:tcPr anchor="t" marL="36000" marR="36000" marT="36000" marB="36000">
                    <a:lnL w="7200">
                      <a:solidFill>
                        <a:srgbClr val="000000"/>
                      </a:solidFill>
                      <a:prstDash val="solid"/>
                    </a:lnL>
                    <a:lnR w="7200">
                      <a:solidFill>
                        <a:srgbClr val="000000"/>
                      </a:solidFill>
                      <a:prstDash val="solid"/>
                    </a:lnR>
                    <a:lnT w="7200">
                      <a:solidFill>
                        <a:srgbClr val="000000"/>
                      </a:solidFill>
                      <a:prstDash val="solid"/>
                    </a:lnT>
                    <a:lnB w="7200">
                      <a:solidFill>
                        <a:srgbClr val="000000"/>
                      </a:solidFill>
                      <a:prstDash val="solid"/>
                    </a:lnB>
                    <a:noFill/>
                  </a:tcPr>
                </a:tc>
                <a:tc>
                  <a:txBody>
                    <a:bodyPr lIns="36000" tIns="36000" rIns="36000" bIns="36000" anchor="t">
                      <a:noAutofit/>
                    </a:bodyPr>
                    <a:p>
                      <a:pPr>
                        <a:lnSpc>
                          <a:spcPct val="100000"/>
                        </a:lnSpc>
                        <a:spcBef>
                          <a:spcPts val="675"/>
                        </a:spcBef>
                        <a:spcAft>
                          <a:spcPts val="561"/>
                        </a:spcAft>
                      </a:pPr>
                      <a:r>
                        <a:rPr lang="en-US" sz="1200" b="0" u="none" strike="noStrike">
                          <a:solidFill>
                            <a:srgbClr val="000000"/>
                          </a:solidFill>
                          <a:effectLst/>
                          <a:uFillTx/>
                          <a:latin typeface="Times New Roman"/>
                        </a:rPr>
                        <a:t>Matches entities and handles repeated assertions, corrections and conflicting values.</a:t>
                      </a:r>
                      <a:endParaRPr lang="en-US" sz="1200" b="0" u="none" strike="noStrike">
                        <a:solidFill>
                          <a:srgbClr val="000000"/>
                        </a:solidFill>
                        <a:effectLst/>
                        <a:uFillTx/>
                        <a:latin typeface="Arial"/>
                      </a:endParaRPr>
                    </a:p>
                  </a:txBody>
                  <a:tcPr anchor="t" marL="36000" marR="36000" marT="36000" marB="36000">
                    <a:lnL w="7200">
                      <a:solidFill>
                        <a:srgbClr val="000000"/>
                      </a:solidFill>
                      <a:prstDash val="solid"/>
                    </a:lnL>
                    <a:lnR w="7200">
                      <a:solidFill>
                        <a:srgbClr val="000000"/>
                      </a:solidFill>
                      <a:prstDash val="solid"/>
                    </a:lnR>
                    <a:lnT w="7200">
                      <a:solidFill>
                        <a:srgbClr val="000000"/>
                      </a:solidFill>
                      <a:prstDash val="solid"/>
                    </a:lnT>
                    <a:lnB w="7200">
                      <a:solidFill>
                        <a:srgbClr val="000000"/>
                      </a:solidFill>
                      <a:prstDash val="solid"/>
                    </a:lnB>
                    <a:noFill/>
                  </a:tcPr>
                </a:tc>
              </a:tr>
              <a:tr h="435960">
                <a:tc>
                  <a:txBody>
                    <a:bodyPr lIns="36000" tIns="36000" rIns="36000" bIns="36000" anchor="t">
                      <a:noAutofit/>
                    </a:bodyPr>
                    <a:p>
                      <a:pPr>
                        <a:lnSpc>
                          <a:spcPct val="100000"/>
                        </a:lnSpc>
                        <a:spcBef>
                          <a:spcPts val="675"/>
                        </a:spcBef>
                        <a:spcAft>
                          <a:spcPts val="561"/>
                        </a:spcAft>
                      </a:pPr>
                      <a:r>
                        <a:rPr lang="en-US" sz="1200" b="0" u="none" strike="noStrike">
                          <a:solidFill>
                            <a:srgbClr val="000000"/>
                          </a:solidFill>
                          <a:effectLst/>
                          <a:uFillTx/>
                          <a:latin typeface="Times New Roman"/>
                        </a:rPr>
                        <a:t>Memory consolidation and invalidation</a:t>
                      </a:r>
                      <a:endParaRPr lang="en-US" sz="1200" b="0" u="none" strike="noStrike">
                        <a:solidFill>
                          <a:srgbClr val="000000"/>
                        </a:solidFill>
                        <a:effectLst/>
                        <a:uFillTx/>
                        <a:latin typeface="Arial"/>
                      </a:endParaRPr>
                    </a:p>
                  </a:txBody>
                  <a:tcPr anchor="t" marL="36000" marR="36000" marT="36000" marB="36000">
                    <a:lnL w="7200">
                      <a:solidFill>
                        <a:srgbClr val="000000"/>
                      </a:solidFill>
                      <a:prstDash val="solid"/>
                    </a:lnL>
                    <a:lnR w="7200">
                      <a:solidFill>
                        <a:srgbClr val="000000"/>
                      </a:solidFill>
                      <a:prstDash val="solid"/>
                    </a:lnR>
                    <a:lnT w="7200">
                      <a:solidFill>
                        <a:srgbClr val="000000"/>
                      </a:solidFill>
                      <a:prstDash val="solid"/>
                    </a:lnT>
                    <a:lnB w="7200">
                      <a:solidFill>
                        <a:srgbClr val="000000"/>
                      </a:solidFill>
                      <a:prstDash val="solid"/>
                    </a:lnB>
                    <a:noFill/>
                  </a:tcPr>
                </a:tc>
                <a:tc>
                  <a:txBody>
                    <a:bodyPr lIns="36000" tIns="36000" rIns="36000" bIns="36000" anchor="t">
                      <a:noAutofit/>
                    </a:bodyPr>
                    <a:p>
                      <a:pPr>
                        <a:lnSpc>
                          <a:spcPct val="100000"/>
                        </a:lnSpc>
                        <a:spcBef>
                          <a:spcPts val="675"/>
                        </a:spcBef>
                        <a:spcAft>
                          <a:spcPts val="561"/>
                        </a:spcAft>
                      </a:pPr>
                      <a:r>
                        <a:rPr lang="en-US" sz="1200" b="0" u="none" strike="noStrike">
                          <a:solidFill>
                            <a:srgbClr val="000000"/>
                          </a:solidFill>
                          <a:effectLst/>
                          <a:uFillTx/>
                          <a:latin typeface="Times New Roman"/>
                        </a:rPr>
                        <a:t>Combines supporting assertions into inferences and marks them stale when support changes.</a:t>
                      </a:r>
                      <a:endParaRPr lang="en-US" sz="1200" b="0" u="none" strike="noStrike">
                        <a:solidFill>
                          <a:srgbClr val="000000"/>
                        </a:solidFill>
                        <a:effectLst/>
                        <a:uFillTx/>
                        <a:latin typeface="Arial"/>
                      </a:endParaRPr>
                    </a:p>
                  </a:txBody>
                  <a:tcPr anchor="t" marL="36000" marR="36000" marT="36000" marB="36000">
                    <a:lnL w="7200">
                      <a:solidFill>
                        <a:srgbClr val="000000"/>
                      </a:solidFill>
                      <a:prstDash val="solid"/>
                    </a:lnL>
                    <a:lnR w="7200">
                      <a:solidFill>
                        <a:srgbClr val="000000"/>
                      </a:solidFill>
                      <a:prstDash val="solid"/>
                    </a:lnR>
                    <a:lnT w="7200">
                      <a:solidFill>
                        <a:srgbClr val="000000"/>
                      </a:solidFill>
                      <a:prstDash val="solid"/>
                    </a:lnT>
                    <a:lnB w="7200">
                      <a:solidFill>
                        <a:srgbClr val="000000"/>
                      </a:solidFill>
                      <a:prstDash val="solid"/>
                    </a:lnB>
                    <a:noFill/>
                  </a:tcPr>
                </a:tc>
              </a:tr>
              <a:tr h="435960">
                <a:tc>
                  <a:txBody>
                    <a:bodyPr lIns="36000" tIns="36000" rIns="36000" bIns="36000" anchor="t">
                      <a:noAutofit/>
                    </a:bodyPr>
                    <a:p>
                      <a:pPr>
                        <a:lnSpc>
                          <a:spcPct val="100000"/>
                        </a:lnSpc>
                        <a:spcBef>
                          <a:spcPts val="675"/>
                        </a:spcBef>
                        <a:spcAft>
                          <a:spcPts val="561"/>
                        </a:spcAft>
                      </a:pPr>
                      <a:r>
                        <a:rPr lang="en-US" sz="1200" b="0" u="none" strike="noStrike">
                          <a:solidFill>
                            <a:srgbClr val="000000"/>
                          </a:solidFill>
                          <a:effectLst/>
                          <a:uFillTx/>
                          <a:latin typeface="Times New Roman"/>
                        </a:rPr>
                        <a:t>Hybrid retrieval and graph traversal</a:t>
                      </a:r>
                      <a:endParaRPr lang="en-US" sz="1200" b="0" u="none" strike="noStrike">
                        <a:solidFill>
                          <a:srgbClr val="000000"/>
                        </a:solidFill>
                        <a:effectLst/>
                        <a:uFillTx/>
                        <a:latin typeface="Arial"/>
                      </a:endParaRPr>
                    </a:p>
                  </a:txBody>
                  <a:tcPr anchor="t" marL="36000" marR="36000" marT="36000" marB="36000">
                    <a:lnL w="7200">
                      <a:solidFill>
                        <a:srgbClr val="000000"/>
                      </a:solidFill>
                      <a:prstDash val="solid"/>
                    </a:lnL>
                    <a:lnR w="7200">
                      <a:solidFill>
                        <a:srgbClr val="000000"/>
                      </a:solidFill>
                      <a:prstDash val="solid"/>
                    </a:lnR>
                    <a:lnT w="7200">
                      <a:solidFill>
                        <a:srgbClr val="000000"/>
                      </a:solidFill>
                      <a:prstDash val="solid"/>
                    </a:lnT>
                    <a:lnB w="7200">
                      <a:solidFill>
                        <a:srgbClr val="000000"/>
                      </a:solidFill>
                      <a:prstDash val="solid"/>
                    </a:lnB>
                    <a:noFill/>
                  </a:tcPr>
                </a:tc>
                <a:tc>
                  <a:txBody>
                    <a:bodyPr lIns="36000" tIns="36000" rIns="36000" bIns="36000" anchor="t">
                      <a:noAutofit/>
                    </a:bodyPr>
                    <a:p>
                      <a:pPr>
                        <a:lnSpc>
                          <a:spcPct val="100000"/>
                        </a:lnSpc>
                        <a:spcBef>
                          <a:spcPts val="675"/>
                        </a:spcBef>
                        <a:spcAft>
                          <a:spcPts val="561"/>
                        </a:spcAft>
                      </a:pPr>
                      <a:r>
                        <a:rPr lang="en-US" sz="1200" b="0" u="none" strike="noStrike">
                          <a:solidFill>
                            <a:srgbClr val="000000"/>
                          </a:solidFill>
                          <a:effectLst/>
                          <a:uFillTx/>
                          <a:latin typeface="Times New Roman"/>
                        </a:rPr>
                        <a:t>Finds memories through keywords, meaning, dates and connections.</a:t>
                      </a:r>
                      <a:endParaRPr lang="en-US" sz="1200" b="0" u="none" strike="noStrike">
                        <a:solidFill>
                          <a:srgbClr val="000000"/>
                        </a:solidFill>
                        <a:effectLst/>
                        <a:uFillTx/>
                        <a:latin typeface="Arial"/>
                      </a:endParaRPr>
                    </a:p>
                  </a:txBody>
                  <a:tcPr anchor="t" marL="36000" marR="36000" marT="36000" marB="36000">
                    <a:lnL w="7200">
                      <a:solidFill>
                        <a:srgbClr val="000000"/>
                      </a:solidFill>
                      <a:prstDash val="solid"/>
                    </a:lnL>
                    <a:lnR w="7200">
                      <a:solidFill>
                        <a:srgbClr val="000000"/>
                      </a:solidFill>
                      <a:prstDash val="solid"/>
                    </a:lnR>
                    <a:lnT w="7200">
                      <a:solidFill>
                        <a:srgbClr val="000000"/>
                      </a:solidFill>
                      <a:prstDash val="solid"/>
                    </a:lnT>
                    <a:lnB w="7200">
                      <a:solidFill>
                        <a:srgbClr val="000000"/>
                      </a:solidFill>
                      <a:prstDash val="solid"/>
                    </a:lnB>
                    <a:noFill/>
                  </a:tcPr>
                </a:tc>
              </a:tr>
              <a:tr h="435960">
                <a:tc>
                  <a:txBody>
                    <a:bodyPr lIns="36000" tIns="36000" rIns="36000" bIns="36000" anchor="t">
                      <a:noAutofit/>
                    </a:bodyPr>
                    <a:p>
                      <a:pPr>
                        <a:lnSpc>
                          <a:spcPct val="100000"/>
                        </a:lnSpc>
                        <a:spcBef>
                          <a:spcPts val="675"/>
                        </a:spcBef>
                        <a:spcAft>
                          <a:spcPts val="561"/>
                        </a:spcAft>
                      </a:pPr>
                      <a:r>
                        <a:rPr lang="en-US" sz="1200" b="0" u="none" strike="noStrike">
                          <a:solidFill>
                            <a:srgbClr val="000000"/>
                          </a:solidFill>
                          <a:effectLst/>
                          <a:uFillTx/>
                          <a:latin typeface="Times New Roman"/>
                        </a:rPr>
                        <a:t>Reciprocal Rank Fusion and context packing</a:t>
                      </a:r>
                      <a:endParaRPr lang="en-US" sz="1200" b="0" u="none" strike="noStrike">
                        <a:solidFill>
                          <a:srgbClr val="000000"/>
                        </a:solidFill>
                        <a:effectLst/>
                        <a:uFillTx/>
                        <a:latin typeface="Arial"/>
                      </a:endParaRPr>
                    </a:p>
                  </a:txBody>
                  <a:tcPr anchor="t" marL="36000" marR="36000" marT="36000" marB="36000">
                    <a:lnL w="7200">
                      <a:solidFill>
                        <a:srgbClr val="000000"/>
                      </a:solidFill>
                      <a:prstDash val="solid"/>
                    </a:lnL>
                    <a:lnR w="7200">
                      <a:solidFill>
                        <a:srgbClr val="000000"/>
                      </a:solidFill>
                      <a:prstDash val="solid"/>
                    </a:lnR>
                    <a:lnT w="7200">
                      <a:solidFill>
                        <a:srgbClr val="000000"/>
                      </a:solidFill>
                      <a:prstDash val="solid"/>
                    </a:lnT>
                    <a:lnB w="7200">
                      <a:solidFill>
                        <a:srgbClr val="000000"/>
                      </a:solidFill>
                      <a:prstDash val="solid"/>
                    </a:lnB>
                    <a:noFill/>
                  </a:tcPr>
                </a:tc>
                <a:tc>
                  <a:txBody>
                    <a:bodyPr lIns="36000" tIns="36000" rIns="36000" bIns="36000" anchor="t">
                      <a:noAutofit/>
                    </a:bodyPr>
                    <a:p>
                      <a:pPr>
                        <a:lnSpc>
                          <a:spcPct val="100000"/>
                        </a:lnSpc>
                        <a:spcBef>
                          <a:spcPts val="675"/>
                        </a:spcBef>
                        <a:spcAft>
                          <a:spcPts val="561"/>
                        </a:spcAft>
                      </a:pPr>
                      <a:r>
                        <a:rPr lang="en-US" sz="1200" b="0" u="none" strike="noStrike">
                          <a:solidFill>
                            <a:srgbClr val="000000"/>
                          </a:solidFill>
                          <a:effectLst/>
                          <a:uFillTx/>
                          <a:latin typeface="Times New Roman"/>
                        </a:rPr>
                        <a:t>Combines search rankings and fits selected memories into the available context.</a:t>
                      </a:r>
                      <a:endParaRPr lang="en-US" sz="1200" b="0" u="none" strike="noStrike">
                        <a:solidFill>
                          <a:srgbClr val="000000"/>
                        </a:solidFill>
                        <a:effectLst/>
                        <a:uFillTx/>
                        <a:latin typeface="Arial"/>
                      </a:endParaRPr>
                    </a:p>
                  </a:txBody>
                  <a:tcPr anchor="t" marL="36000" marR="36000" marT="36000" marB="36000">
                    <a:lnL w="7200">
                      <a:solidFill>
                        <a:srgbClr val="000000"/>
                      </a:solidFill>
                      <a:prstDash val="solid"/>
                    </a:lnL>
                    <a:lnR w="7200">
                      <a:solidFill>
                        <a:srgbClr val="000000"/>
                      </a:solidFill>
                      <a:prstDash val="solid"/>
                    </a:lnR>
                    <a:lnT w="7200">
                      <a:solidFill>
                        <a:srgbClr val="000000"/>
                      </a:solidFill>
                      <a:prstDash val="solid"/>
                    </a:lnT>
                    <a:lnB w="7200">
                      <a:solidFill>
                        <a:srgbClr val="000000"/>
                      </a:solidFill>
                      <a:prstDash val="solid"/>
                    </a:lnB>
                    <a:noFill/>
                  </a:tcPr>
                </a:tc>
              </a:tr>
              <a:tr h="437760">
                <a:tc>
                  <a:txBody>
                    <a:bodyPr lIns="36000" tIns="36000" rIns="36000" bIns="36000" anchor="t">
                      <a:noAutofit/>
                    </a:bodyPr>
                    <a:p>
                      <a:pPr>
                        <a:lnSpc>
                          <a:spcPct val="100000"/>
                        </a:lnSpc>
                        <a:spcBef>
                          <a:spcPts val="675"/>
                        </a:spcBef>
                        <a:spcAft>
                          <a:spcPts val="561"/>
                        </a:spcAft>
                      </a:pPr>
                      <a:r>
                        <a:rPr lang="en-US" sz="1200" b="0" u="none" strike="noStrike">
                          <a:solidFill>
                            <a:srgbClr val="000000"/>
                          </a:solidFill>
                          <a:effectLst/>
                          <a:uFillTx/>
                          <a:latin typeface="Times New Roman"/>
                        </a:rPr>
                        <a:t>Source-grounded answer generation</a:t>
                      </a:r>
                      <a:endParaRPr lang="en-US" sz="1200" b="0" u="none" strike="noStrike">
                        <a:solidFill>
                          <a:srgbClr val="000000"/>
                        </a:solidFill>
                        <a:effectLst/>
                        <a:uFillTx/>
                        <a:latin typeface="Arial"/>
                      </a:endParaRPr>
                    </a:p>
                  </a:txBody>
                  <a:tcPr anchor="t" marL="36000" marR="36000" marT="36000" marB="36000">
                    <a:lnL w="7200">
                      <a:solidFill>
                        <a:srgbClr val="000000"/>
                      </a:solidFill>
                      <a:prstDash val="solid"/>
                    </a:lnL>
                    <a:lnR w="7200">
                      <a:solidFill>
                        <a:srgbClr val="000000"/>
                      </a:solidFill>
                      <a:prstDash val="solid"/>
                    </a:lnR>
                    <a:lnT w="7200">
                      <a:solidFill>
                        <a:srgbClr val="000000"/>
                      </a:solidFill>
                      <a:prstDash val="solid"/>
                    </a:lnT>
                    <a:lnB w="7200">
                      <a:solidFill>
                        <a:srgbClr val="000000"/>
                      </a:solidFill>
                      <a:prstDash val="solid"/>
                    </a:lnB>
                    <a:noFill/>
                  </a:tcPr>
                </a:tc>
                <a:tc>
                  <a:txBody>
                    <a:bodyPr lIns="36000" tIns="36000" rIns="36000" bIns="36000" anchor="t">
                      <a:noAutofit/>
                    </a:bodyPr>
                    <a:p>
                      <a:pPr>
                        <a:lnSpc>
                          <a:spcPct val="100000"/>
                        </a:lnSpc>
                        <a:spcBef>
                          <a:spcPts val="675"/>
                        </a:spcBef>
                        <a:spcAft>
                          <a:spcPts val="561"/>
                        </a:spcAft>
                      </a:pPr>
                      <a:r>
                        <a:rPr lang="en-US" sz="1200" b="0" u="none" strike="noStrike">
                          <a:solidFill>
                            <a:srgbClr val="000000"/>
                          </a:solidFill>
                          <a:effectLst/>
                          <a:uFillTx/>
                          <a:latin typeface="Times New Roman"/>
                        </a:rPr>
                        <a:t>Produces answers from retrieved memories with checked source references.</a:t>
                      </a:r>
                      <a:endParaRPr lang="en-US" sz="1200" b="0" u="none" strike="noStrike">
                        <a:solidFill>
                          <a:srgbClr val="000000"/>
                        </a:solidFill>
                        <a:effectLst/>
                        <a:uFillTx/>
                        <a:latin typeface="Arial"/>
                      </a:endParaRPr>
                    </a:p>
                  </a:txBody>
                  <a:tcPr anchor="t" marL="36000" marR="36000" marT="36000" marB="36000">
                    <a:lnL w="7200">
                      <a:solidFill>
                        <a:srgbClr val="000000"/>
                      </a:solidFill>
                      <a:prstDash val="solid"/>
                    </a:lnL>
                    <a:lnR w="7200">
                      <a:solidFill>
                        <a:srgbClr val="000000"/>
                      </a:solidFill>
                      <a:prstDash val="solid"/>
                    </a:lnR>
                    <a:lnT w="7200">
                      <a:solidFill>
                        <a:srgbClr val="000000"/>
                      </a:solidFill>
                      <a:prstDash val="solid"/>
                    </a:lnT>
                    <a:lnB w="7200">
                      <a:solidFill>
                        <a:srgbClr val="000000"/>
                      </a:solidFill>
                      <a:prstDash val="solid"/>
                    </a:lnB>
                    <a:noFill/>
                  </a:tcPr>
                </a:tc>
              </a:tr>
            </a:tbl>
          </a:graphicData>
        </a:graphic>
      </p:graphicFrame>
      <p:sp>
        <p:nvSpPr>
          <p:cNvPr id="44" name="Text 64"/>
          <p:cNvSpPr/>
          <p:nvPr/>
        </p:nvSpPr>
        <p:spPr>
          <a:xfrm>
            <a:off x="594720" y="384120"/>
            <a:ext cx="9813240" cy="77616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3000" b="0" u="none" strike="noStrike">
                <a:solidFill>
                  <a:srgbClr val="000000"/>
                </a:solidFill>
                <a:effectLst/>
                <a:uFillTx/>
                <a:latin typeface="Times New Roman"/>
                <a:ea typeface="Times New Roman"/>
              </a:rPr>
              <a:t>ALGORITHMS OR METHODOLOGY</a:t>
            </a:r>
            <a:endParaRPr lang="en-US" sz="3000" b="0" u="none" strike="noStrik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13.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45" name="Text 66"/>
          <p:cNvSpPr/>
          <p:nvPr/>
        </p:nvSpPr>
        <p:spPr>
          <a:xfrm>
            <a:off x="595080" y="384120"/>
            <a:ext cx="9813240" cy="77616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3000" b="0" u="none" strike="noStrike">
                <a:solidFill>
                  <a:srgbClr val="000000"/>
                </a:solidFill>
                <a:effectLst/>
                <a:uFillTx/>
                <a:latin typeface="Times New Roman"/>
                <a:ea typeface="Times New Roman"/>
              </a:rPr>
              <a:t>ALGORITHMS OR METHODOLOGY</a:t>
            </a:r>
            <a:endParaRPr lang="en-US" sz="3000" b="0" u="none" strike="noStrike">
              <a:solidFill>
                <a:srgbClr val="000000"/>
              </a:solidFill>
              <a:effectLst/>
              <a:uFillTx/>
              <a:latin typeface="Arial"/>
            </a:endParaRPr>
          </a:p>
        </p:txBody>
      </p:sp>
      <p:sp>
        <p:nvSpPr>
          <p:cNvPr id="46" name=""/>
          <p:cNvSpPr/>
          <p:nvPr/>
        </p:nvSpPr>
        <p:spPr>
          <a:xfrm>
            <a:off x="685800" y="1334880"/>
            <a:ext cx="4886280" cy="3543480"/>
          </a:xfrm>
          <a:prstGeom prst="rect">
            <a:avLst/>
          </a:prstGeom>
          <a:noFill/>
          <a:ln w="38160">
            <a:noFill/>
          </a:ln>
        </p:spPr>
        <p:style>
          <a:lnRef idx="0"/>
          <a:fillRef idx="0"/>
          <a:effectRef idx="0"/>
          <a:fontRef idx="minor"/>
        </p:style>
        <p:txBody>
          <a:bodyPr lIns="90000" tIns="45000" rIns="90000" bIns="45000" anchor="t">
            <a:spAutoFit/>
          </a:bodyPr>
          <a:p>
            <a:pPr>
              <a:lnSpc>
                <a:spcPct val="100000"/>
              </a:lnSpc>
            </a:pPr>
            <a:r>
              <a:rPr lang="en-US" sz="1400" b="1" u="none" strike="noStrike">
                <a:solidFill>
                  <a:srgbClr val="000000"/>
                </a:solidFill>
                <a:effectLst/>
                <a:uFillTx/>
                <a:latin typeface="Times New Roman"/>
              </a:rPr>
              <a:t>1. Priority-based context selection</a:t>
            </a:r>
            <a:endParaRPr lang="en-US" sz="1400" b="0" u="none" strike="noStrike">
              <a:solidFill>
                <a:srgbClr val="000000"/>
              </a:solidFill>
              <a:effectLst/>
              <a:uFillTx/>
              <a:latin typeface="Arial"/>
            </a:endParaRPr>
          </a:p>
          <a:p>
            <a:pPr>
              <a:lnSpc>
                <a:spcPct val="100000"/>
              </a:lnSpc>
            </a:pPr>
            <a:r>
              <a:rPr lang="en-US" sz="1200" b="0" u="none" strike="noStrike">
                <a:solidFill>
                  <a:srgbClr val="000000"/>
                </a:solidFill>
                <a:effectLst/>
                <a:uFillTx/>
                <a:latin typeface="Times New Roman"/>
              </a:rPr>
              <a:t>Input: Existing assertions, new messages and available input space.</a:t>
            </a:r>
            <a:endParaRPr lang="en-US" sz="1200" b="0" u="none" strike="noStrike">
              <a:solidFill>
                <a:srgbClr val="000000"/>
              </a:solidFill>
              <a:effectLst/>
              <a:uFillTx/>
              <a:latin typeface="Arial"/>
            </a:endParaRPr>
          </a:p>
          <a:p>
            <a:pPr>
              <a:lnSpc>
                <a:spcPct val="100000"/>
              </a:lnSpc>
            </a:pPr>
            <a:endParaRPr lang="en-US" sz="1200" b="0" u="none" strike="noStrike">
              <a:solidFill>
                <a:srgbClr val="000000"/>
              </a:solidFill>
              <a:effectLst/>
              <a:uFillTx/>
              <a:latin typeface="Arial"/>
            </a:endParaRPr>
          </a:p>
          <a:p>
            <a:pPr>
              <a:lnSpc>
                <a:spcPct val="100000"/>
              </a:lnSpc>
            </a:pPr>
            <a:r>
              <a:rPr lang="en-US" sz="1200" b="0" u="none" strike="noStrike">
                <a:solidFill>
                  <a:srgbClr val="000000"/>
                </a:solidFill>
                <a:effectLst/>
                <a:uFillTx/>
                <a:latin typeface="Courier New"/>
              </a:rPr>
              <a:t>IF all existing assertions fit:</a:t>
            </a:r>
            <a:endParaRPr lang="en-US" sz="1200" b="0" u="none" strike="noStrike">
              <a:solidFill>
                <a:srgbClr val="000000"/>
              </a:solidFill>
              <a:effectLst/>
              <a:uFillTx/>
              <a:latin typeface="Arial"/>
            </a:endParaRPr>
          </a:p>
          <a:p>
            <a:pPr>
              <a:lnSpc>
                <a:spcPct val="100000"/>
              </a:lnSpc>
            </a:pPr>
            <a:r>
              <a:rPr lang="en-US" sz="1200" b="0" u="none" strike="noStrike">
                <a:solidFill>
                  <a:srgbClr val="000000"/>
                </a:solidFill>
                <a:effectLst/>
                <a:uFillTx/>
                <a:latin typeface="Courier New"/>
              </a:rPr>
              <a:t>    Return all assertions.</a:t>
            </a:r>
            <a:endParaRPr lang="en-US" sz="1200" b="0" u="none" strike="noStrike">
              <a:solidFill>
                <a:srgbClr val="000000"/>
              </a:solidFill>
              <a:effectLst/>
              <a:uFillTx/>
              <a:latin typeface="Arial"/>
            </a:endParaRPr>
          </a:p>
          <a:p>
            <a:pPr>
              <a:lnSpc>
                <a:spcPct val="100000"/>
              </a:lnSpc>
            </a:pPr>
            <a:endParaRPr lang="en-US" sz="1200" b="0" u="none" strike="noStrike">
              <a:solidFill>
                <a:srgbClr val="000000"/>
              </a:solidFill>
              <a:effectLst/>
              <a:uFillTx/>
              <a:latin typeface="Arial"/>
            </a:endParaRPr>
          </a:p>
          <a:p>
            <a:pPr>
              <a:lnSpc>
                <a:spcPct val="100000"/>
              </a:lnSpc>
            </a:pPr>
            <a:r>
              <a:rPr lang="en-US" sz="1200" b="0" u="none" strike="noStrike">
                <a:solidFill>
                  <a:srgbClr val="000000"/>
                </a:solidFill>
                <a:effectLst/>
                <a:uFillTx/>
                <a:latin typeface="Courier New"/>
              </a:rPr>
              <a:t>Score assertions by subject and value mentions in new messages.</a:t>
            </a:r>
            <a:endParaRPr lang="en-US" sz="1200" b="0" u="none" strike="noStrike">
              <a:solidFill>
                <a:srgbClr val="000000"/>
              </a:solidFill>
              <a:effectLst/>
              <a:uFillTx/>
              <a:latin typeface="Arial"/>
            </a:endParaRPr>
          </a:p>
          <a:p>
            <a:pPr>
              <a:lnSpc>
                <a:spcPct val="100000"/>
              </a:lnSpc>
            </a:pPr>
            <a:endParaRPr lang="en-US" sz="1200" b="0" u="none" strike="noStrike">
              <a:solidFill>
                <a:srgbClr val="000000"/>
              </a:solidFill>
              <a:effectLst/>
              <a:uFillTx/>
              <a:latin typeface="Arial"/>
            </a:endParaRPr>
          </a:p>
          <a:p>
            <a:pPr>
              <a:lnSpc>
                <a:spcPct val="100000"/>
              </a:lnSpc>
            </a:pPr>
            <a:r>
              <a:rPr lang="en-US" sz="1200" b="0" u="none" strike="noStrike">
                <a:solidFill>
                  <a:srgbClr val="000000"/>
                </a:solidFill>
                <a:effectLst/>
                <a:uFillTx/>
                <a:latin typeface="Courier New"/>
              </a:rPr>
              <a:t>Rank stronger matches first; use recency to break ties.</a:t>
            </a:r>
            <a:endParaRPr lang="en-US" sz="1200" b="0" u="none" strike="noStrike">
              <a:solidFill>
                <a:srgbClr val="000000"/>
              </a:solidFill>
              <a:effectLst/>
              <a:uFillTx/>
              <a:latin typeface="Arial"/>
            </a:endParaRPr>
          </a:p>
          <a:p>
            <a:pPr>
              <a:lnSpc>
                <a:spcPct val="100000"/>
              </a:lnSpc>
            </a:pPr>
            <a:endParaRPr lang="en-US" sz="1200" b="0" u="none" strike="noStrike">
              <a:solidFill>
                <a:srgbClr val="000000"/>
              </a:solidFill>
              <a:effectLst/>
              <a:uFillTx/>
              <a:latin typeface="Arial"/>
            </a:endParaRPr>
          </a:p>
          <a:p>
            <a:pPr>
              <a:lnSpc>
                <a:spcPct val="100000"/>
              </a:lnSpc>
            </a:pPr>
            <a:r>
              <a:rPr lang="en-US" sz="1200" b="0" u="none" strike="noStrike">
                <a:solidFill>
                  <a:srgbClr val="000000"/>
                </a:solidFill>
                <a:effectLst/>
                <a:uFillTx/>
                <a:latin typeface="Courier New"/>
              </a:rPr>
              <a:t>Use binary search to find the largest ranked subset that fits.</a:t>
            </a:r>
            <a:endParaRPr lang="en-US" sz="1200" b="0" u="none" strike="noStrike">
              <a:solidFill>
                <a:srgbClr val="000000"/>
              </a:solidFill>
              <a:effectLst/>
              <a:uFillTx/>
              <a:latin typeface="Arial"/>
            </a:endParaRPr>
          </a:p>
          <a:p>
            <a:pPr>
              <a:lnSpc>
                <a:spcPct val="100000"/>
              </a:lnSpc>
            </a:pPr>
            <a:endParaRPr lang="en-US" sz="1200" b="0" u="none" strike="noStrike">
              <a:solidFill>
                <a:srgbClr val="000000"/>
              </a:solidFill>
              <a:effectLst/>
              <a:uFillTx/>
              <a:latin typeface="Arial"/>
            </a:endParaRPr>
          </a:p>
          <a:p>
            <a:pPr>
              <a:lnSpc>
                <a:spcPct val="100000"/>
              </a:lnSpc>
            </a:pPr>
            <a:r>
              <a:rPr lang="en-US" sz="1200" b="0" u="none" strike="noStrike">
                <a:solidFill>
                  <a:srgbClr val="000000"/>
                </a:solidFill>
                <a:effectLst/>
                <a:uFillTx/>
                <a:latin typeface="Courier New"/>
              </a:rPr>
              <a:t>Return selected assertions in their original order.</a:t>
            </a:r>
            <a:endParaRPr lang="en-US" sz="1200" b="0" u="none" strike="noStrike">
              <a:solidFill>
                <a:srgbClr val="000000"/>
              </a:solidFill>
              <a:effectLst/>
              <a:uFillTx/>
              <a:latin typeface="Arial"/>
            </a:endParaRPr>
          </a:p>
        </p:txBody>
      </p:sp>
      <p:sp>
        <p:nvSpPr>
          <p:cNvPr id="47" name=""/>
          <p:cNvSpPr/>
          <p:nvPr/>
        </p:nvSpPr>
        <p:spPr>
          <a:xfrm>
            <a:off x="5857200" y="1371600"/>
            <a:ext cx="4886280" cy="3887640"/>
          </a:xfrm>
          <a:prstGeom prst="rect">
            <a:avLst/>
          </a:prstGeom>
          <a:noFill/>
          <a:ln w="38160">
            <a:noFill/>
          </a:ln>
        </p:spPr>
        <p:style>
          <a:lnRef idx="0"/>
          <a:fillRef idx="0"/>
          <a:effectRef idx="0"/>
          <a:fontRef idx="minor"/>
        </p:style>
        <p:txBody>
          <a:bodyPr lIns="90000" tIns="45000" rIns="90000" bIns="45000" anchor="t">
            <a:spAutoFit/>
          </a:bodyPr>
          <a:p>
            <a:pPr>
              <a:lnSpc>
                <a:spcPct val="100000"/>
              </a:lnSpc>
            </a:pPr>
            <a:r>
              <a:rPr lang="en-US" sz="1400" b="1" u="none" strike="noStrike">
                <a:solidFill>
                  <a:srgbClr val="000000"/>
                </a:solidFill>
                <a:effectLst/>
                <a:uFillTx/>
                <a:latin typeface="Times New Roman"/>
              </a:rPr>
              <a:t>2. Entity resolution and memory versioning</a:t>
            </a:r>
            <a:endParaRPr lang="en-US" sz="1400" b="0" u="none" strike="noStrike">
              <a:solidFill>
                <a:srgbClr val="000000"/>
              </a:solidFill>
              <a:effectLst/>
              <a:uFillTx/>
              <a:latin typeface="Arial"/>
            </a:endParaRPr>
          </a:p>
          <a:p>
            <a:pPr>
              <a:lnSpc>
                <a:spcPct val="100000"/>
              </a:lnSpc>
            </a:pPr>
            <a:r>
              <a:rPr lang="en-US" sz="1200" b="0" u="none" strike="noStrike">
                <a:solidFill>
                  <a:srgbClr val="000000"/>
                </a:solidFill>
                <a:effectLst/>
                <a:uFillTx/>
                <a:latin typeface="Times New Roman"/>
              </a:rPr>
              <a:t>Input: A new assertion and stored memories.</a:t>
            </a:r>
            <a:endParaRPr lang="en-US" sz="1200" b="0" u="none" strike="noStrike">
              <a:solidFill>
                <a:srgbClr val="000000"/>
              </a:solidFill>
              <a:effectLst/>
              <a:uFillTx/>
              <a:latin typeface="Arial"/>
            </a:endParaRPr>
          </a:p>
          <a:p>
            <a:pPr>
              <a:lnSpc>
                <a:spcPct val="100000"/>
              </a:lnSpc>
            </a:pPr>
            <a:endParaRPr lang="en-US" sz="1200" b="0" u="none" strike="noStrike">
              <a:solidFill>
                <a:srgbClr val="000000"/>
              </a:solidFill>
              <a:effectLst/>
              <a:uFillTx/>
              <a:latin typeface="Arial"/>
            </a:endParaRPr>
          </a:p>
          <a:p>
            <a:pPr>
              <a:lnSpc>
                <a:spcPct val="100000"/>
              </a:lnSpc>
            </a:pPr>
            <a:r>
              <a:rPr lang="en-US" sz="1200" b="0" u="none" strike="noStrike">
                <a:solidFill>
                  <a:srgbClr val="000000"/>
                </a:solidFill>
                <a:effectLst/>
                <a:uFillTx/>
                <a:latin typeface="Courier New"/>
              </a:rPr>
              <a:t>Match entity by type and normalised name,</a:t>
            </a:r>
            <a:endParaRPr lang="en-US" sz="1200" b="0" u="none" strike="noStrike">
              <a:solidFill>
                <a:srgbClr val="000000"/>
              </a:solidFill>
              <a:effectLst/>
              <a:uFillTx/>
              <a:latin typeface="Arial"/>
            </a:endParaRPr>
          </a:p>
          <a:p>
            <a:pPr>
              <a:lnSpc>
                <a:spcPct val="100000"/>
              </a:lnSpc>
            </a:pPr>
            <a:r>
              <a:rPr lang="en-US" sz="1200" b="0" u="none" strike="noStrike">
                <a:solidFill>
                  <a:srgbClr val="000000"/>
                </a:solidFill>
                <a:effectLst/>
                <a:uFillTx/>
                <a:latin typeface="Courier New"/>
              </a:rPr>
              <a:t>or a unique stored alias; otherwise create an entity.</a:t>
            </a:r>
            <a:endParaRPr lang="en-US" sz="1200" b="0" u="none" strike="noStrike">
              <a:solidFill>
                <a:srgbClr val="000000"/>
              </a:solidFill>
              <a:effectLst/>
              <a:uFillTx/>
              <a:latin typeface="Arial"/>
            </a:endParaRPr>
          </a:p>
          <a:p>
            <a:pPr>
              <a:lnSpc>
                <a:spcPct val="100000"/>
              </a:lnSpc>
            </a:pPr>
            <a:endParaRPr lang="en-US" sz="1200" b="0" u="none" strike="noStrike">
              <a:solidFill>
                <a:srgbClr val="000000"/>
              </a:solidFill>
              <a:effectLst/>
              <a:uFillTx/>
              <a:latin typeface="Arial"/>
            </a:endParaRPr>
          </a:p>
          <a:p>
            <a:pPr>
              <a:lnSpc>
                <a:spcPct val="100000"/>
              </a:lnSpc>
            </a:pPr>
            <a:r>
              <a:rPr lang="en-US" sz="1200" b="0" u="none" strike="noStrike">
                <a:solidFill>
                  <a:srgbClr val="000000"/>
                </a:solidFill>
                <a:effectLst/>
                <a:uFillTx/>
                <a:latin typeface="Courier New"/>
              </a:rPr>
              <a:t>IF the same assertion exists:</a:t>
            </a:r>
            <a:endParaRPr lang="en-US" sz="1200" b="0" u="none" strike="noStrike">
              <a:solidFill>
                <a:srgbClr val="000000"/>
              </a:solidFill>
              <a:effectLst/>
              <a:uFillTx/>
              <a:latin typeface="Arial"/>
            </a:endParaRPr>
          </a:p>
          <a:p>
            <a:pPr>
              <a:lnSpc>
                <a:spcPct val="100000"/>
              </a:lnSpc>
            </a:pPr>
            <a:r>
              <a:rPr lang="en-US" sz="1200" b="0" u="none" strike="noStrike">
                <a:solidFill>
                  <a:srgbClr val="000000"/>
                </a:solidFill>
                <a:effectLst/>
                <a:uFillTx/>
                <a:latin typeface="Courier New"/>
              </a:rPr>
              <a:t>    Attach the new source quote.</a:t>
            </a:r>
            <a:endParaRPr lang="en-US" sz="1200" b="0" u="none" strike="noStrike">
              <a:solidFill>
                <a:srgbClr val="000000"/>
              </a:solidFill>
              <a:effectLst/>
              <a:uFillTx/>
              <a:latin typeface="Arial"/>
            </a:endParaRPr>
          </a:p>
          <a:p>
            <a:pPr>
              <a:lnSpc>
                <a:spcPct val="100000"/>
              </a:lnSpc>
            </a:pPr>
            <a:endParaRPr lang="en-US" sz="1200" b="0" u="none" strike="noStrike">
              <a:solidFill>
                <a:srgbClr val="000000"/>
              </a:solidFill>
              <a:effectLst/>
              <a:uFillTx/>
              <a:latin typeface="Arial"/>
            </a:endParaRPr>
          </a:p>
          <a:p>
            <a:pPr>
              <a:lnSpc>
                <a:spcPct val="100000"/>
              </a:lnSpc>
            </a:pPr>
            <a:r>
              <a:rPr lang="en-US" sz="1200" b="0" u="none" strike="noStrike">
                <a:solidFill>
                  <a:srgbClr val="000000"/>
                </a:solidFill>
                <a:effectLst/>
                <a:uFillTx/>
                <a:latin typeface="Courier New"/>
              </a:rPr>
              <a:t>ELSE IF no single-value conflict exists:</a:t>
            </a:r>
            <a:endParaRPr lang="en-US" sz="1200" b="0" u="none" strike="noStrike">
              <a:solidFill>
                <a:srgbClr val="000000"/>
              </a:solidFill>
              <a:effectLst/>
              <a:uFillTx/>
              <a:latin typeface="Arial"/>
            </a:endParaRPr>
          </a:p>
          <a:p>
            <a:pPr>
              <a:lnSpc>
                <a:spcPct val="100000"/>
              </a:lnSpc>
            </a:pPr>
            <a:r>
              <a:rPr lang="en-US" sz="1200" b="0" u="none" strike="noStrike">
                <a:solidFill>
                  <a:srgbClr val="000000"/>
                </a:solidFill>
                <a:effectLst/>
                <a:uFillTx/>
                <a:latin typeface="Courier New"/>
              </a:rPr>
              <a:t>    Store the new assertion as active.</a:t>
            </a:r>
            <a:endParaRPr lang="en-US" sz="1200" b="0" u="none" strike="noStrike">
              <a:solidFill>
                <a:srgbClr val="000000"/>
              </a:solidFill>
              <a:effectLst/>
              <a:uFillTx/>
              <a:latin typeface="Arial"/>
            </a:endParaRPr>
          </a:p>
          <a:p>
            <a:pPr>
              <a:lnSpc>
                <a:spcPct val="100000"/>
              </a:lnSpc>
            </a:pPr>
            <a:endParaRPr lang="en-US" sz="1200" b="0" u="none" strike="noStrike">
              <a:solidFill>
                <a:srgbClr val="000000"/>
              </a:solidFill>
              <a:effectLst/>
              <a:uFillTx/>
              <a:latin typeface="Arial"/>
            </a:endParaRPr>
          </a:p>
          <a:p>
            <a:pPr>
              <a:lnSpc>
                <a:spcPct val="100000"/>
              </a:lnSpc>
            </a:pPr>
            <a:r>
              <a:rPr lang="en-US" sz="1200" b="0" u="none" strike="noStrike">
                <a:solidFill>
                  <a:srgbClr val="000000"/>
                </a:solidFill>
                <a:effectLst/>
                <a:uFillTx/>
                <a:latin typeface="Courier New"/>
              </a:rPr>
              <a:t>ELSE IF explicit correction AND confidence ≥ 0.8:</a:t>
            </a:r>
            <a:endParaRPr lang="en-US" sz="1200" b="0" u="none" strike="noStrike">
              <a:solidFill>
                <a:srgbClr val="000000"/>
              </a:solidFill>
              <a:effectLst/>
              <a:uFillTx/>
              <a:latin typeface="Arial"/>
            </a:endParaRPr>
          </a:p>
          <a:p>
            <a:pPr>
              <a:lnSpc>
                <a:spcPct val="100000"/>
              </a:lnSpc>
            </a:pPr>
            <a:r>
              <a:rPr lang="en-US" sz="1200" b="0" u="none" strike="noStrike">
                <a:solidFill>
                  <a:srgbClr val="000000"/>
                </a:solidFill>
                <a:effectLst/>
                <a:uFillTx/>
                <a:latin typeface="Courier New"/>
              </a:rPr>
              <a:t>    Supersede the old assertion, activate the new.</a:t>
            </a:r>
            <a:endParaRPr lang="en-US" sz="1200" b="0" u="none" strike="noStrike">
              <a:solidFill>
                <a:srgbClr val="000000"/>
              </a:solidFill>
              <a:effectLst/>
              <a:uFillTx/>
              <a:latin typeface="Arial"/>
            </a:endParaRPr>
          </a:p>
          <a:p>
            <a:pPr>
              <a:lnSpc>
                <a:spcPct val="100000"/>
              </a:lnSpc>
            </a:pPr>
            <a:endParaRPr lang="en-US" sz="1200" b="0" u="none" strike="noStrike">
              <a:solidFill>
                <a:srgbClr val="000000"/>
              </a:solidFill>
              <a:effectLst/>
              <a:uFillTx/>
              <a:latin typeface="Arial"/>
            </a:endParaRPr>
          </a:p>
          <a:p>
            <a:pPr>
              <a:lnSpc>
                <a:spcPct val="100000"/>
              </a:lnSpc>
            </a:pPr>
            <a:r>
              <a:rPr lang="en-US" sz="1200" b="0" u="none" strike="noStrike">
                <a:solidFill>
                  <a:srgbClr val="000000"/>
                </a:solidFill>
                <a:effectLst/>
                <a:uFillTx/>
                <a:latin typeface="Courier New"/>
              </a:rPr>
              <a:t>ELSE:</a:t>
            </a:r>
            <a:endParaRPr lang="en-US" sz="1200" b="0" u="none" strike="noStrike">
              <a:solidFill>
                <a:srgbClr val="000000"/>
              </a:solidFill>
              <a:effectLst/>
              <a:uFillTx/>
              <a:latin typeface="Arial"/>
            </a:endParaRPr>
          </a:p>
          <a:p>
            <a:pPr>
              <a:lnSpc>
                <a:spcPct val="100000"/>
              </a:lnSpc>
            </a:pPr>
            <a:r>
              <a:rPr lang="en-US" sz="1200" b="0" u="none" strike="noStrike">
                <a:solidFill>
                  <a:srgbClr val="000000"/>
                </a:solidFill>
                <a:effectLst/>
                <a:uFillTx/>
                <a:latin typeface="Courier New"/>
              </a:rPr>
              <a:t>    Mark both values as disputed.</a:t>
            </a:r>
            <a:endParaRPr lang="en-US" sz="1200" b="0" u="none" strike="noStrik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14.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48" name="Text 68"/>
          <p:cNvSpPr/>
          <p:nvPr/>
        </p:nvSpPr>
        <p:spPr>
          <a:xfrm>
            <a:off x="595080" y="384120"/>
            <a:ext cx="9813240" cy="77616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3000" b="0" u="none" strike="noStrike">
                <a:solidFill>
                  <a:srgbClr val="000000"/>
                </a:solidFill>
                <a:effectLst/>
                <a:uFillTx/>
                <a:latin typeface="Times New Roman"/>
                <a:ea typeface="Times New Roman"/>
              </a:rPr>
              <a:t>ALGORITHMS OR METHODOLOGY</a:t>
            </a:r>
            <a:endParaRPr lang="en-US" sz="3000" b="0" u="none" strike="noStrike">
              <a:solidFill>
                <a:srgbClr val="000000"/>
              </a:solidFill>
              <a:effectLst/>
              <a:uFillTx/>
              <a:latin typeface="Arial"/>
            </a:endParaRPr>
          </a:p>
        </p:txBody>
      </p:sp>
      <p:sp>
        <p:nvSpPr>
          <p:cNvPr id="49" name=""/>
          <p:cNvSpPr/>
          <p:nvPr/>
        </p:nvSpPr>
        <p:spPr>
          <a:xfrm>
            <a:off x="685800" y="1334880"/>
            <a:ext cx="4886280" cy="3887640"/>
          </a:xfrm>
          <a:prstGeom prst="rect">
            <a:avLst/>
          </a:prstGeom>
          <a:noFill/>
          <a:ln w="38160">
            <a:noFill/>
          </a:ln>
        </p:spPr>
        <p:style>
          <a:lnRef idx="0"/>
          <a:fillRef idx="0"/>
          <a:effectRef idx="0"/>
          <a:fontRef idx="minor"/>
        </p:style>
        <p:txBody>
          <a:bodyPr lIns="90000" tIns="45000" rIns="90000" bIns="45000" anchor="t">
            <a:spAutoFit/>
          </a:bodyPr>
          <a:p>
            <a:pPr>
              <a:lnSpc>
                <a:spcPct val="100000"/>
              </a:lnSpc>
            </a:pPr>
            <a:r>
              <a:rPr lang="en-US" sz="1400" b="1" u="none" strike="noStrike">
                <a:solidFill>
                  <a:srgbClr val="000000"/>
                </a:solidFill>
                <a:effectLst/>
                <a:uFillTx/>
                <a:latin typeface="Times New Roman"/>
              </a:rPr>
              <a:t>3. Memory consolidation and invalidation</a:t>
            </a:r>
            <a:endParaRPr lang="en-US" sz="1400" b="0" u="none" strike="noStrike">
              <a:solidFill>
                <a:srgbClr val="000000"/>
              </a:solidFill>
              <a:effectLst/>
              <a:uFillTx/>
              <a:latin typeface="Arial"/>
            </a:endParaRPr>
          </a:p>
          <a:p>
            <a:pPr>
              <a:lnSpc>
                <a:spcPct val="100000"/>
              </a:lnSpc>
            </a:pPr>
            <a:r>
              <a:rPr lang="en-US" sz="1200" b="0" u="none" strike="noStrike">
                <a:solidFill>
                  <a:srgbClr val="000000"/>
                </a:solidFill>
                <a:effectLst/>
                <a:uFillTx/>
                <a:latin typeface="Times New Roman"/>
              </a:rPr>
              <a:t>Input: Active assertions about the affected entities.</a:t>
            </a:r>
            <a:endParaRPr lang="en-US" sz="1200" b="0" u="none" strike="noStrike">
              <a:solidFill>
                <a:srgbClr val="000000"/>
              </a:solidFill>
              <a:effectLst/>
              <a:uFillTx/>
              <a:latin typeface="Arial"/>
            </a:endParaRPr>
          </a:p>
          <a:p>
            <a:pPr>
              <a:lnSpc>
                <a:spcPct val="100000"/>
              </a:lnSpc>
            </a:pPr>
            <a:endParaRPr lang="en-US" sz="1200" b="0" u="none" strike="noStrike">
              <a:solidFill>
                <a:srgbClr val="000000"/>
              </a:solidFill>
              <a:effectLst/>
              <a:uFillTx/>
              <a:latin typeface="Arial"/>
            </a:endParaRPr>
          </a:p>
          <a:p>
            <a:pPr>
              <a:lnSpc>
                <a:spcPct val="100000"/>
              </a:lnSpc>
            </a:pPr>
            <a:r>
              <a:rPr lang="en-US" sz="1200" b="0" u="none" strike="noStrike">
                <a:solidFill>
                  <a:srgbClr val="000000"/>
                </a:solidFill>
                <a:effectLst/>
                <a:uFillTx/>
                <a:latin typeface="Courier New"/>
              </a:rPr>
              <a:t>Ask the Extractor SLM to combine related assertions into inferences.</a:t>
            </a:r>
            <a:endParaRPr lang="en-US" sz="1200" b="0" u="none" strike="noStrike">
              <a:solidFill>
                <a:srgbClr val="000000"/>
              </a:solidFill>
              <a:effectLst/>
              <a:uFillTx/>
              <a:latin typeface="Arial"/>
            </a:endParaRPr>
          </a:p>
          <a:p>
            <a:pPr>
              <a:lnSpc>
                <a:spcPct val="100000"/>
              </a:lnSpc>
            </a:pPr>
            <a:endParaRPr lang="en-US" sz="1200" b="0" u="none" strike="noStrike">
              <a:solidFill>
                <a:srgbClr val="000000"/>
              </a:solidFill>
              <a:effectLst/>
              <a:uFillTx/>
              <a:latin typeface="Arial"/>
            </a:endParaRPr>
          </a:p>
          <a:p>
            <a:pPr>
              <a:lnSpc>
                <a:spcPct val="100000"/>
              </a:lnSpc>
            </a:pPr>
            <a:r>
              <a:rPr lang="en-US" sz="1200" b="0" u="none" strike="noStrike">
                <a:solidFill>
                  <a:srgbClr val="000000"/>
                </a:solidFill>
                <a:effectLst/>
                <a:uFillTx/>
                <a:latin typeface="Courier New"/>
              </a:rPr>
              <a:t>Require at least two supporting assertions.</a:t>
            </a:r>
            <a:endParaRPr lang="en-US" sz="1200" b="0" u="none" strike="noStrike">
              <a:solidFill>
                <a:srgbClr val="000000"/>
              </a:solidFill>
              <a:effectLst/>
              <a:uFillTx/>
              <a:latin typeface="Arial"/>
            </a:endParaRPr>
          </a:p>
          <a:p>
            <a:pPr>
              <a:lnSpc>
                <a:spcPct val="100000"/>
              </a:lnSpc>
            </a:pPr>
            <a:endParaRPr lang="en-US" sz="1200" b="0" u="none" strike="noStrike">
              <a:solidFill>
                <a:srgbClr val="000000"/>
              </a:solidFill>
              <a:effectLst/>
              <a:uFillTx/>
              <a:latin typeface="Arial"/>
            </a:endParaRPr>
          </a:p>
          <a:p>
            <a:pPr>
              <a:lnSpc>
                <a:spcPct val="100000"/>
              </a:lnSpc>
            </a:pPr>
            <a:r>
              <a:rPr lang="en-US" sz="1200" b="0" u="none" strike="noStrike">
                <a:solidFill>
                  <a:srgbClr val="000000"/>
                </a:solidFill>
                <a:effectLst/>
                <a:uFillTx/>
                <a:latin typeface="Courier New"/>
              </a:rPr>
              <a:t>Check support IDs and the inference’s subject.</a:t>
            </a:r>
            <a:endParaRPr lang="en-US" sz="1200" b="0" u="none" strike="noStrike">
              <a:solidFill>
                <a:srgbClr val="000000"/>
              </a:solidFill>
              <a:effectLst/>
              <a:uFillTx/>
              <a:latin typeface="Arial"/>
            </a:endParaRPr>
          </a:p>
          <a:p>
            <a:pPr>
              <a:lnSpc>
                <a:spcPct val="100000"/>
              </a:lnSpc>
            </a:pPr>
            <a:endParaRPr lang="en-US" sz="1200" b="0" u="none" strike="noStrike">
              <a:solidFill>
                <a:srgbClr val="000000"/>
              </a:solidFill>
              <a:effectLst/>
              <a:uFillTx/>
              <a:latin typeface="Arial"/>
            </a:endParaRPr>
          </a:p>
          <a:p>
            <a:pPr>
              <a:lnSpc>
                <a:spcPct val="100000"/>
              </a:lnSpc>
            </a:pPr>
            <a:r>
              <a:rPr lang="en-US" sz="1200" b="0" u="none" strike="noStrike">
                <a:solidFill>
                  <a:srgbClr val="000000"/>
                </a:solidFill>
                <a:effectLst/>
                <a:uFillTx/>
                <a:latin typeface="Courier New"/>
              </a:rPr>
              <a:t>Recheck that supporting assertions are active before saving.</a:t>
            </a:r>
            <a:endParaRPr lang="en-US" sz="1200" b="0" u="none" strike="noStrike">
              <a:solidFill>
                <a:srgbClr val="000000"/>
              </a:solidFill>
              <a:effectLst/>
              <a:uFillTx/>
              <a:latin typeface="Arial"/>
            </a:endParaRPr>
          </a:p>
          <a:p>
            <a:pPr>
              <a:lnSpc>
                <a:spcPct val="100000"/>
              </a:lnSpc>
            </a:pPr>
            <a:endParaRPr lang="en-US" sz="1200" b="0" u="none" strike="noStrike">
              <a:solidFill>
                <a:srgbClr val="000000"/>
              </a:solidFill>
              <a:effectLst/>
              <a:uFillTx/>
              <a:latin typeface="Arial"/>
            </a:endParaRPr>
          </a:p>
          <a:p>
            <a:pPr>
              <a:lnSpc>
                <a:spcPct val="100000"/>
              </a:lnSpc>
            </a:pPr>
            <a:r>
              <a:rPr lang="en-US" sz="1200" b="0" u="none" strike="noStrike">
                <a:solidFill>
                  <a:srgbClr val="000000"/>
                </a:solidFill>
                <a:effectLst/>
                <a:uFillTx/>
                <a:latin typeface="Courier New"/>
              </a:rPr>
              <a:t>Store each inference with its support links.</a:t>
            </a:r>
            <a:endParaRPr lang="en-US" sz="1200" b="0" u="none" strike="noStrike">
              <a:solidFill>
                <a:srgbClr val="000000"/>
              </a:solidFill>
              <a:effectLst/>
              <a:uFillTx/>
              <a:latin typeface="Arial"/>
            </a:endParaRPr>
          </a:p>
          <a:p>
            <a:pPr>
              <a:lnSpc>
                <a:spcPct val="100000"/>
              </a:lnSpc>
            </a:pPr>
            <a:endParaRPr lang="en-US" sz="1200" b="0" u="none" strike="noStrike">
              <a:solidFill>
                <a:srgbClr val="000000"/>
              </a:solidFill>
              <a:effectLst/>
              <a:uFillTx/>
              <a:latin typeface="Arial"/>
            </a:endParaRPr>
          </a:p>
          <a:p>
            <a:pPr>
              <a:lnSpc>
                <a:spcPct val="100000"/>
              </a:lnSpc>
            </a:pPr>
            <a:r>
              <a:rPr lang="en-US" sz="1200" b="0" u="none" strike="noStrike">
                <a:solidFill>
                  <a:srgbClr val="000000"/>
                </a:solidFill>
                <a:effectLst/>
                <a:uFillTx/>
                <a:latin typeface="Courier New"/>
              </a:rPr>
              <a:t>WHEN supporting assertions change or are retracted:</a:t>
            </a:r>
            <a:endParaRPr lang="en-US" sz="1200" b="0" u="none" strike="noStrike">
              <a:solidFill>
                <a:srgbClr val="000000"/>
              </a:solidFill>
              <a:effectLst/>
              <a:uFillTx/>
              <a:latin typeface="Arial"/>
            </a:endParaRPr>
          </a:p>
          <a:p>
            <a:pPr>
              <a:lnSpc>
                <a:spcPct val="100000"/>
              </a:lnSpc>
            </a:pPr>
            <a:r>
              <a:rPr lang="en-US" sz="1200" b="0" u="none" strike="noStrike">
                <a:solidFill>
                  <a:srgbClr val="000000"/>
                </a:solidFill>
                <a:effectLst/>
                <a:uFillTx/>
                <a:latin typeface="Courier New"/>
              </a:rPr>
              <a:t>    Recursively find dependent inferences.</a:t>
            </a:r>
            <a:endParaRPr lang="en-US" sz="1200" b="0" u="none" strike="noStrike">
              <a:solidFill>
                <a:srgbClr val="000000"/>
              </a:solidFill>
              <a:effectLst/>
              <a:uFillTx/>
              <a:latin typeface="Arial"/>
            </a:endParaRPr>
          </a:p>
          <a:p>
            <a:pPr>
              <a:lnSpc>
                <a:spcPct val="100000"/>
              </a:lnSpc>
            </a:pPr>
            <a:r>
              <a:rPr lang="en-US" sz="1200" b="0" u="none" strike="noStrike">
                <a:solidFill>
                  <a:srgbClr val="000000"/>
                </a:solidFill>
                <a:effectLst/>
                <a:uFillTx/>
                <a:latin typeface="Courier New"/>
              </a:rPr>
              <a:t>    Mark them as stale.</a:t>
            </a:r>
            <a:endParaRPr lang="en-US" sz="1200" b="0" u="none" strike="noStrike">
              <a:solidFill>
                <a:srgbClr val="000000"/>
              </a:solidFill>
              <a:effectLst/>
              <a:uFillTx/>
              <a:latin typeface="Arial"/>
            </a:endParaRPr>
          </a:p>
        </p:txBody>
      </p:sp>
      <p:sp>
        <p:nvSpPr>
          <p:cNvPr id="50" name=""/>
          <p:cNvSpPr/>
          <p:nvPr/>
        </p:nvSpPr>
        <p:spPr>
          <a:xfrm>
            <a:off x="5857200" y="1371600"/>
            <a:ext cx="4886280" cy="4403880"/>
          </a:xfrm>
          <a:prstGeom prst="rect">
            <a:avLst/>
          </a:prstGeom>
          <a:noFill/>
          <a:ln w="38160">
            <a:noFill/>
          </a:ln>
        </p:spPr>
        <p:style>
          <a:lnRef idx="0"/>
          <a:fillRef idx="0"/>
          <a:effectRef idx="0"/>
          <a:fontRef idx="minor"/>
        </p:style>
        <p:txBody>
          <a:bodyPr lIns="90000" tIns="45000" rIns="90000" bIns="45000" anchor="t">
            <a:spAutoFit/>
          </a:bodyPr>
          <a:p>
            <a:pPr>
              <a:lnSpc>
                <a:spcPct val="100000"/>
              </a:lnSpc>
            </a:pPr>
            <a:r>
              <a:rPr lang="en-US" sz="1400" b="1" u="none" strike="noStrike">
                <a:solidFill>
                  <a:srgbClr val="000000"/>
                </a:solidFill>
                <a:effectLst/>
                <a:uFillTx/>
                <a:latin typeface="Times New Roman"/>
              </a:rPr>
              <a:t>4. Hybrid retrieval and graph traversal</a:t>
            </a:r>
            <a:endParaRPr lang="en-US" sz="1400" b="0" u="none" strike="noStrike">
              <a:solidFill>
                <a:srgbClr val="000000"/>
              </a:solidFill>
              <a:effectLst/>
              <a:uFillTx/>
              <a:latin typeface="Arial"/>
            </a:endParaRPr>
          </a:p>
          <a:p>
            <a:pPr>
              <a:lnSpc>
                <a:spcPct val="100000"/>
              </a:lnSpc>
            </a:pPr>
            <a:r>
              <a:rPr lang="en-US" sz="1200" b="0" u="none" strike="noStrike">
                <a:solidFill>
                  <a:srgbClr val="000000"/>
                </a:solidFill>
                <a:effectLst/>
                <a:uFillTx/>
                <a:latin typeface="Times New Roman"/>
              </a:rPr>
              <a:t>Input: A question and optional date restrictions.</a:t>
            </a:r>
            <a:endParaRPr lang="en-US" sz="1200" b="0" u="none" strike="noStrike">
              <a:solidFill>
                <a:srgbClr val="000000"/>
              </a:solidFill>
              <a:effectLst/>
              <a:uFillTx/>
              <a:latin typeface="Arial"/>
            </a:endParaRPr>
          </a:p>
          <a:p>
            <a:pPr>
              <a:lnSpc>
                <a:spcPct val="100000"/>
              </a:lnSpc>
            </a:pPr>
            <a:endParaRPr lang="en-US" sz="1200" b="0" u="none" strike="noStrike">
              <a:solidFill>
                <a:srgbClr val="000000"/>
              </a:solidFill>
              <a:effectLst/>
              <a:uFillTx/>
              <a:latin typeface="Arial"/>
            </a:endParaRPr>
          </a:p>
          <a:p>
            <a:pPr>
              <a:lnSpc>
                <a:spcPct val="100000"/>
              </a:lnSpc>
            </a:pPr>
            <a:r>
              <a:rPr lang="en-US" sz="1200" b="0" u="none" strike="noStrike">
                <a:solidFill>
                  <a:srgbClr val="000000"/>
                </a:solidFill>
                <a:effectLst/>
                <a:uFillTx/>
                <a:latin typeface="Courier New"/>
              </a:rPr>
              <a:t>Resolve supported date phrases when planning is enabled.</a:t>
            </a:r>
            <a:endParaRPr lang="en-US" sz="1200" b="0" u="none" strike="noStrike">
              <a:solidFill>
                <a:srgbClr val="000000"/>
              </a:solidFill>
              <a:effectLst/>
              <a:uFillTx/>
              <a:latin typeface="Arial"/>
            </a:endParaRPr>
          </a:p>
          <a:p>
            <a:pPr>
              <a:lnSpc>
                <a:spcPct val="100000"/>
              </a:lnSpc>
            </a:pPr>
            <a:endParaRPr lang="en-US" sz="1200" b="0" u="none" strike="noStrike">
              <a:solidFill>
                <a:srgbClr val="000000"/>
              </a:solidFill>
              <a:effectLst/>
              <a:uFillTx/>
              <a:latin typeface="Arial"/>
            </a:endParaRPr>
          </a:p>
          <a:p>
            <a:pPr>
              <a:lnSpc>
                <a:spcPct val="100000"/>
              </a:lnSpc>
            </a:pPr>
            <a:r>
              <a:rPr lang="en-US" sz="1200" b="0" u="none" strike="noStrike">
                <a:solidFill>
                  <a:srgbClr val="000000"/>
                </a:solidFill>
                <a:effectLst/>
                <a:uFillTx/>
                <a:latin typeface="Courier New"/>
              </a:rPr>
              <a:t>Find candidates using keyword and vector searches.</a:t>
            </a:r>
            <a:endParaRPr lang="en-US" sz="1200" b="0" u="none" strike="noStrike">
              <a:solidFill>
                <a:srgbClr val="000000"/>
              </a:solidFill>
              <a:effectLst/>
              <a:uFillTx/>
              <a:latin typeface="Arial"/>
            </a:endParaRPr>
          </a:p>
          <a:p>
            <a:pPr>
              <a:lnSpc>
                <a:spcPct val="100000"/>
              </a:lnSpc>
            </a:pPr>
            <a:endParaRPr lang="en-US" sz="1200" b="0" u="none" strike="noStrike">
              <a:solidFill>
                <a:srgbClr val="000000"/>
              </a:solidFill>
              <a:effectLst/>
              <a:uFillTx/>
              <a:latin typeface="Arial"/>
            </a:endParaRPr>
          </a:p>
          <a:p>
            <a:pPr>
              <a:lnSpc>
                <a:spcPct val="100000"/>
              </a:lnSpc>
            </a:pPr>
            <a:r>
              <a:rPr lang="en-US" sz="1200" b="0" u="none" strike="noStrike">
                <a:solidFill>
                  <a:srgbClr val="000000"/>
                </a:solidFill>
                <a:effectLst/>
                <a:uFillTx/>
                <a:latin typeface="Courier New"/>
              </a:rPr>
              <a:t>Include time-based candidates when a date window exists.</a:t>
            </a:r>
            <a:endParaRPr lang="en-US" sz="1200" b="0" u="none" strike="noStrike">
              <a:solidFill>
                <a:srgbClr val="000000"/>
              </a:solidFill>
              <a:effectLst/>
              <a:uFillTx/>
              <a:latin typeface="Arial"/>
            </a:endParaRPr>
          </a:p>
          <a:p>
            <a:pPr>
              <a:lnSpc>
                <a:spcPct val="100000"/>
              </a:lnSpc>
            </a:pPr>
            <a:endParaRPr lang="en-US" sz="1200" b="0" u="none" strike="noStrike">
              <a:solidFill>
                <a:srgbClr val="000000"/>
              </a:solidFill>
              <a:effectLst/>
              <a:uFillTx/>
              <a:latin typeface="Arial"/>
            </a:endParaRPr>
          </a:p>
          <a:p>
            <a:pPr>
              <a:lnSpc>
                <a:spcPct val="100000"/>
              </a:lnSpc>
            </a:pPr>
            <a:r>
              <a:rPr lang="en-US" sz="1200" b="0" u="none" strike="noStrike">
                <a:solidFill>
                  <a:srgbClr val="000000"/>
                </a:solidFill>
                <a:effectLst/>
                <a:uFillTx/>
                <a:latin typeface="Courier New"/>
              </a:rPr>
              <a:t>Start graph traversal from matching assertions and entities.</a:t>
            </a:r>
            <a:endParaRPr lang="en-US" sz="1200" b="0" u="none" strike="noStrike">
              <a:solidFill>
                <a:srgbClr val="000000"/>
              </a:solidFill>
              <a:effectLst/>
              <a:uFillTx/>
              <a:latin typeface="Arial"/>
            </a:endParaRPr>
          </a:p>
          <a:p>
            <a:pPr>
              <a:lnSpc>
                <a:spcPct val="100000"/>
              </a:lnSpc>
            </a:pPr>
            <a:endParaRPr lang="en-US" sz="1200" b="0" u="none" strike="noStrike">
              <a:solidFill>
                <a:srgbClr val="000000"/>
              </a:solidFill>
              <a:effectLst/>
              <a:uFillTx/>
              <a:latin typeface="Arial"/>
            </a:endParaRPr>
          </a:p>
          <a:p>
            <a:pPr>
              <a:lnSpc>
                <a:spcPct val="100000"/>
              </a:lnSpc>
            </a:pPr>
            <a:r>
              <a:rPr lang="en-US" sz="1200" b="0" u="none" strike="noStrike">
                <a:solidFill>
                  <a:srgbClr val="000000"/>
                </a:solidFill>
                <a:effectLst/>
                <a:uFillTx/>
                <a:latin typeface="Courier New"/>
              </a:rPr>
              <a:t>Expand through entity/support links for two bounded rounds.</a:t>
            </a:r>
            <a:endParaRPr lang="en-US" sz="1200" b="0" u="none" strike="noStrike">
              <a:solidFill>
                <a:srgbClr val="000000"/>
              </a:solidFill>
              <a:effectLst/>
              <a:uFillTx/>
              <a:latin typeface="Arial"/>
            </a:endParaRPr>
          </a:p>
          <a:p>
            <a:pPr>
              <a:lnSpc>
                <a:spcPct val="100000"/>
              </a:lnSpc>
            </a:pPr>
            <a:endParaRPr lang="en-US" sz="1200" b="0" u="none" strike="noStrike">
              <a:solidFill>
                <a:srgbClr val="000000"/>
              </a:solidFill>
              <a:effectLst/>
              <a:uFillTx/>
              <a:latin typeface="Arial"/>
            </a:endParaRPr>
          </a:p>
          <a:p>
            <a:pPr>
              <a:lnSpc>
                <a:spcPct val="100000"/>
              </a:lnSpc>
            </a:pPr>
            <a:r>
              <a:rPr lang="en-US" sz="1200" b="0" u="none" strike="noStrike">
                <a:solidFill>
                  <a:srgbClr val="000000"/>
                </a:solidFill>
                <a:effectLst/>
                <a:uFillTx/>
                <a:latin typeface="Courier New"/>
              </a:rPr>
              <a:t>Filter results by validity and any supplied relevance cutoff.</a:t>
            </a:r>
            <a:endParaRPr lang="en-US" sz="1200" b="0" u="none" strike="noStrike">
              <a:solidFill>
                <a:srgbClr val="000000"/>
              </a:solidFill>
              <a:effectLst/>
              <a:uFillTx/>
              <a:latin typeface="Arial"/>
            </a:endParaRPr>
          </a:p>
          <a:p>
            <a:pPr>
              <a:lnSpc>
                <a:spcPct val="100000"/>
              </a:lnSpc>
            </a:pPr>
            <a:endParaRPr lang="en-US" sz="1200" b="0" u="none" strike="noStrike">
              <a:solidFill>
                <a:srgbClr val="000000"/>
              </a:solidFill>
              <a:effectLst/>
              <a:uFillTx/>
              <a:latin typeface="Arial"/>
            </a:endParaRPr>
          </a:p>
          <a:p>
            <a:pPr>
              <a:lnSpc>
                <a:spcPct val="100000"/>
              </a:lnSpc>
            </a:pPr>
            <a:r>
              <a:rPr lang="en-US" sz="1200" b="0" u="none" strike="noStrike">
                <a:solidFill>
                  <a:srgbClr val="000000"/>
                </a:solidFill>
                <a:effectLst/>
                <a:uFillTx/>
                <a:latin typeface="Courier New"/>
              </a:rPr>
              <a:t>Return candidate lists for ranking.</a:t>
            </a:r>
            <a:endParaRPr lang="en-US" sz="1200" b="0" u="none" strike="noStrik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15.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51" name="Text 70"/>
          <p:cNvSpPr/>
          <p:nvPr/>
        </p:nvSpPr>
        <p:spPr>
          <a:xfrm>
            <a:off x="595080" y="384120"/>
            <a:ext cx="9813240" cy="77616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3000" b="0" u="none" strike="noStrike">
                <a:solidFill>
                  <a:srgbClr val="000000"/>
                </a:solidFill>
                <a:effectLst/>
                <a:uFillTx/>
                <a:latin typeface="Times New Roman"/>
                <a:ea typeface="Times New Roman"/>
              </a:rPr>
              <a:t>ALGORITHMS OR METHODOLOGY</a:t>
            </a:r>
            <a:endParaRPr lang="en-US" sz="3000" b="0" u="none" strike="noStrike">
              <a:solidFill>
                <a:srgbClr val="000000"/>
              </a:solidFill>
              <a:effectLst/>
              <a:uFillTx/>
              <a:latin typeface="Arial"/>
            </a:endParaRPr>
          </a:p>
        </p:txBody>
      </p:sp>
      <p:sp>
        <p:nvSpPr>
          <p:cNvPr id="52" name=""/>
          <p:cNvSpPr/>
          <p:nvPr/>
        </p:nvSpPr>
        <p:spPr>
          <a:xfrm>
            <a:off x="685800" y="1334880"/>
            <a:ext cx="4886280" cy="3887640"/>
          </a:xfrm>
          <a:prstGeom prst="rect">
            <a:avLst/>
          </a:prstGeom>
          <a:noFill/>
          <a:ln w="38160">
            <a:noFill/>
          </a:ln>
        </p:spPr>
        <p:style>
          <a:lnRef idx="0"/>
          <a:fillRef idx="0"/>
          <a:effectRef idx="0"/>
          <a:fontRef idx="minor"/>
        </p:style>
        <p:txBody>
          <a:bodyPr lIns="90000" tIns="45000" rIns="90000" bIns="45000" anchor="t">
            <a:spAutoFit/>
          </a:bodyPr>
          <a:p>
            <a:pPr>
              <a:lnSpc>
                <a:spcPct val="100000"/>
              </a:lnSpc>
            </a:pPr>
            <a:r>
              <a:rPr lang="en-US" sz="1400" b="1" u="none" strike="noStrike">
                <a:solidFill>
                  <a:srgbClr val="000000"/>
                </a:solidFill>
                <a:effectLst/>
                <a:uFillTx/>
                <a:latin typeface="Times New Roman"/>
              </a:rPr>
              <a:t>5. Reciprocal Rank Fusion and context packing</a:t>
            </a:r>
            <a:endParaRPr lang="en-US" sz="1400" b="0" u="none" strike="noStrike">
              <a:solidFill>
                <a:srgbClr val="000000"/>
              </a:solidFill>
              <a:effectLst/>
              <a:uFillTx/>
              <a:latin typeface="Arial"/>
            </a:endParaRPr>
          </a:p>
          <a:p>
            <a:pPr>
              <a:lnSpc>
                <a:spcPct val="100000"/>
              </a:lnSpc>
            </a:pPr>
            <a:r>
              <a:rPr lang="en-US" sz="1200" b="0" u="none" strike="noStrike">
                <a:solidFill>
                  <a:srgbClr val="000000"/>
                </a:solidFill>
                <a:effectLst/>
                <a:uFillTx/>
                <a:latin typeface="Times New Roman"/>
              </a:rPr>
              <a:t>Input: Ranked candidate lists and a context budget.</a:t>
            </a:r>
            <a:endParaRPr lang="en-US" sz="1200" b="0" u="none" strike="noStrike">
              <a:solidFill>
                <a:srgbClr val="000000"/>
              </a:solidFill>
              <a:effectLst/>
              <a:uFillTx/>
              <a:latin typeface="Arial"/>
            </a:endParaRPr>
          </a:p>
          <a:p>
            <a:pPr>
              <a:lnSpc>
                <a:spcPct val="100000"/>
              </a:lnSpc>
            </a:pPr>
            <a:endParaRPr lang="en-US" sz="1200" b="0" u="none" strike="noStrike">
              <a:solidFill>
                <a:srgbClr val="000000"/>
              </a:solidFill>
              <a:effectLst/>
              <a:uFillTx/>
              <a:latin typeface="Arial"/>
            </a:endParaRPr>
          </a:p>
          <a:p>
            <a:pPr>
              <a:lnSpc>
                <a:spcPct val="100000"/>
              </a:lnSpc>
            </a:pPr>
            <a:r>
              <a:rPr lang="en-US" sz="1200" b="0" u="none" strike="noStrike">
                <a:solidFill>
                  <a:srgbClr val="000000"/>
                </a:solidFill>
                <a:effectLst/>
                <a:uFillTx/>
                <a:latin typeface="Courier New"/>
              </a:rPr>
              <a:t>FOR each memory:</a:t>
            </a:r>
            <a:endParaRPr lang="en-US" sz="1200" b="0" u="none" strike="noStrike">
              <a:solidFill>
                <a:srgbClr val="000000"/>
              </a:solidFill>
              <a:effectLst/>
              <a:uFillTx/>
              <a:latin typeface="Arial"/>
            </a:endParaRPr>
          </a:p>
          <a:p>
            <a:pPr>
              <a:lnSpc>
                <a:spcPct val="100000"/>
              </a:lnSpc>
            </a:pPr>
            <a:r>
              <a:rPr lang="en-US" sz="1200" b="0" u="none" strike="noStrike">
                <a:solidFill>
                  <a:srgbClr val="000000"/>
                </a:solidFill>
                <a:effectLst/>
                <a:uFillTx/>
                <a:latin typeface="Courier New"/>
              </a:rPr>
              <a:t>    Score = SUM[1 / (60 + rank)] across search lists.</a:t>
            </a:r>
            <a:endParaRPr lang="en-US" sz="1200" b="0" u="none" strike="noStrike">
              <a:solidFill>
                <a:srgbClr val="000000"/>
              </a:solidFill>
              <a:effectLst/>
              <a:uFillTx/>
              <a:latin typeface="Arial"/>
            </a:endParaRPr>
          </a:p>
          <a:p>
            <a:pPr>
              <a:lnSpc>
                <a:spcPct val="100000"/>
              </a:lnSpc>
            </a:pPr>
            <a:endParaRPr lang="en-US" sz="1200" b="0" u="none" strike="noStrike">
              <a:solidFill>
                <a:srgbClr val="000000"/>
              </a:solidFill>
              <a:effectLst/>
              <a:uFillTx/>
              <a:latin typeface="Arial"/>
            </a:endParaRPr>
          </a:p>
          <a:p>
            <a:pPr>
              <a:lnSpc>
                <a:spcPct val="100000"/>
              </a:lnSpc>
            </a:pPr>
            <a:r>
              <a:rPr lang="en-US" sz="1200" b="0" u="none" strike="noStrike">
                <a:solidFill>
                  <a:srgbClr val="000000"/>
                </a:solidFill>
                <a:effectLst/>
                <a:uFillTx/>
                <a:latin typeface="Courier New"/>
              </a:rPr>
              <a:t>Sort by decreasing score; break ties by memory ID.</a:t>
            </a:r>
            <a:endParaRPr lang="en-US" sz="1200" b="0" u="none" strike="noStrike">
              <a:solidFill>
                <a:srgbClr val="000000"/>
              </a:solidFill>
              <a:effectLst/>
              <a:uFillTx/>
              <a:latin typeface="Arial"/>
            </a:endParaRPr>
          </a:p>
          <a:p>
            <a:pPr>
              <a:lnSpc>
                <a:spcPct val="100000"/>
              </a:lnSpc>
            </a:pPr>
            <a:endParaRPr lang="en-US" sz="1200" b="0" u="none" strike="noStrike">
              <a:solidFill>
                <a:srgbClr val="000000"/>
              </a:solidFill>
              <a:effectLst/>
              <a:uFillTx/>
              <a:latin typeface="Arial"/>
            </a:endParaRPr>
          </a:p>
          <a:p>
            <a:pPr>
              <a:lnSpc>
                <a:spcPct val="100000"/>
              </a:lnSpc>
            </a:pPr>
            <a:r>
              <a:rPr lang="en-US" sz="1200" b="0" u="none" strike="noStrike">
                <a:solidFill>
                  <a:srgbClr val="000000"/>
                </a:solidFill>
                <a:effectLst/>
                <a:uFillTx/>
                <a:latin typeface="Courier New"/>
              </a:rPr>
              <a:t>FOR each ranked memory:</a:t>
            </a:r>
            <a:endParaRPr lang="en-US" sz="1200" b="0" u="none" strike="noStrike">
              <a:solidFill>
                <a:srgbClr val="000000"/>
              </a:solidFill>
              <a:effectLst/>
              <a:uFillTx/>
              <a:latin typeface="Arial"/>
            </a:endParaRPr>
          </a:p>
          <a:p>
            <a:pPr>
              <a:lnSpc>
                <a:spcPct val="100000"/>
              </a:lnSpc>
            </a:pPr>
            <a:r>
              <a:rPr lang="en-US" sz="1200" b="0" u="none" strike="noStrike">
                <a:solidFill>
                  <a:srgbClr val="000000"/>
                </a:solidFill>
                <a:effectLst/>
                <a:uFillTx/>
                <a:latin typeface="Courier New"/>
              </a:rPr>
              <a:t>    Build a block with the assertion and source         quotes.</a:t>
            </a:r>
            <a:endParaRPr lang="en-US" sz="1200" b="0" u="none" strike="noStrike">
              <a:solidFill>
                <a:srgbClr val="000000"/>
              </a:solidFill>
              <a:effectLst/>
              <a:uFillTx/>
              <a:latin typeface="Arial"/>
            </a:endParaRPr>
          </a:p>
          <a:p>
            <a:pPr>
              <a:lnSpc>
                <a:spcPct val="100000"/>
              </a:lnSpc>
            </a:pPr>
            <a:r>
              <a:rPr lang="en-US" sz="1200" b="0" u="none" strike="noStrike">
                <a:solidFill>
                  <a:srgbClr val="000000"/>
                </a:solidFill>
                <a:effectLst/>
                <a:uFillTx/>
                <a:latin typeface="Courier New"/>
              </a:rPr>
              <a:t>    Add it if it fits; otherwise consider the next      memory.</a:t>
            </a:r>
            <a:endParaRPr lang="en-US" sz="1200" b="0" u="none" strike="noStrike">
              <a:solidFill>
                <a:srgbClr val="000000"/>
              </a:solidFill>
              <a:effectLst/>
              <a:uFillTx/>
              <a:latin typeface="Arial"/>
            </a:endParaRPr>
          </a:p>
          <a:p>
            <a:pPr>
              <a:lnSpc>
                <a:spcPct val="100000"/>
              </a:lnSpc>
            </a:pPr>
            <a:r>
              <a:rPr lang="en-US" sz="1200" b="0" u="none" strike="noStrike">
                <a:solidFill>
                  <a:srgbClr val="000000"/>
                </a:solidFill>
                <a:effectLst/>
                <a:uFillTx/>
                <a:latin typeface="Courier New"/>
              </a:rPr>
              <a:t>    Stop when the requested number of memories is       reached.</a:t>
            </a:r>
            <a:endParaRPr lang="en-US" sz="1200" b="0" u="none" strike="noStrike">
              <a:solidFill>
                <a:srgbClr val="000000"/>
              </a:solidFill>
              <a:effectLst/>
              <a:uFillTx/>
              <a:latin typeface="Arial"/>
            </a:endParaRPr>
          </a:p>
          <a:p>
            <a:pPr>
              <a:lnSpc>
                <a:spcPct val="100000"/>
              </a:lnSpc>
            </a:pPr>
            <a:endParaRPr lang="en-US" sz="1200" b="0" u="none" strike="noStrike">
              <a:solidFill>
                <a:srgbClr val="000000"/>
              </a:solidFill>
              <a:effectLst/>
              <a:uFillTx/>
              <a:latin typeface="Arial"/>
            </a:endParaRPr>
          </a:p>
          <a:p>
            <a:pPr>
              <a:lnSpc>
                <a:spcPct val="100000"/>
              </a:lnSpc>
            </a:pPr>
            <a:r>
              <a:rPr lang="en-US" sz="1200" b="0" u="none" strike="noStrike">
                <a:solidFill>
                  <a:srgbClr val="000000"/>
                </a:solidFill>
                <a:effectLst/>
                <a:uFillTx/>
                <a:latin typeface="Courier New"/>
              </a:rPr>
              <a:t>Return the packed context.</a:t>
            </a:r>
            <a:endParaRPr lang="en-US" sz="1200" b="0" u="none" strike="noStrike">
              <a:solidFill>
                <a:srgbClr val="000000"/>
              </a:solidFill>
              <a:effectLst/>
              <a:uFillTx/>
              <a:latin typeface="Arial"/>
            </a:endParaRPr>
          </a:p>
        </p:txBody>
      </p:sp>
      <p:sp>
        <p:nvSpPr>
          <p:cNvPr id="53" name=""/>
          <p:cNvSpPr/>
          <p:nvPr/>
        </p:nvSpPr>
        <p:spPr>
          <a:xfrm>
            <a:off x="5857200" y="1371600"/>
            <a:ext cx="4886280" cy="3715560"/>
          </a:xfrm>
          <a:prstGeom prst="rect">
            <a:avLst/>
          </a:prstGeom>
          <a:noFill/>
          <a:ln w="38160">
            <a:noFill/>
          </a:ln>
        </p:spPr>
        <p:style>
          <a:lnRef idx="0"/>
          <a:fillRef idx="0"/>
          <a:effectRef idx="0"/>
          <a:fontRef idx="minor"/>
        </p:style>
        <p:txBody>
          <a:bodyPr lIns="90000" tIns="45000" rIns="90000" bIns="45000" anchor="t">
            <a:spAutoFit/>
          </a:bodyPr>
          <a:p>
            <a:pPr>
              <a:lnSpc>
                <a:spcPct val="100000"/>
              </a:lnSpc>
            </a:pPr>
            <a:r>
              <a:rPr lang="en-US" sz="1400" b="1" u="none" strike="noStrike">
                <a:solidFill>
                  <a:srgbClr val="000000"/>
                </a:solidFill>
                <a:effectLst/>
                <a:uFillTx/>
                <a:latin typeface="Times New Roman"/>
              </a:rPr>
              <a:t>6. Source-grounded answer generation</a:t>
            </a:r>
            <a:endParaRPr lang="en-US" sz="1400" b="0" u="none" strike="noStrike">
              <a:solidFill>
                <a:srgbClr val="000000"/>
              </a:solidFill>
              <a:effectLst/>
              <a:uFillTx/>
              <a:latin typeface="Arial"/>
            </a:endParaRPr>
          </a:p>
          <a:p>
            <a:pPr>
              <a:lnSpc>
                <a:spcPct val="100000"/>
              </a:lnSpc>
            </a:pPr>
            <a:r>
              <a:rPr lang="en-US" sz="1200" b="0" u="none" strike="noStrike">
                <a:solidFill>
                  <a:srgbClr val="000000"/>
                </a:solidFill>
                <a:effectLst/>
                <a:uFillTx/>
                <a:latin typeface="Times New Roman"/>
              </a:rPr>
              <a:t>Input: A question and retrieved memories.</a:t>
            </a:r>
            <a:endParaRPr lang="en-US" sz="1200" b="0" u="none" strike="noStrike">
              <a:solidFill>
                <a:srgbClr val="000000"/>
              </a:solidFill>
              <a:effectLst/>
              <a:uFillTx/>
              <a:latin typeface="Arial"/>
            </a:endParaRPr>
          </a:p>
          <a:p>
            <a:pPr>
              <a:lnSpc>
                <a:spcPct val="100000"/>
              </a:lnSpc>
            </a:pPr>
            <a:endParaRPr lang="en-US" sz="1200" b="0" u="none" strike="noStrike">
              <a:solidFill>
                <a:srgbClr val="000000"/>
              </a:solidFill>
              <a:effectLst/>
              <a:uFillTx/>
              <a:latin typeface="Arial"/>
            </a:endParaRPr>
          </a:p>
          <a:p>
            <a:pPr>
              <a:lnSpc>
                <a:spcPct val="100000"/>
              </a:lnSpc>
            </a:pPr>
            <a:r>
              <a:rPr lang="en-US" sz="1200" b="0" u="none" strike="noStrike">
                <a:solidFill>
                  <a:srgbClr val="000000"/>
                </a:solidFill>
                <a:effectLst/>
                <a:uFillTx/>
                <a:latin typeface="Courier New"/>
              </a:rPr>
              <a:t>IF no memories were retrieved:</a:t>
            </a:r>
            <a:endParaRPr lang="en-US" sz="1200" b="0" u="none" strike="noStrike">
              <a:solidFill>
                <a:srgbClr val="000000"/>
              </a:solidFill>
              <a:effectLst/>
              <a:uFillTx/>
              <a:latin typeface="Arial"/>
            </a:endParaRPr>
          </a:p>
          <a:p>
            <a:pPr>
              <a:lnSpc>
                <a:spcPct val="100000"/>
              </a:lnSpc>
            </a:pPr>
            <a:r>
              <a:rPr lang="en-US" sz="1200" b="0" u="none" strike="noStrike">
                <a:solidFill>
                  <a:srgbClr val="000000"/>
                </a:solidFill>
                <a:effectLst/>
                <a:uFillTx/>
                <a:latin typeface="Courier New"/>
              </a:rPr>
              <a:t>    Return “Insufficient evidence.”</a:t>
            </a:r>
            <a:endParaRPr lang="en-US" sz="1200" b="0" u="none" strike="noStrike">
              <a:solidFill>
                <a:srgbClr val="000000"/>
              </a:solidFill>
              <a:effectLst/>
              <a:uFillTx/>
              <a:latin typeface="Arial"/>
            </a:endParaRPr>
          </a:p>
          <a:p>
            <a:pPr>
              <a:lnSpc>
                <a:spcPct val="100000"/>
              </a:lnSpc>
            </a:pPr>
            <a:endParaRPr lang="en-US" sz="1200" b="0" u="none" strike="noStrike">
              <a:solidFill>
                <a:srgbClr val="000000"/>
              </a:solidFill>
              <a:effectLst/>
              <a:uFillTx/>
              <a:latin typeface="Arial"/>
            </a:endParaRPr>
          </a:p>
          <a:p>
            <a:pPr>
              <a:lnSpc>
                <a:spcPct val="100000"/>
              </a:lnSpc>
            </a:pPr>
            <a:r>
              <a:rPr lang="en-US" sz="1200" b="0" u="none" strike="noStrike">
                <a:solidFill>
                  <a:srgbClr val="000000"/>
                </a:solidFill>
                <a:effectLst/>
                <a:uFillTx/>
                <a:latin typeface="Courier New"/>
              </a:rPr>
              <a:t>Ask the extractor SLM to answer from the retrieved evidence.</a:t>
            </a:r>
            <a:endParaRPr lang="en-US" sz="1200" b="0" u="none" strike="noStrike">
              <a:solidFill>
                <a:srgbClr val="000000"/>
              </a:solidFill>
              <a:effectLst/>
              <a:uFillTx/>
              <a:latin typeface="Arial"/>
            </a:endParaRPr>
          </a:p>
          <a:p>
            <a:pPr>
              <a:lnSpc>
                <a:spcPct val="100000"/>
              </a:lnSpc>
            </a:pPr>
            <a:endParaRPr lang="en-US" sz="1200" b="0" u="none" strike="noStrike">
              <a:solidFill>
                <a:srgbClr val="000000"/>
              </a:solidFill>
              <a:effectLst/>
              <a:uFillTx/>
              <a:latin typeface="Arial"/>
            </a:endParaRPr>
          </a:p>
          <a:p>
            <a:pPr>
              <a:lnSpc>
                <a:spcPct val="100000"/>
              </a:lnSpc>
            </a:pPr>
            <a:r>
              <a:rPr lang="en-US" sz="1200" b="0" u="none" strike="noStrike">
                <a:solidFill>
                  <a:srgbClr val="000000"/>
                </a:solidFill>
                <a:effectLst/>
                <a:uFillTx/>
                <a:latin typeface="Courier New"/>
              </a:rPr>
              <a:t>Restrict citation IDs to the retrieved memories.</a:t>
            </a:r>
            <a:endParaRPr lang="en-US" sz="1200" b="0" u="none" strike="noStrike">
              <a:solidFill>
                <a:srgbClr val="000000"/>
              </a:solidFill>
              <a:effectLst/>
              <a:uFillTx/>
              <a:latin typeface="Arial"/>
            </a:endParaRPr>
          </a:p>
          <a:p>
            <a:pPr>
              <a:lnSpc>
                <a:spcPct val="100000"/>
              </a:lnSpc>
            </a:pPr>
            <a:endParaRPr lang="en-US" sz="1200" b="0" u="none" strike="noStrike">
              <a:solidFill>
                <a:srgbClr val="000000"/>
              </a:solidFill>
              <a:effectLst/>
              <a:uFillTx/>
              <a:latin typeface="Arial"/>
            </a:endParaRPr>
          </a:p>
          <a:p>
            <a:pPr>
              <a:lnSpc>
                <a:spcPct val="100000"/>
              </a:lnSpc>
            </a:pPr>
            <a:r>
              <a:rPr lang="en-US" sz="1200" b="0" u="none" strike="noStrike">
                <a:solidFill>
                  <a:srgbClr val="000000"/>
                </a:solidFill>
                <a:effectLst/>
                <a:uFillTx/>
                <a:latin typeface="Courier New"/>
              </a:rPr>
              <a:t>Check the response format and citation IDs.</a:t>
            </a:r>
            <a:endParaRPr lang="en-US" sz="1200" b="0" u="none" strike="noStrike">
              <a:solidFill>
                <a:srgbClr val="000000"/>
              </a:solidFill>
              <a:effectLst/>
              <a:uFillTx/>
              <a:latin typeface="Arial"/>
            </a:endParaRPr>
          </a:p>
          <a:p>
            <a:pPr>
              <a:lnSpc>
                <a:spcPct val="100000"/>
              </a:lnSpc>
            </a:pPr>
            <a:endParaRPr lang="en-US" sz="1200" b="0" u="none" strike="noStrike">
              <a:solidFill>
                <a:srgbClr val="000000"/>
              </a:solidFill>
              <a:effectLst/>
              <a:uFillTx/>
              <a:latin typeface="Arial"/>
            </a:endParaRPr>
          </a:p>
          <a:p>
            <a:pPr>
              <a:lnSpc>
                <a:spcPct val="100000"/>
              </a:lnSpc>
            </a:pPr>
            <a:r>
              <a:rPr lang="en-US" sz="1200" b="0" u="none" strike="noStrike">
                <a:solidFill>
                  <a:srgbClr val="000000"/>
                </a:solidFill>
                <a:effectLst/>
                <a:uFillTx/>
                <a:latin typeface="Courier New"/>
              </a:rPr>
              <a:t>Require citations when sufficient evidence is claimed.</a:t>
            </a:r>
            <a:endParaRPr lang="en-US" sz="1200" b="0" u="none" strike="noStrike">
              <a:solidFill>
                <a:srgbClr val="000000"/>
              </a:solidFill>
              <a:effectLst/>
              <a:uFillTx/>
              <a:latin typeface="Arial"/>
            </a:endParaRPr>
          </a:p>
          <a:p>
            <a:pPr>
              <a:lnSpc>
                <a:spcPct val="100000"/>
              </a:lnSpc>
            </a:pPr>
            <a:endParaRPr lang="en-US" sz="1200" b="0" u="none" strike="noStrike">
              <a:solidFill>
                <a:srgbClr val="000000"/>
              </a:solidFill>
              <a:effectLst/>
              <a:uFillTx/>
              <a:latin typeface="Arial"/>
            </a:endParaRPr>
          </a:p>
          <a:p>
            <a:pPr>
              <a:lnSpc>
                <a:spcPct val="100000"/>
              </a:lnSpc>
            </a:pPr>
            <a:r>
              <a:rPr lang="en-US" sz="1200" b="0" u="none" strike="noStrike">
                <a:solidFill>
                  <a:srgbClr val="000000"/>
                </a:solidFill>
                <a:effectLst/>
                <a:uFillTx/>
                <a:latin typeface="Courier New"/>
              </a:rPr>
              <a:t>Return the answer, or reject invalid output.</a:t>
            </a:r>
            <a:endParaRPr lang="en-US" sz="1200" b="0" u="none" strike="noStrik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16.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54" name="PlaceHolder 1"/>
          <p:cNvSpPr>
            <a:spLocks noGrp="1"/>
          </p:cNvSpPr>
          <p:nvPr>
            <p:ph type="title" hasCustomPrompt="1"/>
          </p:nvPr>
        </p:nvSpPr>
        <p:spPr>
          <a:xfrm>
            <a:off x="594360" y="384120"/>
            <a:ext cx="9813240" cy="776160"/>
          </a:xfrm>
          <a:prstGeom prst="rect">
            <a:avLst/>
          </a:prstGeom>
          <a:noFill/>
          <a:ln w="0">
            <a:noFill/>
          </a:ln>
        </p:spPr>
        <p:txBody>
          <a:bodyPr lIns="0" tIns="0" rIns="0" bIns="0" anchor="ctr">
            <a:noAutofit/>
          </a:bodyPr>
          <a:p>
            <a:pPr indent="0" algn="l" defTabSz="914400">
              <a:lnSpc>
                <a:spcPct val="100000"/>
              </a:lnSpc>
              <a:buNone/>
              <a:tabLst>
                <a:tab pos="0" algn="l"/>
              </a:tabLst>
            </a:pPr>
            <a:r>
              <a:rPr lang="en-US" sz="3000" b="0" u="none" strike="noStrike">
                <a:solidFill>
                  <a:srgbClr val="000000"/>
                </a:solidFill>
                <a:effectLst/>
                <a:uFillTx/>
                <a:latin typeface="Times New Roman"/>
                <a:ea typeface="Times New Roman"/>
              </a:rPr>
              <a:t>TOOLS AND TECHNOLOGIES</a:t>
            </a:r>
            <a:endParaRPr lang="en-US" sz="3000" b="0" u="none" strike="noStrike">
              <a:solidFill>
                <a:schemeClr val="dk1"/>
              </a:solidFill>
              <a:effectLst/>
              <a:uFillTx/>
              <a:latin typeface="Times New Roman"/>
            </a:endParaRPr>
          </a:p>
        </p:txBody>
      </p:sp>
      <p:graphicFrame>
        <p:nvGraphicFramePr>
          <p:cNvPr id="55" name="Table 0"/>
          <p:cNvGraphicFramePr/>
          <p:nvPr/>
        </p:nvGraphicFramePr>
        <p:xfrm>
          <a:off x="594360" y="1234440"/>
          <a:ext cx="10591560" cy="4351680"/>
        </p:xfrm>
        <a:graphic>
          <a:graphicData uri="http://schemas.openxmlformats.org/drawingml/2006/table">
            <a:tbl>
              <a:tblPr/>
              <a:tblGrid>
                <a:gridCol w="2394000"/>
                <a:gridCol w="8197920"/>
              </a:tblGrid>
              <a:tr h="347400">
                <a:tc>
                  <a:txBody>
                    <a:bodyPr lIns="63720" tIns="36360" rIns="63720" bIns="36360" anchor="t">
                      <a:noAutofit/>
                    </a:bodyPr>
                    <a:p>
                      <a:pPr defTabSz="914400">
                        <a:lnSpc>
                          <a:spcPct val="100000"/>
                        </a:lnSpc>
                        <a:tabLst>
                          <a:tab pos="0" algn="l"/>
                        </a:tabLst>
                      </a:pPr>
                      <a:r>
                        <a:rPr lang="en-US" sz="1200" b="1" u="none" strike="noStrike">
                          <a:solidFill>
                            <a:srgbClr val="000000"/>
                          </a:solidFill>
                          <a:effectLst/>
                          <a:uFillTx/>
                          <a:latin typeface="Times New Roman"/>
                          <a:ea typeface="Times New Roman"/>
                        </a:rPr>
                        <a:t>Tool</a:t>
                      </a:r>
                      <a:endParaRPr lang="en-US" sz="1200" b="0" u="none" strike="noStrike">
                        <a:solidFill>
                          <a:srgbClr val="000000"/>
                        </a:solidFill>
                        <a:effectLst/>
                        <a:uFillTx/>
                        <a:latin typeface="Arial"/>
                      </a:endParaRPr>
                    </a:p>
                  </a:txBody>
                  <a:tcPr anchor="t" marL="63720" marR="63720" marT="36360" marB="36360">
                    <a:lnL w="9360">
                      <a:solidFill>
                        <a:srgbClr val="333333"/>
                      </a:solidFill>
                      <a:prstDash val="solid"/>
                    </a:lnL>
                    <a:lnR w="9360">
                      <a:solidFill>
                        <a:srgbClr val="333333"/>
                      </a:solidFill>
                      <a:prstDash val="solid"/>
                    </a:lnR>
                    <a:lnT w="9360">
                      <a:solidFill>
                        <a:srgbClr val="333333"/>
                      </a:solidFill>
                      <a:prstDash val="solid"/>
                    </a:lnT>
                    <a:lnB w="9360">
                      <a:solidFill>
                        <a:srgbClr val="333333"/>
                      </a:solidFill>
                      <a:prstDash val="solid"/>
                    </a:lnB>
                    <a:solidFill>
                      <a:srgbClr val="F2F2F2"/>
                    </a:solidFill>
                  </a:tcPr>
                </a:tc>
                <a:tc>
                  <a:txBody>
                    <a:bodyPr lIns="63720" tIns="36360" rIns="63720" bIns="36360" anchor="t">
                      <a:noAutofit/>
                    </a:bodyPr>
                    <a:p>
                      <a:pPr defTabSz="914400">
                        <a:lnSpc>
                          <a:spcPct val="100000"/>
                        </a:lnSpc>
                        <a:tabLst>
                          <a:tab pos="0" algn="l"/>
                        </a:tabLst>
                      </a:pPr>
                      <a:r>
                        <a:rPr lang="en-US" sz="1200" b="1" u="none" strike="noStrike">
                          <a:solidFill>
                            <a:srgbClr val="000000"/>
                          </a:solidFill>
                          <a:effectLst/>
                          <a:uFillTx/>
                          <a:latin typeface="Times New Roman"/>
                          <a:ea typeface="Times New Roman"/>
                        </a:rPr>
                        <a:t>Role</a:t>
                      </a:r>
                      <a:endParaRPr lang="en-US" sz="1200" b="0" u="none" strike="noStrike">
                        <a:solidFill>
                          <a:srgbClr val="000000"/>
                        </a:solidFill>
                        <a:effectLst/>
                        <a:uFillTx/>
                        <a:latin typeface="Arial"/>
                      </a:endParaRPr>
                    </a:p>
                  </a:txBody>
                  <a:tcPr anchor="t" marL="63720" marR="63720" marT="36360" marB="36360">
                    <a:lnL w="9360">
                      <a:solidFill>
                        <a:srgbClr val="333333"/>
                      </a:solidFill>
                      <a:prstDash val="solid"/>
                    </a:lnL>
                    <a:lnR w="9360">
                      <a:solidFill>
                        <a:srgbClr val="333333"/>
                      </a:solidFill>
                      <a:prstDash val="solid"/>
                    </a:lnR>
                    <a:lnT w="9360">
                      <a:solidFill>
                        <a:srgbClr val="333333"/>
                      </a:solidFill>
                      <a:prstDash val="solid"/>
                    </a:lnT>
                    <a:lnB w="9360">
                      <a:solidFill>
                        <a:srgbClr val="333333"/>
                      </a:solidFill>
                      <a:prstDash val="solid"/>
                    </a:lnB>
                    <a:solidFill>
                      <a:srgbClr val="F2F2F2"/>
                    </a:solidFill>
                  </a:tcPr>
                </a:tc>
              </a:tr>
              <a:tr h="347400">
                <a:tc>
                  <a:txBody>
                    <a:bodyPr lIns="63720" tIns="36360" rIns="63720" bIns="36360" anchor="t">
                      <a:noAutofit/>
                    </a:bodyPr>
                    <a:p>
                      <a:pPr defTabSz="914400">
                        <a:lnSpc>
                          <a:spcPct val="100000"/>
                        </a:lnSpc>
                        <a:spcBef>
                          <a:spcPts val="1191"/>
                        </a:spcBef>
                        <a:spcAft>
                          <a:spcPts val="992"/>
                        </a:spcAft>
                        <a:tabLst>
                          <a:tab pos="0" algn="l"/>
                        </a:tabLst>
                      </a:pPr>
                      <a:r>
                        <a:rPr lang="en-US" sz="1200" b="0" u="none" strike="noStrike">
                          <a:solidFill>
                            <a:srgbClr val="1A1A1A"/>
                          </a:solidFill>
                          <a:effectLst/>
                          <a:uFillTx/>
                          <a:latin typeface="Times New Roman"/>
                          <a:ea typeface="Times New Roman"/>
                        </a:rPr>
                        <a:t>Rust, Tokio, Axum and SQLx</a:t>
                      </a:r>
                      <a:endParaRPr lang="en-US" sz="1200" b="0" u="none" strike="noStrike">
                        <a:solidFill>
                          <a:srgbClr val="000000"/>
                        </a:solidFill>
                        <a:effectLst/>
                        <a:uFillTx/>
                        <a:latin typeface="Arial"/>
                      </a:endParaRPr>
                    </a:p>
                  </a:txBody>
                  <a:tcPr anchor="t" marL="63720" marR="63720" marT="36360" marB="36360">
                    <a:lnL w="9360">
                      <a:solidFill>
                        <a:srgbClr val="333333"/>
                      </a:solidFill>
                      <a:prstDash val="solid"/>
                    </a:lnL>
                    <a:lnR w="9360">
                      <a:solidFill>
                        <a:srgbClr val="333333"/>
                      </a:solidFill>
                      <a:prstDash val="solid"/>
                    </a:lnR>
                    <a:lnT w="9360">
                      <a:solidFill>
                        <a:srgbClr val="333333"/>
                      </a:solidFill>
                      <a:prstDash val="solid"/>
                    </a:lnT>
                    <a:lnB w="9360">
                      <a:solidFill>
                        <a:srgbClr val="333333"/>
                      </a:solidFill>
                      <a:prstDash val="solid"/>
                    </a:lnB>
                    <a:noFill/>
                  </a:tcPr>
                </a:tc>
                <a:tc>
                  <a:txBody>
                    <a:bodyPr lIns="63720" tIns="36360" rIns="63720" bIns="36360" anchor="t">
                      <a:noAutofit/>
                    </a:bodyPr>
                    <a:p>
                      <a:pPr defTabSz="914400">
                        <a:lnSpc>
                          <a:spcPct val="100000"/>
                        </a:lnSpc>
                        <a:spcBef>
                          <a:spcPts val="1191"/>
                        </a:spcBef>
                        <a:spcAft>
                          <a:spcPts val="992"/>
                        </a:spcAft>
                        <a:tabLst>
                          <a:tab pos="0" algn="l"/>
                        </a:tabLst>
                      </a:pPr>
                      <a:r>
                        <a:rPr lang="en-US" sz="1200" b="0" u="none" strike="noStrike">
                          <a:solidFill>
                            <a:srgbClr val="1A1A1A"/>
                          </a:solidFill>
                          <a:effectLst/>
                          <a:uFillTx/>
                          <a:latin typeface="Times New Roman"/>
                          <a:ea typeface="Times New Roman"/>
                        </a:rPr>
                        <a:t>Build the memory service, handle API requests, run background workers and access the database.</a:t>
                      </a:r>
                      <a:endParaRPr lang="en-US" sz="1200" b="0" u="none" strike="noStrike">
                        <a:solidFill>
                          <a:srgbClr val="000000"/>
                        </a:solidFill>
                        <a:effectLst/>
                        <a:uFillTx/>
                        <a:latin typeface="Arial"/>
                      </a:endParaRPr>
                    </a:p>
                  </a:txBody>
                  <a:tcPr anchor="t" marL="63720" marR="63720" marT="36360" marB="36360">
                    <a:lnL w="9360">
                      <a:solidFill>
                        <a:srgbClr val="333333"/>
                      </a:solidFill>
                      <a:prstDash val="solid"/>
                    </a:lnL>
                    <a:lnR w="9360">
                      <a:solidFill>
                        <a:srgbClr val="333333"/>
                      </a:solidFill>
                      <a:prstDash val="solid"/>
                    </a:lnR>
                    <a:lnT w="9360">
                      <a:solidFill>
                        <a:srgbClr val="333333"/>
                      </a:solidFill>
                      <a:prstDash val="solid"/>
                    </a:lnT>
                    <a:lnB w="9360">
                      <a:solidFill>
                        <a:srgbClr val="333333"/>
                      </a:solidFill>
                      <a:prstDash val="solid"/>
                    </a:lnB>
                    <a:noFill/>
                  </a:tcPr>
                </a:tc>
              </a:tr>
              <a:tr h="347400">
                <a:tc>
                  <a:txBody>
                    <a:bodyPr lIns="63720" tIns="36360" rIns="63720" bIns="36360" anchor="t">
                      <a:noAutofit/>
                    </a:bodyPr>
                    <a:p>
                      <a:pPr defTabSz="914400">
                        <a:lnSpc>
                          <a:spcPct val="100000"/>
                        </a:lnSpc>
                        <a:spcBef>
                          <a:spcPts val="1191"/>
                        </a:spcBef>
                        <a:spcAft>
                          <a:spcPts val="992"/>
                        </a:spcAft>
                        <a:tabLst>
                          <a:tab pos="0" algn="l"/>
                        </a:tabLst>
                      </a:pPr>
                      <a:r>
                        <a:rPr lang="en-US" sz="1200" b="0" u="none" strike="noStrike">
                          <a:solidFill>
                            <a:srgbClr val="1A1A1A"/>
                          </a:solidFill>
                          <a:effectLst/>
                          <a:uFillTx/>
                          <a:latin typeface="Times New Roman"/>
                          <a:ea typeface="Times New Roman"/>
                        </a:rPr>
                        <a:t>PostgreSQL 17 with pgvector</a:t>
                      </a:r>
                      <a:endParaRPr lang="en-US" sz="1200" b="0" u="none" strike="noStrike">
                        <a:solidFill>
                          <a:srgbClr val="000000"/>
                        </a:solidFill>
                        <a:effectLst/>
                        <a:uFillTx/>
                        <a:latin typeface="Arial"/>
                      </a:endParaRPr>
                    </a:p>
                  </a:txBody>
                  <a:tcPr anchor="t" marL="63720" marR="63720" marT="36360" marB="36360">
                    <a:lnL w="9360">
                      <a:solidFill>
                        <a:srgbClr val="333333"/>
                      </a:solidFill>
                      <a:prstDash val="solid"/>
                    </a:lnL>
                    <a:lnR w="9360">
                      <a:solidFill>
                        <a:srgbClr val="333333"/>
                      </a:solidFill>
                      <a:prstDash val="solid"/>
                    </a:lnR>
                    <a:lnT w="9360">
                      <a:solidFill>
                        <a:srgbClr val="333333"/>
                      </a:solidFill>
                      <a:prstDash val="solid"/>
                    </a:lnT>
                    <a:lnB w="9360">
                      <a:solidFill>
                        <a:srgbClr val="333333"/>
                      </a:solidFill>
                      <a:prstDash val="solid"/>
                    </a:lnB>
                    <a:noFill/>
                  </a:tcPr>
                </a:tc>
                <a:tc>
                  <a:txBody>
                    <a:bodyPr lIns="63720" tIns="36360" rIns="63720" bIns="36360" anchor="t">
                      <a:noAutofit/>
                    </a:bodyPr>
                    <a:p>
                      <a:pPr defTabSz="914400">
                        <a:lnSpc>
                          <a:spcPct val="100000"/>
                        </a:lnSpc>
                        <a:spcBef>
                          <a:spcPts val="1191"/>
                        </a:spcBef>
                        <a:spcAft>
                          <a:spcPts val="992"/>
                        </a:spcAft>
                        <a:tabLst>
                          <a:tab pos="0" algn="l"/>
                        </a:tabLst>
                      </a:pPr>
                      <a:r>
                        <a:rPr lang="en-US" sz="1200" b="0" u="none" strike="noStrike">
                          <a:solidFill>
                            <a:srgbClr val="1A1A1A"/>
                          </a:solidFill>
                          <a:effectLst/>
                          <a:uFillTx/>
                          <a:latin typeface="Times New Roman"/>
                          <a:ea typeface="Times New Roman"/>
                        </a:rPr>
                        <a:t>Store original messages, assertions, correction history and processing jobs; support text and vector search.</a:t>
                      </a:r>
                      <a:endParaRPr lang="en-US" sz="1200" b="0" u="none" strike="noStrike">
                        <a:solidFill>
                          <a:srgbClr val="000000"/>
                        </a:solidFill>
                        <a:effectLst/>
                        <a:uFillTx/>
                        <a:latin typeface="Arial"/>
                      </a:endParaRPr>
                    </a:p>
                  </a:txBody>
                  <a:tcPr anchor="t" marL="63720" marR="63720" marT="36360" marB="36360">
                    <a:lnL w="9360">
                      <a:solidFill>
                        <a:srgbClr val="333333"/>
                      </a:solidFill>
                      <a:prstDash val="solid"/>
                    </a:lnL>
                    <a:lnR w="9360">
                      <a:solidFill>
                        <a:srgbClr val="333333"/>
                      </a:solidFill>
                      <a:prstDash val="solid"/>
                    </a:lnR>
                    <a:lnT w="9360">
                      <a:solidFill>
                        <a:srgbClr val="333333"/>
                      </a:solidFill>
                      <a:prstDash val="solid"/>
                    </a:lnT>
                    <a:lnB w="9360">
                      <a:solidFill>
                        <a:srgbClr val="333333"/>
                      </a:solidFill>
                      <a:prstDash val="solid"/>
                    </a:lnB>
                    <a:noFill/>
                  </a:tcPr>
                </a:tc>
              </a:tr>
              <a:tr h="347400">
                <a:tc>
                  <a:txBody>
                    <a:bodyPr lIns="63720" tIns="36360" rIns="63720" bIns="36360" anchor="t">
                      <a:noAutofit/>
                    </a:bodyPr>
                    <a:p>
                      <a:pPr defTabSz="914400">
                        <a:lnSpc>
                          <a:spcPct val="100000"/>
                        </a:lnSpc>
                        <a:spcBef>
                          <a:spcPts val="1191"/>
                        </a:spcBef>
                        <a:spcAft>
                          <a:spcPts val="992"/>
                        </a:spcAft>
                        <a:tabLst>
                          <a:tab pos="0" algn="l"/>
                        </a:tabLst>
                      </a:pPr>
                      <a:r>
                        <a:rPr lang="en-US" sz="1200" b="0" u="none" strike="noStrike">
                          <a:solidFill>
                            <a:srgbClr val="1A1A1A"/>
                          </a:solidFill>
                          <a:effectLst/>
                          <a:uFillTx/>
                          <a:latin typeface="Times New Roman"/>
                          <a:ea typeface="Times New Roman"/>
                        </a:rPr>
                        <a:t>Neo4j 5.26</a:t>
                      </a:r>
                      <a:endParaRPr lang="en-US" sz="1200" b="0" u="none" strike="noStrike">
                        <a:solidFill>
                          <a:srgbClr val="000000"/>
                        </a:solidFill>
                        <a:effectLst/>
                        <a:uFillTx/>
                        <a:latin typeface="Arial"/>
                      </a:endParaRPr>
                    </a:p>
                  </a:txBody>
                  <a:tcPr anchor="t" marL="63720" marR="63720" marT="36360" marB="36360">
                    <a:lnL w="9360">
                      <a:solidFill>
                        <a:srgbClr val="333333"/>
                      </a:solidFill>
                      <a:prstDash val="solid"/>
                    </a:lnL>
                    <a:lnR w="9360">
                      <a:solidFill>
                        <a:srgbClr val="333333"/>
                      </a:solidFill>
                      <a:prstDash val="solid"/>
                    </a:lnR>
                    <a:lnT w="9360">
                      <a:solidFill>
                        <a:srgbClr val="333333"/>
                      </a:solidFill>
                      <a:prstDash val="solid"/>
                    </a:lnT>
                    <a:lnB w="9360">
                      <a:solidFill>
                        <a:srgbClr val="333333"/>
                      </a:solidFill>
                      <a:prstDash val="solid"/>
                    </a:lnB>
                    <a:noFill/>
                  </a:tcPr>
                </a:tc>
                <a:tc>
                  <a:txBody>
                    <a:bodyPr lIns="63720" tIns="36360" rIns="63720" bIns="36360" anchor="t">
                      <a:noAutofit/>
                    </a:bodyPr>
                    <a:p>
                      <a:pPr defTabSz="914400">
                        <a:lnSpc>
                          <a:spcPct val="100000"/>
                        </a:lnSpc>
                        <a:spcBef>
                          <a:spcPts val="1191"/>
                        </a:spcBef>
                        <a:spcAft>
                          <a:spcPts val="992"/>
                        </a:spcAft>
                        <a:tabLst>
                          <a:tab pos="0" algn="l"/>
                        </a:tabLst>
                      </a:pPr>
                      <a:r>
                        <a:rPr lang="en-US" sz="1200" b="0" u="none" strike="noStrike">
                          <a:solidFill>
                            <a:srgbClr val="1A1A1A"/>
                          </a:solidFill>
                          <a:effectLst/>
                          <a:uFillTx/>
                          <a:latin typeface="Times New Roman"/>
                          <a:ea typeface="Times New Roman"/>
                        </a:rPr>
                        <a:t>Store connections between assertions and entities for graph-based retrieval.</a:t>
                      </a:r>
                      <a:endParaRPr lang="en-US" sz="1200" b="0" u="none" strike="noStrike">
                        <a:solidFill>
                          <a:srgbClr val="000000"/>
                        </a:solidFill>
                        <a:effectLst/>
                        <a:uFillTx/>
                        <a:latin typeface="Arial"/>
                      </a:endParaRPr>
                    </a:p>
                  </a:txBody>
                  <a:tcPr anchor="t" marL="63720" marR="63720" marT="36360" marB="36360">
                    <a:lnL w="9360">
                      <a:solidFill>
                        <a:srgbClr val="333333"/>
                      </a:solidFill>
                      <a:prstDash val="solid"/>
                    </a:lnL>
                    <a:lnR w="9360">
                      <a:solidFill>
                        <a:srgbClr val="333333"/>
                      </a:solidFill>
                      <a:prstDash val="solid"/>
                    </a:lnR>
                    <a:lnT w="9360">
                      <a:solidFill>
                        <a:srgbClr val="333333"/>
                      </a:solidFill>
                      <a:prstDash val="solid"/>
                    </a:lnT>
                    <a:lnB w="9360">
                      <a:solidFill>
                        <a:srgbClr val="333333"/>
                      </a:solidFill>
                      <a:prstDash val="solid"/>
                    </a:lnB>
                    <a:noFill/>
                  </a:tcPr>
                </a:tc>
              </a:tr>
              <a:tr h="347400">
                <a:tc>
                  <a:txBody>
                    <a:bodyPr lIns="63720" tIns="36360" rIns="63720" bIns="36360" anchor="t">
                      <a:noAutofit/>
                    </a:bodyPr>
                    <a:p>
                      <a:pPr defTabSz="914400">
                        <a:lnSpc>
                          <a:spcPct val="100000"/>
                        </a:lnSpc>
                        <a:tabLst>
                          <a:tab pos="0" algn="l"/>
                        </a:tabLst>
                      </a:pPr>
                      <a:r>
                        <a:rPr lang="en-US" sz="1200" b="0" u="none" strike="noStrike">
                          <a:solidFill>
                            <a:srgbClr val="1A1A1A"/>
                          </a:solidFill>
                          <a:effectLst/>
                          <a:uFillTx/>
                          <a:latin typeface="Times New Roman"/>
                          <a:ea typeface="Times New Roman"/>
                        </a:rPr>
                        <a:t>Ollama</a:t>
                      </a:r>
                      <a:endParaRPr lang="en-US" sz="1200" b="0" u="none" strike="noStrike">
                        <a:solidFill>
                          <a:srgbClr val="000000"/>
                        </a:solidFill>
                        <a:effectLst/>
                        <a:uFillTx/>
                        <a:latin typeface="Arial"/>
                      </a:endParaRPr>
                    </a:p>
                  </a:txBody>
                  <a:tcPr anchor="t" marL="63720" marR="63720" marT="36360" marB="36360">
                    <a:lnL w="9360">
                      <a:solidFill>
                        <a:srgbClr val="333333"/>
                      </a:solidFill>
                      <a:prstDash val="solid"/>
                    </a:lnL>
                    <a:lnR w="9360">
                      <a:solidFill>
                        <a:srgbClr val="333333"/>
                      </a:solidFill>
                      <a:prstDash val="solid"/>
                    </a:lnR>
                    <a:lnT w="9360">
                      <a:solidFill>
                        <a:srgbClr val="333333"/>
                      </a:solidFill>
                      <a:prstDash val="solid"/>
                    </a:lnT>
                    <a:lnB w="9360">
                      <a:solidFill>
                        <a:srgbClr val="333333"/>
                      </a:solidFill>
                      <a:prstDash val="solid"/>
                    </a:lnB>
                    <a:noFill/>
                  </a:tcPr>
                </a:tc>
                <a:tc>
                  <a:txBody>
                    <a:bodyPr lIns="63720" tIns="36360" rIns="63720" bIns="36360" anchor="t">
                      <a:noAutofit/>
                    </a:bodyPr>
                    <a:p>
                      <a:pPr defTabSz="914400">
                        <a:lnSpc>
                          <a:spcPct val="100000"/>
                        </a:lnSpc>
                        <a:spcBef>
                          <a:spcPts val="1191"/>
                        </a:spcBef>
                        <a:spcAft>
                          <a:spcPts val="992"/>
                        </a:spcAft>
                        <a:tabLst>
                          <a:tab pos="0" algn="l"/>
                        </a:tabLst>
                      </a:pPr>
                      <a:r>
                        <a:rPr lang="en-US" sz="1200" b="0" u="none" strike="noStrike">
                          <a:solidFill>
                            <a:srgbClr val="1A1A1A"/>
                          </a:solidFill>
                          <a:effectLst/>
                          <a:uFillTx/>
                          <a:latin typeface="Times New Roman"/>
                          <a:ea typeface="Times New Roman"/>
                        </a:rPr>
                        <a:t>Run the memory model and embedding model locally.</a:t>
                      </a:r>
                      <a:endParaRPr lang="en-US" sz="1200" b="0" u="none" strike="noStrike">
                        <a:solidFill>
                          <a:srgbClr val="000000"/>
                        </a:solidFill>
                        <a:effectLst/>
                        <a:uFillTx/>
                        <a:latin typeface="Arial"/>
                      </a:endParaRPr>
                    </a:p>
                  </a:txBody>
                  <a:tcPr anchor="t" marL="63720" marR="63720" marT="36360" marB="36360">
                    <a:lnL w="9360">
                      <a:solidFill>
                        <a:srgbClr val="333333"/>
                      </a:solidFill>
                      <a:prstDash val="solid"/>
                    </a:lnL>
                    <a:lnR w="9360">
                      <a:solidFill>
                        <a:srgbClr val="333333"/>
                      </a:solidFill>
                      <a:prstDash val="solid"/>
                    </a:lnR>
                    <a:lnT w="9360">
                      <a:solidFill>
                        <a:srgbClr val="333333"/>
                      </a:solidFill>
                      <a:prstDash val="solid"/>
                    </a:lnT>
                    <a:lnB w="9360">
                      <a:solidFill>
                        <a:srgbClr val="333333"/>
                      </a:solidFill>
                      <a:prstDash val="solid"/>
                    </a:lnB>
                    <a:noFill/>
                  </a:tcPr>
                </a:tc>
              </a:tr>
              <a:tr h="347400">
                <a:tc>
                  <a:txBody>
                    <a:bodyPr lIns="63720" tIns="36360" rIns="63720" bIns="36360" anchor="t">
                      <a:noAutofit/>
                    </a:bodyPr>
                    <a:p>
                      <a:pPr defTabSz="914400">
                        <a:lnSpc>
                          <a:spcPct val="100000"/>
                        </a:lnSpc>
                        <a:spcBef>
                          <a:spcPts val="1191"/>
                        </a:spcBef>
                        <a:spcAft>
                          <a:spcPts val="992"/>
                        </a:spcAft>
                        <a:tabLst>
                          <a:tab pos="0" algn="l"/>
                        </a:tabLst>
                      </a:pPr>
                      <a:r>
                        <a:rPr lang="en-US" sz="1200" b="0" u="none" strike="noStrike">
                          <a:solidFill>
                            <a:srgbClr val="1A1A1A"/>
                          </a:solidFill>
                          <a:effectLst/>
                          <a:uFillTx/>
                          <a:latin typeface="Times New Roman"/>
                          <a:ea typeface="Times New Roman"/>
                        </a:rPr>
                        <a:t>Fine-tuned Qwen3-4B-Instruct-2507</a:t>
                      </a:r>
                      <a:endParaRPr lang="en-US" sz="1200" b="0" u="none" strike="noStrike">
                        <a:solidFill>
                          <a:srgbClr val="000000"/>
                        </a:solidFill>
                        <a:effectLst/>
                        <a:uFillTx/>
                        <a:latin typeface="Arial"/>
                      </a:endParaRPr>
                    </a:p>
                  </a:txBody>
                  <a:tcPr anchor="t" marL="63720" marR="63720" marT="36360" marB="36360">
                    <a:lnL w="9360">
                      <a:solidFill>
                        <a:srgbClr val="333333"/>
                      </a:solidFill>
                      <a:prstDash val="solid"/>
                    </a:lnL>
                    <a:lnR w="9360">
                      <a:solidFill>
                        <a:srgbClr val="333333"/>
                      </a:solidFill>
                      <a:prstDash val="solid"/>
                    </a:lnR>
                    <a:lnT w="9360">
                      <a:solidFill>
                        <a:srgbClr val="333333"/>
                      </a:solidFill>
                      <a:prstDash val="solid"/>
                    </a:lnT>
                    <a:lnB w="9360">
                      <a:solidFill>
                        <a:srgbClr val="333333"/>
                      </a:solidFill>
                      <a:prstDash val="solid"/>
                    </a:lnB>
                    <a:noFill/>
                  </a:tcPr>
                </a:tc>
                <a:tc>
                  <a:txBody>
                    <a:bodyPr lIns="63720" tIns="36360" rIns="63720" bIns="36360" anchor="t">
                      <a:noAutofit/>
                    </a:bodyPr>
                    <a:p>
                      <a:pPr defTabSz="914400">
                        <a:lnSpc>
                          <a:spcPct val="100000"/>
                        </a:lnSpc>
                        <a:spcBef>
                          <a:spcPts val="1191"/>
                        </a:spcBef>
                        <a:spcAft>
                          <a:spcPts val="992"/>
                        </a:spcAft>
                        <a:tabLst>
                          <a:tab pos="0" algn="l"/>
                        </a:tabLst>
                      </a:pPr>
                      <a:r>
                        <a:rPr lang="en-US" sz="1200" b="0" u="none" strike="noStrike">
                          <a:solidFill>
                            <a:srgbClr val="1A1A1A"/>
                          </a:solidFill>
                          <a:effectLst/>
                          <a:uFillTx/>
                          <a:latin typeface="Times New Roman"/>
                          <a:ea typeface="Times New Roman"/>
                        </a:rPr>
                        <a:t>Extract assertions, combine supported information and answer questions with cited evidence.</a:t>
                      </a:r>
                      <a:endParaRPr lang="en-US" sz="1200" b="0" u="none" strike="noStrike">
                        <a:solidFill>
                          <a:srgbClr val="000000"/>
                        </a:solidFill>
                        <a:effectLst/>
                        <a:uFillTx/>
                        <a:latin typeface="Arial"/>
                      </a:endParaRPr>
                    </a:p>
                  </a:txBody>
                  <a:tcPr anchor="t" marL="63720" marR="63720" marT="36360" marB="36360">
                    <a:lnL w="9360">
                      <a:solidFill>
                        <a:srgbClr val="333333"/>
                      </a:solidFill>
                      <a:prstDash val="solid"/>
                    </a:lnL>
                    <a:lnR w="9360">
                      <a:solidFill>
                        <a:srgbClr val="333333"/>
                      </a:solidFill>
                      <a:prstDash val="solid"/>
                    </a:lnR>
                    <a:lnT w="9360">
                      <a:solidFill>
                        <a:srgbClr val="333333"/>
                      </a:solidFill>
                      <a:prstDash val="solid"/>
                    </a:lnT>
                    <a:lnB w="9360">
                      <a:solidFill>
                        <a:srgbClr val="333333"/>
                      </a:solidFill>
                      <a:prstDash val="solid"/>
                    </a:lnB>
                    <a:noFill/>
                  </a:tcPr>
                </a:tc>
              </a:tr>
              <a:tr h="347400">
                <a:tc>
                  <a:txBody>
                    <a:bodyPr lIns="63720" tIns="36360" rIns="63720" bIns="36360" anchor="t">
                      <a:noAutofit/>
                    </a:bodyPr>
                    <a:p>
                      <a:pPr defTabSz="914400">
                        <a:lnSpc>
                          <a:spcPct val="100000"/>
                        </a:lnSpc>
                        <a:spcBef>
                          <a:spcPts val="1191"/>
                        </a:spcBef>
                        <a:spcAft>
                          <a:spcPts val="992"/>
                        </a:spcAft>
                        <a:tabLst>
                          <a:tab pos="0" algn="l"/>
                        </a:tabLst>
                      </a:pPr>
                      <a:r>
                        <a:rPr lang="en-US" sz="1200" b="0" u="none" strike="noStrike">
                          <a:solidFill>
                            <a:srgbClr val="1A1A1A"/>
                          </a:solidFill>
                          <a:effectLst/>
                          <a:uFillTx/>
                          <a:latin typeface="Times New Roman"/>
                          <a:ea typeface="Times New Roman"/>
                        </a:rPr>
                        <a:t>Qwen3-Embedding-0.6B</a:t>
                      </a:r>
                      <a:endParaRPr lang="en-US" sz="1200" b="0" u="none" strike="noStrike">
                        <a:solidFill>
                          <a:srgbClr val="000000"/>
                        </a:solidFill>
                        <a:effectLst/>
                        <a:uFillTx/>
                        <a:latin typeface="Arial"/>
                      </a:endParaRPr>
                    </a:p>
                  </a:txBody>
                  <a:tcPr anchor="t" marL="63720" marR="63720" marT="36360" marB="36360">
                    <a:lnL w="9360">
                      <a:solidFill>
                        <a:srgbClr val="333333"/>
                      </a:solidFill>
                      <a:prstDash val="solid"/>
                    </a:lnL>
                    <a:lnR w="9360">
                      <a:solidFill>
                        <a:srgbClr val="333333"/>
                      </a:solidFill>
                      <a:prstDash val="solid"/>
                    </a:lnR>
                    <a:lnT w="9360">
                      <a:solidFill>
                        <a:srgbClr val="333333"/>
                      </a:solidFill>
                      <a:prstDash val="solid"/>
                    </a:lnT>
                    <a:lnB w="9360">
                      <a:solidFill>
                        <a:srgbClr val="333333"/>
                      </a:solidFill>
                      <a:prstDash val="solid"/>
                    </a:lnB>
                    <a:noFill/>
                  </a:tcPr>
                </a:tc>
                <a:tc>
                  <a:txBody>
                    <a:bodyPr lIns="63720" tIns="36360" rIns="63720" bIns="36360" anchor="t">
                      <a:noAutofit/>
                    </a:bodyPr>
                    <a:p>
                      <a:pPr defTabSz="914400">
                        <a:lnSpc>
                          <a:spcPct val="100000"/>
                        </a:lnSpc>
                        <a:spcBef>
                          <a:spcPts val="1191"/>
                        </a:spcBef>
                        <a:spcAft>
                          <a:spcPts val="992"/>
                        </a:spcAft>
                        <a:tabLst>
                          <a:tab pos="0" algn="l"/>
                        </a:tabLst>
                      </a:pPr>
                      <a:r>
                        <a:rPr lang="en-US" sz="1200" b="0" u="none" strike="noStrike">
                          <a:solidFill>
                            <a:srgbClr val="1A1A1A"/>
                          </a:solidFill>
                          <a:effectLst/>
                          <a:uFillTx/>
                          <a:latin typeface="Times New Roman"/>
                          <a:ea typeface="Times New Roman"/>
                        </a:rPr>
                        <a:t>Convert messages, assertions and queries into vectors for meaning-based search.</a:t>
                      </a:r>
                      <a:endParaRPr lang="en-US" sz="1200" b="0" u="none" strike="noStrike">
                        <a:solidFill>
                          <a:srgbClr val="000000"/>
                        </a:solidFill>
                        <a:effectLst/>
                        <a:uFillTx/>
                        <a:latin typeface="Arial"/>
                      </a:endParaRPr>
                    </a:p>
                  </a:txBody>
                  <a:tcPr anchor="t" marL="63720" marR="63720" marT="36360" marB="36360">
                    <a:lnL w="9360">
                      <a:solidFill>
                        <a:srgbClr val="333333"/>
                      </a:solidFill>
                      <a:prstDash val="solid"/>
                    </a:lnL>
                    <a:lnR w="9360">
                      <a:solidFill>
                        <a:srgbClr val="333333"/>
                      </a:solidFill>
                      <a:prstDash val="solid"/>
                    </a:lnR>
                    <a:lnT w="9360">
                      <a:solidFill>
                        <a:srgbClr val="333333"/>
                      </a:solidFill>
                      <a:prstDash val="solid"/>
                    </a:lnT>
                    <a:lnB w="9360">
                      <a:solidFill>
                        <a:srgbClr val="333333"/>
                      </a:solidFill>
                      <a:prstDash val="solid"/>
                    </a:lnB>
                    <a:noFill/>
                  </a:tcPr>
                </a:tc>
              </a:tr>
              <a:tr h="347400">
                <a:tc>
                  <a:txBody>
                    <a:bodyPr lIns="63720" tIns="36360" rIns="63720" bIns="36360" anchor="t">
                      <a:noAutofit/>
                    </a:bodyPr>
                    <a:p>
                      <a:pPr defTabSz="914400">
                        <a:lnSpc>
                          <a:spcPct val="100000"/>
                        </a:lnSpc>
                        <a:spcBef>
                          <a:spcPts val="1191"/>
                        </a:spcBef>
                        <a:spcAft>
                          <a:spcPts val="992"/>
                        </a:spcAft>
                        <a:tabLst>
                          <a:tab pos="0" algn="l"/>
                        </a:tabLst>
                      </a:pPr>
                      <a:r>
                        <a:rPr lang="en-US" sz="1200" b="0" u="none" strike="noStrike">
                          <a:solidFill>
                            <a:srgbClr val="1A1A1A"/>
                          </a:solidFill>
                          <a:effectLst/>
                          <a:uFillTx/>
                          <a:latin typeface="Times New Roman"/>
                          <a:ea typeface="Times New Roman"/>
                        </a:rPr>
                        <a:t>Pi agent harness</a:t>
                      </a:r>
                      <a:endParaRPr lang="en-US" sz="1200" b="0" u="none" strike="noStrike">
                        <a:solidFill>
                          <a:srgbClr val="000000"/>
                        </a:solidFill>
                        <a:effectLst/>
                        <a:uFillTx/>
                        <a:latin typeface="Arial"/>
                      </a:endParaRPr>
                    </a:p>
                  </a:txBody>
                  <a:tcPr anchor="t" marL="63720" marR="63720" marT="36360" marB="36360">
                    <a:lnL w="9360">
                      <a:solidFill>
                        <a:srgbClr val="333333"/>
                      </a:solidFill>
                      <a:prstDash val="solid"/>
                    </a:lnL>
                    <a:lnR w="9360">
                      <a:solidFill>
                        <a:srgbClr val="333333"/>
                      </a:solidFill>
                      <a:prstDash val="solid"/>
                    </a:lnR>
                    <a:lnT w="9360">
                      <a:solidFill>
                        <a:srgbClr val="333333"/>
                      </a:solidFill>
                      <a:prstDash val="solid"/>
                    </a:lnT>
                    <a:lnB w="9360">
                      <a:solidFill>
                        <a:srgbClr val="333333"/>
                      </a:solidFill>
                      <a:prstDash val="solid"/>
                    </a:lnB>
                    <a:noFill/>
                  </a:tcPr>
                </a:tc>
                <a:tc>
                  <a:txBody>
                    <a:bodyPr lIns="63720" tIns="36360" rIns="63720" bIns="36360" anchor="t">
                      <a:noAutofit/>
                    </a:bodyPr>
                    <a:p>
                      <a:pPr defTabSz="914400">
                        <a:lnSpc>
                          <a:spcPct val="100000"/>
                        </a:lnSpc>
                        <a:spcBef>
                          <a:spcPts val="1191"/>
                        </a:spcBef>
                        <a:spcAft>
                          <a:spcPts val="992"/>
                        </a:spcAft>
                        <a:tabLst>
                          <a:tab pos="0" algn="l"/>
                        </a:tabLst>
                      </a:pPr>
                      <a:r>
                        <a:rPr lang="en-US" sz="1200" b="0" u="none" strike="noStrike">
                          <a:solidFill>
                            <a:srgbClr val="1A1A1A"/>
                          </a:solidFill>
                          <a:effectLst/>
                          <a:uFillTx/>
                          <a:latin typeface="Times New Roman"/>
                          <a:ea typeface="Times New Roman"/>
                        </a:rPr>
                        <a:t>Capture session messages and add retrieved memory to the agent’s context.</a:t>
                      </a:r>
                      <a:endParaRPr lang="en-US" sz="1200" b="0" u="none" strike="noStrike">
                        <a:solidFill>
                          <a:srgbClr val="000000"/>
                        </a:solidFill>
                        <a:effectLst/>
                        <a:uFillTx/>
                        <a:latin typeface="Arial"/>
                      </a:endParaRPr>
                    </a:p>
                  </a:txBody>
                  <a:tcPr anchor="t" marL="63720" marR="63720" marT="36360" marB="36360">
                    <a:lnL w="9360">
                      <a:solidFill>
                        <a:srgbClr val="333333"/>
                      </a:solidFill>
                      <a:prstDash val="solid"/>
                    </a:lnL>
                    <a:lnR w="9360">
                      <a:solidFill>
                        <a:srgbClr val="333333"/>
                      </a:solidFill>
                      <a:prstDash val="solid"/>
                    </a:lnR>
                    <a:lnT w="9360">
                      <a:solidFill>
                        <a:srgbClr val="333333"/>
                      </a:solidFill>
                      <a:prstDash val="solid"/>
                    </a:lnT>
                    <a:lnB w="9360">
                      <a:solidFill>
                        <a:srgbClr val="333333"/>
                      </a:solidFill>
                      <a:prstDash val="solid"/>
                    </a:lnB>
                    <a:noFill/>
                  </a:tcPr>
                </a:tc>
              </a:tr>
              <a:tr h="347400">
                <a:tc>
                  <a:txBody>
                    <a:bodyPr lIns="63720" tIns="36360" rIns="63720" bIns="36360" anchor="t">
                      <a:noAutofit/>
                    </a:bodyPr>
                    <a:p>
                      <a:pPr>
                        <a:lnSpc>
                          <a:spcPct val="100000"/>
                        </a:lnSpc>
                        <a:spcBef>
                          <a:spcPts val="1191"/>
                        </a:spcBef>
                        <a:spcAft>
                          <a:spcPts val="992"/>
                        </a:spcAft>
                      </a:pPr>
                      <a:r>
                        <a:rPr lang="en-US" sz="1200" b="0" u="none" strike="noStrike">
                          <a:solidFill>
                            <a:srgbClr val="000000"/>
                          </a:solidFill>
                          <a:effectLst/>
                          <a:uFillTx/>
                          <a:latin typeface="Times New Roman"/>
                        </a:rPr>
                        <a:t>React, TypeScript, Vite and Bootstrap</a:t>
                      </a:r>
                      <a:endParaRPr lang="en-US" sz="1200" b="0" u="none" strike="noStrike">
                        <a:solidFill>
                          <a:srgbClr val="000000"/>
                        </a:solidFill>
                        <a:effectLst/>
                        <a:uFillTx/>
                        <a:latin typeface="Arial"/>
                      </a:endParaRPr>
                    </a:p>
                  </a:txBody>
                  <a:tcPr anchor="t" marL="63720" marR="63720" marT="36360" marB="36360">
                    <a:lnL w="9360">
                      <a:solidFill>
                        <a:srgbClr val="333333"/>
                      </a:solidFill>
                      <a:prstDash val="solid"/>
                    </a:lnL>
                    <a:lnR w="9360">
                      <a:solidFill>
                        <a:srgbClr val="333333"/>
                      </a:solidFill>
                      <a:prstDash val="solid"/>
                    </a:lnR>
                    <a:lnT w="9360">
                      <a:solidFill>
                        <a:srgbClr val="333333"/>
                      </a:solidFill>
                      <a:prstDash val="solid"/>
                    </a:lnT>
                    <a:lnB w="9360">
                      <a:solidFill>
                        <a:srgbClr val="333333"/>
                      </a:solidFill>
                      <a:prstDash val="solid"/>
                    </a:lnB>
                    <a:noFill/>
                  </a:tcPr>
                </a:tc>
                <a:tc>
                  <a:txBody>
                    <a:bodyPr lIns="63720" tIns="36360" rIns="63720" bIns="36360" anchor="t">
                      <a:noAutofit/>
                    </a:bodyPr>
                    <a:p>
                      <a:pPr>
                        <a:lnSpc>
                          <a:spcPct val="100000"/>
                        </a:lnSpc>
                        <a:spcBef>
                          <a:spcPts val="1191"/>
                        </a:spcBef>
                        <a:spcAft>
                          <a:spcPts val="992"/>
                        </a:spcAft>
                      </a:pPr>
                      <a:r>
                        <a:rPr lang="en-US" sz="1200" b="0" u="none" strike="noStrike">
                          <a:solidFill>
                            <a:srgbClr val="000000"/>
                          </a:solidFill>
                          <a:effectLst/>
                          <a:uFillTx/>
                          <a:latin typeface="Times New Roman"/>
                        </a:rPr>
                        <a:t>Build the dashboard, session controls and interactive memory graph.</a:t>
                      </a:r>
                      <a:endParaRPr lang="en-US" sz="1200" b="0" u="none" strike="noStrike">
                        <a:solidFill>
                          <a:srgbClr val="000000"/>
                        </a:solidFill>
                        <a:effectLst/>
                        <a:uFillTx/>
                        <a:latin typeface="Arial"/>
                      </a:endParaRPr>
                    </a:p>
                  </a:txBody>
                  <a:tcPr anchor="t" marL="63720" marR="63720" marT="36360" marB="36360">
                    <a:lnL w="9360">
                      <a:solidFill>
                        <a:srgbClr val="333333"/>
                      </a:solidFill>
                      <a:prstDash val="solid"/>
                    </a:lnL>
                    <a:lnR w="9360">
                      <a:solidFill>
                        <a:srgbClr val="333333"/>
                      </a:solidFill>
                      <a:prstDash val="solid"/>
                    </a:lnR>
                    <a:lnT w="9360">
                      <a:solidFill>
                        <a:srgbClr val="333333"/>
                      </a:solidFill>
                      <a:prstDash val="solid"/>
                    </a:lnT>
                    <a:lnB w="9360">
                      <a:solidFill>
                        <a:srgbClr val="333333"/>
                      </a:solidFill>
                      <a:prstDash val="solid"/>
                    </a:lnB>
                    <a:noFill/>
                  </a:tcPr>
                </a:tc>
              </a:tr>
              <a:tr h="347400">
                <a:tc>
                  <a:txBody>
                    <a:bodyPr lIns="63720" tIns="36360" rIns="63720" bIns="36360" anchor="t">
                      <a:noAutofit/>
                    </a:bodyPr>
                    <a:p>
                      <a:pPr>
                        <a:lnSpc>
                          <a:spcPct val="100000"/>
                        </a:lnSpc>
                        <a:spcBef>
                          <a:spcPts val="1191"/>
                        </a:spcBef>
                        <a:spcAft>
                          <a:spcPts val="992"/>
                        </a:spcAft>
                      </a:pPr>
                      <a:r>
                        <a:rPr lang="en-US" sz="1200" b="0" u="none" strike="noStrike">
                          <a:solidFill>
                            <a:srgbClr val="000000"/>
                          </a:solidFill>
                          <a:effectLst/>
                          <a:uFillTx/>
                          <a:latin typeface="Times New Roman"/>
                        </a:rPr>
                        <a:t>Python, PyTorch, Transformers, PEFT and bitsandbytes</a:t>
                      </a:r>
                      <a:endParaRPr lang="en-US" sz="1200" b="0" u="none" strike="noStrike">
                        <a:solidFill>
                          <a:srgbClr val="000000"/>
                        </a:solidFill>
                        <a:effectLst/>
                        <a:uFillTx/>
                        <a:latin typeface="Arial"/>
                      </a:endParaRPr>
                    </a:p>
                  </a:txBody>
                  <a:tcPr anchor="t" marL="63720" marR="63720" marT="36360" marB="36360">
                    <a:lnL w="9360">
                      <a:solidFill>
                        <a:srgbClr val="333333"/>
                      </a:solidFill>
                      <a:prstDash val="solid"/>
                    </a:lnL>
                    <a:lnR w="9360">
                      <a:solidFill>
                        <a:srgbClr val="333333"/>
                      </a:solidFill>
                      <a:prstDash val="solid"/>
                    </a:lnR>
                    <a:lnT w="9360">
                      <a:solidFill>
                        <a:srgbClr val="333333"/>
                      </a:solidFill>
                      <a:prstDash val="solid"/>
                    </a:lnT>
                    <a:lnB w="9360">
                      <a:solidFill>
                        <a:srgbClr val="333333"/>
                      </a:solidFill>
                      <a:prstDash val="solid"/>
                    </a:lnB>
                    <a:noFill/>
                  </a:tcPr>
                </a:tc>
                <a:tc>
                  <a:txBody>
                    <a:bodyPr lIns="63720" tIns="36360" rIns="63720" bIns="36360" anchor="t">
                      <a:noAutofit/>
                    </a:bodyPr>
                    <a:p>
                      <a:pPr>
                        <a:lnSpc>
                          <a:spcPct val="100000"/>
                        </a:lnSpc>
                        <a:spcBef>
                          <a:spcPts val="1191"/>
                        </a:spcBef>
                        <a:spcAft>
                          <a:spcPts val="992"/>
                        </a:spcAft>
                      </a:pPr>
                      <a:r>
                        <a:rPr lang="en-US" sz="1200" b="0" u="none" strike="noStrike">
                          <a:solidFill>
                            <a:srgbClr val="000000"/>
                          </a:solidFill>
                          <a:effectLst/>
                          <a:uFillTx/>
                          <a:latin typeface="Times New Roman"/>
                        </a:rPr>
                        <a:t>Prepare datasets and fine-tune the memory model using QLoRA.</a:t>
                      </a:r>
                      <a:endParaRPr lang="en-US" sz="1200" b="0" u="none" strike="noStrike">
                        <a:solidFill>
                          <a:srgbClr val="000000"/>
                        </a:solidFill>
                        <a:effectLst/>
                        <a:uFillTx/>
                        <a:latin typeface="Arial"/>
                      </a:endParaRPr>
                    </a:p>
                  </a:txBody>
                  <a:tcPr anchor="t" marL="63720" marR="63720" marT="36360" marB="36360">
                    <a:lnL w="9360">
                      <a:solidFill>
                        <a:srgbClr val="333333"/>
                      </a:solidFill>
                      <a:prstDash val="solid"/>
                    </a:lnL>
                    <a:lnR w="9360">
                      <a:solidFill>
                        <a:srgbClr val="333333"/>
                      </a:solidFill>
                      <a:prstDash val="solid"/>
                    </a:lnR>
                    <a:lnT w="9360">
                      <a:solidFill>
                        <a:srgbClr val="333333"/>
                      </a:solidFill>
                      <a:prstDash val="solid"/>
                    </a:lnT>
                    <a:lnB w="9360">
                      <a:solidFill>
                        <a:srgbClr val="333333"/>
                      </a:solidFill>
                      <a:prstDash val="solid"/>
                    </a:lnB>
                    <a:noFill/>
                  </a:tcPr>
                </a:tc>
              </a:tr>
              <a:tr h="347400">
                <a:tc>
                  <a:txBody>
                    <a:bodyPr lIns="63720" tIns="36360" rIns="63720" bIns="36360" anchor="t">
                      <a:noAutofit/>
                    </a:bodyPr>
                    <a:p>
                      <a:pPr>
                        <a:lnSpc>
                          <a:spcPct val="100000"/>
                        </a:lnSpc>
                        <a:spcBef>
                          <a:spcPts val="1191"/>
                        </a:spcBef>
                        <a:spcAft>
                          <a:spcPts val="992"/>
                        </a:spcAft>
                      </a:pPr>
                      <a:r>
                        <a:rPr lang="en-US" sz="1200" b="0" u="none" strike="noStrike">
                          <a:solidFill>
                            <a:srgbClr val="000000"/>
                          </a:solidFill>
                          <a:effectLst/>
                          <a:uFillTx/>
                          <a:latin typeface="Times New Roman"/>
                        </a:rPr>
                        <a:t>lama.cpp and GGUF</a:t>
                      </a:r>
                      <a:endParaRPr lang="en-US" sz="1200" b="0" u="none" strike="noStrike">
                        <a:solidFill>
                          <a:srgbClr val="000000"/>
                        </a:solidFill>
                        <a:effectLst/>
                        <a:uFillTx/>
                        <a:latin typeface="Arial"/>
                      </a:endParaRPr>
                    </a:p>
                  </a:txBody>
                  <a:tcPr anchor="t" marL="63720" marR="63720" marT="36360" marB="36360">
                    <a:lnL w="9360">
                      <a:solidFill>
                        <a:srgbClr val="333333"/>
                      </a:solidFill>
                      <a:prstDash val="solid"/>
                    </a:lnL>
                    <a:lnR w="9360">
                      <a:solidFill>
                        <a:srgbClr val="333333"/>
                      </a:solidFill>
                      <a:prstDash val="solid"/>
                    </a:lnR>
                    <a:lnT w="9360">
                      <a:solidFill>
                        <a:srgbClr val="333333"/>
                      </a:solidFill>
                      <a:prstDash val="solid"/>
                    </a:lnT>
                    <a:lnB w="9360">
                      <a:solidFill>
                        <a:srgbClr val="333333"/>
                      </a:solidFill>
                      <a:prstDash val="solid"/>
                    </a:lnB>
                    <a:noFill/>
                  </a:tcPr>
                </a:tc>
                <a:tc>
                  <a:txBody>
                    <a:bodyPr lIns="63720" tIns="36360" rIns="63720" bIns="36360" anchor="t">
                      <a:noAutofit/>
                    </a:bodyPr>
                    <a:p>
                      <a:pPr>
                        <a:lnSpc>
                          <a:spcPct val="100000"/>
                        </a:lnSpc>
                        <a:spcBef>
                          <a:spcPts val="1191"/>
                        </a:spcBef>
                        <a:spcAft>
                          <a:spcPts val="992"/>
                        </a:spcAft>
                      </a:pPr>
                      <a:r>
                        <a:rPr lang="en-US" sz="1200" b="0" u="none" strike="noStrike">
                          <a:solidFill>
                            <a:srgbClr val="000000"/>
                          </a:solidFill>
                          <a:effectLst/>
                          <a:uFillTx/>
                          <a:latin typeface="Times New Roman"/>
                        </a:rPr>
                        <a:t>Convert and quantize the trained model for deployment through Ollama.</a:t>
                      </a:r>
                      <a:endParaRPr lang="en-US" sz="1200" b="0" u="none" strike="noStrike">
                        <a:solidFill>
                          <a:srgbClr val="000000"/>
                        </a:solidFill>
                        <a:effectLst/>
                        <a:uFillTx/>
                        <a:latin typeface="Arial"/>
                      </a:endParaRPr>
                    </a:p>
                  </a:txBody>
                  <a:tcPr anchor="t" marL="63720" marR="63720" marT="36360" marB="36360">
                    <a:lnL w="9360">
                      <a:solidFill>
                        <a:srgbClr val="333333"/>
                      </a:solidFill>
                      <a:prstDash val="solid"/>
                    </a:lnL>
                    <a:lnR w="9360">
                      <a:solidFill>
                        <a:srgbClr val="333333"/>
                      </a:solidFill>
                      <a:prstDash val="solid"/>
                    </a:lnR>
                    <a:lnT w="9360">
                      <a:solidFill>
                        <a:srgbClr val="333333"/>
                      </a:solidFill>
                      <a:prstDash val="solid"/>
                    </a:lnT>
                    <a:lnB w="9360">
                      <a:solidFill>
                        <a:srgbClr val="333333"/>
                      </a:solidFill>
                      <a:prstDash val="solid"/>
                    </a:lnB>
                    <a:noFill/>
                  </a:tcPr>
                </a:tc>
              </a:tr>
              <a:tr h="347400">
                <a:tc>
                  <a:txBody>
                    <a:bodyPr lIns="63720" tIns="36360" rIns="63720" bIns="36360" anchor="t">
                      <a:noAutofit/>
                    </a:bodyPr>
                    <a:p>
                      <a:pPr>
                        <a:lnSpc>
                          <a:spcPct val="100000"/>
                        </a:lnSpc>
                        <a:spcBef>
                          <a:spcPts val="1191"/>
                        </a:spcBef>
                        <a:spcAft>
                          <a:spcPts val="992"/>
                        </a:spcAft>
                      </a:pPr>
                      <a:r>
                        <a:rPr lang="en-US" sz="1200" b="0" u="none" strike="noStrike">
                          <a:solidFill>
                            <a:srgbClr val="000000"/>
                          </a:solidFill>
                          <a:effectLst/>
                          <a:uFillTx/>
                          <a:latin typeface="Times New Roman"/>
                        </a:rPr>
                        <a:t>Docker Compose, Caddy and ttyd</a:t>
                      </a:r>
                      <a:endParaRPr lang="en-US" sz="1200" b="0" u="none" strike="noStrike">
                        <a:solidFill>
                          <a:srgbClr val="000000"/>
                        </a:solidFill>
                        <a:effectLst/>
                        <a:uFillTx/>
                        <a:latin typeface="Arial"/>
                      </a:endParaRPr>
                    </a:p>
                  </a:txBody>
                  <a:tcPr anchor="t" marL="63720" marR="63720" marT="36360" marB="36360">
                    <a:lnL w="9360">
                      <a:solidFill>
                        <a:srgbClr val="333333"/>
                      </a:solidFill>
                      <a:prstDash val="solid"/>
                    </a:lnL>
                    <a:lnR w="9360">
                      <a:solidFill>
                        <a:srgbClr val="333333"/>
                      </a:solidFill>
                      <a:prstDash val="solid"/>
                    </a:lnR>
                    <a:lnT w="9360">
                      <a:solidFill>
                        <a:srgbClr val="333333"/>
                      </a:solidFill>
                      <a:prstDash val="solid"/>
                    </a:lnT>
                    <a:lnB w="9360">
                      <a:solidFill>
                        <a:srgbClr val="333333"/>
                      </a:solidFill>
                      <a:prstDash val="solid"/>
                    </a:lnB>
                    <a:noFill/>
                  </a:tcPr>
                </a:tc>
                <a:tc>
                  <a:txBody>
                    <a:bodyPr lIns="63720" tIns="36360" rIns="63720" bIns="36360" anchor="t">
                      <a:noAutofit/>
                    </a:bodyPr>
                    <a:p>
                      <a:pPr>
                        <a:lnSpc>
                          <a:spcPct val="100000"/>
                        </a:lnSpc>
                        <a:spcBef>
                          <a:spcPts val="1191"/>
                        </a:spcBef>
                        <a:spcAft>
                          <a:spcPts val="992"/>
                        </a:spcAft>
                      </a:pPr>
                      <a:r>
                        <a:rPr lang="en-US" sz="1200" b="0" u="none" strike="noStrike">
                          <a:solidFill>
                            <a:srgbClr val="000000"/>
                          </a:solidFill>
                          <a:effectLst/>
                          <a:uFillTx/>
                          <a:latin typeface="Times New Roman"/>
                        </a:rPr>
                        <a:t>Run the supporting services and provide browser access to the application and Pi console.</a:t>
                      </a:r>
                      <a:endParaRPr lang="en-US" sz="1200" b="0" u="none" strike="noStrike">
                        <a:solidFill>
                          <a:srgbClr val="000000"/>
                        </a:solidFill>
                        <a:effectLst/>
                        <a:uFillTx/>
                        <a:latin typeface="Arial"/>
                      </a:endParaRPr>
                    </a:p>
                  </a:txBody>
                  <a:tcPr anchor="t" marL="63720" marR="63720" marT="36360" marB="36360">
                    <a:lnL w="9360">
                      <a:solidFill>
                        <a:srgbClr val="333333"/>
                      </a:solidFill>
                      <a:prstDash val="solid"/>
                    </a:lnL>
                    <a:lnR w="9360">
                      <a:solidFill>
                        <a:srgbClr val="333333"/>
                      </a:solidFill>
                      <a:prstDash val="solid"/>
                    </a:lnR>
                    <a:lnT w="9360">
                      <a:solidFill>
                        <a:srgbClr val="333333"/>
                      </a:solidFill>
                      <a:prstDash val="solid"/>
                    </a:lnT>
                    <a:lnB w="9360">
                      <a:solidFill>
                        <a:srgbClr val="333333"/>
                      </a:solidFill>
                      <a:prstDash val="solid"/>
                    </a:lnB>
                    <a:noFill/>
                  </a:tcPr>
                </a:tc>
              </a:tr>
            </a:tbl>
          </a:graphicData>
        </a:graphic>
      </p:graphicFrame>
      <p:sp>
        <p:nvSpPr>
          <p:cNvPr id="56" name="PlaceHolder 2"/>
          <p:cNvSpPr>
            <a:spLocks noGrp="1"/>
          </p:cNvSpPr>
          <p:nvPr>
            <p:ph type="sldNum" idx="9"/>
          </p:nvPr>
        </p:nvSpPr>
        <p:spPr>
          <a:xfrm>
            <a:off x="10865880" y="384120"/>
            <a:ext cx="730440" cy="456120"/>
          </a:xfrm>
          <a:prstGeom prst="rect">
            <a:avLst/>
          </a:prstGeom>
          <a:noFill/>
          <a:ln w="0">
            <a:noFill/>
          </a:ln>
        </p:spPr>
        <p:txBody>
          <a:bodyPr lIns="90000" tIns="45000" rIns="90000" bIns="45000" anchor="t">
            <a:noAutofit/>
          </a:bodyPr>
          <a:lstStyle>
            <a:lvl1pPr indent="0" algn="r" defTabSz="914400">
              <a:lnSpc>
                <a:spcPct val="100000"/>
              </a:lnSpc>
              <a:buNone/>
              <a:tabLst>
                <a:tab pos="0" algn="l"/>
              </a:tabLst>
              <a:defRPr lang="en-US" sz="1600" b="0" u="none" strike="noStrike">
                <a:solidFill>
                  <a:srgbClr val="000000"/>
                </a:solidFill>
                <a:effectLst/>
                <a:uFillTx/>
                <a:latin typeface="Times New Roman"/>
                <a:ea typeface="Times New Roman"/>
              </a:defRPr>
            </a:lvl1pPr>
          </a:lstStyle>
          <a:p>
            <a:pPr indent="0" algn="r" defTabSz="914400">
              <a:lnSpc>
                <a:spcPct val="100000"/>
              </a:lnSpc>
              <a:buNone/>
              <a:tabLst>
                <a:tab pos="0" algn="l"/>
              </a:tabLst>
            </a:pPr>
            <a:fld id="{849214DA-AC8A-4745-88E4-51DC09E49B75}" type="slidenum">
              <a:rPr lang="en-US" sz="1600" b="0" u="none" strike="noStrike">
                <a:solidFill>
                  <a:srgbClr val="000000"/>
                </a:solidFill>
                <a:effectLst/>
                <a:uFillTx/>
                <a:latin typeface="Times New Roman"/>
                <a:ea typeface="Times New Roman"/>
              </a:rPr>
              <a:t>&lt;number&gt;</a:t>
            </a:fld>
            <a:endParaRPr lang="en-US" sz="1600" b="0" u="none" strike="noStrike">
              <a:solidFill>
                <a:srgbClr val="000000"/>
              </a:solidFill>
              <a:effectLst/>
              <a:uFillTx/>
              <a:latin typeface="Times New Roman"/>
            </a:endParaRPr>
          </a:p>
        </p:txBody>
      </p:sp>
    </p:spTree>
  </p:cSld>
  <mc:AlternateContent>
    <mc:Choice Requires="p14">
      <p:transition spd="slow" p14:dur="2000"/>
    </mc:Choice>
    <mc:Fallback>
      <p:transition spd="slow"/>
    </mc:Fallback>
  </mc:AlternateContent>
</p:sld>
</file>

<file path=ppt/slides/slide17.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57" name="Text 50"/>
          <p:cNvSpPr/>
          <p:nvPr/>
        </p:nvSpPr>
        <p:spPr>
          <a:xfrm>
            <a:off x="594720" y="384120"/>
            <a:ext cx="9813240" cy="77616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3000" b="0" u="none" strike="noStrike">
                <a:solidFill>
                  <a:srgbClr val="000000"/>
                </a:solidFill>
                <a:effectLst/>
                <a:uFillTx/>
                <a:latin typeface="Times New Roman"/>
                <a:ea typeface="Times New Roman"/>
              </a:rPr>
              <a:t>DATASET</a:t>
            </a:r>
            <a:endParaRPr lang="en-US" sz="3000" b="0" u="none" strike="noStrike">
              <a:solidFill>
                <a:srgbClr val="000000"/>
              </a:solidFill>
              <a:effectLst/>
              <a:uFillTx/>
              <a:latin typeface="Arial"/>
            </a:endParaRPr>
          </a:p>
        </p:txBody>
      </p:sp>
      <p:sp>
        <p:nvSpPr>
          <p:cNvPr id="58" name=""/>
          <p:cNvSpPr/>
          <p:nvPr/>
        </p:nvSpPr>
        <p:spPr>
          <a:xfrm>
            <a:off x="457200" y="1161000"/>
            <a:ext cx="3842280" cy="345600"/>
          </a:xfrm>
          <a:prstGeom prst="rect">
            <a:avLst/>
          </a:prstGeom>
          <a:noFill/>
          <a:ln w="38160">
            <a:noFill/>
          </a:ln>
        </p:spPr>
        <p:style>
          <a:lnRef idx="0"/>
          <a:fillRef idx="0"/>
          <a:effectRef idx="0"/>
          <a:fontRef idx="minor"/>
        </p:style>
        <p:txBody>
          <a:bodyPr wrap="none" lIns="90000" tIns="45000" rIns="90000" bIns="45000" anchor="t">
            <a:spAutoFit/>
          </a:bodyPr>
          <a:p>
            <a:pPr>
              <a:lnSpc>
                <a:spcPct val="100000"/>
              </a:lnSpc>
            </a:pPr>
            <a:r>
              <a:rPr lang="en-US" sz="1800" b="0" u="none" strike="noStrike">
                <a:solidFill>
                  <a:srgbClr val="000000"/>
                </a:solidFill>
                <a:effectLst/>
                <a:uFillTx/>
                <a:latin typeface="Arial"/>
                <a:ea typeface="Noto Sans CJK SC"/>
              </a:rPr>
              <a:t>Fine-tuning </a:t>
            </a:r>
            <a:r>
              <a:rPr lang="en-US" sz="1200" b="0" u="none" strike="noStrike">
                <a:solidFill>
                  <a:srgbClr val="1A1A1A"/>
                </a:solidFill>
                <a:effectLst/>
                <a:uFillTx/>
                <a:latin typeface="Times New Roman"/>
                <a:ea typeface="Times New Roman"/>
              </a:rPr>
              <a:t>(Qwen3-4B-Instruct-2507)</a:t>
            </a:r>
            <a:r>
              <a:rPr lang="en-US" sz="1800" b="0" u="none" strike="noStrike">
                <a:solidFill>
                  <a:srgbClr val="000000"/>
                </a:solidFill>
                <a:effectLst/>
                <a:uFillTx/>
                <a:latin typeface="Arial"/>
                <a:ea typeface="Times New Roman"/>
              </a:rPr>
              <a:t> dataset</a:t>
            </a:r>
            <a:endParaRPr lang="en-US" sz="1800" b="0" u="none" strike="noStrike">
              <a:solidFill>
                <a:srgbClr val="000000"/>
              </a:solidFill>
              <a:effectLst/>
              <a:uFillTx/>
              <a:latin typeface="Arial"/>
            </a:endParaRPr>
          </a:p>
        </p:txBody>
      </p:sp>
      <p:graphicFrame>
        <p:nvGraphicFramePr>
          <p:cNvPr id="59" name=""/>
          <p:cNvGraphicFramePr/>
          <p:nvPr/>
        </p:nvGraphicFramePr>
        <p:xfrm>
          <a:off x="585360" y="1646640"/>
          <a:ext cx="7265520" cy="2189880"/>
        </p:xfrm>
        <a:graphic>
          <a:graphicData uri="http://schemas.openxmlformats.org/drawingml/2006/table">
            <a:tbl>
              <a:tblPr/>
              <a:tblGrid>
                <a:gridCol w="1486080"/>
                <a:gridCol w="5779800"/>
              </a:tblGrid>
              <a:tr h="346320">
                <a:tc>
                  <a:txBody>
                    <a:bodyPr lIns="36000" tIns="36000" rIns="36000" bIns="36000" anchor="t">
                      <a:noAutofit/>
                    </a:bodyPr>
                    <a:p>
                      <a:pPr>
                        <a:lnSpc>
                          <a:spcPct val="100000"/>
                        </a:lnSpc>
                      </a:pPr>
                      <a:r>
                        <a:rPr lang="en-US" sz="1200" b="0" u="none" strike="noStrike">
                          <a:solidFill>
                            <a:srgbClr val="000000"/>
                          </a:solidFill>
                          <a:effectLst/>
                          <a:uFillTx/>
                          <a:latin typeface="Times New Roman"/>
                        </a:rPr>
                        <a:t>Dataset Aspect</a:t>
                      </a:r>
                      <a:endParaRPr lang="en-US" sz="1200" b="0" u="none" strike="noStrike">
                        <a:solidFill>
                          <a:srgbClr val="000000"/>
                        </a:solidFill>
                        <a:effectLst/>
                        <a:uFillTx/>
                        <a:latin typeface="Arial"/>
                      </a:endParaRPr>
                    </a:p>
                  </a:txBody>
                  <a:tcPr anchor="t" marL="36000" marR="36000" marT="36000" marB="36000">
                    <a:lnL w="7200">
                      <a:solidFill>
                        <a:srgbClr val="000000"/>
                      </a:solidFill>
                      <a:prstDash val="solid"/>
                    </a:lnL>
                    <a:lnR w="7200">
                      <a:solidFill>
                        <a:srgbClr val="000000"/>
                      </a:solidFill>
                      <a:prstDash val="solid"/>
                    </a:lnR>
                    <a:lnT w="7200">
                      <a:solidFill>
                        <a:srgbClr val="000000"/>
                      </a:solidFill>
                      <a:prstDash val="solid"/>
                    </a:lnT>
                    <a:lnB w="7200">
                      <a:solidFill>
                        <a:srgbClr val="000000"/>
                      </a:solidFill>
                      <a:prstDash val="solid"/>
                    </a:lnB>
                    <a:noFill/>
                  </a:tcPr>
                </a:tc>
                <a:tc>
                  <a:txBody>
                    <a:bodyPr lIns="36000" tIns="36000" rIns="36000" bIns="36000" anchor="t">
                      <a:noAutofit/>
                    </a:bodyPr>
                    <a:p>
                      <a:pPr>
                        <a:lnSpc>
                          <a:spcPct val="100000"/>
                        </a:lnSpc>
                      </a:pPr>
                      <a:r>
                        <a:rPr lang="en-US" sz="1200" b="0" u="none" strike="noStrike">
                          <a:solidFill>
                            <a:srgbClr val="000000"/>
                          </a:solidFill>
                          <a:effectLst/>
                          <a:uFillTx/>
                          <a:latin typeface="Times New Roman"/>
                        </a:rPr>
                        <a:t>Details</a:t>
                      </a:r>
                      <a:endParaRPr lang="en-US" sz="1200" b="0" u="none" strike="noStrike">
                        <a:solidFill>
                          <a:srgbClr val="000000"/>
                        </a:solidFill>
                        <a:effectLst/>
                        <a:uFillTx/>
                        <a:latin typeface="Arial"/>
                      </a:endParaRPr>
                    </a:p>
                  </a:txBody>
                  <a:tcPr anchor="t" marL="36000" marR="36000" marT="36000" marB="36000">
                    <a:lnL w="7200">
                      <a:solidFill>
                        <a:srgbClr val="000000"/>
                      </a:solidFill>
                      <a:prstDash val="solid"/>
                    </a:lnL>
                    <a:lnR w="7200">
                      <a:solidFill>
                        <a:srgbClr val="000000"/>
                      </a:solidFill>
                      <a:prstDash val="solid"/>
                    </a:lnR>
                    <a:lnT w="7200">
                      <a:solidFill>
                        <a:srgbClr val="000000"/>
                      </a:solidFill>
                      <a:prstDash val="solid"/>
                    </a:lnT>
                    <a:lnB w="7200">
                      <a:solidFill>
                        <a:srgbClr val="000000"/>
                      </a:solidFill>
                      <a:prstDash val="solid"/>
                    </a:lnB>
                    <a:noFill/>
                  </a:tcPr>
                </a:tc>
              </a:tr>
              <a:tr h="346320">
                <a:tc>
                  <a:txBody>
                    <a:bodyPr lIns="36000" tIns="36000" rIns="36000" bIns="36000" anchor="t">
                      <a:noAutofit/>
                    </a:bodyPr>
                    <a:p>
                      <a:pPr>
                        <a:lnSpc>
                          <a:spcPct val="100000"/>
                        </a:lnSpc>
                      </a:pPr>
                      <a:r>
                        <a:rPr lang="en-US" sz="1200" b="0" u="none" strike="noStrike">
                          <a:solidFill>
                            <a:srgbClr val="000000"/>
                          </a:solidFill>
                          <a:effectLst/>
                          <a:uFillTx/>
                          <a:latin typeface="Times New Roman"/>
                        </a:rPr>
                        <a:t>Scope</a:t>
                      </a:r>
                      <a:endParaRPr lang="en-US" sz="1200" b="0" u="none" strike="noStrike">
                        <a:solidFill>
                          <a:srgbClr val="000000"/>
                        </a:solidFill>
                        <a:effectLst/>
                        <a:uFillTx/>
                        <a:latin typeface="Arial"/>
                      </a:endParaRPr>
                    </a:p>
                    <a:p>
                      <a:pPr>
                        <a:lnSpc>
                          <a:spcPct val="100000"/>
                        </a:lnSpc>
                      </a:pPr>
                      <a:endParaRPr lang="en-US" sz="1200" b="0" u="none" strike="noStrike">
                        <a:solidFill>
                          <a:srgbClr val="000000"/>
                        </a:solidFill>
                        <a:effectLst/>
                        <a:uFillTx/>
                        <a:latin typeface="Arial"/>
                      </a:endParaRPr>
                    </a:p>
                  </a:txBody>
                  <a:tcPr anchor="t" marL="36000" marR="36000" marT="36000" marB="36000">
                    <a:lnL w="7200">
                      <a:solidFill>
                        <a:srgbClr val="000000"/>
                      </a:solidFill>
                      <a:prstDash val="solid"/>
                    </a:lnL>
                    <a:lnR w="7200">
                      <a:solidFill>
                        <a:srgbClr val="000000"/>
                      </a:solidFill>
                      <a:prstDash val="solid"/>
                    </a:lnR>
                    <a:lnT w="7200">
                      <a:solidFill>
                        <a:srgbClr val="000000"/>
                      </a:solidFill>
                      <a:prstDash val="solid"/>
                    </a:lnT>
                    <a:lnB w="7200">
                      <a:solidFill>
                        <a:srgbClr val="000000"/>
                      </a:solidFill>
                      <a:prstDash val="solid"/>
                    </a:lnB>
                    <a:noFill/>
                  </a:tcPr>
                </a:tc>
                <a:tc>
                  <a:txBody>
                    <a:bodyPr lIns="36000" tIns="36000" rIns="36000" bIns="36000" anchor="t">
                      <a:noAutofit/>
                    </a:bodyPr>
                    <a:p>
                      <a:pPr>
                        <a:lnSpc>
                          <a:spcPct val="100000"/>
                        </a:lnSpc>
                        <a:spcBef>
                          <a:spcPts val="1191"/>
                        </a:spcBef>
                        <a:spcAft>
                          <a:spcPts val="992"/>
                        </a:spcAft>
                      </a:pPr>
                      <a:r>
                        <a:rPr lang="en-US" sz="1200" b="0" u="none" strike="noStrike">
                          <a:solidFill>
                            <a:srgbClr val="000000"/>
                          </a:solidFill>
                          <a:effectLst/>
                          <a:uFillTx/>
                          <a:latin typeface="Times New Roman"/>
                        </a:rPr>
                        <a:t>Started with coding conversations; expanded to 16 domains, including family, food, travel, education, work and software.</a:t>
                      </a:r>
                      <a:endParaRPr lang="en-US" sz="1200" b="0" u="none" strike="noStrike">
                        <a:solidFill>
                          <a:srgbClr val="000000"/>
                        </a:solidFill>
                        <a:effectLst/>
                        <a:uFillTx/>
                        <a:latin typeface="Arial"/>
                      </a:endParaRPr>
                    </a:p>
                  </a:txBody>
                  <a:tcPr anchor="t" marL="36000" marR="36000" marT="36000" marB="36000">
                    <a:lnL w="7200">
                      <a:solidFill>
                        <a:srgbClr val="000000"/>
                      </a:solidFill>
                      <a:prstDash val="solid"/>
                    </a:lnL>
                    <a:lnR w="7200">
                      <a:solidFill>
                        <a:srgbClr val="000000"/>
                      </a:solidFill>
                      <a:prstDash val="solid"/>
                    </a:lnR>
                    <a:lnT w="7200">
                      <a:solidFill>
                        <a:srgbClr val="000000"/>
                      </a:solidFill>
                      <a:prstDash val="solid"/>
                    </a:lnT>
                    <a:lnB w="7200">
                      <a:solidFill>
                        <a:srgbClr val="000000"/>
                      </a:solidFill>
                      <a:prstDash val="solid"/>
                    </a:lnB>
                    <a:noFill/>
                  </a:tcPr>
                </a:tc>
              </a:tr>
              <a:tr h="346320">
                <a:tc>
                  <a:txBody>
                    <a:bodyPr lIns="36000" tIns="36000" rIns="36000" bIns="36000" anchor="t">
                      <a:noAutofit/>
                    </a:bodyPr>
                    <a:p>
                      <a:pPr>
                        <a:lnSpc>
                          <a:spcPct val="100000"/>
                        </a:lnSpc>
                        <a:spcBef>
                          <a:spcPts val="1191"/>
                        </a:spcBef>
                        <a:spcAft>
                          <a:spcPts val="992"/>
                        </a:spcAft>
                      </a:pPr>
                      <a:r>
                        <a:rPr lang="en-US" sz="1200" b="0" u="none" strike="noStrike">
                          <a:solidFill>
                            <a:srgbClr val="000000"/>
                          </a:solidFill>
                          <a:effectLst/>
                          <a:uFillTx/>
                          <a:latin typeface="Times New Roman"/>
                        </a:rPr>
                        <a:t>Data sources</a:t>
                      </a:r>
                      <a:endParaRPr lang="en-US" sz="1200" b="0" u="none" strike="noStrike">
                        <a:solidFill>
                          <a:srgbClr val="000000"/>
                        </a:solidFill>
                        <a:effectLst/>
                        <a:uFillTx/>
                        <a:latin typeface="Arial"/>
                      </a:endParaRPr>
                    </a:p>
                    <a:p>
                      <a:pPr>
                        <a:lnSpc>
                          <a:spcPct val="100000"/>
                        </a:lnSpc>
                      </a:pPr>
                      <a:endParaRPr lang="en-US" sz="1200" b="0" u="none" strike="noStrike">
                        <a:solidFill>
                          <a:srgbClr val="000000"/>
                        </a:solidFill>
                        <a:effectLst/>
                        <a:uFillTx/>
                        <a:latin typeface="Arial"/>
                      </a:endParaRPr>
                    </a:p>
                  </a:txBody>
                  <a:tcPr anchor="t" marL="36000" marR="36000" marT="36000" marB="36000">
                    <a:lnL w="7200">
                      <a:solidFill>
                        <a:srgbClr val="000000"/>
                      </a:solidFill>
                      <a:prstDash val="solid"/>
                    </a:lnL>
                    <a:lnR w="7200">
                      <a:solidFill>
                        <a:srgbClr val="000000"/>
                      </a:solidFill>
                      <a:prstDash val="solid"/>
                    </a:lnR>
                    <a:lnT w="7200">
                      <a:solidFill>
                        <a:srgbClr val="000000"/>
                      </a:solidFill>
                      <a:prstDash val="solid"/>
                    </a:lnT>
                    <a:lnB w="7200">
                      <a:solidFill>
                        <a:srgbClr val="000000"/>
                      </a:solidFill>
                      <a:prstDash val="solid"/>
                    </a:lnB>
                    <a:noFill/>
                  </a:tcPr>
                </a:tc>
                <a:tc>
                  <a:txBody>
                    <a:bodyPr lIns="36000" tIns="36000" rIns="36000" bIns="36000" anchor="t">
                      <a:noAutofit/>
                    </a:bodyPr>
                    <a:p>
                      <a:pPr>
                        <a:lnSpc>
                          <a:spcPct val="100000"/>
                        </a:lnSpc>
                      </a:pPr>
                      <a:r>
                        <a:rPr lang="en-US" sz="1200" b="0" u="none" strike="noStrike">
                          <a:solidFill>
                            <a:srgbClr val="000000"/>
                          </a:solidFill>
                          <a:effectLst/>
                          <a:uFillTx/>
                          <a:latin typeface="Times New Roman"/>
                        </a:rPr>
                        <a:t>Synthetic conversations generated by gpt-5.6-sol (teacher), cross checked via adversarial model and cleaned.</a:t>
                      </a:r>
                      <a:endParaRPr lang="en-US" sz="1200" b="0" u="none" strike="noStrike">
                        <a:solidFill>
                          <a:srgbClr val="000000"/>
                        </a:solidFill>
                        <a:effectLst/>
                        <a:uFillTx/>
                        <a:latin typeface="Arial"/>
                      </a:endParaRPr>
                    </a:p>
                    <a:p>
                      <a:pPr>
                        <a:lnSpc>
                          <a:spcPct val="100000"/>
                        </a:lnSpc>
                      </a:pPr>
                      <a:endParaRPr lang="en-US" sz="1200" b="0" u="none" strike="noStrike">
                        <a:solidFill>
                          <a:srgbClr val="000000"/>
                        </a:solidFill>
                        <a:effectLst/>
                        <a:uFillTx/>
                        <a:latin typeface="Arial"/>
                      </a:endParaRPr>
                    </a:p>
                  </a:txBody>
                  <a:tcPr anchor="t" marL="36000" marR="36000" marT="36000" marB="36000">
                    <a:lnL w="7200">
                      <a:solidFill>
                        <a:srgbClr val="000000"/>
                      </a:solidFill>
                      <a:prstDash val="solid"/>
                    </a:lnL>
                    <a:lnR w="7200">
                      <a:solidFill>
                        <a:srgbClr val="000000"/>
                      </a:solidFill>
                      <a:prstDash val="solid"/>
                    </a:lnR>
                    <a:lnT w="7200">
                      <a:solidFill>
                        <a:srgbClr val="000000"/>
                      </a:solidFill>
                      <a:prstDash val="solid"/>
                    </a:lnT>
                    <a:lnB w="7200">
                      <a:solidFill>
                        <a:srgbClr val="000000"/>
                      </a:solidFill>
                      <a:prstDash val="solid"/>
                    </a:lnB>
                    <a:noFill/>
                  </a:tcPr>
                </a:tc>
              </a:tr>
              <a:tr h="346320">
                <a:tc>
                  <a:txBody>
                    <a:bodyPr lIns="36000" tIns="36000" rIns="36000" bIns="36000" anchor="t">
                      <a:noAutofit/>
                    </a:bodyPr>
                    <a:p>
                      <a:pPr>
                        <a:lnSpc>
                          <a:spcPct val="100000"/>
                        </a:lnSpc>
                      </a:pPr>
                      <a:r>
                        <a:rPr lang="en-US" sz="1200" b="0" u="none" strike="noStrike">
                          <a:solidFill>
                            <a:srgbClr val="000000"/>
                          </a:solidFill>
                          <a:effectLst/>
                          <a:uFillTx/>
                          <a:latin typeface="Times New Roman"/>
                        </a:rPr>
                        <a:t>Dataset size</a:t>
                      </a:r>
                      <a:endParaRPr lang="en-US" sz="1200" b="0" u="none" strike="noStrike">
                        <a:solidFill>
                          <a:srgbClr val="000000"/>
                        </a:solidFill>
                        <a:effectLst/>
                        <a:uFillTx/>
                        <a:latin typeface="Arial"/>
                      </a:endParaRPr>
                    </a:p>
                  </a:txBody>
                  <a:tcPr anchor="t" marL="36000" marR="36000" marT="36000" marB="36000">
                    <a:lnL w="7200">
                      <a:solidFill>
                        <a:srgbClr val="000000"/>
                      </a:solidFill>
                      <a:prstDash val="solid"/>
                    </a:lnL>
                    <a:lnR w="7200">
                      <a:solidFill>
                        <a:srgbClr val="000000"/>
                      </a:solidFill>
                      <a:prstDash val="solid"/>
                    </a:lnR>
                    <a:lnT w="7200">
                      <a:solidFill>
                        <a:srgbClr val="000000"/>
                      </a:solidFill>
                      <a:prstDash val="solid"/>
                    </a:lnT>
                    <a:lnB w="7200">
                      <a:solidFill>
                        <a:srgbClr val="000000"/>
                      </a:solidFill>
                      <a:prstDash val="solid"/>
                    </a:lnB>
                    <a:noFill/>
                  </a:tcPr>
                </a:tc>
                <a:tc>
                  <a:txBody>
                    <a:bodyPr lIns="36000" tIns="36000" rIns="36000" bIns="36000" anchor="t">
                      <a:noAutofit/>
                    </a:bodyPr>
                    <a:p>
                      <a:pPr>
                        <a:lnSpc>
                          <a:spcPct val="100000"/>
                        </a:lnSpc>
                      </a:pPr>
                      <a:r>
                        <a:rPr lang="en-US" sz="1200" b="0" u="none" strike="noStrike">
                          <a:solidFill>
                            <a:srgbClr val="000000"/>
                          </a:solidFill>
                          <a:effectLst/>
                          <a:uFillTx/>
                          <a:latin typeface="Times New Roman"/>
                        </a:rPr>
                        <a:t>2,961 task examples: 2,095 training · 424 validation · 442 test.</a:t>
                      </a:r>
                      <a:endParaRPr lang="en-US" sz="1200" b="0" u="none" strike="noStrike">
                        <a:solidFill>
                          <a:srgbClr val="000000"/>
                        </a:solidFill>
                        <a:effectLst/>
                        <a:uFillTx/>
                        <a:latin typeface="Arial"/>
                      </a:endParaRPr>
                    </a:p>
                  </a:txBody>
                  <a:tcPr anchor="t" marL="36000" marR="36000" marT="36000" marB="36000">
                    <a:lnL w="7200">
                      <a:solidFill>
                        <a:srgbClr val="000000"/>
                      </a:solidFill>
                      <a:prstDash val="solid"/>
                    </a:lnL>
                    <a:lnR w="7200">
                      <a:solidFill>
                        <a:srgbClr val="000000"/>
                      </a:solidFill>
                      <a:prstDash val="solid"/>
                    </a:lnR>
                    <a:lnT w="7200">
                      <a:solidFill>
                        <a:srgbClr val="000000"/>
                      </a:solidFill>
                      <a:prstDash val="solid"/>
                    </a:lnT>
                    <a:lnB w="7200">
                      <a:solidFill>
                        <a:srgbClr val="000000"/>
                      </a:solidFill>
                      <a:prstDash val="solid"/>
                    </a:lnB>
                    <a:noFill/>
                  </a:tcPr>
                </a:tc>
              </a:tr>
              <a:tr h="346320">
                <a:tc>
                  <a:txBody>
                    <a:bodyPr lIns="36000" tIns="36000" rIns="36000" bIns="36000" anchor="t">
                      <a:noAutofit/>
                    </a:bodyPr>
                    <a:p>
                      <a:pPr>
                        <a:lnSpc>
                          <a:spcPct val="100000"/>
                        </a:lnSpc>
                      </a:pPr>
                      <a:r>
                        <a:rPr lang="en-US" sz="1200" b="0" u="none" strike="noStrike">
                          <a:solidFill>
                            <a:srgbClr val="000000"/>
                          </a:solidFill>
                          <a:effectLst/>
                          <a:uFillTx/>
                          <a:latin typeface="Times New Roman"/>
                        </a:rPr>
                        <a:t>Instruct Tasks</a:t>
                      </a:r>
                      <a:endParaRPr lang="en-US" sz="1200" b="0" u="none" strike="noStrike">
                        <a:solidFill>
                          <a:srgbClr val="000000"/>
                        </a:solidFill>
                        <a:effectLst/>
                        <a:uFillTx/>
                        <a:latin typeface="Arial"/>
                      </a:endParaRPr>
                    </a:p>
                  </a:txBody>
                  <a:tcPr anchor="t" marL="36000" marR="36000" marT="36000" marB="36000">
                    <a:lnL w="7200">
                      <a:solidFill>
                        <a:srgbClr val="000000"/>
                      </a:solidFill>
                      <a:prstDash val="solid"/>
                    </a:lnL>
                    <a:lnR w="7200">
                      <a:solidFill>
                        <a:srgbClr val="000000"/>
                      </a:solidFill>
                      <a:prstDash val="solid"/>
                    </a:lnR>
                    <a:lnT w="7200">
                      <a:solidFill>
                        <a:srgbClr val="000000"/>
                      </a:solidFill>
                      <a:prstDash val="solid"/>
                    </a:lnT>
                    <a:lnB w="7200">
                      <a:solidFill>
                        <a:srgbClr val="000000"/>
                      </a:solidFill>
                      <a:prstDash val="solid"/>
                    </a:lnB>
                    <a:noFill/>
                  </a:tcPr>
                </a:tc>
                <a:tc>
                  <a:txBody>
                    <a:bodyPr lIns="36000" tIns="36000" rIns="36000" bIns="36000" anchor="t">
                      <a:noAutofit/>
                    </a:bodyPr>
                    <a:p>
                      <a:pPr>
                        <a:lnSpc>
                          <a:spcPct val="100000"/>
                        </a:lnSpc>
                      </a:pPr>
                      <a:r>
                        <a:rPr lang="en-US" sz="1200" b="0" u="none" strike="noStrike">
                          <a:solidFill>
                            <a:srgbClr val="000000"/>
                          </a:solidFill>
                          <a:effectLst/>
                          <a:uFillTx/>
                          <a:latin typeface="Times New Roman"/>
                        </a:rPr>
                        <a:t>Extract useful assertions, combine related assertions and answer questions with cited evidence.</a:t>
                      </a:r>
                      <a:endParaRPr lang="en-US" sz="1200" b="0" u="none" strike="noStrike">
                        <a:solidFill>
                          <a:srgbClr val="000000"/>
                        </a:solidFill>
                        <a:effectLst/>
                        <a:uFillTx/>
                        <a:latin typeface="Arial"/>
                      </a:endParaRPr>
                    </a:p>
                    <a:p>
                      <a:pPr>
                        <a:lnSpc>
                          <a:spcPct val="100000"/>
                        </a:lnSpc>
                      </a:pPr>
                      <a:endParaRPr lang="en-US" sz="1200" b="0" u="none" strike="noStrike">
                        <a:solidFill>
                          <a:srgbClr val="000000"/>
                        </a:solidFill>
                        <a:effectLst/>
                        <a:uFillTx/>
                        <a:latin typeface="Arial"/>
                      </a:endParaRPr>
                    </a:p>
                  </a:txBody>
                  <a:tcPr anchor="t" marL="36000" marR="36000" marT="36000" marB="36000">
                    <a:lnL w="7200">
                      <a:solidFill>
                        <a:srgbClr val="000000"/>
                      </a:solidFill>
                      <a:prstDash val="solid"/>
                    </a:lnL>
                    <a:lnR w="7200">
                      <a:solidFill>
                        <a:srgbClr val="000000"/>
                      </a:solidFill>
                      <a:prstDash val="solid"/>
                    </a:lnR>
                    <a:lnT w="7200">
                      <a:solidFill>
                        <a:srgbClr val="000000"/>
                      </a:solidFill>
                      <a:prstDash val="solid"/>
                    </a:lnT>
                    <a:lnB w="7200">
                      <a:solidFill>
                        <a:srgbClr val="000000"/>
                      </a:solidFill>
                      <a:prstDash val="solid"/>
                    </a:lnB>
                    <a:noFill/>
                  </a:tcPr>
                </a:tc>
              </a:tr>
            </a:tbl>
          </a:graphicData>
        </a:graphic>
      </p:graphicFrame>
      <p:sp>
        <p:nvSpPr>
          <p:cNvPr id="60" name=""/>
          <p:cNvSpPr/>
          <p:nvPr/>
        </p:nvSpPr>
        <p:spPr>
          <a:xfrm>
            <a:off x="500400" y="3988440"/>
            <a:ext cx="2937600" cy="345600"/>
          </a:xfrm>
          <a:prstGeom prst="rect">
            <a:avLst/>
          </a:prstGeom>
          <a:noFill/>
          <a:ln w="38160">
            <a:noFill/>
          </a:ln>
        </p:spPr>
        <p:style>
          <a:lnRef idx="0"/>
          <a:fillRef idx="0"/>
          <a:effectRef idx="0"/>
          <a:fontRef idx="minor"/>
        </p:style>
        <p:txBody>
          <a:bodyPr wrap="none" lIns="90000" tIns="45000" rIns="90000" bIns="45000" anchor="t">
            <a:spAutoFit/>
          </a:bodyPr>
          <a:p>
            <a:pPr>
              <a:lnSpc>
                <a:spcPct val="100000"/>
              </a:lnSpc>
            </a:pPr>
            <a:r>
              <a:rPr lang="en-US" sz="1800" b="0" u="none" strike="noStrike">
                <a:solidFill>
                  <a:srgbClr val="000000"/>
                </a:solidFill>
                <a:effectLst/>
                <a:uFillTx/>
                <a:latin typeface="Arial"/>
              </a:rPr>
              <a:t>External evaluation dataset</a:t>
            </a:r>
            <a:endParaRPr lang="en-US" sz="1800" b="0" u="none" strike="noStrike">
              <a:solidFill>
                <a:srgbClr val="000000"/>
              </a:solidFill>
              <a:effectLst/>
              <a:uFillTx/>
              <a:latin typeface="Arial"/>
            </a:endParaRPr>
          </a:p>
        </p:txBody>
      </p:sp>
      <p:graphicFrame>
        <p:nvGraphicFramePr>
          <p:cNvPr id="61" name=""/>
          <p:cNvGraphicFramePr/>
          <p:nvPr/>
        </p:nvGraphicFramePr>
        <p:xfrm>
          <a:off x="632880" y="4370760"/>
          <a:ext cx="7265520" cy="1969560"/>
        </p:xfrm>
        <a:graphic>
          <a:graphicData uri="http://schemas.openxmlformats.org/drawingml/2006/table">
            <a:tbl>
              <a:tblPr/>
              <a:tblGrid>
                <a:gridCol w="1486080"/>
                <a:gridCol w="5779800"/>
              </a:tblGrid>
              <a:tr h="346320">
                <a:tc>
                  <a:txBody>
                    <a:bodyPr lIns="36000" tIns="36000" rIns="36000" bIns="36000" anchor="t">
                      <a:noAutofit/>
                    </a:bodyPr>
                    <a:p>
                      <a:pPr>
                        <a:lnSpc>
                          <a:spcPct val="100000"/>
                        </a:lnSpc>
                      </a:pPr>
                      <a:r>
                        <a:rPr lang="en-US" sz="1200" b="0" u="none" strike="noStrike">
                          <a:solidFill>
                            <a:srgbClr val="000000"/>
                          </a:solidFill>
                          <a:effectLst/>
                          <a:uFillTx/>
                          <a:latin typeface="Times New Roman"/>
                        </a:rPr>
                        <a:t>Dataset Aspect</a:t>
                      </a:r>
                      <a:endParaRPr lang="en-US" sz="1200" b="0" u="none" strike="noStrike">
                        <a:solidFill>
                          <a:srgbClr val="000000"/>
                        </a:solidFill>
                        <a:effectLst/>
                        <a:uFillTx/>
                        <a:latin typeface="Arial"/>
                      </a:endParaRPr>
                    </a:p>
                  </a:txBody>
                  <a:tcPr anchor="t" marL="36000" marR="36000" marT="36000" marB="36000">
                    <a:lnL w="7200">
                      <a:solidFill>
                        <a:srgbClr val="000000"/>
                      </a:solidFill>
                      <a:prstDash val="solid"/>
                    </a:lnL>
                    <a:lnR w="7200">
                      <a:solidFill>
                        <a:srgbClr val="000000"/>
                      </a:solidFill>
                      <a:prstDash val="solid"/>
                    </a:lnR>
                    <a:lnT w="7200">
                      <a:solidFill>
                        <a:srgbClr val="000000"/>
                      </a:solidFill>
                      <a:prstDash val="solid"/>
                    </a:lnT>
                    <a:lnB w="7200">
                      <a:solidFill>
                        <a:srgbClr val="000000"/>
                      </a:solidFill>
                      <a:prstDash val="solid"/>
                    </a:lnB>
                    <a:noFill/>
                  </a:tcPr>
                </a:tc>
                <a:tc>
                  <a:txBody>
                    <a:bodyPr lIns="36000" tIns="36000" rIns="36000" bIns="36000" anchor="t">
                      <a:noAutofit/>
                    </a:bodyPr>
                    <a:p>
                      <a:pPr>
                        <a:lnSpc>
                          <a:spcPct val="100000"/>
                        </a:lnSpc>
                      </a:pPr>
                      <a:r>
                        <a:rPr lang="en-US" sz="1200" b="0" u="none" strike="noStrike">
                          <a:solidFill>
                            <a:srgbClr val="000000"/>
                          </a:solidFill>
                          <a:effectLst/>
                          <a:uFillTx/>
                          <a:latin typeface="Times New Roman"/>
                        </a:rPr>
                        <a:t>Details</a:t>
                      </a:r>
                      <a:endParaRPr lang="en-US" sz="1200" b="0" u="none" strike="noStrike">
                        <a:solidFill>
                          <a:srgbClr val="000000"/>
                        </a:solidFill>
                        <a:effectLst/>
                        <a:uFillTx/>
                        <a:latin typeface="Arial"/>
                      </a:endParaRPr>
                    </a:p>
                  </a:txBody>
                  <a:tcPr anchor="t" marL="36000" marR="36000" marT="36000" marB="36000">
                    <a:lnL w="7200">
                      <a:solidFill>
                        <a:srgbClr val="000000"/>
                      </a:solidFill>
                      <a:prstDash val="solid"/>
                    </a:lnL>
                    <a:lnR w="7200">
                      <a:solidFill>
                        <a:srgbClr val="000000"/>
                      </a:solidFill>
                      <a:prstDash val="solid"/>
                    </a:lnR>
                    <a:lnT w="7200">
                      <a:solidFill>
                        <a:srgbClr val="000000"/>
                      </a:solidFill>
                      <a:prstDash val="solid"/>
                    </a:lnT>
                    <a:lnB w="7200">
                      <a:solidFill>
                        <a:srgbClr val="000000"/>
                      </a:solidFill>
                      <a:prstDash val="solid"/>
                    </a:lnB>
                    <a:noFill/>
                  </a:tcPr>
                </a:tc>
              </a:tr>
              <a:tr h="346320">
                <a:tc>
                  <a:txBody>
                    <a:bodyPr lIns="36000" tIns="36000" rIns="36000" bIns="36000" anchor="t">
                      <a:noAutofit/>
                    </a:bodyPr>
                    <a:p>
                      <a:pPr>
                        <a:lnSpc>
                          <a:spcPct val="100000"/>
                        </a:lnSpc>
                        <a:spcBef>
                          <a:spcPts val="1191"/>
                        </a:spcBef>
                        <a:spcAft>
                          <a:spcPts val="992"/>
                        </a:spcAft>
                      </a:pPr>
                      <a:r>
                        <a:rPr lang="en-US" sz="1200" b="0" u="none" strike="noStrike">
                          <a:solidFill>
                            <a:srgbClr val="000000"/>
                          </a:solidFill>
                          <a:effectLst/>
                          <a:uFillTx/>
                          <a:latin typeface="Times New Roman"/>
                        </a:rPr>
                        <a:t>Data sources</a:t>
                      </a:r>
                      <a:endParaRPr lang="en-US" sz="1200" b="0" u="none" strike="noStrike">
                        <a:solidFill>
                          <a:srgbClr val="000000"/>
                        </a:solidFill>
                        <a:effectLst/>
                        <a:uFillTx/>
                        <a:latin typeface="Arial"/>
                      </a:endParaRPr>
                    </a:p>
                    <a:p>
                      <a:pPr>
                        <a:lnSpc>
                          <a:spcPct val="100000"/>
                        </a:lnSpc>
                      </a:pPr>
                      <a:endParaRPr lang="en-US" sz="1200" b="0" u="none" strike="noStrike">
                        <a:solidFill>
                          <a:srgbClr val="000000"/>
                        </a:solidFill>
                        <a:effectLst/>
                        <a:uFillTx/>
                        <a:latin typeface="Arial"/>
                      </a:endParaRPr>
                    </a:p>
                  </a:txBody>
                  <a:tcPr anchor="t" marL="36000" marR="36000" marT="36000" marB="36000">
                    <a:lnL w="7200">
                      <a:solidFill>
                        <a:srgbClr val="000000"/>
                      </a:solidFill>
                      <a:prstDash val="solid"/>
                    </a:lnL>
                    <a:lnR w="7200">
                      <a:solidFill>
                        <a:srgbClr val="000000"/>
                      </a:solidFill>
                      <a:prstDash val="solid"/>
                    </a:lnR>
                    <a:lnT w="7200">
                      <a:solidFill>
                        <a:srgbClr val="000000"/>
                      </a:solidFill>
                      <a:prstDash val="solid"/>
                    </a:lnT>
                    <a:lnB w="7200">
                      <a:solidFill>
                        <a:srgbClr val="000000"/>
                      </a:solidFill>
                      <a:prstDash val="solid"/>
                    </a:lnB>
                    <a:noFill/>
                  </a:tcPr>
                </a:tc>
                <a:tc>
                  <a:txBody>
                    <a:bodyPr lIns="36000" tIns="36000" rIns="36000" bIns="36000" anchor="t">
                      <a:noAutofit/>
                    </a:bodyPr>
                    <a:p>
                      <a:pPr>
                        <a:lnSpc>
                          <a:spcPct val="100000"/>
                        </a:lnSpc>
                      </a:pPr>
                      <a:r>
                        <a:rPr lang="en-US" sz="1200" b="0" u="none" strike="noStrike">
                          <a:solidFill>
                            <a:srgbClr val="000000"/>
                          </a:solidFill>
                          <a:effectLst/>
                          <a:uFillTx/>
                          <a:latin typeface="Times New Roman"/>
                        </a:rPr>
                        <a:t>LoCoMo: conversations spanning multiple sessions.</a:t>
                      </a:r>
                      <a:endParaRPr lang="en-US" sz="1200" b="0" u="none" strike="noStrike">
                        <a:solidFill>
                          <a:srgbClr val="000000"/>
                        </a:solidFill>
                        <a:effectLst/>
                        <a:uFillTx/>
                        <a:latin typeface="Arial"/>
                      </a:endParaRPr>
                    </a:p>
                    <a:p>
                      <a:pPr>
                        <a:lnSpc>
                          <a:spcPct val="100000"/>
                        </a:lnSpc>
                      </a:pPr>
                      <a:endParaRPr lang="en-US" sz="1200" b="0" u="none" strike="noStrike">
                        <a:solidFill>
                          <a:srgbClr val="000000"/>
                        </a:solidFill>
                        <a:effectLst/>
                        <a:uFillTx/>
                        <a:latin typeface="Arial"/>
                      </a:endParaRPr>
                    </a:p>
                  </a:txBody>
                  <a:tcPr anchor="t" marL="36000" marR="36000" marT="36000" marB="36000">
                    <a:lnL w="7200">
                      <a:solidFill>
                        <a:srgbClr val="000000"/>
                      </a:solidFill>
                      <a:prstDash val="solid"/>
                    </a:lnL>
                    <a:lnR w="7200">
                      <a:solidFill>
                        <a:srgbClr val="000000"/>
                      </a:solidFill>
                      <a:prstDash val="solid"/>
                    </a:lnR>
                    <a:lnT w="7200">
                      <a:solidFill>
                        <a:srgbClr val="000000"/>
                      </a:solidFill>
                      <a:prstDash val="solid"/>
                    </a:lnT>
                    <a:lnB w="7200">
                      <a:solidFill>
                        <a:srgbClr val="000000"/>
                      </a:solidFill>
                      <a:prstDash val="solid"/>
                    </a:lnB>
                    <a:noFill/>
                  </a:tcPr>
                </a:tc>
              </a:tr>
              <a:tr h="346320">
                <a:tc>
                  <a:txBody>
                    <a:bodyPr lIns="36000" tIns="36000" rIns="36000" bIns="36000" anchor="t">
                      <a:noAutofit/>
                    </a:bodyPr>
                    <a:p>
                      <a:pPr>
                        <a:lnSpc>
                          <a:spcPct val="100000"/>
                        </a:lnSpc>
                      </a:pPr>
                      <a:r>
                        <a:rPr lang="en-US" sz="1200" b="0" u="none" strike="noStrike">
                          <a:solidFill>
                            <a:srgbClr val="000000"/>
                          </a:solidFill>
                          <a:effectLst/>
                          <a:uFillTx/>
                          <a:latin typeface="Times New Roman"/>
                        </a:rPr>
                        <a:t>Dataset size</a:t>
                      </a:r>
                      <a:endParaRPr lang="en-US" sz="1200" b="0" u="none" strike="noStrike">
                        <a:solidFill>
                          <a:srgbClr val="000000"/>
                        </a:solidFill>
                        <a:effectLst/>
                        <a:uFillTx/>
                        <a:latin typeface="Arial"/>
                      </a:endParaRPr>
                    </a:p>
                  </a:txBody>
                  <a:tcPr anchor="t" marL="36000" marR="36000" marT="36000" marB="36000">
                    <a:lnL w="7200">
                      <a:solidFill>
                        <a:srgbClr val="000000"/>
                      </a:solidFill>
                      <a:prstDash val="solid"/>
                    </a:lnL>
                    <a:lnR w="7200">
                      <a:solidFill>
                        <a:srgbClr val="000000"/>
                      </a:solidFill>
                      <a:prstDash val="solid"/>
                    </a:lnR>
                    <a:lnT w="7200">
                      <a:solidFill>
                        <a:srgbClr val="000000"/>
                      </a:solidFill>
                      <a:prstDash val="solid"/>
                    </a:lnT>
                    <a:lnB w="7200">
                      <a:solidFill>
                        <a:srgbClr val="000000"/>
                      </a:solidFill>
                      <a:prstDash val="solid"/>
                    </a:lnB>
                    <a:noFill/>
                  </a:tcPr>
                </a:tc>
                <a:tc>
                  <a:txBody>
                    <a:bodyPr lIns="36000" tIns="36000" rIns="36000" bIns="36000" anchor="t">
                      <a:noAutofit/>
                    </a:bodyPr>
                    <a:p>
                      <a:pPr>
                        <a:lnSpc>
                          <a:spcPct val="100000"/>
                        </a:lnSpc>
                      </a:pPr>
                      <a:r>
                        <a:rPr lang="en-US" sz="1200" b="0" u="none" strike="noStrike">
                          <a:solidFill>
                            <a:srgbClr val="000000"/>
                          </a:solidFill>
                          <a:effectLst/>
                          <a:uFillTx/>
                          <a:latin typeface="Times New Roman"/>
                        </a:rPr>
                        <a:t>16 conversation segments from 10 conversations, with 40 reference assertions.</a:t>
                      </a:r>
                      <a:endParaRPr lang="en-US" sz="1200" b="0" u="none" strike="noStrike">
                        <a:solidFill>
                          <a:srgbClr val="000000"/>
                        </a:solidFill>
                        <a:effectLst/>
                        <a:uFillTx/>
                        <a:latin typeface="Arial"/>
                      </a:endParaRPr>
                    </a:p>
                    <a:p>
                      <a:pPr>
                        <a:lnSpc>
                          <a:spcPct val="100000"/>
                        </a:lnSpc>
                      </a:pPr>
                      <a:endParaRPr lang="en-US" sz="1200" b="0" u="none" strike="noStrike">
                        <a:solidFill>
                          <a:srgbClr val="000000"/>
                        </a:solidFill>
                        <a:effectLst/>
                        <a:uFillTx/>
                        <a:latin typeface="Arial"/>
                      </a:endParaRPr>
                    </a:p>
                  </a:txBody>
                  <a:tcPr anchor="t" marL="36000" marR="36000" marT="36000" marB="36000">
                    <a:lnL w="7200">
                      <a:solidFill>
                        <a:srgbClr val="000000"/>
                      </a:solidFill>
                      <a:prstDash val="solid"/>
                    </a:lnL>
                    <a:lnR w="7200">
                      <a:solidFill>
                        <a:srgbClr val="000000"/>
                      </a:solidFill>
                      <a:prstDash val="solid"/>
                    </a:lnR>
                    <a:lnT w="7200">
                      <a:solidFill>
                        <a:srgbClr val="000000"/>
                      </a:solidFill>
                      <a:prstDash val="solid"/>
                    </a:lnT>
                    <a:lnB w="7200">
                      <a:solidFill>
                        <a:srgbClr val="000000"/>
                      </a:solidFill>
                      <a:prstDash val="solid"/>
                    </a:lnB>
                    <a:noFill/>
                  </a:tcPr>
                </a:tc>
              </a:tr>
              <a:tr h="346320">
                <a:tc>
                  <a:txBody>
                    <a:bodyPr lIns="36000" tIns="36000" rIns="36000" bIns="36000" anchor="t">
                      <a:noAutofit/>
                    </a:bodyPr>
                    <a:p>
                      <a:pPr>
                        <a:lnSpc>
                          <a:spcPct val="100000"/>
                        </a:lnSpc>
                      </a:pPr>
                      <a:r>
                        <a:rPr lang="en-US" sz="1200" b="0" u="none" strike="noStrike">
                          <a:solidFill>
                            <a:srgbClr val="000000"/>
                          </a:solidFill>
                          <a:effectLst/>
                          <a:uFillTx/>
                          <a:latin typeface="Times New Roman"/>
                        </a:rPr>
                        <a:t>Purpose</a:t>
                      </a:r>
                      <a:endParaRPr lang="en-US" sz="1200" b="0" u="none" strike="noStrike">
                        <a:solidFill>
                          <a:srgbClr val="000000"/>
                        </a:solidFill>
                        <a:effectLst/>
                        <a:uFillTx/>
                        <a:latin typeface="Arial"/>
                      </a:endParaRPr>
                    </a:p>
                  </a:txBody>
                  <a:tcPr anchor="t" marL="36000" marR="36000" marT="36000" marB="36000">
                    <a:lnL w="7200">
                      <a:solidFill>
                        <a:srgbClr val="000000"/>
                      </a:solidFill>
                      <a:prstDash val="solid"/>
                    </a:lnL>
                    <a:lnR w="7200">
                      <a:solidFill>
                        <a:srgbClr val="000000"/>
                      </a:solidFill>
                      <a:prstDash val="solid"/>
                    </a:lnR>
                    <a:lnT w="7200">
                      <a:solidFill>
                        <a:srgbClr val="000000"/>
                      </a:solidFill>
                      <a:prstDash val="solid"/>
                    </a:lnT>
                    <a:lnB w="7200">
                      <a:solidFill>
                        <a:srgbClr val="000000"/>
                      </a:solidFill>
                      <a:prstDash val="solid"/>
                    </a:lnB>
                    <a:noFill/>
                  </a:tcPr>
                </a:tc>
                <a:tc>
                  <a:txBody>
                    <a:bodyPr lIns="36000" tIns="36000" rIns="36000" bIns="36000" anchor="t">
                      <a:noAutofit/>
                    </a:bodyPr>
                    <a:p>
                      <a:pPr>
                        <a:lnSpc>
                          <a:spcPct val="100000"/>
                        </a:lnSpc>
                      </a:pPr>
                      <a:r>
                        <a:rPr lang="en-US" sz="1200" b="0" u="none" strike="noStrike">
                          <a:solidFill>
                            <a:srgbClr val="000000"/>
                          </a:solidFill>
                          <a:effectLst/>
                          <a:uFillTx/>
                          <a:latin typeface="Times New Roman"/>
                        </a:rPr>
                        <a:t>Check whether the model extracts useful assertions from conversations outside our training dataset.</a:t>
                      </a:r>
                      <a:endParaRPr lang="en-US" sz="1200" b="0" u="none" strike="noStrike">
                        <a:solidFill>
                          <a:srgbClr val="000000"/>
                        </a:solidFill>
                        <a:effectLst/>
                        <a:uFillTx/>
                        <a:latin typeface="Arial"/>
                      </a:endParaRPr>
                    </a:p>
                    <a:p>
                      <a:pPr>
                        <a:lnSpc>
                          <a:spcPct val="100000"/>
                        </a:lnSpc>
                      </a:pPr>
                      <a:endParaRPr lang="en-US" sz="1200" b="0" u="none" strike="noStrike">
                        <a:solidFill>
                          <a:srgbClr val="000000"/>
                        </a:solidFill>
                        <a:effectLst/>
                        <a:uFillTx/>
                        <a:latin typeface="Arial"/>
                      </a:endParaRPr>
                    </a:p>
                  </a:txBody>
                  <a:tcPr anchor="t" marL="36000" marR="36000" marT="36000" marB="36000">
                    <a:lnL w="7200">
                      <a:solidFill>
                        <a:srgbClr val="000000"/>
                      </a:solidFill>
                      <a:prstDash val="solid"/>
                    </a:lnL>
                    <a:lnR w="7200">
                      <a:solidFill>
                        <a:srgbClr val="000000"/>
                      </a:solidFill>
                      <a:prstDash val="solid"/>
                    </a:lnR>
                    <a:lnT w="7200">
                      <a:solidFill>
                        <a:srgbClr val="000000"/>
                      </a:solidFill>
                      <a:prstDash val="solid"/>
                    </a:lnT>
                    <a:lnB w="7200">
                      <a:solidFill>
                        <a:srgbClr val="000000"/>
                      </a:solidFill>
                      <a:prstDash val="solid"/>
                    </a:lnB>
                    <a:noFill/>
                  </a:tcPr>
                </a:tc>
              </a:tr>
            </a:tbl>
          </a:graphicData>
        </a:graphic>
      </p:graphicFrame>
      <p:sp>
        <p:nvSpPr>
          <p:cNvPr id="62" name=""/>
          <p:cNvSpPr/>
          <p:nvPr/>
        </p:nvSpPr>
        <p:spPr>
          <a:xfrm>
            <a:off x="8001000" y="1161000"/>
            <a:ext cx="3909960" cy="1976040"/>
          </a:xfrm>
          <a:prstGeom prst="rect">
            <a:avLst/>
          </a:prstGeom>
          <a:noFill/>
          <a:ln w="38160">
            <a:noFill/>
          </a:ln>
        </p:spPr>
        <p:style>
          <a:lnRef idx="0"/>
          <a:fillRef idx="0"/>
          <a:effectRef idx="0"/>
          <a:fontRef idx="minor"/>
        </p:style>
        <p:txBody>
          <a:bodyPr wrap="none" lIns="90000" tIns="45000" rIns="90000" bIns="45000" anchor="t">
            <a:spAutoFit/>
          </a:bodyPr>
          <a:p>
            <a:pPr>
              <a:lnSpc>
                <a:spcPct val="100000"/>
              </a:lnSpc>
            </a:pPr>
            <a:r>
              <a:rPr lang="en-US" sz="1100" b="1" u="none" strike="noStrike">
                <a:solidFill>
                  <a:srgbClr val="000000"/>
                </a:solidFill>
                <a:effectLst/>
                <a:uFillTx/>
                <a:latin typeface="Times New Roman"/>
              </a:rPr>
              <a:t>Fine-tuning task example</a:t>
            </a:r>
            <a:endParaRPr lang="en-US" sz="1100" b="0" u="none" strike="noStrike">
              <a:solidFill>
                <a:srgbClr val="000000"/>
              </a:solidFill>
              <a:effectLst/>
              <a:uFillTx/>
              <a:latin typeface="Arial"/>
            </a:endParaRPr>
          </a:p>
          <a:p>
            <a:pPr>
              <a:lnSpc>
                <a:spcPct val="100000"/>
              </a:lnSpc>
            </a:pPr>
            <a:r>
              <a:rPr lang="en-US" sz="1100" b="0" u="none" strike="noStrike">
                <a:solidFill>
                  <a:srgbClr val="000000"/>
                </a:solidFill>
                <a:effectLst/>
                <a:uFillTx/>
                <a:latin typeface="Times New Roman"/>
              </a:rPr>
              <a:t>Assistant: “You could learn violin this winter.”</a:t>
            </a:r>
            <a:endParaRPr lang="en-US" sz="1100" b="0" u="none" strike="noStrike">
              <a:solidFill>
                <a:srgbClr val="000000"/>
              </a:solidFill>
              <a:effectLst/>
              <a:uFillTx/>
              <a:latin typeface="Arial"/>
            </a:endParaRPr>
          </a:p>
          <a:p>
            <a:pPr>
              <a:lnSpc>
                <a:spcPct val="100000"/>
              </a:lnSpc>
            </a:pPr>
            <a:r>
              <a:rPr lang="en-US" sz="1100" b="0" u="none" strike="noStrike">
                <a:solidFill>
                  <a:srgbClr val="000000"/>
                </a:solidFill>
                <a:effectLst/>
                <a:uFillTx/>
                <a:latin typeface="Times New Roman"/>
              </a:rPr>
              <a:t>User: “No, that is not my plan. I am learning watercolor painting.”</a:t>
            </a:r>
            <a:endParaRPr lang="en-US" sz="1100" b="0" u="none" strike="noStrike">
              <a:solidFill>
                <a:srgbClr val="000000"/>
              </a:solidFill>
              <a:effectLst/>
              <a:uFillTx/>
              <a:latin typeface="Arial"/>
            </a:endParaRPr>
          </a:p>
          <a:p>
            <a:pPr>
              <a:lnSpc>
                <a:spcPct val="100000"/>
              </a:lnSpc>
            </a:pPr>
            <a:r>
              <a:rPr lang="en-US" sz="1100" b="1" u="none" strike="noStrike">
                <a:solidFill>
                  <a:srgbClr val="000000"/>
                </a:solidFill>
                <a:effectLst/>
                <a:uFillTx/>
                <a:latin typeface="Times New Roman"/>
              </a:rPr>
              <a:t>Expected memory: </a:t>
            </a:r>
            <a:r>
              <a:rPr lang="en-US" sz="1100" b="0" u="none" strike="noStrike">
                <a:solidFill>
                  <a:srgbClr val="000000"/>
                </a:solidFill>
                <a:effectLst/>
                <a:uFillTx/>
                <a:latin typeface="Times New Roman"/>
              </a:rPr>
              <a:t>The user is learning watercolor painting.</a:t>
            </a:r>
            <a:endParaRPr lang="en-US" sz="1100" b="0" u="none" strike="noStrike">
              <a:solidFill>
                <a:srgbClr val="000000"/>
              </a:solidFill>
              <a:effectLst/>
              <a:uFillTx/>
              <a:latin typeface="Arial"/>
            </a:endParaRPr>
          </a:p>
          <a:p>
            <a:pPr>
              <a:lnSpc>
                <a:spcPct val="100000"/>
              </a:lnSpc>
            </a:pPr>
            <a:endParaRPr lang="en-US" sz="1100" b="0" u="none" strike="noStrike">
              <a:solidFill>
                <a:srgbClr val="000000"/>
              </a:solidFill>
              <a:effectLst/>
              <a:uFillTx/>
              <a:latin typeface="Arial"/>
            </a:endParaRPr>
          </a:p>
        </p:txBody>
      </p:sp>
      <p:sp>
        <p:nvSpPr>
          <p:cNvPr id="63" name=""/>
          <p:cNvSpPr/>
          <p:nvPr/>
        </p:nvSpPr>
        <p:spPr>
          <a:xfrm>
            <a:off x="8037000" y="2959200"/>
            <a:ext cx="3656880" cy="3570480"/>
          </a:xfrm>
          <a:prstGeom prst="rect">
            <a:avLst/>
          </a:prstGeom>
          <a:noFill/>
          <a:ln w="38160">
            <a:noFill/>
          </a:ln>
        </p:spPr>
        <p:style>
          <a:lnRef idx="0"/>
          <a:fillRef idx="0"/>
          <a:effectRef idx="0"/>
          <a:fontRef idx="minor"/>
        </p:style>
        <p:txBody>
          <a:bodyPr lIns="90000" tIns="45000" rIns="90000" bIns="45000" anchor="t">
            <a:spAutoFit/>
          </a:bodyPr>
          <a:p>
            <a:pPr>
              <a:lnSpc>
                <a:spcPct val="100000"/>
              </a:lnSpc>
            </a:pPr>
            <a:r>
              <a:rPr lang="en-US" sz="1000" b="1" u="none" strike="noStrike">
                <a:solidFill>
                  <a:srgbClr val="000000"/>
                </a:solidFill>
                <a:effectLst/>
                <a:uFillTx/>
                <a:latin typeface="Times New Roman"/>
              </a:rPr>
              <a:t>External evaluation example (LoCoMo)</a:t>
            </a:r>
            <a:endParaRPr lang="en-US" sz="1000" b="0" u="none" strike="noStrike">
              <a:solidFill>
                <a:srgbClr val="000000"/>
              </a:solidFill>
              <a:effectLst/>
              <a:uFillTx/>
              <a:latin typeface="Arial"/>
            </a:endParaRPr>
          </a:p>
          <a:p>
            <a:pPr>
              <a:lnSpc>
                <a:spcPct val="100000"/>
              </a:lnSpc>
            </a:pPr>
            <a:r>
              <a:rPr lang="en-US" sz="1000" b="0" u="none" strike="noStrike">
                <a:solidFill>
                  <a:srgbClr val="000000"/>
                </a:solidFill>
                <a:effectLst/>
                <a:uFillTx/>
                <a:latin typeface="Times New Roman"/>
              </a:rPr>
              <a:t>User (Caroline): Did you make that plate?</a:t>
            </a:r>
            <a:endParaRPr lang="en-US" sz="1000" b="0" u="none" strike="noStrike">
              <a:solidFill>
                <a:srgbClr val="000000"/>
              </a:solidFill>
              <a:effectLst/>
              <a:uFillTx/>
              <a:latin typeface="Arial"/>
            </a:endParaRPr>
          </a:p>
          <a:p>
            <a:pPr>
              <a:lnSpc>
                <a:spcPct val="100000"/>
              </a:lnSpc>
            </a:pPr>
            <a:r>
              <a:rPr lang="en-US" sz="1000" b="0" u="none" strike="noStrike">
                <a:solidFill>
                  <a:srgbClr val="000000"/>
                </a:solidFill>
                <a:effectLst/>
                <a:uFillTx/>
                <a:latin typeface="Times New Roman"/>
              </a:rPr>
              <a:t>User (Melanie): Yes, during yesterday’s pottery class. I find pottery relaxing and creative.</a:t>
            </a:r>
            <a:endParaRPr lang="en-US" sz="1000" b="0" u="none" strike="noStrike">
              <a:solidFill>
                <a:srgbClr val="000000"/>
              </a:solidFill>
              <a:effectLst/>
              <a:uFillTx/>
              <a:latin typeface="Arial"/>
            </a:endParaRPr>
          </a:p>
          <a:p>
            <a:pPr>
              <a:lnSpc>
                <a:spcPct val="100000"/>
              </a:lnSpc>
            </a:pPr>
            <a:r>
              <a:rPr lang="en-US" sz="1000" b="0" u="none" strike="noStrike">
                <a:solidFill>
                  <a:srgbClr val="000000"/>
                </a:solidFill>
                <a:effectLst/>
                <a:uFillTx/>
                <a:latin typeface="Times New Roman"/>
              </a:rPr>
              <a:t>User (Caroline): I haven’t tried pottery. I’ve been painting and recently finished a picture.</a:t>
            </a:r>
            <a:endParaRPr lang="en-US" sz="1000" b="0" u="none" strike="noStrike">
              <a:solidFill>
                <a:srgbClr val="000000"/>
              </a:solidFill>
              <a:effectLst/>
              <a:uFillTx/>
              <a:latin typeface="Arial"/>
            </a:endParaRPr>
          </a:p>
          <a:p>
            <a:pPr>
              <a:lnSpc>
                <a:spcPct val="100000"/>
              </a:lnSpc>
            </a:pPr>
            <a:r>
              <a:rPr lang="en-US" sz="1000" b="0" u="none" strike="noStrike">
                <a:solidFill>
                  <a:srgbClr val="000000"/>
                </a:solidFill>
                <a:effectLst/>
                <a:uFillTx/>
                <a:latin typeface="Times New Roman"/>
              </a:rPr>
              <a:t>User (Melanie): What inspired your painting?</a:t>
            </a:r>
            <a:endParaRPr lang="en-US" sz="1000" b="0" u="none" strike="noStrike">
              <a:solidFill>
                <a:srgbClr val="000000"/>
              </a:solidFill>
              <a:effectLst/>
              <a:uFillTx/>
              <a:latin typeface="Arial"/>
            </a:endParaRPr>
          </a:p>
          <a:p>
            <a:pPr>
              <a:lnSpc>
                <a:spcPct val="100000"/>
              </a:lnSpc>
            </a:pPr>
            <a:r>
              <a:rPr lang="en-US" sz="1000" b="0" u="none" strike="noStrike">
                <a:solidFill>
                  <a:srgbClr val="000000"/>
                </a:solidFill>
                <a:effectLst/>
                <a:uFillTx/>
                <a:latin typeface="Times New Roman"/>
              </a:rPr>
              <a:t>User (Caroline): A visit to the beach last week inspired it.</a:t>
            </a:r>
            <a:endParaRPr lang="en-US" sz="1000" b="0" u="none" strike="noStrike">
              <a:solidFill>
                <a:srgbClr val="000000"/>
              </a:solidFill>
              <a:effectLst/>
              <a:uFillTx/>
              <a:latin typeface="Arial"/>
            </a:endParaRPr>
          </a:p>
          <a:p>
            <a:pPr>
              <a:lnSpc>
                <a:spcPct val="100000"/>
              </a:lnSpc>
            </a:pPr>
            <a:r>
              <a:rPr lang="en-US" sz="1000" b="1" u="none" strike="noStrike">
                <a:solidFill>
                  <a:srgbClr val="000000"/>
                </a:solidFill>
                <a:effectLst/>
                <a:uFillTx/>
                <a:latin typeface="Times New Roman"/>
              </a:rPr>
              <a:t>Expected Memory: </a:t>
            </a:r>
            <a:r>
              <a:rPr lang="en-US" sz="1000" b="0" u="none" strike="noStrike">
                <a:solidFill>
                  <a:srgbClr val="000000"/>
                </a:solidFill>
                <a:effectLst/>
                <a:uFillTx/>
                <a:latin typeface="Times New Roman"/>
              </a:rPr>
              <a:t>Melanie made a plate in pottery class. Caroline painted a picture inspired by her beach visit.</a:t>
            </a:r>
            <a:endParaRPr lang="en-US" sz="1000" b="0" u="none" strike="noStrike">
              <a:solidFill>
                <a:srgbClr val="000000"/>
              </a:solidFill>
              <a:effectLst/>
              <a:uFillTx/>
              <a:latin typeface="Arial"/>
            </a:endParaRPr>
          </a:p>
          <a:p>
            <a:pPr>
              <a:lnSpc>
                <a:spcPct val="100000"/>
              </a:lnSpc>
            </a:pPr>
            <a:endParaRPr lang="en-US" sz="1000" b="0" u="none" strike="noStrik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18.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pic>
        <p:nvPicPr>
          <p:cNvPr id="64" name=""/>
          <p:cNvPicPr/>
          <p:nvPr/>
        </p:nvPicPr>
        <p:blipFill>
          <a:blip r:embed="rId1"/>
          <a:stretch/>
        </p:blipFill>
        <p:spPr>
          <a:xfrm>
            <a:off x="1305360" y="914400"/>
            <a:ext cx="9438120" cy="5257080"/>
          </a:xfrm>
          <a:prstGeom prst="rect">
            <a:avLst/>
          </a:prstGeom>
          <a:noFill/>
          <a:ln w="38160">
            <a:noFill/>
          </a:ln>
        </p:spPr>
      </p:pic>
      <p:sp>
        <p:nvSpPr>
          <p:cNvPr id="65" name="Text 62"/>
          <p:cNvSpPr/>
          <p:nvPr/>
        </p:nvSpPr>
        <p:spPr>
          <a:xfrm>
            <a:off x="595080" y="384120"/>
            <a:ext cx="9813240" cy="77616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3000" b="0" u="none" strike="noStrike">
                <a:solidFill>
                  <a:srgbClr val="000000"/>
                </a:solidFill>
                <a:effectLst/>
                <a:uFillTx/>
                <a:latin typeface="Times New Roman"/>
                <a:ea typeface="Times New Roman"/>
              </a:rPr>
              <a:t>DATASET</a:t>
            </a:r>
            <a:endParaRPr lang="en-US" sz="3000" b="0" u="none" strike="noStrik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19.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66" name="PlaceHolder 1"/>
          <p:cNvSpPr>
            <a:spLocks noGrp="1"/>
          </p:cNvSpPr>
          <p:nvPr>
            <p:ph type="title" hasCustomPrompt="1"/>
          </p:nvPr>
        </p:nvSpPr>
        <p:spPr>
          <a:xfrm>
            <a:off x="594360" y="384120"/>
            <a:ext cx="9813240" cy="776160"/>
          </a:xfrm>
          <a:prstGeom prst="rect">
            <a:avLst/>
          </a:prstGeom>
          <a:noFill/>
          <a:ln w="0">
            <a:noFill/>
          </a:ln>
        </p:spPr>
        <p:txBody>
          <a:bodyPr lIns="0" tIns="0" rIns="0" bIns="0" anchor="ctr">
            <a:noAutofit/>
          </a:bodyPr>
          <a:p>
            <a:pPr indent="0" algn="l" defTabSz="914400">
              <a:lnSpc>
                <a:spcPct val="100000"/>
              </a:lnSpc>
              <a:buNone/>
              <a:tabLst>
                <a:tab pos="0" algn="l"/>
              </a:tabLst>
            </a:pPr>
            <a:r>
              <a:rPr lang="en-US" sz="3000" b="0" u="none" strike="noStrike">
                <a:solidFill>
                  <a:srgbClr val="000000"/>
                </a:solidFill>
                <a:effectLst/>
                <a:uFillTx/>
                <a:latin typeface="Times New Roman"/>
                <a:ea typeface="Times New Roman"/>
              </a:rPr>
              <a:t>OUTPUT SCREENSHOTS</a:t>
            </a:r>
            <a:endParaRPr lang="en-US" sz="3000" b="0" u="none" strike="noStrike">
              <a:solidFill>
                <a:schemeClr val="dk1"/>
              </a:solidFill>
              <a:effectLst/>
              <a:uFillTx/>
              <a:latin typeface="Times New Roman"/>
            </a:endParaRPr>
          </a:p>
        </p:txBody>
      </p:sp>
      <p:sp>
        <p:nvSpPr>
          <p:cNvPr id="67" name="Shape 1"/>
          <p:cNvSpPr/>
          <p:nvPr/>
        </p:nvSpPr>
        <p:spPr>
          <a:xfrm>
            <a:off x="594360" y="1261800"/>
            <a:ext cx="2376360" cy="1841400"/>
          </a:xfrm>
          <a:prstGeom prst="rect">
            <a:avLst/>
          </a:prstGeom>
          <a:solidFill>
            <a:srgbClr val="FFFFFF"/>
          </a:solidFill>
          <a:ln w="9525">
            <a:solidFill>
              <a:srgbClr val="808080"/>
            </a:solidFill>
            <a:round/>
          </a:ln>
        </p:spPr>
        <p:style>
          <a:lnRef idx="0"/>
          <a:fillRef idx="0"/>
          <a:effectRef idx="0"/>
          <a:fontRef idx="minor"/>
        </p:style>
        <p:txBody>
          <a:bodyPr lIns="90000" tIns="45000" rIns="90000" bIns="45000" anchor="t">
            <a:noAutofit/>
          </a:bodyPr>
          <a:p>
            <a:endParaRPr lang="en-US" sz="1800" b="0" u="none" strike="noStrike">
              <a:solidFill>
                <a:srgbClr val="000000"/>
              </a:solidFill>
              <a:effectLst/>
              <a:uFillTx/>
              <a:latin typeface="Arial"/>
            </a:endParaRPr>
          </a:p>
        </p:txBody>
      </p:sp>
      <p:pic>
        <p:nvPicPr>
          <p:cNvPr id="68" name="Image 0" descr="Terminal screenshot of Pi session 1 in the directory payments-api on 2026-10-20. The user gives three invented example details: the iOS signing certificate expires on March 3, the design review is every Tuesday at 11:00, and Kavya owns the payments dashboard, and asks Pi to save them. Pi calls the memory_remember tool, which answers that the finding was submitted for processing, and Pi replies that it saved all three and that processing is asynchronous."/>
          <p:cNvPicPr/>
          <p:nvPr/>
        </p:nvPicPr>
        <p:blipFill>
          <a:blip r:embed="rId1"/>
          <a:stretch/>
        </p:blipFill>
        <p:spPr>
          <a:xfrm>
            <a:off x="612720" y="1276200"/>
            <a:ext cx="2339640" cy="1812960"/>
          </a:xfrm>
          <a:prstGeom prst="rect">
            <a:avLst/>
          </a:prstGeom>
          <a:noFill/>
          <a:ln w="0">
            <a:noFill/>
          </a:ln>
        </p:spPr>
      </p:pic>
      <p:sp>
        <p:nvSpPr>
          <p:cNvPr id="69" name="Text 2"/>
          <p:cNvSpPr/>
          <p:nvPr/>
        </p:nvSpPr>
        <p:spPr>
          <a:xfrm>
            <a:off x="3154680" y="1261800"/>
            <a:ext cx="4342320" cy="1841400"/>
          </a:xfrm>
          <a:prstGeom prst="rect">
            <a:avLst/>
          </a:prstGeom>
          <a:noFill/>
          <a:ln w="0">
            <a:noFill/>
          </a:ln>
        </p:spPr>
        <p:style>
          <a:lnRef idx="0"/>
          <a:fillRef idx="0"/>
          <a:effectRef idx="0"/>
          <a:fontRef idx="minor"/>
        </p:style>
        <p:txBody>
          <a:bodyPr lIns="0" tIns="0" rIns="0" bIns="0" anchor="t">
            <a:noAutofit/>
          </a:bodyPr>
          <a:p>
            <a:pPr defTabSz="914400">
              <a:lnSpc>
                <a:spcPct val="100000"/>
              </a:lnSpc>
              <a:spcBef>
                <a:spcPts val="1191"/>
              </a:spcBef>
              <a:spcAft>
                <a:spcPts val="992"/>
              </a:spcAft>
              <a:tabLst>
                <a:tab pos="0" algn="l"/>
              </a:tabLst>
            </a:pPr>
            <a:r>
              <a:rPr lang="en-US" sz="1100" b="1" u="none" strike="noStrike">
                <a:solidFill>
                  <a:srgbClr val="1A1A1A"/>
                </a:solidFill>
                <a:effectLst/>
                <a:uFillTx/>
                <a:latin typeface="Times New Roman"/>
                <a:ea typeface="Times New Roman"/>
              </a:rPr>
              <a:t>Figure 1. Recording information:</a:t>
            </a:r>
            <a:r>
              <a:rPr lang="en-US" sz="1100" b="0" u="none" strike="noStrike">
                <a:solidFill>
                  <a:srgbClr val="1A1A1A"/>
                </a:solidFill>
                <a:effectLst/>
                <a:uFillTx/>
                <a:latin typeface="Times New Roman"/>
                <a:ea typeface="Times New Roman"/>
              </a:rPr>
              <a:t> In the first session, the user provides a certificate expiry date, a weekly review time and the dashboard owner’s name. These are submitted for memory processing.</a:t>
            </a:r>
            <a:endParaRPr lang="en-US" sz="1100" b="0" u="none" strike="noStrike">
              <a:solidFill>
                <a:srgbClr val="000000"/>
              </a:solidFill>
              <a:effectLst/>
              <a:uFillTx/>
              <a:latin typeface="Arial"/>
            </a:endParaRPr>
          </a:p>
          <a:p>
            <a:pPr defTabSz="914400">
              <a:lnSpc>
                <a:spcPct val="100000"/>
              </a:lnSpc>
              <a:spcBef>
                <a:spcPts val="1191"/>
              </a:spcBef>
              <a:spcAft>
                <a:spcPts val="992"/>
              </a:spcAft>
              <a:tabLst>
                <a:tab pos="0" algn="l"/>
              </a:tabLst>
            </a:pPr>
            <a:endParaRPr lang="en-US" sz="1100" b="0" u="none" strike="noStrike">
              <a:solidFill>
                <a:srgbClr val="000000"/>
              </a:solidFill>
              <a:effectLst/>
              <a:uFillTx/>
              <a:latin typeface="Arial"/>
            </a:endParaRPr>
          </a:p>
        </p:txBody>
      </p:sp>
      <p:sp>
        <p:nvSpPr>
          <p:cNvPr id="70" name="Shape 3"/>
          <p:cNvSpPr/>
          <p:nvPr/>
        </p:nvSpPr>
        <p:spPr>
          <a:xfrm>
            <a:off x="594360" y="3195720"/>
            <a:ext cx="2376360" cy="878400"/>
          </a:xfrm>
          <a:prstGeom prst="rect">
            <a:avLst/>
          </a:prstGeom>
          <a:solidFill>
            <a:srgbClr val="FFFFFF"/>
          </a:solidFill>
          <a:ln w="9525">
            <a:solidFill>
              <a:srgbClr val="808080"/>
            </a:solidFill>
            <a:round/>
          </a:ln>
        </p:spPr>
        <p:style>
          <a:lnRef idx="0"/>
          <a:fillRef idx="0"/>
          <a:effectRef idx="0"/>
          <a:fontRef idx="minor"/>
        </p:style>
        <p:txBody>
          <a:bodyPr lIns="90000" tIns="45000" rIns="90000" bIns="45000" anchor="t">
            <a:noAutofit/>
          </a:bodyPr>
          <a:p>
            <a:endParaRPr lang="en-US" sz="1800" b="0" u="none" strike="noStrike">
              <a:solidFill>
                <a:srgbClr val="000000"/>
              </a:solidFill>
              <a:effectLst/>
              <a:uFillTx/>
              <a:latin typeface="Arial"/>
            </a:endParaRPr>
          </a:p>
        </p:txBody>
      </p:sp>
      <p:pic>
        <p:nvPicPr>
          <p:cNvPr id="71" name="Image 1" descr="Terminal screenshot of Pi session 2 in the directory mobile-app. The shell shows ls listing only README.md, then pi starts with no history, and the question about the certificate date, the design review and the dashboard owner is typed in the editor. The empty lower part of the terminal is cropped away."/>
          <p:cNvPicPr/>
          <p:nvPr/>
        </p:nvPicPr>
        <p:blipFill>
          <a:blip r:embed="rId2"/>
          <a:stretch/>
        </p:blipFill>
        <p:spPr>
          <a:xfrm>
            <a:off x="612720" y="3202560"/>
            <a:ext cx="2339640" cy="865080"/>
          </a:xfrm>
          <a:prstGeom prst="rect">
            <a:avLst/>
          </a:prstGeom>
          <a:noFill/>
          <a:ln w="0">
            <a:noFill/>
          </a:ln>
        </p:spPr>
      </p:pic>
      <p:sp>
        <p:nvSpPr>
          <p:cNvPr id="72" name="Text 4"/>
          <p:cNvSpPr/>
          <p:nvPr/>
        </p:nvSpPr>
        <p:spPr>
          <a:xfrm>
            <a:off x="3154680" y="3195720"/>
            <a:ext cx="4342320" cy="878400"/>
          </a:xfrm>
          <a:prstGeom prst="rect">
            <a:avLst/>
          </a:prstGeom>
          <a:noFill/>
          <a:ln w="0">
            <a:noFill/>
          </a:ln>
        </p:spPr>
        <p:style>
          <a:lnRef idx="0"/>
          <a:fillRef idx="0"/>
          <a:effectRef idx="0"/>
          <a:fontRef idx="minor"/>
        </p:style>
        <p:txBody>
          <a:bodyPr lIns="0" tIns="0" rIns="0" bIns="0" anchor="t">
            <a:noAutofit/>
          </a:bodyPr>
          <a:p>
            <a:pPr defTabSz="914400">
              <a:lnSpc>
                <a:spcPct val="100000"/>
              </a:lnSpc>
              <a:spcBef>
                <a:spcPts val="1191"/>
              </a:spcBef>
              <a:spcAft>
                <a:spcPts val="992"/>
              </a:spcAft>
              <a:tabLst>
                <a:tab pos="0" algn="l"/>
              </a:tabLst>
            </a:pPr>
            <a:r>
              <a:rPr lang="en-US" sz="1100" b="1" u="none" strike="noStrike">
                <a:solidFill>
                  <a:srgbClr val="1A1A1A"/>
                </a:solidFill>
                <a:effectLst/>
                <a:uFillTx/>
                <a:latin typeface="Times New Roman"/>
                <a:ea typeface="Times New Roman"/>
              </a:rPr>
              <a:t>Figure 2. Asking in a new session:</a:t>
            </a:r>
            <a:r>
              <a:rPr lang="en-US" sz="1100" b="0" u="none" strike="noStrike">
                <a:solidFill>
                  <a:srgbClr val="1A1A1A"/>
                </a:solidFill>
                <a:effectLst/>
                <a:uFillTx/>
                <a:latin typeface="Times New Roman"/>
                <a:ea typeface="Times New Roman"/>
              </a:rPr>
              <a:t> The user opens a fresh session in another project directory and asks for the same details without repeating them.</a:t>
            </a:r>
            <a:endParaRPr lang="en-US" sz="1100" b="0" u="none" strike="noStrike">
              <a:solidFill>
                <a:srgbClr val="000000"/>
              </a:solidFill>
              <a:effectLst/>
              <a:uFillTx/>
              <a:latin typeface="Arial"/>
            </a:endParaRPr>
          </a:p>
          <a:p>
            <a:pPr defTabSz="914400">
              <a:lnSpc>
                <a:spcPct val="100000"/>
              </a:lnSpc>
              <a:spcBef>
                <a:spcPts val="1191"/>
              </a:spcBef>
              <a:spcAft>
                <a:spcPts val="992"/>
              </a:spcAft>
              <a:tabLst>
                <a:tab pos="0" algn="l"/>
              </a:tabLst>
            </a:pPr>
            <a:endParaRPr lang="en-US" sz="1100" b="0" u="none" strike="noStrike">
              <a:solidFill>
                <a:srgbClr val="000000"/>
              </a:solidFill>
              <a:effectLst/>
              <a:uFillTx/>
              <a:latin typeface="Arial"/>
            </a:endParaRPr>
          </a:p>
        </p:txBody>
      </p:sp>
      <p:sp>
        <p:nvSpPr>
          <p:cNvPr id="73" name="Shape 5"/>
          <p:cNvSpPr/>
          <p:nvPr/>
        </p:nvSpPr>
        <p:spPr>
          <a:xfrm>
            <a:off x="594360" y="4167000"/>
            <a:ext cx="2376360" cy="1841400"/>
          </a:xfrm>
          <a:prstGeom prst="rect">
            <a:avLst/>
          </a:prstGeom>
          <a:solidFill>
            <a:srgbClr val="FFFFFF"/>
          </a:solidFill>
          <a:ln w="9525">
            <a:solidFill>
              <a:srgbClr val="808080"/>
            </a:solidFill>
            <a:round/>
          </a:ln>
        </p:spPr>
        <p:style>
          <a:lnRef idx="0"/>
          <a:fillRef idx="0"/>
          <a:effectRef idx="0"/>
          <a:fontRef idx="minor"/>
        </p:style>
        <p:txBody>
          <a:bodyPr lIns="90000" tIns="45000" rIns="90000" bIns="45000" anchor="t">
            <a:noAutofit/>
          </a:bodyPr>
          <a:p>
            <a:endParaRPr lang="en-US" sz="1800" b="0" u="none" strike="noStrike">
              <a:solidFill>
                <a:srgbClr val="000000"/>
              </a:solidFill>
              <a:effectLst/>
              <a:uFillTx/>
              <a:latin typeface="Arial"/>
            </a:endParaRPr>
          </a:p>
        </p:txBody>
      </p:sp>
      <p:pic>
        <p:nvPicPr>
          <p:cNvPr id="74" name="Image 2" descr="Terminal screenshot of Pi session 2 in the directory mobile-app after its answer. Above the answer, the end of the memory injected by the extension shows an attribute assertion with status active and a Source line quoting the user's message from session 1. The answer says the certificate expires on March 3, noting that the stored record reads 2026-03-03 although no year was given, that the design review is every Tuesday at 11:00 and that Kavya owns the payments dashboard."/>
          <p:cNvPicPr/>
          <p:nvPr/>
        </p:nvPicPr>
        <p:blipFill>
          <a:blip r:embed="rId3"/>
          <a:stretch/>
        </p:blipFill>
        <p:spPr>
          <a:xfrm>
            <a:off x="612720" y="4181040"/>
            <a:ext cx="2339640" cy="1812960"/>
          </a:xfrm>
          <a:prstGeom prst="rect">
            <a:avLst/>
          </a:prstGeom>
          <a:noFill/>
          <a:ln w="0">
            <a:noFill/>
          </a:ln>
        </p:spPr>
      </p:pic>
      <p:sp>
        <p:nvSpPr>
          <p:cNvPr id="75" name="Text 6"/>
          <p:cNvSpPr/>
          <p:nvPr/>
        </p:nvSpPr>
        <p:spPr>
          <a:xfrm>
            <a:off x="3154680" y="4167000"/>
            <a:ext cx="4342320" cy="1841400"/>
          </a:xfrm>
          <a:prstGeom prst="rect">
            <a:avLst/>
          </a:prstGeom>
          <a:noFill/>
          <a:ln w="0">
            <a:noFill/>
          </a:ln>
        </p:spPr>
        <p:style>
          <a:lnRef idx="0"/>
          <a:fillRef idx="0"/>
          <a:effectRef idx="0"/>
          <a:fontRef idx="minor"/>
        </p:style>
        <p:txBody>
          <a:bodyPr lIns="0" tIns="0" rIns="0" bIns="0" anchor="t">
            <a:noAutofit/>
          </a:bodyPr>
          <a:p>
            <a:pPr defTabSz="914400">
              <a:lnSpc>
                <a:spcPct val="100000"/>
              </a:lnSpc>
              <a:spcBef>
                <a:spcPts val="1191"/>
              </a:spcBef>
              <a:spcAft>
                <a:spcPts val="992"/>
              </a:spcAft>
              <a:tabLst>
                <a:tab pos="0" algn="l"/>
              </a:tabLst>
            </a:pPr>
            <a:r>
              <a:rPr lang="en-US" sz="1100" b="1" u="none" strike="noStrike">
                <a:solidFill>
                  <a:srgbClr val="1A1A1A"/>
                </a:solidFill>
                <a:effectLst/>
                <a:uFillTx/>
                <a:latin typeface="Times New Roman"/>
                <a:ea typeface="Times New Roman"/>
              </a:rPr>
              <a:t>Figure 3. Recalling earlier information:</a:t>
            </a:r>
            <a:r>
              <a:rPr lang="en-US" sz="1100" b="0" u="none" strike="noStrike">
                <a:solidFill>
                  <a:srgbClr val="1A1A1A"/>
                </a:solidFill>
                <a:effectLst/>
                <a:uFillTx/>
                <a:latin typeface="Times New Roman"/>
                <a:ea typeface="Times New Roman"/>
              </a:rPr>
              <a:t> Memory from the first session is added to the agent’s context. It answers: March 3, Tuesday at 11:00, and Kavya.</a:t>
            </a:r>
            <a:endParaRPr lang="en-US" sz="1100" b="0" u="none" strike="noStrike">
              <a:solidFill>
                <a:srgbClr val="000000"/>
              </a:solidFill>
              <a:effectLst/>
              <a:uFillTx/>
              <a:latin typeface="Arial"/>
            </a:endParaRPr>
          </a:p>
        </p:txBody>
      </p:sp>
      <p:sp>
        <p:nvSpPr>
          <p:cNvPr id="76" name="Shape 7"/>
          <p:cNvSpPr/>
          <p:nvPr/>
        </p:nvSpPr>
        <p:spPr>
          <a:xfrm>
            <a:off x="8031240" y="1261800"/>
            <a:ext cx="3565080" cy="3494880"/>
          </a:xfrm>
          <a:prstGeom prst="rect">
            <a:avLst/>
          </a:prstGeom>
          <a:solidFill>
            <a:srgbClr val="FFFFFF"/>
          </a:solidFill>
          <a:ln w="9525">
            <a:solidFill>
              <a:srgbClr val="808080"/>
            </a:solidFill>
            <a:round/>
          </a:ln>
        </p:spPr>
        <p:style>
          <a:lnRef idx="0"/>
          <a:fillRef idx="0"/>
          <a:effectRef idx="0"/>
          <a:fontRef idx="minor"/>
        </p:style>
        <p:txBody>
          <a:bodyPr lIns="90000" tIns="45000" rIns="90000" bIns="45000" anchor="t">
            <a:noAutofit/>
          </a:bodyPr>
          <a:p>
            <a:endParaRPr lang="en-US" sz="1800" b="0" u="none" strike="noStrike">
              <a:solidFill>
                <a:srgbClr val="000000"/>
              </a:solidFill>
              <a:effectLst/>
              <a:uFillTx/>
              <a:latin typeface="Arial"/>
            </a:endParaRPr>
          </a:p>
        </p:txBody>
      </p:sp>
      <p:pic>
        <p:nvPicPr>
          <p:cNvPr id="77" name="Image 3" descr="Screenshot of the memory graph page for namespace review:team13-demo on 2026-10-20. Left: the graph, with the selected purple assertion node labelled The Project's release freeze now begins every Friday at 16:30 UTC, linked by a green line to the memory it came from. Right: the details panel titled Assertion, with status active, kind procedure, a Sources section quoting the correction message, the mention Project, and three relations: an inference supports this assertion, and this assertion contradicts and supersedes the Thursday 17:00 deploy freeze assertion."/>
          <p:cNvPicPr/>
          <p:nvPr/>
        </p:nvPicPr>
        <p:blipFill>
          <a:blip r:embed="rId4"/>
          <a:stretch/>
        </p:blipFill>
        <p:spPr>
          <a:xfrm>
            <a:off x="8049600" y="1279800"/>
            <a:ext cx="3528360" cy="3375464"/>
          </a:xfrm>
          <a:prstGeom prst="rect">
            <a:avLst/>
          </a:prstGeom>
          <a:noFill/>
          <a:ln w="0">
            <a:noFill/>
          </a:ln>
        </p:spPr>
      </p:pic>
      <p:sp>
        <p:nvSpPr>
          <p:cNvPr id="78" name="Text 8"/>
          <p:cNvSpPr/>
          <p:nvPr/>
        </p:nvSpPr>
        <p:spPr>
          <a:xfrm>
            <a:off x="8031240" y="4831200"/>
            <a:ext cx="3565080" cy="1221120"/>
          </a:xfrm>
          <a:prstGeom prst="rect">
            <a:avLst/>
          </a:prstGeom>
          <a:noFill/>
          <a:ln w="0">
            <a:noFill/>
          </a:ln>
        </p:spPr>
        <p:style>
          <a:lnRef idx="0"/>
          <a:fillRef idx="0"/>
          <a:effectRef idx="0"/>
          <a:fontRef idx="minor"/>
        </p:style>
        <p:txBody>
          <a:bodyPr lIns="0" tIns="0" rIns="0" bIns="0" anchor="t">
            <a:noAutofit/>
          </a:bodyPr>
          <a:p>
            <a:pPr defTabSz="914400">
              <a:lnSpc>
                <a:spcPct val="100000"/>
              </a:lnSpc>
              <a:spcBef>
                <a:spcPts val="1191"/>
              </a:spcBef>
              <a:spcAft>
                <a:spcPts val="992"/>
              </a:spcAft>
              <a:tabLst>
                <a:tab pos="0" algn="l"/>
              </a:tabLst>
            </a:pPr>
            <a:r>
              <a:rPr lang="en-US" sz="1100" b="1" u="none" strike="noStrike">
                <a:solidFill>
                  <a:srgbClr val="1A1A1A"/>
                </a:solidFill>
                <a:effectLst/>
                <a:uFillTx/>
                <a:latin typeface="Times New Roman"/>
                <a:ea typeface="Times New Roman"/>
              </a:rPr>
              <a:t>Figure 4. Viewing a corrected assertion:</a:t>
            </a:r>
            <a:r>
              <a:rPr lang="en-US" sz="1100" b="0" u="none" strike="noStrike">
                <a:solidFill>
                  <a:srgbClr val="1A1A1A"/>
                </a:solidFill>
                <a:effectLst/>
                <a:uFillTx/>
                <a:latin typeface="Times New Roman"/>
                <a:ea typeface="Times New Roman"/>
              </a:rPr>
              <a:t> The graph shows Friday at 16:30 as the current release-freeze time, linked to the previous Thursday at 17:00 value. The side panel displays the supporting message and correction history.</a:t>
            </a:r>
            <a:endParaRPr lang="en-US" sz="1100" b="0" u="none" strike="noStrike">
              <a:solidFill>
                <a:srgbClr val="000000"/>
              </a:solidFill>
              <a:effectLst/>
              <a:uFillTx/>
              <a:latin typeface="Arial"/>
            </a:endParaRPr>
          </a:p>
          <a:p>
            <a:pPr defTabSz="914400">
              <a:lnSpc>
                <a:spcPct val="100000"/>
              </a:lnSpc>
              <a:spcBef>
                <a:spcPts val="1191"/>
              </a:spcBef>
              <a:spcAft>
                <a:spcPts val="992"/>
              </a:spcAft>
              <a:tabLst>
                <a:tab pos="0" algn="l"/>
              </a:tabLst>
            </a:pPr>
            <a:endParaRPr lang="en-US" sz="1100" b="0" u="none" strike="noStrike">
              <a:solidFill>
                <a:srgbClr val="000000"/>
              </a:solidFill>
              <a:effectLst/>
              <a:uFillTx/>
              <a:latin typeface="Arial"/>
            </a:endParaRPr>
          </a:p>
        </p:txBody>
      </p:sp>
      <p:sp>
        <p:nvSpPr>
          <p:cNvPr id="79" name="PlaceHolder 2"/>
          <p:cNvSpPr>
            <a:spLocks noGrp="1"/>
          </p:cNvSpPr>
          <p:nvPr>
            <p:ph type="sldNum" idx="10"/>
          </p:nvPr>
        </p:nvSpPr>
        <p:spPr>
          <a:xfrm>
            <a:off x="10865880" y="384120"/>
            <a:ext cx="730440" cy="456120"/>
          </a:xfrm>
          <a:prstGeom prst="rect">
            <a:avLst/>
          </a:prstGeom>
          <a:noFill/>
          <a:ln w="0">
            <a:noFill/>
          </a:ln>
        </p:spPr>
        <p:txBody>
          <a:bodyPr lIns="90000" tIns="45000" rIns="90000" bIns="45000" anchor="t">
            <a:noAutofit/>
          </a:bodyPr>
          <a:lstStyle>
            <a:lvl1pPr indent="0" algn="r" defTabSz="914400">
              <a:lnSpc>
                <a:spcPct val="100000"/>
              </a:lnSpc>
              <a:buNone/>
              <a:tabLst>
                <a:tab pos="0" algn="l"/>
              </a:tabLst>
              <a:defRPr lang="en-US" sz="1600" b="0" u="none" strike="noStrike">
                <a:solidFill>
                  <a:srgbClr val="000000"/>
                </a:solidFill>
                <a:effectLst/>
                <a:uFillTx/>
                <a:latin typeface="Times New Roman"/>
                <a:ea typeface="Times New Roman"/>
              </a:defRPr>
            </a:lvl1pPr>
          </a:lstStyle>
          <a:p>
            <a:pPr indent="0" algn="r" defTabSz="914400">
              <a:lnSpc>
                <a:spcPct val="100000"/>
              </a:lnSpc>
              <a:buNone/>
              <a:tabLst>
                <a:tab pos="0" algn="l"/>
              </a:tabLst>
            </a:pPr>
            <a:fld id="{E4A5F8AF-407B-4425-AF95-4B3E7D9DD710}" type="slidenum">
              <a:rPr lang="en-US" sz="1600" b="0" u="none" strike="noStrike">
                <a:solidFill>
                  <a:srgbClr val="000000"/>
                </a:solidFill>
                <a:effectLst/>
                <a:uFillTx/>
                <a:latin typeface="Times New Roman"/>
                <a:ea typeface="Times New Roman"/>
              </a:rPr>
              <a:t>&lt;number&gt;</a:t>
            </a:fld>
            <a:endParaRPr lang="en-US" sz="1600" b="0" u="none" strike="noStrike">
              <a:solidFill>
                <a:srgbClr val="000000"/>
              </a:solidFill>
              <a:effectLst/>
              <a:uFillTx/>
              <a:latin typeface="Times New Roman"/>
            </a:endParaRPr>
          </a:p>
        </p:txBody>
      </p:sp>
    </p:spTree>
  </p:cSld>
  <mc:AlternateContent>
    <mc:Choice Requires="p14">
      <p:transition spd="slow" p14:dur="2000"/>
    </mc:Choice>
    <mc:Fallback>
      <p:transition spd="slow"/>
    </mc:Fallback>
  </mc:AlternateContent>
</p:sld>
</file>

<file path=ppt/slides/slide20.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80" name="PlaceHolder 1"/>
          <p:cNvSpPr>
            <a:spLocks noGrp="1"/>
          </p:cNvSpPr>
          <p:nvPr>
            <p:ph type="title" hasCustomPrompt="1"/>
          </p:nvPr>
        </p:nvSpPr>
        <p:spPr>
          <a:xfrm>
            <a:off x="594360" y="384120"/>
            <a:ext cx="9813240" cy="776160"/>
          </a:xfrm>
          <a:prstGeom prst="rect">
            <a:avLst/>
          </a:prstGeom>
          <a:noFill/>
          <a:ln w="0">
            <a:noFill/>
          </a:ln>
        </p:spPr>
        <p:txBody>
          <a:bodyPr lIns="0" tIns="0" rIns="0" bIns="0" anchor="ctr">
            <a:noAutofit/>
          </a:bodyPr>
          <a:p>
            <a:pPr indent="0" algn="l" defTabSz="914400">
              <a:lnSpc>
                <a:spcPct val="100000"/>
              </a:lnSpc>
              <a:buNone/>
              <a:tabLst>
                <a:tab pos="0" algn="l"/>
              </a:tabLst>
            </a:pPr>
            <a:r>
              <a:rPr lang="en-US" sz="3000" b="0" u="none" strike="noStrike">
                <a:solidFill>
                  <a:srgbClr val="000000"/>
                </a:solidFill>
                <a:effectLst/>
                <a:uFillTx/>
                <a:latin typeface="Times New Roman"/>
                <a:ea typeface="Times New Roman"/>
              </a:rPr>
              <a:t>RESULTS AND OBSERVATIONS</a:t>
            </a:r>
            <a:endParaRPr lang="en-US" sz="3000" b="0" u="none" strike="noStrike">
              <a:solidFill>
                <a:schemeClr val="dk1"/>
              </a:solidFill>
              <a:effectLst/>
              <a:uFillTx/>
              <a:latin typeface="Times New Roman"/>
            </a:endParaRPr>
          </a:p>
        </p:txBody>
      </p:sp>
      <p:sp>
        <p:nvSpPr>
          <p:cNvPr id="81" name="PlaceHolder 2"/>
          <p:cNvSpPr>
            <a:spLocks noGrp="1"/>
          </p:cNvSpPr>
          <p:nvPr>
            <p:ph type="sldNum" idx="11"/>
          </p:nvPr>
        </p:nvSpPr>
        <p:spPr>
          <a:xfrm>
            <a:off x="10865880" y="384120"/>
            <a:ext cx="730440" cy="456120"/>
          </a:xfrm>
          <a:prstGeom prst="rect">
            <a:avLst/>
          </a:prstGeom>
          <a:noFill/>
          <a:ln w="0">
            <a:noFill/>
          </a:ln>
        </p:spPr>
        <p:txBody>
          <a:bodyPr lIns="90000" tIns="45000" rIns="90000" bIns="45000" anchor="t">
            <a:noAutofit/>
          </a:bodyPr>
          <a:lstStyle>
            <a:lvl1pPr indent="0" algn="r" defTabSz="914400">
              <a:lnSpc>
                <a:spcPct val="100000"/>
              </a:lnSpc>
              <a:buNone/>
              <a:tabLst>
                <a:tab pos="0" algn="l"/>
              </a:tabLst>
              <a:defRPr lang="en-US" sz="1600" b="0" u="none" strike="noStrike">
                <a:solidFill>
                  <a:srgbClr val="000000"/>
                </a:solidFill>
                <a:effectLst/>
                <a:uFillTx/>
                <a:latin typeface="Times New Roman"/>
                <a:ea typeface="Times New Roman"/>
              </a:defRPr>
            </a:lvl1pPr>
          </a:lstStyle>
          <a:p>
            <a:pPr indent="0" algn="r" defTabSz="914400">
              <a:lnSpc>
                <a:spcPct val="100000"/>
              </a:lnSpc>
              <a:buNone/>
              <a:tabLst>
                <a:tab pos="0" algn="l"/>
              </a:tabLst>
            </a:pPr>
            <a:fld id="{A0513FB6-9492-4F8A-BF9C-B5F1D4FEC693}" type="slidenum">
              <a:rPr lang="en-US" sz="1600" b="0" u="none" strike="noStrike">
                <a:solidFill>
                  <a:srgbClr val="000000"/>
                </a:solidFill>
                <a:effectLst/>
                <a:uFillTx/>
                <a:latin typeface="Times New Roman"/>
                <a:ea typeface="Times New Roman"/>
              </a:rPr>
              <a:t>&lt;number&gt;</a:t>
            </a:fld>
            <a:endParaRPr lang="en-US" sz="1600" b="0" u="none" strike="noStrike">
              <a:solidFill>
                <a:srgbClr val="000000"/>
              </a:solidFill>
              <a:effectLst/>
              <a:uFillTx/>
              <a:latin typeface="Times New Roman"/>
            </a:endParaRPr>
          </a:p>
        </p:txBody>
      </p:sp>
      <p:sp>
        <p:nvSpPr>
          <p:cNvPr id="82" name=""/>
          <p:cNvSpPr/>
          <p:nvPr/>
        </p:nvSpPr>
        <p:spPr>
          <a:xfrm>
            <a:off x="594360" y="1173240"/>
            <a:ext cx="11063520" cy="5122440"/>
          </a:xfrm>
          <a:prstGeom prst="rect">
            <a:avLst/>
          </a:prstGeom>
          <a:noFill/>
          <a:ln w="38160">
            <a:noFill/>
          </a:ln>
        </p:spPr>
        <p:style>
          <a:lnRef idx="0"/>
          <a:fillRef idx="0"/>
          <a:effectRef idx="0"/>
          <a:fontRef idx="minor"/>
        </p:style>
        <p:txBody>
          <a:bodyPr lIns="90000" tIns="45000" rIns="90000" bIns="45000" anchor="t">
            <a:spAutoFit/>
          </a:bodyPr>
          <a:p>
            <a:pPr marL="216000" indent="-216000">
              <a:lnSpc>
                <a:spcPct val="100000"/>
              </a:lnSpc>
              <a:spcBef>
                <a:spcPts val="1191"/>
              </a:spcBef>
              <a:spcAft>
                <a:spcPts val="992"/>
              </a:spcAft>
              <a:buClr>
                <a:srgbClr val="000000"/>
              </a:buClr>
              <a:buSzPct val="45000"/>
              <a:buFont typeface="Wingdings" charset="2"/>
              <a:buChar char=""/>
            </a:pPr>
            <a:r>
              <a:rPr lang="en-US" sz="1200" b="1" u="none" strike="noStrike">
                <a:solidFill>
                  <a:srgbClr val="000000"/>
                </a:solidFill>
                <a:effectLst/>
                <a:uFillTx/>
                <a:latin typeface="Times New Roman"/>
              </a:rPr>
              <a:t>Memory carried a corrected instruction into a new session. </a:t>
            </a:r>
            <a:endParaRPr lang="en-US" sz="1200" b="0" u="none" strike="noStrike">
              <a:solidFill>
                <a:srgbClr val="000000"/>
              </a:solidFill>
              <a:effectLst/>
              <a:uFillTx/>
              <a:latin typeface="Arial"/>
            </a:endParaRPr>
          </a:p>
          <a:p>
            <a:pPr marL="216000" indent="-216000">
              <a:lnSpc>
                <a:spcPct val="100000"/>
              </a:lnSpc>
              <a:spcBef>
                <a:spcPts val="1191"/>
              </a:spcBef>
              <a:spcAft>
                <a:spcPts val="992"/>
              </a:spcAft>
              <a:buClr>
                <a:srgbClr val="000000"/>
              </a:buClr>
              <a:buSzPct val="45000"/>
              <a:buFont typeface="Wingdings" charset="2"/>
              <a:buChar char=""/>
            </a:pPr>
            <a:r>
              <a:rPr lang="en-US" sz="1200" b="0" u="none" strike="noStrike">
                <a:solidFill>
                  <a:srgbClr val="000000"/>
                </a:solidFill>
                <a:effectLst/>
                <a:uFillTx/>
                <a:latin typeface="Times New Roman"/>
              </a:rPr>
              <a:t>In a three-session coding demonstration, a program’s required output changed from milliseconds to microseconds. During the next session, the system supplied this correction to the agent without the user repeating it, and the agent preserved the changed requirement.</a:t>
            </a:r>
            <a:endParaRPr lang="en-US" sz="1200" b="0" u="none" strike="noStrike">
              <a:solidFill>
                <a:srgbClr val="000000"/>
              </a:solidFill>
              <a:effectLst/>
              <a:uFillTx/>
              <a:latin typeface="Arial"/>
            </a:endParaRPr>
          </a:p>
          <a:p>
            <a:pPr marL="216000" indent="-216000">
              <a:lnSpc>
                <a:spcPct val="100000"/>
              </a:lnSpc>
              <a:spcBef>
                <a:spcPts val="1191"/>
              </a:spcBef>
              <a:spcAft>
                <a:spcPts val="992"/>
              </a:spcAft>
              <a:buClr>
                <a:srgbClr val="000000"/>
              </a:buClr>
              <a:buSzPct val="45000"/>
              <a:buFont typeface="Wingdings" charset="2"/>
              <a:buChar char=""/>
            </a:pPr>
            <a:r>
              <a:rPr lang="en-US" sz="1200" b="1" u="none" strike="noStrike">
                <a:solidFill>
                  <a:srgbClr val="000000"/>
                </a:solidFill>
                <a:effectLst/>
                <a:uFillTx/>
                <a:latin typeface="Times New Roman"/>
              </a:rPr>
              <a:t>Updating one assertion did not overwrite unrelated information.</a:t>
            </a:r>
            <a:r>
              <a:rPr lang="en-US" sz="1200" b="0" u="none" strike="noStrike">
                <a:solidFill>
                  <a:srgbClr val="000000"/>
                </a:solidFill>
                <a:effectLst/>
                <a:uFillTx/>
                <a:latin typeface="Times New Roman"/>
              </a:rPr>
              <a:t> </a:t>
            </a:r>
            <a:endParaRPr lang="en-US" sz="1200" b="0" u="none" strike="noStrike">
              <a:solidFill>
                <a:srgbClr val="000000"/>
              </a:solidFill>
              <a:effectLst/>
              <a:uFillTx/>
              <a:latin typeface="Arial"/>
            </a:endParaRPr>
          </a:p>
          <a:p>
            <a:pPr marL="216000" indent="-216000">
              <a:lnSpc>
                <a:spcPct val="100000"/>
              </a:lnSpc>
              <a:spcBef>
                <a:spcPts val="1191"/>
              </a:spcBef>
              <a:spcAft>
                <a:spcPts val="992"/>
              </a:spcAft>
              <a:buClr>
                <a:srgbClr val="000000"/>
              </a:buClr>
              <a:buSzPct val="45000"/>
              <a:buFont typeface="Wingdings" charset="2"/>
              <a:buChar char=""/>
            </a:pPr>
            <a:r>
              <a:rPr lang="en-US" sz="1200" b="0" u="none" strike="noStrike">
                <a:solidFill>
                  <a:srgbClr val="000000"/>
                </a:solidFill>
                <a:effectLst/>
                <a:uFillTx/>
                <a:latin typeface="Times New Roman"/>
              </a:rPr>
              <a:t>A test conversation first recorded a person’s city and food preference, then changed only the city. The system answered using the new city, retained the old city as history, and still recalled the original food preference.</a:t>
            </a:r>
            <a:endParaRPr lang="en-US" sz="1200" b="0" u="none" strike="noStrike">
              <a:solidFill>
                <a:srgbClr val="000000"/>
              </a:solidFill>
              <a:effectLst/>
              <a:uFillTx/>
              <a:latin typeface="Arial"/>
            </a:endParaRPr>
          </a:p>
          <a:p>
            <a:pPr marL="216000" indent="-216000">
              <a:lnSpc>
                <a:spcPct val="100000"/>
              </a:lnSpc>
              <a:spcBef>
                <a:spcPts val="1191"/>
              </a:spcBef>
              <a:spcAft>
                <a:spcPts val="992"/>
              </a:spcAft>
              <a:buClr>
                <a:srgbClr val="000000"/>
              </a:buClr>
              <a:buSzPct val="45000"/>
              <a:buFont typeface="Wingdings" charset="2"/>
              <a:buChar char=""/>
            </a:pPr>
            <a:r>
              <a:rPr lang="en-US" sz="1200" b="1" u="none" strike="noStrike">
                <a:solidFill>
                  <a:srgbClr val="000000"/>
                </a:solidFill>
                <a:effectLst/>
                <a:uFillTx/>
                <a:latin typeface="Times New Roman"/>
              </a:rPr>
              <a:t>Stored assertions could be traced to their original messages.</a:t>
            </a:r>
            <a:endParaRPr lang="en-US" sz="1200" b="0" u="none" strike="noStrike">
              <a:solidFill>
                <a:srgbClr val="000000"/>
              </a:solidFill>
              <a:effectLst/>
              <a:uFillTx/>
              <a:latin typeface="Arial"/>
            </a:endParaRPr>
          </a:p>
          <a:p>
            <a:pPr marL="216000" indent="-216000">
              <a:lnSpc>
                <a:spcPct val="100000"/>
              </a:lnSpc>
              <a:spcBef>
                <a:spcPts val="1191"/>
              </a:spcBef>
              <a:spcAft>
                <a:spcPts val="992"/>
              </a:spcAft>
              <a:buClr>
                <a:srgbClr val="000000"/>
              </a:buClr>
              <a:buSzPct val="45000"/>
              <a:buFont typeface="Wingdings" charset="2"/>
              <a:buChar char=""/>
            </a:pPr>
            <a:r>
              <a:rPr lang="en-US" sz="1200" b="0" u="none" strike="noStrike">
                <a:solidFill>
                  <a:srgbClr val="000000"/>
                </a:solidFill>
                <a:effectLst/>
                <a:uFillTx/>
                <a:latin typeface="Times New Roman"/>
              </a:rPr>
              <a:t>In the recorded database audit, all 142 stored source quotations matched their original text exactly. This makes each assertion’s source inspectable, although a matching quotation alone does not prove that the model interpreted it correctly.</a:t>
            </a:r>
            <a:endParaRPr lang="en-US" sz="1200" b="0" u="none" strike="noStrike">
              <a:solidFill>
                <a:srgbClr val="000000"/>
              </a:solidFill>
              <a:effectLst/>
              <a:uFillTx/>
              <a:latin typeface="Arial"/>
            </a:endParaRPr>
          </a:p>
          <a:p>
            <a:pPr marL="216000" indent="-216000">
              <a:lnSpc>
                <a:spcPct val="100000"/>
              </a:lnSpc>
              <a:spcBef>
                <a:spcPts val="1191"/>
              </a:spcBef>
              <a:spcAft>
                <a:spcPts val="992"/>
              </a:spcAft>
              <a:buClr>
                <a:srgbClr val="000000"/>
              </a:buClr>
              <a:buSzPct val="45000"/>
              <a:buFont typeface="Wingdings" charset="2"/>
              <a:buChar char=""/>
            </a:pPr>
            <a:r>
              <a:rPr lang="en-US" sz="1200" b="1" u="none" strike="noStrike">
                <a:solidFill>
                  <a:srgbClr val="000000"/>
                </a:solidFill>
                <a:effectLst/>
                <a:uFillTx/>
                <a:latin typeface="Times New Roman"/>
              </a:rPr>
              <a:t>Related assertions were combined into linked inferences.</a:t>
            </a:r>
            <a:r>
              <a:rPr lang="en-US" sz="1200" b="0" u="none" strike="noStrike">
                <a:solidFill>
                  <a:srgbClr val="000000"/>
                </a:solidFill>
                <a:effectLst/>
                <a:uFillTx/>
                <a:latin typeface="Times New Roman"/>
              </a:rPr>
              <a:t> </a:t>
            </a:r>
            <a:endParaRPr lang="en-US" sz="1200" b="0" u="none" strike="noStrike">
              <a:solidFill>
                <a:srgbClr val="000000"/>
              </a:solidFill>
              <a:effectLst/>
              <a:uFillTx/>
              <a:latin typeface="Arial"/>
            </a:endParaRPr>
          </a:p>
          <a:p>
            <a:pPr marL="216000" indent="-216000">
              <a:lnSpc>
                <a:spcPct val="100000"/>
              </a:lnSpc>
              <a:spcBef>
                <a:spcPts val="1191"/>
              </a:spcBef>
              <a:spcAft>
                <a:spcPts val="992"/>
              </a:spcAft>
              <a:buClr>
                <a:srgbClr val="000000"/>
              </a:buClr>
              <a:buSzPct val="45000"/>
              <a:buFont typeface="Wingdings" charset="2"/>
              <a:buChar char=""/>
            </a:pPr>
            <a:r>
              <a:rPr lang="en-US" sz="1200" b="0" u="none" strike="noStrike">
                <a:solidFill>
                  <a:srgbClr val="000000"/>
                </a:solidFill>
                <a:effectLst/>
                <a:uFillTx/>
                <a:latin typeface="Times New Roman"/>
              </a:rPr>
              <a:t>The same audit found 8 inferences, each linked to at least two supporting assertions. In the separate model comparison, fine-tuning improved correct inferences from 1/16 to 13/16.</a:t>
            </a:r>
            <a:endParaRPr lang="en-US" sz="1200" b="0" u="none" strike="noStrike">
              <a:solidFill>
                <a:srgbClr val="000000"/>
              </a:solidFill>
              <a:effectLst/>
              <a:uFillTx/>
              <a:latin typeface="Arial"/>
            </a:endParaRPr>
          </a:p>
          <a:p>
            <a:pPr marL="216000" indent="-216000">
              <a:lnSpc>
                <a:spcPct val="100000"/>
              </a:lnSpc>
              <a:spcBef>
                <a:spcPts val="1191"/>
              </a:spcBef>
              <a:spcAft>
                <a:spcPts val="992"/>
              </a:spcAft>
              <a:buClr>
                <a:srgbClr val="000000"/>
              </a:buClr>
              <a:buSzPct val="45000"/>
              <a:buFont typeface="Wingdings" charset="2"/>
              <a:buChar char=""/>
            </a:pPr>
            <a:r>
              <a:rPr lang="en-US" sz="1200" b="1" u="none" strike="noStrike">
                <a:solidFill>
                  <a:srgbClr val="000000"/>
                </a:solidFill>
                <a:effectLst/>
                <a:uFillTx/>
                <a:latin typeface="Times New Roman"/>
              </a:rPr>
              <a:t>Date handling remains a weakness.</a:t>
            </a:r>
            <a:r>
              <a:rPr lang="en-US" sz="1200" b="0" u="none" strike="noStrike">
                <a:solidFill>
                  <a:srgbClr val="000000"/>
                </a:solidFill>
                <a:effectLst/>
                <a:uFillTx/>
                <a:latin typeface="Times New Roman"/>
              </a:rPr>
              <a:t> </a:t>
            </a:r>
            <a:endParaRPr lang="en-US" sz="1200" b="0" u="none" strike="noStrike">
              <a:solidFill>
                <a:srgbClr val="000000"/>
              </a:solidFill>
              <a:effectLst/>
              <a:uFillTx/>
              <a:latin typeface="Arial"/>
            </a:endParaRPr>
          </a:p>
          <a:p>
            <a:pPr marL="216000" indent="-216000">
              <a:lnSpc>
                <a:spcPct val="100000"/>
              </a:lnSpc>
              <a:spcBef>
                <a:spcPts val="1191"/>
              </a:spcBef>
              <a:spcAft>
                <a:spcPts val="992"/>
              </a:spcAft>
              <a:buClr>
                <a:srgbClr val="000000"/>
              </a:buClr>
              <a:buSzPct val="45000"/>
              <a:buFont typeface="Wingdings" charset="2"/>
              <a:buChar char=""/>
            </a:pPr>
            <a:r>
              <a:rPr lang="en-US" sz="1200" b="0" u="none" strike="noStrike">
                <a:solidFill>
                  <a:srgbClr val="000000"/>
                </a:solidFill>
                <a:effectLst/>
                <a:uFillTx/>
                <a:latin typeface="Times New Roman"/>
              </a:rPr>
              <a:t>Some relative dates were interpreted incorrectly. For example, “tomorrow” in a June 1 message became June 3. Overall improvement across long conversation histories is still unverified because the full benchmark is incomplete.</a:t>
            </a:r>
            <a:endParaRPr lang="en-US" sz="1200" b="0" u="none" strike="noStrik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21.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83" name="PlaceHolder 1"/>
          <p:cNvSpPr>
            <a:spLocks noGrp="1"/>
          </p:cNvSpPr>
          <p:nvPr>
            <p:ph type="title"/>
          </p:nvPr>
        </p:nvSpPr>
        <p:spPr>
          <a:xfrm>
            <a:off x="594360" y="384120"/>
            <a:ext cx="9813240" cy="776160"/>
          </a:xfrm>
          <a:prstGeom prst="rect">
            <a:avLst/>
          </a:prstGeom>
          <a:noFill/>
          <a:ln w="0">
            <a:noFill/>
          </a:ln>
        </p:spPr>
        <p:txBody>
          <a:bodyPr lIns="0" tIns="0" rIns="0" bIns="0" anchor="ctr">
            <a:noAutofit/>
          </a:bodyPr>
          <a:p>
            <a:pPr indent="0" algn="l" defTabSz="914400">
              <a:lnSpc>
                <a:spcPct val="100000"/>
              </a:lnSpc>
              <a:buNone/>
              <a:tabLst>
                <a:tab pos="0" algn="l"/>
              </a:tabLst>
            </a:pPr>
            <a:r>
              <a:rPr lang="en-US" sz="3000" b="0" u="none" strike="noStrike">
                <a:solidFill>
                  <a:srgbClr val="000000"/>
                </a:solidFill>
                <a:effectLst/>
                <a:uFillTx/>
                <a:latin typeface="Times New Roman"/>
                <a:ea typeface="Times New Roman"/>
              </a:rPr>
              <a:t>RESULTS AND OBSERVATIONS</a:t>
            </a:r>
            <a:endParaRPr lang="en-US" sz="3000" b="0" u="none" strike="noStrike">
              <a:solidFill>
                <a:schemeClr val="dk1"/>
              </a:solidFill>
              <a:effectLst/>
              <a:uFillTx/>
              <a:latin typeface="Times New Roman"/>
            </a:endParaRPr>
          </a:p>
        </p:txBody>
      </p:sp>
      <p:sp>
        <p:nvSpPr>
          <p:cNvPr id="84" name="PlaceHolder 2"/>
          <p:cNvSpPr>
            <a:spLocks noGrp="1"/>
          </p:cNvSpPr>
          <p:nvPr>
            <p:ph type="sldNum" idx="12"/>
          </p:nvPr>
        </p:nvSpPr>
        <p:spPr>
          <a:xfrm>
            <a:off x="10865880" y="384120"/>
            <a:ext cx="730440" cy="456120"/>
          </a:xfrm>
          <a:prstGeom prst="rect">
            <a:avLst/>
          </a:prstGeom>
          <a:noFill/>
          <a:ln w="0">
            <a:noFill/>
          </a:ln>
        </p:spPr>
        <p:txBody>
          <a:bodyPr lIns="90000" tIns="45000" rIns="90000" bIns="45000" anchor="t">
            <a:noAutofit/>
          </a:bodyPr>
          <a:lstStyle>
            <a:lvl1pPr indent="0" algn="r" defTabSz="914400">
              <a:lnSpc>
                <a:spcPct val="100000"/>
              </a:lnSpc>
              <a:buNone/>
              <a:tabLst>
                <a:tab pos="0" algn="l"/>
              </a:tabLst>
              <a:defRPr lang="en-US" sz="1600" b="0" u="none" strike="noStrike">
                <a:solidFill>
                  <a:srgbClr val="000000"/>
                </a:solidFill>
                <a:effectLst/>
                <a:uFillTx/>
                <a:latin typeface="Times New Roman"/>
                <a:ea typeface="Times New Roman"/>
              </a:defRPr>
            </a:lvl1pPr>
          </a:lstStyle>
          <a:p>
            <a:pPr indent="0" algn="r" defTabSz="914400">
              <a:lnSpc>
                <a:spcPct val="100000"/>
              </a:lnSpc>
              <a:buNone/>
              <a:tabLst>
                <a:tab pos="0" algn="l"/>
              </a:tabLst>
            </a:pPr>
            <a:fld id="{ECEC43D5-C9A4-4885-A3CE-D2F6DEB6B771}" type="slidenum">
              <a:rPr lang="en-US" sz="1600" b="0" u="none" strike="noStrike">
                <a:solidFill>
                  <a:srgbClr val="000000"/>
                </a:solidFill>
                <a:effectLst/>
                <a:uFillTx/>
                <a:latin typeface="Times New Roman"/>
                <a:ea typeface="Times New Roman"/>
              </a:rPr>
              <a:t>&lt;number&gt;</a:t>
            </a:fld>
            <a:endParaRPr lang="en-US" sz="1600" b="0" u="none" strike="noStrike">
              <a:solidFill>
                <a:srgbClr val="000000"/>
              </a:solidFill>
              <a:effectLst/>
              <a:uFillTx/>
              <a:latin typeface="Times New Roman"/>
            </a:endParaRPr>
          </a:p>
        </p:txBody>
      </p:sp>
      <p:sp>
        <p:nvSpPr>
          <p:cNvPr id="85" name=""/>
          <p:cNvSpPr/>
          <p:nvPr/>
        </p:nvSpPr>
        <p:spPr>
          <a:xfrm>
            <a:off x="1143000" y="1504440"/>
            <a:ext cx="7771680" cy="1238040"/>
          </a:xfrm>
          <a:prstGeom prst="rect">
            <a:avLst/>
          </a:prstGeom>
          <a:noFill/>
          <a:ln w="38160">
            <a:noFill/>
          </a:ln>
        </p:spPr>
        <p:style>
          <a:lnRef idx="0"/>
          <a:fillRef idx="0"/>
          <a:effectRef idx="0"/>
          <a:fontRef idx="minor"/>
        </p:style>
        <p:txBody>
          <a:bodyPr lIns="90000" tIns="45000" rIns="90000" bIns="45000" anchor="t">
            <a:spAutoFit/>
          </a:bodyPr>
          <a:p>
            <a:pPr marL="216000" indent="-216000">
              <a:lnSpc>
                <a:spcPct val="100000"/>
              </a:lnSpc>
              <a:spcBef>
                <a:spcPts val="1191"/>
              </a:spcBef>
              <a:spcAft>
                <a:spcPts val="992"/>
              </a:spcAft>
              <a:buClr>
                <a:srgbClr val="000000"/>
              </a:buClr>
              <a:buSzPct val="45000"/>
              <a:buFont typeface="Wingdings" charset="2"/>
              <a:buChar char=""/>
            </a:pPr>
            <a:r>
              <a:rPr lang="en-US" sz="1200" b="0" u="none" strike="noStrike">
                <a:solidFill>
                  <a:srgbClr val="000000"/>
                </a:solidFill>
                <a:effectLst/>
                <a:uFillTx/>
                <a:latin typeface="Times New Roman"/>
              </a:rPr>
              <a:t>Combining assertions and answering questions improved, but the model missed more information during extraction.</a:t>
            </a:r>
            <a:endParaRPr lang="en-US" sz="1200" b="0" u="none" strike="noStrike">
              <a:solidFill>
                <a:srgbClr val="000000"/>
              </a:solidFill>
              <a:effectLst/>
              <a:uFillTx/>
              <a:latin typeface="Arial"/>
            </a:endParaRPr>
          </a:p>
          <a:p>
            <a:pPr marL="216000" indent="-216000">
              <a:lnSpc>
                <a:spcPct val="100000"/>
              </a:lnSpc>
              <a:spcBef>
                <a:spcPts val="1191"/>
              </a:spcBef>
              <a:spcAft>
                <a:spcPts val="992"/>
              </a:spcAft>
              <a:buClr>
                <a:srgbClr val="000000"/>
              </a:buClr>
              <a:buSzPct val="45000"/>
              <a:buFont typeface="Wingdings" charset="2"/>
              <a:buChar char=""/>
            </a:pPr>
            <a:r>
              <a:rPr lang="en-US" sz="1200" b="0" u="none" strike="noStrike">
                <a:solidFill>
                  <a:srgbClr val="000000"/>
                </a:solidFill>
                <a:effectLst/>
                <a:uFillTx/>
                <a:latin typeface="Times New Roman"/>
              </a:rPr>
              <a:t>On 16 external conversation samples, expected assertions recovered also declined: 16/40 → 13/40.</a:t>
            </a:r>
            <a:endParaRPr lang="en-US" sz="1200" b="0" u="none" strike="noStrike">
              <a:solidFill>
                <a:srgbClr val="000000"/>
              </a:solidFill>
              <a:effectLst/>
              <a:uFillTx/>
              <a:latin typeface="Arial"/>
            </a:endParaRPr>
          </a:p>
          <a:p>
            <a:pPr marL="216000" indent="-216000">
              <a:lnSpc>
                <a:spcPct val="100000"/>
              </a:lnSpc>
              <a:spcBef>
                <a:spcPts val="1191"/>
              </a:spcBef>
              <a:spcAft>
                <a:spcPts val="992"/>
              </a:spcAft>
              <a:buClr>
                <a:srgbClr val="000000"/>
              </a:buClr>
              <a:buSzPct val="45000"/>
              <a:buFont typeface="Wingdings" charset="2"/>
              <a:buChar char=""/>
            </a:pPr>
            <a:r>
              <a:rPr lang="en-US" sz="1200" b="0" u="none" strike="noStrike">
                <a:solidFill>
                  <a:srgbClr val="000000"/>
                </a:solidFill>
                <a:effectLst/>
                <a:uFillTx/>
                <a:latin typeface="Times New Roman"/>
              </a:rPr>
              <a:t>Correct output format did not guarantee correct meaning. Date interpretation and unsupported assertions remain issues.</a:t>
            </a:r>
            <a:endParaRPr lang="en-US" sz="1200" b="0" u="none" strike="noStrike">
              <a:solidFill>
                <a:srgbClr val="000000"/>
              </a:solidFill>
              <a:effectLst/>
              <a:uFillTx/>
              <a:latin typeface="Arial"/>
            </a:endParaRPr>
          </a:p>
        </p:txBody>
      </p:sp>
      <p:graphicFrame>
        <p:nvGraphicFramePr>
          <p:cNvPr id="86" name=""/>
          <p:cNvGraphicFramePr/>
          <p:nvPr/>
        </p:nvGraphicFramePr>
        <p:xfrm>
          <a:off x="601920" y="2966760"/>
          <a:ext cx="6487560" cy="3089880"/>
        </p:xfrm>
        <a:graphic>
          <a:graphicData uri="http://schemas.openxmlformats.org/drawingml/2006/table">
            <a:tbl>
              <a:tblPr/>
              <a:tblGrid>
                <a:gridCol w="2161800"/>
                <a:gridCol w="2161800"/>
                <a:gridCol w="2164320"/>
              </a:tblGrid>
              <a:tr h="360000">
                <a:tc>
                  <a:txBody>
                    <a:bodyPr lIns="36000" tIns="36000" rIns="36000" bIns="36000" anchor="t">
                      <a:noAutofit/>
                    </a:bodyPr>
                    <a:p>
                      <a:pPr>
                        <a:lnSpc>
                          <a:spcPct val="100000"/>
                        </a:lnSpc>
                        <a:spcBef>
                          <a:spcPts val="675"/>
                        </a:spcBef>
                        <a:spcAft>
                          <a:spcPts val="561"/>
                        </a:spcAft>
                      </a:pPr>
                      <a:r>
                        <a:rPr lang="en-US" sz="1200" b="0" u="none" strike="noStrike">
                          <a:solidFill>
                            <a:srgbClr val="000000"/>
                          </a:solidFill>
                          <a:effectLst/>
                          <a:uFillTx/>
                          <a:latin typeface="Times New Roman"/>
                        </a:rPr>
                        <a:t>Measurement</a:t>
                      </a:r>
                      <a:endParaRPr lang="en-US" sz="1200" b="0" u="none" strike="noStrike">
                        <a:solidFill>
                          <a:srgbClr val="000000"/>
                        </a:solidFill>
                        <a:effectLst/>
                        <a:uFillTx/>
                        <a:latin typeface="Arial"/>
                      </a:endParaRPr>
                    </a:p>
                  </a:txBody>
                  <a:tcPr anchor="t" marL="36000" marR="36000" marT="36000" marB="36000">
                    <a:lnL w="7200">
                      <a:solidFill>
                        <a:srgbClr val="000000"/>
                      </a:solidFill>
                      <a:prstDash val="solid"/>
                    </a:lnL>
                    <a:lnR w="7200">
                      <a:solidFill>
                        <a:srgbClr val="000000"/>
                      </a:solidFill>
                      <a:prstDash val="solid"/>
                    </a:lnR>
                    <a:lnT w="7200">
                      <a:solidFill>
                        <a:srgbClr val="000000"/>
                      </a:solidFill>
                      <a:prstDash val="solid"/>
                    </a:lnT>
                    <a:lnB w="7200">
                      <a:solidFill>
                        <a:srgbClr val="000000"/>
                      </a:solidFill>
                      <a:prstDash val="solid"/>
                    </a:lnB>
                    <a:noFill/>
                  </a:tcPr>
                </a:tc>
                <a:tc>
                  <a:txBody>
                    <a:bodyPr lIns="36000" tIns="36000" rIns="36000" bIns="36000" anchor="t">
                      <a:noAutofit/>
                    </a:bodyPr>
                    <a:p>
                      <a:pPr>
                        <a:lnSpc>
                          <a:spcPct val="100000"/>
                        </a:lnSpc>
                        <a:spcBef>
                          <a:spcPts val="675"/>
                        </a:spcBef>
                        <a:spcAft>
                          <a:spcPts val="561"/>
                        </a:spcAft>
                      </a:pPr>
                      <a:r>
                        <a:rPr lang="en-US" sz="1200" b="0" u="none" strike="noStrike">
                          <a:solidFill>
                            <a:srgbClr val="000000"/>
                          </a:solidFill>
                          <a:effectLst/>
                          <a:uFillTx/>
                          <a:latin typeface="Times New Roman"/>
                        </a:rPr>
                        <a:t>Before fine-tuning</a:t>
                      </a:r>
                      <a:endParaRPr lang="en-US" sz="1200" b="0" u="none" strike="noStrike">
                        <a:solidFill>
                          <a:srgbClr val="000000"/>
                        </a:solidFill>
                        <a:effectLst/>
                        <a:uFillTx/>
                        <a:latin typeface="Arial"/>
                      </a:endParaRPr>
                    </a:p>
                  </a:txBody>
                  <a:tcPr anchor="t" marL="36000" marR="36000" marT="36000" marB="36000">
                    <a:lnL w="7200">
                      <a:solidFill>
                        <a:srgbClr val="000000"/>
                      </a:solidFill>
                      <a:prstDash val="solid"/>
                    </a:lnL>
                    <a:lnR w="7200">
                      <a:solidFill>
                        <a:srgbClr val="000000"/>
                      </a:solidFill>
                      <a:prstDash val="solid"/>
                    </a:lnR>
                    <a:lnT w="7200">
                      <a:solidFill>
                        <a:srgbClr val="000000"/>
                      </a:solidFill>
                      <a:prstDash val="solid"/>
                    </a:lnT>
                    <a:lnB w="7200">
                      <a:solidFill>
                        <a:srgbClr val="000000"/>
                      </a:solidFill>
                      <a:prstDash val="solid"/>
                    </a:lnB>
                    <a:noFill/>
                  </a:tcPr>
                </a:tc>
                <a:tc>
                  <a:txBody>
                    <a:bodyPr lIns="36000" tIns="36000" rIns="36000" bIns="36000" anchor="t">
                      <a:noAutofit/>
                    </a:bodyPr>
                    <a:p>
                      <a:pPr>
                        <a:lnSpc>
                          <a:spcPct val="100000"/>
                        </a:lnSpc>
                        <a:spcBef>
                          <a:spcPts val="675"/>
                        </a:spcBef>
                        <a:spcAft>
                          <a:spcPts val="561"/>
                        </a:spcAft>
                      </a:pPr>
                      <a:r>
                        <a:rPr lang="en-US" sz="1200" b="0" u="none" strike="noStrike">
                          <a:solidFill>
                            <a:srgbClr val="000000"/>
                          </a:solidFill>
                          <a:effectLst/>
                          <a:uFillTx/>
                          <a:latin typeface="Times New Roman"/>
                        </a:rPr>
                        <a:t>After fine-tuning</a:t>
                      </a:r>
                      <a:endParaRPr lang="en-US" sz="1200" b="0" u="none" strike="noStrike">
                        <a:solidFill>
                          <a:srgbClr val="000000"/>
                        </a:solidFill>
                        <a:effectLst/>
                        <a:uFillTx/>
                        <a:latin typeface="Arial"/>
                      </a:endParaRPr>
                    </a:p>
                  </a:txBody>
                  <a:tcPr anchor="t" marL="36000" marR="36000" marT="36000" marB="36000">
                    <a:lnL w="7200">
                      <a:solidFill>
                        <a:srgbClr val="000000"/>
                      </a:solidFill>
                      <a:prstDash val="solid"/>
                    </a:lnL>
                    <a:lnR w="7200">
                      <a:solidFill>
                        <a:srgbClr val="000000"/>
                      </a:solidFill>
                      <a:prstDash val="solid"/>
                    </a:lnR>
                    <a:lnT w="7200">
                      <a:solidFill>
                        <a:srgbClr val="000000"/>
                      </a:solidFill>
                      <a:prstDash val="solid"/>
                    </a:lnT>
                    <a:lnB w="7200">
                      <a:solidFill>
                        <a:srgbClr val="000000"/>
                      </a:solidFill>
                      <a:prstDash val="solid"/>
                    </a:lnB>
                    <a:noFill/>
                  </a:tcPr>
                </a:tc>
              </a:tr>
              <a:tr h="549720">
                <a:tc>
                  <a:txBody>
                    <a:bodyPr lIns="36000" tIns="36000" rIns="36000" bIns="36000" anchor="t">
                      <a:noAutofit/>
                    </a:bodyPr>
                    <a:p>
                      <a:pPr>
                        <a:lnSpc>
                          <a:spcPct val="100000"/>
                        </a:lnSpc>
                        <a:spcBef>
                          <a:spcPts val="675"/>
                        </a:spcBef>
                        <a:spcAft>
                          <a:spcPts val="561"/>
                        </a:spcAft>
                      </a:pPr>
                      <a:r>
                        <a:rPr lang="en-US" sz="1200" b="0" u="none" strike="noStrike">
                          <a:solidFill>
                            <a:srgbClr val="000000"/>
                          </a:solidFill>
                          <a:effectLst/>
                          <a:uFillTx/>
                          <a:latin typeface="Times New Roman"/>
                        </a:rPr>
                        <a:t>Correctly derived inferences</a:t>
                      </a:r>
                      <a:endParaRPr lang="en-US" sz="1200" b="0" u="none" strike="noStrike">
                        <a:solidFill>
                          <a:srgbClr val="000000"/>
                        </a:solidFill>
                        <a:effectLst/>
                        <a:uFillTx/>
                        <a:latin typeface="Arial"/>
                      </a:endParaRPr>
                    </a:p>
                  </a:txBody>
                  <a:tcPr anchor="t" marL="36000" marR="36000" marT="36000" marB="36000">
                    <a:lnL w="7200">
                      <a:solidFill>
                        <a:srgbClr val="000000"/>
                      </a:solidFill>
                      <a:prstDash val="solid"/>
                    </a:lnL>
                    <a:lnR w="7200">
                      <a:solidFill>
                        <a:srgbClr val="000000"/>
                      </a:solidFill>
                      <a:prstDash val="solid"/>
                    </a:lnR>
                    <a:lnT w="7200">
                      <a:solidFill>
                        <a:srgbClr val="000000"/>
                      </a:solidFill>
                      <a:prstDash val="solid"/>
                    </a:lnT>
                    <a:lnB w="7200">
                      <a:solidFill>
                        <a:srgbClr val="000000"/>
                      </a:solidFill>
                      <a:prstDash val="solid"/>
                    </a:lnB>
                    <a:noFill/>
                  </a:tcPr>
                </a:tc>
                <a:tc>
                  <a:txBody>
                    <a:bodyPr lIns="36000" tIns="36000" rIns="36000" bIns="36000" anchor="t">
                      <a:noAutofit/>
                    </a:bodyPr>
                    <a:p>
                      <a:pPr>
                        <a:lnSpc>
                          <a:spcPct val="100000"/>
                        </a:lnSpc>
                        <a:spcBef>
                          <a:spcPts val="675"/>
                        </a:spcBef>
                        <a:spcAft>
                          <a:spcPts val="561"/>
                        </a:spcAft>
                      </a:pPr>
                      <a:r>
                        <a:rPr lang="en-US" sz="1200" b="0" u="none" strike="noStrike">
                          <a:solidFill>
                            <a:srgbClr val="000000"/>
                          </a:solidFill>
                          <a:effectLst/>
                          <a:uFillTx/>
                          <a:latin typeface="Times New Roman"/>
                        </a:rPr>
                        <a:t>1/16</a:t>
                      </a:r>
                      <a:endParaRPr lang="en-US" sz="1200" b="0" u="none" strike="noStrike">
                        <a:solidFill>
                          <a:srgbClr val="000000"/>
                        </a:solidFill>
                        <a:effectLst/>
                        <a:uFillTx/>
                        <a:latin typeface="Arial"/>
                      </a:endParaRPr>
                    </a:p>
                  </a:txBody>
                  <a:tcPr anchor="t" marL="36000" marR="36000" marT="36000" marB="36000">
                    <a:lnL w="7200">
                      <a:solidFill>
                        <a:srgbClr val="000000"/>
                      </a:solidFill>
                      <a:prstDash val="solid"/>
                    </a:lnL>
                    <a:lnR w="7200">
                      <a:solidFill>
                        <a:srgbClr val="000000"/>
                      </a:solidFill>
                      <a:prstDash val="solid"/>
                    </a:lnR>
                    <a:lnT w="7200">
                      <a:solidFill>
                        <a:srgbClr val="000000"/>
                      </a:solidFill>
                      <a:prstDash val="solid"/>
                    </a:lnT>
                    <a:lnB w="7200">
                      <a:solidFill>
                        <a:srgbClr val="000000"/>
                      </a:solidFill>
                      <a:prstDash val="solid"/>
                    </a:lnB>
                    <a:noFill/>
                  </a:tcPr>
                </a:tc>
                <a:tc>
                  <a:txBody>
                    <a:bodyPr lIns="36000" tIns="36000" rIns="36000" bIns="36000" anchor="t">
                      <a:noAutofit/>
                    </a:bodyPr>
                    <a:p>
                      <a:pPr>
                        <a:lnSpc>
                          <a:spcPct val="100000"/>
                        </a:lnSpc>
                        <a:spcBef>
                          <a:spcPts val="675"/>
                        </a:spcBef>
                        <a:spcAft>
                          <a:spcPts val="561"/>
                        </a:spcAft>
                      </a:pPr>
                      <a:r>
                        <a:rPr lang="en-US" sz="1200" b="0" u="none" strike="noStrike">
                          <a:solidFill>
                            <a:srgbClr val="000000"/>
                          </a:solidFill>
                          <a:effectLst/>
                          <a:uFillTx/>
                          <a:latin typeface="Times New Roman"/>
                        </a:rPr>
                        <a:t>13/16</a:t>
                      </a:r>
                      <a:endParaRPr lang="en-US" sz="1200" b="0" u="none" strike="noStrike">
                        <a:solidFill>
                          <a:srgbClr val="000000"/>
                        </a:solidFill>
                        <a:effectLst/>
                        <a:uFillTx/>
                        <a:latin typeface="Arial"/>
                      </a:endParaRPr>
                    </a:p>
                  </a:txBody>
                  <a:tcPr anchor="t" marL="36000" marR="36000" marT="36000" marB="36000">
                    <a:lnL w="7200">
                      <a:solidFill>
                        <a:srgbClr val="000000"/>
                      </a:solidFill>
                      <a:prstDash val="solid"/>
                    </a:lnL>
                    <a:lnR w="7200">
                      <a:solidFill>
                        <a:srgbClr val="000000"/>
                      </a:solidFill>
                      <a:prstDash val="solid"/>
                    </a:lnR>
                    <a:lnT w="7200">
                      <a:solidFill>
                        <a:srgbClr val="000000"/>
                      </a:solidFill>
                      <a:prstDash val="solid"/>
                    </a:lnT>
                    <a:lnB w="7200">
                      <a:solidFill>
                        <a:srgbClr val="000000"/>
                      </a:solidFill>
                      <a:prstDash val="solid"/>
                    </a:lnB>
                    <a:noFill/>
                  </a:tcPr>
                </a:tc>
              </a:tr>
              <a:tr h="549720">
                <a:tc>
                  <a:txBody>
                    <a:bodyPr lIns="36000" tIns="36000" rIns="36000" bIns="36000" anchor="t">
                      <a:noAutofit/>
                    </a:bodyPr>
                    <a:p>
                      <a:pPr>
                        <a:lnSpc>
                          <a:spcPct val="100000"/>
                        </a:lnSpc>
                        <a:spcBef>
                          <a:spcPts val="675"/>
                        </a:spcBef>
                        <a:spcAft>
                          <a:spcPts val="561"/>
                        </a:spcAft>
                      </a:pPr>
                      <a:r>
                        <a:rPr lang="en-US" sz="1200" b="0" u="none" strike="noStrike">
                          <a:solidFill>
                            <a:srgbClr val="000000"/>
                          </a:solidFill>
                          <a:effectLst/>
                          <a:uFillTx/>
                          <a:latin typeface="Times New Roman"/>
                        </a:rPr>
                        <a:t>Correct answers using supplied evidence</a:t>
                      </a:r>
                      <a:endParaRPr lang="en-US" sz="1200" b="0" u="none" strike="noStrike">
                        <a:solidFill>
                          <a:srgbClr val="000000"/>
                        </a:solidFill>
                        <a:effectLst/>
                        <a:uFillTx/>
                        <a:latin typeface="Arial"/>
                      </a:endParaRPr>
                    </a:p>
                  </a:txBody>
                  <a:tcPr anchor="t" marL="36000" marR="36000" marT="36000" marB="36000">
                    <a:lnL w="7200">
                      <a:solidFill>
                        <a:srgbClr val="000000"/>
                      </a:solidFill>
                      <a:prstDash val="solid"/>
                    </a:lnL>
                    <a:lnR w="7200">
                      <a:solidFill>
                        <a:srgbClr val="000000"/>
                      </a:solidFill>
                      <a:prstDash val="solid"/>
                    </a:lnR>
                    <a:lnT w="7200">
                      <a:solidFill>
                        <a:srgbClr val="000000"/>
                      </a:solidFill>
                      <a:prstDash val="solid"/>
                    </a:lnT>
                    <a:lnB w="7200">
                      <a:solidFill>
                        <a:srgbClr val="000000"/>
                      </a:solidFill>
                      <a:prstDash val="solid"/>
                    </a:lnB>
                    <a:noFill/>
                  </a:tcPr>
                </a:tc>
                <a:tc>
                  <a:txBody>
                    <a:bodyPr lIns="36000" tIns="36000" rIns="36000" bIns="36000" anchor="t">
                      <a:noAutofit/>
                    </a:bodyPr>
                    <a:p>
                      <a:pPr>
                        <a:lnSpc>
                          <a:spcPct val="100000"/>
                        </a:lnSpc>
                        <a:spcBef>
                          <a:spcPts val="675"/>
                        </a:spcBef>
                        <a:spcAft>
                          <a:spcPts val="561"/>
                        </a:spcAft>
                      </a:pPr>
                      <a:r>
                        <a:rPr lang="en-US" sz="1200" b="0" u="none" strike="noStrike">
                          <a:solidFill>
                            <a:srgbClr val="000000"/>
                          </a:solidFill>
                          <a:effectLst/>
                          <a:uFillTx/>
                          <a:latin typeface="Times New Roman"/>
                        </a:rPr>
                        <a:t>10/16</a:t>
                      </a:r>
                      <a:endParaRPr lang="en-US" sz="1200" b="0" u="none" strike="noStrike">
                        <a:solidFill>
                          <a:srgbClr val="000000"/>
                        </a:solidFill>
                        <a:effectLst/>
                        <a:uFillTx/>
                        <a:latin typeface="Arial"/>
                      </a:endParaRPr>
                    </a:p>
                  </a:txBody>
                  <a:tcPr anchor="t" marL="36000" marR="36000" marT="36000" marB="36000">
                    <a:lnL w="7200">
                      <a:solidFill>
                        <a:srgbClr val="000000"/>
                      </a:solidFill>
                      <a:prstDash val="solid"/>
                    </a:lnL>
                    <a:lnR w="7200">
                      <a:solidFill>
                        <a:srgbClr val="000000"/>
                      </a:solidFill>
                      <a:prstDash val="solid"/>
                    </a:lnR>
                    <a:lnT w="7200">
                      <a:solidFill>
                        <a:srgbClr val="000000"/>
                      </a:solidFill>
                      <a:prstDash val="solid"/>
                    </a:lnT>
                    <a:lnB w="7200">
                      <a:solidFill>
                        <a:srgbClr val="000000"/>
                      </a:solidFill>
                      <a:prstDash val="solid"/>
                    </a:lnB>
                    <a:noFill/>
                  </a:tcPr>
                </a:tc>
                <a:tc>
                  <a:txBody>
                    <a:bodyPr lIns="36000" tIns="36000" rIns="36000" bIns="36000" anchor="t">
                      <a:noAutofit/>
                    </a:bodyPr>
                    <a:p>
                      <a:pPr>
                        <a:lnSpc>
                          <a:spcPct val="100000"/>
                        </a:lnSpc>
                        <a:spcBef>
                          <a:spcPts val="675"/>
                        </a:spcBef>
                        <a:spcAft>
                          <a:spcPts val="561"/>
                        </a:spcAft>
                      </a:pPr>
                      <a:r>
                        <a:rPr lang="en-US" sz="1200" b="0" u="none" strike="noStrike">
                          <a:solidFill>
                            <a:srgbClr val="000000"/>
                          </a:solidFill>
                          <a:effectLst/>
                          <a:uFillTx/>
                          <a:latin typeface="Times New Roman"/>
                        </a:rPr>
                        <a:t>15/16</a:t>
                      </a:r>
                      <a:endParaRPr lang="en-US" sz="1200" b="0" u="none" strike="noStrike">
                        <a:solidFill>
                          <a:srgbClr val="000000"/>
                        </a:solidFill>
                        <a:effectLst/>
                        <a:uFillTx/>
                        <a:latin typeface="Arial"/>
                      </a:endParaRPr>
                    </a:p>
                  </a:txBody>
                  <a:tcPr anchor="t" marL="36000" marR="36000" marT="36000" marB="36000">
                    <a:lnL w="7200">
                      <a:solidFill>
                        <a:srgbClr val="000000"/>
                      </a:solidFill>
                      <a:prstDash val="solid"/>
                    </a:lnL>
                    <a:lnR w="7200">
                      <a:solidFill>
                        <a:srgbClr val="000000"/>
                      </a:solidFill>
                      <a:prstDash val="solid"/>
                    </a:lnR>
                    <a:lnT w="7200">
                      <a:solidFill>
                        <a:srgbClr val="000000"/>
                      </a:solidFill>
                      <a:prstDash val="solid"/>
                    </a:lnT>
                    <a:lnB w="7200">
                      <a:solidFill>
                        <a:srgbClr val="000000"/>
                      </a:solidFill>
                      <a:prstDash val="solid"/>
                    </a:lnB>
                    <a:noFill/>
                  </a:tcPr>
                </a:tc>
              </a:tr>
              <a:tr h="360000">
                <a:tc>
                  <a:txBody>
                    <a:bodyPr lIns="36000" tIns="36000" rIns="36000" bIns="36000" anchor="t">
                      <a:noAutofit/>
                    </a:bodyPr>
                    <a:p>
                      <a:pPr>
                        <a:lnSpc>
                          <a:spcPct val="100000"/>
                        </a:lnSpc>
                        <a:spcBef>
                          <a:spcPts val="675"/>
                        </a:spcBef>
                        <a:spcAft>
                          <a:spcPts val="561"/>
                        </a:spcAft>
                      </a:pPr>
                      <a:r>
                        <a:rPr lang="en-US" sz="1200" b="0" u="none" strike="noStrike">
                          <a:solidFill>
                            <a:srgbClr val="000000"/>
                          </a:solidFill>
                          <a:effectLst/>
                          <a:uFillTx/>
                          <a:latin typeface="Times New Roman"/>
                        </a:rPr>
                        <a:t>Expected assertions recovered</a:t>
                      </a:r>
                      <a:endParaRPr lang="en-US" sz="1200" b="0" u="none" strike="noStrike">
                        <a:solidFill>
                          <a:srgbClr val="000000"/>
                        </a:solidFill>
                        <a:effectLst/>
                        <a:uFillTx/>
                        <a:latin typeface="Arial"/>
                      </a:endParaRPr>
                    </a:p>
                  </a:txBody>
                  <a:tcPr anchor="t" marL="36000" marR="36000" marT="36000" marB="36000">
                    <a:lnL w="7200">
                      <a:solidFill>
                        <a:srgbClr val="000000"/>
                      </a:solidFill>
                      <a:prstDash val="solid"/>
                    </a:lnL>
                    <a:lnR w="7200">
                      <a:solidFill>
                        <a:srgbClr val="000000"/>
                      </a:solidFill>
                      <a:prstDash val="solid"/>
                    </a:lnR>
                    <a:lnT w="7200">
                      <a:solidFill>
                        <a:srgbClr val="000000"/>
                      </a:solidFill>
                      <a:prstDash val="solid"/>
                    </a:lnT>
                    <a:lnB w="7200">
                      <a:solidFill>
                        <a:srgbClr val="000000"/>
                      </a:solidFill>
                      <a:prstDash val="solid"/>
                    </a:lnB>
                    <a:noFill/>
                  </a:tcPr>
                </a:tc>
                <a:tc>
                  <a:txBody>
                    <a:bodyPr lIns="36000" tIns="36000" rIns="36000" bIns="36000" anchor="t">
                      <a:noAutofit/>
                    </a:bodyPr>
                    <a:p>
                      <a:pPr>
                        <a:lnSpc>
                          <a:spcPct val="100000"/>
                        </a:lnSpc>
                        <a:spcBef>
                          <a:spcPts val="675"/>
                        </a:spcBef>
                        <a:spcAft>
                          <a:spcPts val="561"/>
                        </a:spcAft>
                      </a:pPr>
                      <a:r>
                        <a:rPr lang="en-US" sz="1200" b="0" u="none" strike="noStrike">
                          <a:solidFill>
                            <a:srgbClr val="000000"/>
                          </a:solidFill>
                          <a:effectLst/>
                          <a:uFillTx/>
                          <a:latin typeface="Times New Roman"/>
                        </a:rPr>
                        <a:t>50/55</a:t>
                      </a:r>
                      <a:endParaRPr lang="en-US" sz="1200" b="0" u="none" strike="noStrike">
                        <a:solidFill>
                          <a:srgbClr val="000000"/>
                        </a:solidFill>
                        <a:effectLst/>
                        <a:uFillTx/>
                        <a:latin typeface="Arial"/>
                      </a:endParaRPr>
                    </a:p>
                  </a:txBody>
                  <a:tcPr anchor="t" marL="36000" marR="36000" marT="36000" marB="36000">
                    <a:lnL w="7200">
                      <a:solidFill>
                        <a:srgbClr val="000000"/>
                      </a:solidFill>
                      <a:prstDash val="solid"/>
                    </a:lnL>
                    <a:lnR w="7200">
                      <a:solidFill>
                        <a:srgbClr val="000000"/>
                      </a:solidFill>
                      <a:prstDash val="solid"/>
                    </a:lnR>
                    <a:lnT w="7200">
                      <a:solidFill>
                        <a:srgbClr val="000000"/>
                      </a:solidFill>
                      <a:prstDash val="solid"/>
                    </a:lnT>
                    <a:lnB w="7200">
                      <a:solidFill>
                        <a:srgbClr val="000000"/>
                      </a:solidFill>
                      <a:prstDash val="solid"/>
                    </a:lnB>
                    <a:noFill/>
                  </a:tcPr>
                </a:tc>
                <a:tc>
                  <a:txBody>
                    <a:bodyPr lIns="36000" tIns="36000" rIns="36000" bIns="36000" anchor="t">
                      <a:noAutofit/>
                    </a:bodyPr>
                    <a:p>
                      <a:pPr>
                        <a:lnSpc>
                          <a:spcPct val="100000"/>
                        </a:lnSpc>
                        <a:spcBef>
                          <a:spcPts val="675"/>
                        </a:spcBef>
                        <a:spcAft>
                          <a:spcPts val="561"/>
                        </a:spcAft>
                      </a:pPr>
                      <a:r>
                        <a:rPr lang="en-US" sz="1200" b="0" u="none" strike="noStrike">
                          <a:solidFill>
                            <a:srgbClr val="000000"/>
                          </a:solidFill>
                          <a:effectLst/>
                          <a:uFillTx/>
                          <a:latin typeface="Times New Roman"/>
                        </a:rPr>
                        <a:t>41/55</a:t>
                      </a:r>
                      <a:endParaRPr lang="en-US" sz="1200" b="0" u="none" strike="noStrike">
                        <a:solidFill>
                          <a:srgbClr val="000000"/>
                        </a:solidFill>
                        <a:effectLst/>
                        <a:uFillTx/>
                        <a:latin typeface="Arial"/>
                      </a:endParaRPr>
                    </a:p>
                  </a:txBody>
                  <a:tcPr anchor="t" marL="36000" marR="36000" marT="36000" marB="36000">
                    <a:lnL w="7200">
                      <a:solidFill>
                        <a:srgbClr val="000000"/>
                      </a:solidFill>
                      <a:prstDash val="solid"/>
                    </a:lnL>
                    <a:lnR w="7200">
                      <a:solidFill>
                        <a:srgbClr val="000000"/>
                      </a:solidFill>
                      <a:prstDash val="solid"/>
                    </a:lnR>
                    <a:lnT w="7200">
                      <a:solidFill>
                        <a:srgbClr val="000000"/>
                      </a:solidFill>
                      <a:prstDash val="solid"/>
                    </a:lnT>
                    <a:lnB w="7200">
                      <a:solidFill>
                        <a:srgbClr val="000000"/>
                      </a:solidFill>
                      <a:prstDash val="solid"/>
                    </a:lnB>
                    <a:noFill/>
                  </a:tcPr>
                </a:tc>
              </a:tr>
              <a:tr h="549720">
                <a:tc>
                  <a:txBody>
                    <a:bodyPr lIns="36000" tIns="36000" rIns="36000" bIns="36000" anchor="t">
                      <a:noAutofit/>
                    </a:bodyPr>
                    <a:p>
                      <a:pPr>
                        <a:lnSpc>
                          <a:spcPct val="100000"/>
                        </a:lnSpc>
                        <a:spcBef>
                          <a:spcPts val="675"/>
                        </a:spcBef>
                        <a:spcAft>
                          <a:spcPts val="561"/>
                        </a:spcAft>
                      </a:pPr>
                      <a:r>
                        <a:rPr lang="en-US" sz="1200" b="0" u="none" strike="noStrike">
                          <a:solidFill>
                            <a:srgbClr val="000000"/>
                          </a:solidFill>
                          <a:effectLst/>
                          <a:uFillTx/>
                          <a:latin typeface="Times New Roman"/>
                        </a:rPr>
                        <a:t>Extracted assertions supported by the source</a:t>
                      </a:r>
                      <a:endParaRPr lang="en-US" sz="1200" b="0" u="none" strike="noStrike">
                        <a:solidFill>
                          <a:srgbClr val="000000"/>
                        </a:solidFill>
                        <a:effectLst/>
                        <a:uFillTx/>
                        <a:latin typeface="Arial"/>
                      </a:endParaRPr>
                    </a:p>
                  </a:txBody>
                  <a:tcPr anchor="t" marL="36000" marR="36000" marT="36000" marB="36000">
                    <a:lnL w="7200">
                      <a:solidFill>
                        <a:srgbClr val="000000"/>
                      </a:solidFill>
                      <a:prstDash val="solid"/>
                    </a:lnL>
                    <a:lnR w="7200">
                      <a:solidFill>
                        <a:srgbClr val="000000"/>
                      </a:solidFill>
                      <a:prstDash val="solid"/>
                    </a:lnR>
                    <a:lnT w="7200">
                      <a:solidFill>
                        <a:srgbClr val="000000"/>
                      </a:solidFill>
                      <a:prstDash val="solid"/>
                    </a:lnT>
                    <a:lnB w="7200">
                      <a:solidFill>
                        <a:srgbClr val="000000"/>
                      </a:solidFill>
                      <a:prstDash val="solid"/>
                    </a:lnB>
                    <a:noFill/>
                  </a:tcPr>
                </a:tc>
                <a:tc>
                  <a:txBody>
                    <a:bodyPr lIns="36000" tIns="36000" rIns="36000" bIns="36000" anchor="t">
                      <a:noAutofit/>
                    </a:bodyPr>
                    <a:p>
                      <a:pPr>
                        <a:lnSpc>
                          <a:spcPct val="100000"/>
                        </a:lnSpc>
                        <a:spcBef>
                          <a:spcPts val="675"/>
                        </a:spcBef>
                        <a:spcAft>
                          <a:spcPts val="561"/>
                        </a:spcAft>
                      </a:pPr>
                      <a:r>
                        <a:rPr lang="en-US" sz="1200" b="0" u="none" strike="noStrike">
                          <a:solidFill>
                            <a:srgbClr val="000000"/>
                          </a:solidFill>
                          <a:effectLst/>
                          <a:uFillTx/>
                          <a:latin typeface="Times New Roman"/>
                        </a:rPr>
                        <a:t>92.1%</a:t>
                      </a:r>
                      <a:endParaRPr lang="en-US" sz="1200" b="0" u="none" strike="noStrike">
                        <a:solidFill>
                          <a:srgbClr val="000000"/>
                        </a:solidFill>
                        <a:effectLst/>
                        <a:uFillTx/>
                        <a:latin typeface="Arial"/>
                      </a:endParaRPr>
                    </a:p>
                  </a:txBody>
                  <a:tcPr anchor="t" marL="36000" marR="36000" marT="36000" marB="36000">
                    <a:lnL w="7200">
                      <a:solidFill>
                        <a:srgbClr val="000000"/>
                      </a:solidFill>
                      <a:prstDash val="solid"/>
                    </a:lnL>
                    <a:lnR w="7200">
                      <a:solidFill>
                        <a:srgbClr val="000000"/>
                      </a:solidFill>
                      <a:prstDash val="solid"/>
                    </a:lnR>
                    <a:lnT w="7200">
                      <a:solidFill>
                        <a:srgbClr val="000000"/>
                      </a:solidFill>
                      <a:prstDash val="solid"/>
                    </a:lnT>
                    <a:lnB w="7200">
                      <a:solidFill>
                        <a:srgbClr val="000000"/>
                      </a:solidFill>
                      <a:prstDash val="solid"/>
                    </a:lnB>
                    <a:noFill/>
                  </a:tcPr>
                </a:tc>
                <a:tc>
                  <a:txBody>
                    <a:bodyPr lIns="36000" tIns="36000" rIns="36000" bIns="36000" anchor="t">
                      <a:noAutofit/>
                    </a:bodyPr>
                    <a:p>
                      <a:pPr>
                        <a:lnSpc>
                          <a:spcPct val="100000"/>
                        </a:lnSpc>
                        <a:spcBef>
                          <a:spcPts val="675"/>
                        </a:spcBef>
                        <a:spcAft>
                          <a:spcPts val="561"/>
                        </a:spcAft>
                      </a:pPr>
                      <a:r>
                        <a:rPr lang="en-US" sz="1200" b="0" u="none" strike="noStrike">
                          <a:solidFill>
                            <a:srgbClr val="000000"/>
                          </a:solidFill>
                          <a:effectLst/>
                          <a:uFillTx/>
                          <a:latin typeface="Times New Roman"/>
                        </a:rPr>
                        <a:t>90.5%</a:t>
                      </a:r>
                      <a:endParaRPr lang="en-US" sz="1200" b="0" u="none" strike="noStrike">
                        <a:solidFill>
                          <a:srgbClr val="000000"/>
                        </a:solidFill>
                        <a:effectLst/>
                        <a:uFillTx/>
                        <a:latin typeface="Arial"/>
                      </a:endParaRPr>
                    </a:p>
                  </a:txBody>
                  <a:tcPr anchor="t" marL="36000" marR="36000" marT="36000" marB="36000">
                    <a:lnL w="7200">
                      <a:solidFill>
                        <a:srgbClr val="000000"/>
                      </a:solidFill>
                      <a:prstDash val="solid"/>
                    </a:lnL>
                    <a:lnR w="7200">
                      <a:solidFill>
                        <a:srgbClr val="000000"/>
                      </a:solidFill>
                      <a:prstDash val="solid"/>
                    </a:lnR>
                    <a:lnT w="7200">
                      <a:solidFill>
                        <a:srgbClr val="000000"/>
                      </a:solidFill>
                      <a:prstDash val="solid"/>
                    </a:lnT>
                    <a:lnB w="7200">
                      <a:solidFill>
                        <a:srgbClr val="000000"/>
                      </a:solidFill>
                      <a:prstDash val="solid"/>
                    </a:lnB>
                    <a:noFill/>
                  </a:tcPr>
                </a:tc>
              </a:tr>
              <a:tr h="360000">
                <a:tc>
                  <a:txBody>
                    <a:bodyPr lIns="36000" tIns="36000" rIns="36000" bIns="36000" anchor="t">
                      <a:noAutofit/>
                    </a:bodyPr>
                    <a:p>
                      <a:pPr>
                        <a:lnSpc>
                          <a:spcPct val="100000"/>
                        </a:lnSpc>
                        <a:spcBef>
                          <a:spcPts val="675"/>
                        </a:spcBef>
                        <a:spcAft>
                          <a:spcPts val="561"/>
                        </a:spcAft>
                      </a:pPr>
                      <a:r>
                        <a:rPr lang="en-US" sz="1200" b="0" u="none" strike="noStrike">
                          <a:solidFill>
                            <a:srgbClr val="000000"/>
                          </a:solidFill>
                          <a:effectLst/>
                          <a:uFillTx/>
                          <a:latin typeface="Times New Roman"/>
                        </a:rPr>
                        <a:t>Corrections handled correctly</a:t>
                      </a:r>
                      <a:endParaRPr lang="en-US" sz="1200" b="0" u="none" strike="noStrike">
                        <a:solidFill>
                          <a:srgbClr val="000000"/>
                        </a:solidFill>
                        <a:effectLst/>
                        <a:uFillTx/>
                        <a:latin typeface="Arial"/>
                      </a:endParaRPr>
                    </a:p>
                  </a:txBody>
                  <a:tcPr anchor="t" marL="36000" marR="36000" marT="36000" marB="36000">
                    <a:lnL w="7200">
                      <a:solidFill>
                        <a:srgbClr val="000000"/>
                      </a:solidFill>
                      <a:prstDash val="solid"/>
                    </a:lnL>
                    <a:lnR w="7200">
                      <a:solidFill>
                        <a:srgbClr val="000000"/>
                      </a:solidFill>
                      <a:prstDash val="solid"/>
                    </a:lnR>
                    <a:lnT w="7200">
                      <a:solidFill>
                        <a:srgbClr val="000000"/>
                      </a:solidFill>
                      <a:prstDash val="solid"/>
                    </a:lnT>
                    <a:lnB w="7200">
                      <a:solidFill>
                        <a:srgbClr val="000000"/>
                      </a:solidFill>
                      <a:prstDash val="solid"/>
                    </a:lnB>
                    <a:noFill/>
                  </a:tcPr>
                </a:tc>
                <a:tc>
                  <a:txBody>
                    <a:bodyPr lIns="36000" tIns="36000" rIns="36000" bIns="36000" anchor="t">
                      <a:noAutofit/>
                    </a:bodyPr>
                    <a:p>
                      <a:pPr>
                        <a:lnSpc>
                          <a:spcPct val="100000"/>
                        </a:lnSpc>
                        <a:spcBef>
                          <a:spcPts val="675"/>
                        </a:spcBef>
                        <a:spcAft>
                          <a:spcPts val="561"/>
                        </a:spcAft>
                      </a:pPr>
                      <a:r>
                        <a:rPr lang="en-US" sz="1200" b="0" u="none" strike="noStrike">
                          <a:solidFill>
                            <a:srgbClr val="000000"/>
                          </a:solidFill>
                          <a:effectLst/>
                          <a:uFillTx/>
                          <a:latin typeface="Times New Roman"/>
                        </a:rPr>
                        <a:t>8/8</a:t>
                      </a:r>
                      <a:endParaRPr lang="en-US" sz="1200" b="0" u="none" strike="noStrike">
                        <a:solidFill>
                          <a:srgbClr val="000000"/>
                        </a:solidFill>
                        <a:effectLst/>
                        <a:uFillTx/>
                        <a:latin typeface="Arial"/>
                      </a:endParaRPr>
                    </a:p>
                  </a:txBody>
                  <a:tcPr anchor="t" marL="36000" marR="36000" marT="36000" marB="36000">
                    <a:lnL w="7200">
                      <a:solidFill>
                        <a:srgbClr val="000000"/>
                      </a:solidFill>
                      <a:prstDash val="solid"/>
                    </a:lnL>
                    <a:lnR w="7200">
                      <a:solidFill>
                        <a:srgbClr val="000000"/>
                      </a:solidFill>
                      <a:prstDash val="solid"/>
                    </a:lnR>
                    <a:lnT w="7200">
                      <a:solidFill>
                        <a:srgbClr val="000000"/>
                      </a:solidFill>
                      <a:prstDash val="solid"/>
                    </a:lnT>
                    <a:lnB w="7200">
                      <a:solidFill>
                        <a:srgbClr val="000000"/>
                      </a:solidFill>
                      <a:prstDash val="solid"/>
                    </a:lnB>
                    <a:noFill/>
                  </a:tcPr>
                </a:tc>
                <a:tc>
                  <a:txBody>
                    <a:bodyPr lIns="36000" tIns="36000" rIns="36000" bIns="36000" anchor="t">
                      <a:noAutofit/>
                    </a:bodyPr>
                    <a:p>
                      <a:pPr>
                        <a:lnSpc>
                          <a:spcPct val="100000"/>
                        </a:lnSpc>
                        <a:spcBef>
                          <a:spcPts val="675"/>
                        </a:spcBef>
                        <a:spcAft>
                          <a:spcPts val="561"/>
                        </a:spcAft>
                      </a:pPr>
                      <a:r>
                        <a:rPr lang="en-US" sz="1200" b="0" u="none" strike="noStrike">
                          <a:solidFill>
                            <a:srgbClr val="000000"/>
                          </a:solidFill>
                          <a:effectLst/>
                          <a:uFillTx/>
                          <a:latin typeface="Times New Roman"/>
                        </a:rPr>
                        <a:t>8/8</a:t>
                      </a:r>
                      <a:endParaRPr lang="en-US" sz="1200" b="0" u="none" strike="noStrike">
                        <a:solidFill>
                          <a:srgbClr val="000000"/>
                        </a:solidFill>
                        <a:effectLst/>
                        <a:uFillTx/>
                        <a:latin typeface="Arial"/>
                      </a:endParaRPr>
                    </a:p>
                  </a:txBody>
                  <a:tcPr anchor="t" marL="36000" marR="36000" marT="36000" marB="36000">
                    <a:lnL w="7200">
                      <a:solidFill>
                        <a:srgbClr val="000000"/>
                      </a:solidFill>
                      <a:prstDash val="solid"/>
                    </a:lnL>
                    <a:lnR w="7200">
                      <a:solidFill>
                        <a:srgbClr val="000000"/>
                      </a:solidFill>
                      <a:prstDash val="solid"/>
                    </a:lnR>
                    <a:lnT w="7200">
                      <a:solidFill>
                        <a:srgbClr val="000000"/>
                      </a:solidFill>
                      <a:prstDash val="solid"/>
                    </a:lnT>
                    <a:lnB w="7200">
                      <a:solidFill>
                        <a:srgbClr val="000000"/>
                      </a:solidFill>
                      <a:prstDash val="solid"/>
                    </a:lnB>
                    <a:noFill/>
                  </a:tcPr>
                </a:tc>
              </a:tr>
              <a:tr h="360720">
                <a:tc>
                  <a:txBody>
                    <a:bodyPr lIns="36000" tIns="36000" rIns="36000" bIns="36000" anchor="t">
                      <a:noAutofit/>
                    </a:bodyPr>
                    <a:p>
                      <a:pPr>
                        <a:lnSpc>
                          <a:spcPct val="100000"/>
                        </a:lnSpc>
                        <a:spcBef>
                          <a:spcPts val="675"/>
                        </a:spcBef>
                        <a:spcAft>
                          <a:spcPts val="561"/>
                        </a:spcAft>
                      </a:pPr>
                      <a:r>
                        <a:rPr lang="en-US" sz="1200" b="0" u="none" strike="noStrike">
                          <a:solidFill>
                            <a:srgbClr val="000000"/>
                          </a:solidFill>
                          <a:effectLst/>
                          <a:uFillTx/>
                          <a:latin typeface="Times New Roman"/>
                        </a:rPr>
                        <a:t>Outputs passing format checks</a:t>
                      </a:r>
                      <a:endParaRPr lang="en-US" sz="1200" b="0" u="none" strike="noStrike">
                        <a:solidFill>
                          <a:srgbClr val="000000"/>
                        </a:solidFill>
                        <a:effectLst/>
                        <a:uFillTx/>
                        <a:latin typeface="Arial"/>
                      </a:endParaRPr>
                    </a:p>
                  </a:txBody>
                  <a:tcPr anchor="t" marL="36000" marR="36000" marT="36000" marB="36000">
                    <a:lnL w="7200">
                      <a:solidFill>
                        <a:srgbClr val="000000"/>
                      </a:solidFill>
                      <a:prstDash val="solid"/>
                    </a:lnL>
                    <a:lnR w="7200">
                      <a:solidFill>
                        <a:srgbClr val="000000"/>
                      </a:solidFill>
                      <a:prstDash val="solid"/>
                    </a:lnR>
                    <a:lnT w="7200">
                      <a:solidFill>
                        <a:srgbClr val="000000"/>
                      </a:solidFill>
                      <a:prstDash val="solid"/>
                    </a:lnT>
                    <a:lnB w="7200">
                      <a:solidFill>
                        <a:srgbClr val="000000"/>
                      </a:solidFill>
                      <a:prstDash val="solid"/>
                    </a:lnB>
                    <a:noFill/>
                  </a:tcPr>
                </a:tc>
                <a:tc>
                  <a:txBody>
                    <a:bodyPr lIns="36000" tIns="36000" rIns="36000" bIns="36000" anchor="t">
                      <a:noAutofit/>
                    </a:bodyPr>
                    <a:p>
                      <a:pPr>
                        <a:lnSpc>
                          <a:spcPct val="100000"/>
                        </a:lnSpc>
                        <a:spcBef>
                          <a:spcPts val="675"/>
                        </a:spcBef>
                        <a:spcAft>
                          <a:spcPts val="561"/>
                        </a:spcAft>
                      </a:pPr>
                      <a:r>
                        <a:rPr lang="en-US" sz="1200" b="0" u="none" strike="noStrike">
                          <a:solidFill>
                            <a:srgbClr val="000000"/>
                          </a:solidFill>
                          <a:effectLst/>
                          <a:uFillTx/>
                          <a:latin typeface="Times New Roman"/>
                        </a:rPr>
                        <a:t>64/64</a:t>
                      </a:r>
                      <a:endParaRPr lang="en-US" sz="1200" b="0" u="none" strike="noStrike">
                        <a:solidFill>
                          <a:srgbClr val="000000"/>
                        </a:solidFill>
                        <a:effectLst/>
                        <a:uFillTx/>
                        <a:latin typeface="Arial"/>
                      </a:endParaRPr>
                    </a:p>
                  </a:txBody>
                  <a:tcPr anchor="t" marL="36000" marR="36000" marT="36000" marB="36000">
                    <a:lnL w="7200">
                      <a:solidFill>
                        <a:srgbClr val="000000"/>
                      </a:solidFill>
                      <a:prstDash val="solid"/>
                    </a:lnL>
                    <a:lnR w="7200">
                      <a:solidFill>
                        <a:srgbClr val="000000"/>
                      </a:solidFill>
                      <a:prstDash val="solid"/>
                    </a:lnR>
                    <a:lnT w="7200">
                      <a:solidFill>
                        <a:srgbClr val="000000"/>
                      </a:solidFill>
                      <a:prstDash val="solid"/>
                    </a:lnT>
                    <a:lnB w="7200">
                      <a:solidFill>
                        <a:srgbClr val="000000"/>
                      </a:solidFill>
                      <a:prstDash val="solid"/>
                    </a:lnB>
                    <a:noFill/>
                  </a:tcPr>
                </a:tc>
                <a:tc>
                  <a:txBody>
                    <a:bodyPr lIns="36000" tIns="36000" rIns="36000" bIns="36000" anchor="t">
                      <a:noAutofit/>
                    </a:bodyPr>
                    <a:p>
                      <a:pPr>
                        <a:lnSpc>
                          <a:spcPct val="100000"/>
                        </a:lnSpc>
                        <a:spcBef>
                          <a:spcPts val="675"/>
                        </a:spcBef>
                        <a:spcAft>
                          <a:spcPts val="561"/>
                        </a:spcAft>
                      </a:pPr>
                      <a:r>
                        <a:rPr lang="en-US" sz="1200" b="0" u="none" strike="noStrike">
                          <a:solidFill>
                            <a:srgbClr val="000000"/>
                          </a:solidFill>
                          <a:effectLst/>
                          <a:uFillTx/>
                          <a:latin typeface="Times New Roman"/>
                        </a:rPr>
                        <a:t>63/64</a:t>
                      </a:r>
                      <a:endParaRPr lang="en-US" sz="1200" b="0" u="none" strike="noStrike">
                        <a:solidFill>
                          <a:srgbClr val="000000"/>
                        </a:solidFill>
                        <a:effectLst/>
                        <a:uFillTx/>
                        <a:latin typeface="Arial"/>
                      </a:endParaRPr>
                    </a:p>
                  </a:txBody>
                  <a:tcPr anchor="t" marL="36000" marR="36000" marT="36000" marB="36000">
                    <a:lnL w="7200">
                      <a:solidFill>
                        <a:srgbClr val="000000"/>
                      </a:solidFill>
                      <a:prstDash val="solid"/>
                    </a:lnL>
                    <a:lnR w="7200">
                      <a:solidFill>
                        <a:srgbClr val="000000"/>
                      </a:solidFill>
                      <a:prstDash val="solid"/>
                    </a:lnR>
                    <a:lnT w="7200">
                      <a:solidFill>
                        <a:srgbClr val="000000"/>
                      </a:solidFill>
                      <a:prstDash val="solid"/>
                    </a:lnT>
                    <a:lnB w="7200">
                      <a:solidFill>
                        <a:srgbClr val="000000"/>
                      </a:solidFill>
                      <a:prstDash val="solid"/>
                    </a:lnB>
                    <a:noFill/>
                  </a:tcPr>
                </a:tc>
              </a:tr>
            </a:tbl>
          </a:graphicData>
        </a:graphic>
      </p:graphicFrame>
      <p:sp>
        <p:nvSpPr>
          <p:cNvPr id="87" name=""/>
          <p:cNvSpPr/>
          <p:nvPr/>
        </p:nvSpPr>
        <p:spPr>
          <a:xfrm>
            <a:off x="503280" y="1143000"/>
            <a:ext cx="6582600" cy="258840"/>
          </a:xfrm>
          <a:prstGeom prst="rect">
            <a:avLst/>
          </a:prstGeom>
          <a:noFill/>
          <a:ln w="38160">
            <a:noFill/>
          </a:ln>
        </p:spPr>
        <p:style>
          <a:lnRef idx="0"/>
          <a:fillRef idx="0"/>
          <a:effectRef idx="0"/>
          <a:fontRef idx="minor"/>
        </p:style>
        <p:txBody>
          <a:bodyPr lIns="90000" tIns="45000" rIns="90000" bIns="45000" anchor="t">
            <a:spAutoFit/>
          </a:bodyPr>
          <a:p>
            <a:pPr marL="216000" indent="-216000">
              <a:lnSpc>
                <a:spcPct val="100000"/>
              </a:lnSpc>
              <a:spcBef>
                <a:spcPts val="1191"/>
              </a:spcBef>
              <a:spcAft>
                <a:spcPts val="992"/>
              </a:spcAft>
              <a:buClr>
                <a:srgbClr val="000000"/>
              </a:buClr>
              <a:buSzPct val="45000"/>
              <a:buFont typeface="Wingdings" charset="2"/>
              <a:buChar char=""/>
            </a:pPr>
            <a:r>
              <a:rPr lang="en-US" sz="1200" b="1" u="none" strike="noStrike">
                <a:solidFill>
                  <a:srgbClr val="000000"/>
                </a:solidFill>
                <a:effectLst/>
                <a:uFillTx/>
                <a:latin typeface="Times New Roman"/>
              </a:rPr>
              <a:t>Qwen3-4B was evaluated before and after fine-tuning on 64 unseen tasks across 16 domains.</a:t>
            </a:r>
            <a:endParaRPr lang="en-US" sz="1200" b="0" u="none" strike="noStrike">
              <a:solidFill>
                <a:srgbClr val="000000"/>
              </a:solidFill>
              <a:effectLst/>
              <a:uFillTx/>
              <a:latin typeface="Arial"/>
            </a:endParaRPr>
          </a:p>
        </p:txBody>
      </p:sp>
      <p:sp>
        <p:nvSpPr>
          <p:cNvPr id="88" name=""/>
          <p:cNvSpPr/>
          <p:nvPr/>
        </p:nvSpPr>
        <p:spPr>
          <a:xfrm>
            <a:off x="7315200" y="3059280"/>
            <a:ext cx="4343040" cy="1924200"/>
          </a:xfrm>
          <a:prstGeom prst="rect">
            <a:avLst/>
          </a:prstGeom>
          <a:noFill/>
          <a:ln w="38160">
            <a:noFill/>
          </a:ln>
        </p:spPr>
        <p:style>
          <a:lnRef idx="0"/>
          <a:fillRef idx="0"/>
          <a:effectRef idx="0"/>
          <a:fontRef idx="minor"/>
        </p:style>
        <p:txBody>
          <a:bodyPr lIns="90000" tIns="45000" rIns="90000" bIns="45000" anchor="t">
            <a:spAutoFit/>
          </a:bodyPr>
          <a:p>
            <a:pPr marL="216000" indent="-216000">
              <a:lnSpc>
                <a:spcPct val="100000"/>
              </a:lnSpc>
              <a:spcBef>
                <a:spcPts val="1191"/>
              </a:spcBef>
              <a:spcAft>
                <a:spcPts val="992"/>
              </a:spcAft>
              <a:buClr>
                <a:srgbClr val="000000"/>
              </a:buClr>
              <a:buSzPct val="45000"/>
              <a:buFont typeface="Wingdings" charset="2"/>
              <a:buChar char=""/>
            </a:pPr>
            <a:r>
              <a:rPr lang="en-US" sz="1200" b="0" u="none" strike="noStrike">
                <a:solidFill>
                  <a:srgbClr val="000000"/>
                </a:solidFill>
                <a:effectLst/>
                <a:uFillTx/>
                <a:latin typeface="Times New Roman"/>
              </a:rPr>
              <a:t>Qwen3-1.7B performed well on synthetic examples but struggled with natural conversations.</a:t>
            </a:r>
            <a:endParaRPr lang="en-US" sz="1200" b="0" u="none" strike="noStrike">
              <a:solidFill>
                <a:srgbClr val="000000"/>
              </a:solidFill>
              <a:effectLst/>
              <a:uFillTx/>
              <a:latin typeface="Arial"/>
            </a:endParaRPr>
          </a:p>
          <a:p>
            <a:pPr marL="216000" indent="-216000">
              <a:lnSpc>
                <a:spcPct val="100000"/>
              </a:lnSpc>
              <a:spcBef>
                <a:spcPts val="1191"/>
              </a:spcBef>
              <a:spcAft>
                <a:spcPts val="992"/>
              </a:spcAft>
              <a:buClr>
                <a:srgbClr val="000000"/>
              </a:buClr>
              <a:buSzPct val="45000"/>
              <a:buFont typeface="Wingdings" charset="2"/>
              <a:buChar char=""/>
            </a:pPr>
            <a:r>
              <a:rPr lang="en-US" sz="1200" b="0" u="none" strike="noStrike">
                <a:solidFill>
                  <a:srgbClr val="000000"/>
                </a:solidFill>
                <a:effectLst/>
                <a:uFillTx/>
                <a:latin typeface="Times New Roman"/>
              </a:rPr>
              <a:t>Only 18/33 extraction windows passed validation after refinement.</a:t>
            </a:r>
            <a:endParaRPr lang="en-US" sz="1200" b="0" u="none" strike="noStrike">
              <a:solidFill>
                <a:srgbClr val="000000"/>
              </a:solidFill>
              <a:effectLst/>
              <a:uFillTx/>
              <a:latin typeface="Arial"/>
            </a:endParaRPr>
          </a:p>
          <a:p>
            <a:pPr marL="216000" indent="-216000">
              <a:lnSpc>
                <a:spcPct val="100000"/>
              </a:lnSpc>
              <a:spcBef>
                <a:spcPts val="1191"/>
              </a:spcBef>
              <a:spcAft>
                <a:spcPts val="992"/>
              </a:spcAft>
              <a:buClr>
                <a:srgbClr val="000000"/>
              </a:buClr>
              <a:buSzPct val="45000"/>
              <a:buFont typeface="Wingdings" charset="2"/>
              <a:buChar char=""/>
            </a:pPr>
            <a:r>
              <a:rPr lang="en-US" sz="1200" b="0" u="none" strike="noStrike">
                <a:solidFill>
                  <a:srgbClr val="000000"/>
                </a:solidFill>
                <a:effectLst/>
                <a:uFillTx/>
                <a:latin typeface="Times New Roman"/>
              </a:rPr>
              <a:t>Main issues: incorrect source attribution, mismatched quotes and invalid IDs. These findings motivated broader training data, stricter output constraints and Qwen3-4B.</a:t>
            </a:r>
            <a:endParaRPr lang="en-US" sz="1200" b="0" u="none" strike="noStrik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22.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89" name="PlaceHolder 1"/>
          <p:cNvSpPr>
            <a:spLocks noGrp="1"/>
          </p:cNvSpPr>
          <p:nvPr>
            <p:ph type="title" hasCustomPrompt="1"/>
          </p:nvPr>
        </p:nvSpPr>
        <p:spPr>
          <a:xfrm>
            <a:off x="594360" y="384120"/>
            <a:ext cx="9813240" cy="776160"/>
          </a:xfrm>
          <a:prstGeom prst="rect">
            <a:avLst/>
          </a:prstGeom>
          <a:noFill/>
          <a:ln w="0">
            <a:noFill/>
          </a:ln>
        </p:spPr>
        <p:txBody>
          <a:bodyPr lIns="0" tIns="0" rIns="0" bIns="0" anchor="ctr">
            <a:noAutofit/>
          </a:bodyPr>
          <a:p>
            <a:pPr indent="0" algn="l" defTabSz="914400">
              <a:lnSpc>
                <a:spcPct val="100000"/>
              </a:lnSpc>
              <a:buNone/>
              <a:tabLst>
                <a:tab pos="0" algn="l"/>
              </a:tabLst>
            </a:pPr>
            <a:r>
              <a:rPr lang="en-US" sz="3000" b="0" u="none" strike="noStrike">
                <a:solidFill>
                  <a:srgbClr val="000000"/>
                </a:solidFill>
                <a:effectLst/>
                <a:uFillTx/>
                <a:latin typeface="Times New Roman"/>
                <a:ea typeface="Times New Roman"/>
              </a:rPr>
              <a:t>STATUS AND PENDING WORK</a:t>
            </a:r>
            <a:endParaRPr lang="en-US" sz="3000" b="0" u="none" strike="noStrike">
              <a:solidFill>
                <a:schemeClr val="dk1"/>
              </a:solidFill>
              <a:effectLst/>
              <a:uFillTx/>
              <a:latin typeface="Times New Roman"/>
            </a:endParaRPr>
          </a:p>
        </p:txBody>
      </p:sp>
      <p:sp>
        <p:nvSpPr>
          <p:cNvPr id="90" name="PlaceHolder 2"/>
          <p:cNvSpPr>
            <a:spLocks noGrp="1"/>
          </p:cNvSpPr>
          <p:nvPr>
            <p:ph type="sldNum" idx="13"/>
          </p:nvPr>
        </p:nvSpPr>
        <p:spPr>
          <a:xfrm>
            <a:off x="10865880" y="384120"/>
            <a:ext cx="730440" cy="456120"/>
          </a:xfrm>
          <a:prstGeom prst="rect">
            <a:avLst/>
          </a:prstGeom>
          <a:noFill/>
          <a:ln w="0">
            <a:noFill/>
          </a:ln>
        </p:spPr>
        <p:txBody>
          <a:bodyPr lIns="90000" tIns="45000" rIns="90000" bIns="45000" anchor="t">
            <a:noAutofit/>
          </a:bodyPr>
          <a:lstStyle>
            <a:lvl1pPr indent="0" algn="r" defTabSz="914400">
              <a:lnSpc>
                <a:spcPct val="100000"/>
              </a:lnSpc>
              <a:buNone/>
              <a:tabLst>
                <a:tab pos="0" algn="l"/>
              </a:tabLst>
              <a:defRPr lang="en-US" sz="1600" b="0" u="none" strike="noStrike">
                <a:solidFill>
                  <a:srgbClr val="000000"/>
                </a:solidFill>
                <a:effectLst/>
                <a:uFillTx/>
                <a:latin typeface="Times New Roman"/>
                <a:ea typeface="Times New Roman"/>
              </a:defRPr>
            </a:lvl1pPr>
          </a:lstStyle>
          <a:p>
            <a:pPr indent="0" algn="r" defTabSz="914400">
              <a:lnSpc>
                <a:spcPct val="100000"/>
              </a:lnSpc>
              <a:buNone/>
              <a:tabLst>
                <a:tab pos="0" algn="l"/>
              </a:tabLst>
            </a:pPr>
            <a:fld id="{FB0C21AF-CB7E-4737-9E80-E9097AE58226}" type="slidenum">
              <a:rPr lang="en-US" sz="1600" b="0" u="none" strike="noStrike">
                <a:solidFill>
                  <a:srgbClr val="000000"/>
                </a:solidFill>
                <a:effectLst/>
                <a:uFillTx/>
                <a:latin typeface="Times New Roman"/>
                <a:ea typeface="Times New Roman"/>
              </a:rPr>
              <a:t>&lt;number&gt;</a:t>
            </a:fld>
            <a:endParaRPr lang="en-US" sz="1600" b="0" u="none" strike="noStrike">
              <a:solidFill>
                <a:srgbClr val="000000"/>
              </a:solidFill>
              <a:effectLst/>
              <a:uFillTx/>
              <a:latin typeface="Times New Roman"/>
            </a:endParaRPr>
          </a:p>
        </p:txBody>
      </p:sp>
      <p:graphicFrame>
        <p:nvGraphicFramePr>
          <p:cNvPr id="91" name=""/>
          <p:cNvGraphicFramePr/>
          <p:nvPr/>
        </p:nvGraphicFramePr>
        <p:xfrm>
          <a:off x="528120" y="1193400"/>
          <a:ext cx="9986400" cy="5439240"/>
        </p:xfrm>
        <a:graphic>
          <a:graphicData uri="http://schemas.openxmlformats.org/drawingml/2006/table">
            <a:tbl>
              <a:tblPr/>
              <a:tblGrid>
                <a:gridCol w="633600"/>
                <a:gridCol w="4006800"/>
                <a:gridCol w="1816920"/>
                <a:gridCol w="1648800"/>
                <a:gridCol w="1880640"/>
              </a:tblGrid>
              <a:tr h="153000">
                <a:tc>
                  <a:txBody>
                    <a:bodyPr lIns="36000" tIns="36000" rIns="36000" bIns="36000" anchor="t">
                      <a:noAutofit/>
                    </a:bodyPr>
                    <a:p>
                      <a:pPr>
                        <a:lnSpc>
                          <a:spcPct val="100000"/>
                        </a:lnSpc>
                      </a:pPr>
                      <a:r>
                        <a:rPr lang="en-US" sz="900" b="0" u="none" strike="noStrike">
                          <a:solidFill>
                            <a:srgbClr val="000000"/>
                          </a:solidFill>
                          <a:effectLst/>
                          <a:uFillTx/>
                          <a:latin typeface="Times New Roman"/>
                        </a:rPr>
                        <a:t>Module</a:t>
                      </a:r>
                      <a:endParaRPr lang="en-US" sz="900" b="0" u="none" strike="noStrike">
                        <a:solidFill>
                          <a:srgbClr val="000000"/>
                        </a:solidFill>
                        <a:effectLst/>
                        <a:uFillTx/>
                        <a:latin typeface="Arial"/>
                      </a:endParaRPr>
                    </a:p>
                  </a:txBody>
                  <a:tcPr anchor="t" marL="36000" marR="36000" marT="36000" marB="36000">
                    <a:lnL w="7200">
                      <a:solidFill>
                        <a:srgbClr val="000000"/>
                      </a:solidFill>
                      <a:prstDash val="solid"/>
                    </a:lnL>
                    <a:lnR w="7200">
                      <a:solidFill>
                        <a:srgbClr val="000000"/>
                      </a:solidFill>
                      <a:prstDash val="solid"/>
                    </a:lnR>
                    <a:lnT w="7200">
                      <a:solidFill>
                        <a:srgbClr val="000000"/>
                      </a:solidFill>
                      <a:prstDash val="solid"/>
                    </a:lnT>
                    <a:lnB w="7200">
                      <a:solidFill>
                        <a:srgbClr val="000000"/>
                      </a:solidFill>
                      <a:prstDash val="solid"/>
                    </a:lnB>
                    <a:noFill/>
                  </a:tcPr>
                </a:tc>
                <a:tc>
                  <a:txBody>
                    <a:bodyPr lIns="36000" tIns="36000" rIns="36000" bIns="36000" anchor="t">
                      <a:noAutofit/>
                    </a:bodyPr>
                    <a:p>
                      <a:pPr>
                        <a:lnSpc>
                          <a:spcPct val="100000"/>
                        </a:lnSpc>
                      </a:pPr>
                      <a:r>
                        <a:rPr lang="en-US" sz="900" b="0" u="none" strike="noStrike">
                          <a:solidFill>
                            <a:srgbClr val="000000"/>
                          </a:solidFill>
                          <a:effectLst/>
                          <a:uFillTx/>
                          <a:latin typeface="Times New Roman"/>
                        </a:rPr>
                        <a:t>Implemented functionality</a:t>
                      </a:r>
                      <a:endParaRPr lang="en-US" sz="900" b="0" u="none" strike="noStrike">
                        <a:solidFill>
                          <a:srgbClr val="000000"/>
                        </a:solidFill>
                        <a:effectLst/>
                        <a:uFillTx/>
                        <a:latin typeface="Arial"/>
                      </a:endParaRPr>
                    </a:p>
                  </a:txBody>
                  <a:tcPr anchor="t" marL="36000" marR="36000" marT="36000" marB="36000">
                    <a:lnL w="7200">
                      <a:solidFill>
                        <a:srgbClr val="000000"/>
                      </a:solidFill>
                      <a:prstDash val="solid"/>
                    </a:lnL>
                    <a:lnR w="7200">
                      <a:solidFill>
                        <a:srgbClr val="000000"/>
                      </a:solidFill>
                      <a:prstDash val="solid"/>
                    </a:lnR>
                    <a:lnT w="7200">
                      <a:solidFill>
                        <a:srgbClr val="000000"/>
                      </a:solidFill>
                      <a:prstDash val="solid"/>
                    </a:lnT>
                    <a:lnB w="7200">
                      <a:solidFill>
                        <a:srgbClr val="000000"/>
                      </a:solidFill>
                      <a:prstDash val="solid"/>
                    </a:lnB>
                    <a:noFill/>
                  </a:tcPr>
                </a:tc>
                <a:tc>
                  <a:txBody>
                    <a:bodyPr lIns="36000" tIns="36000" rIns="36000" bIns="36000" anchor="t">
                      <a:noAutofit/>
                    </a:bodyPr>
                    <a:p>
                      <a:pPr>
                        <a:lnSpc>
                          <a:spcPct val="100000"/>
                        </a:lnSpc>
                      </a:pPr>
                      <a:r>
                        <a:rPr lang="en-US" sz="900" b="0" u="none" strike="noStrike">
                          <a:solidFill>
                            <a:srgbClr val="000000"/>
                          </a:solidFill>
                          <a:effectLst/>
                          <a:uFillTx/>
                          <a:latin typeface="Times New Roman"/>
                        </a:rPr>
                        <a:t>Available evidence</a:t>
                      </a:r>
                      <a:endParaRPr lang="en-US" sz="900" b="0" u="none" strike="noStrike">
                        <a:solidFill>
                          <a:srgbClr val="000000"/>
                        </a:solidFill>
                        <a:effectLst/>
                        <a:uFillTx/>
                        <a:latin typeface="Arial"/>
                      </a:endParaRPr>
                    </a:p>
                  </a:txBody>
                  <a:tcPr anchor="t" marL="36000" marR="36000" marT="36000" marB="36000">
                    <a:lnL w="7200">
                      <a:solidFill>
                        <a:srgbClr val="000000"/>
                      </a:solidFill>
                      <a:prstDash val="solid"/>
                    </a:lnL>
                    <a:lnR w="7200">
                      <a:solidFill>
                        <a:srgbClr val="000000"/>
                      </a:solidFill>
                      <a:prstDash val="solid"/>
                    </a:lnR>
                    <a:lnT w="7200">
                      <a:solidFill>
                        <a:srgbClr val="000000"/>
                      </a:solidFill>
                      <a:prstDash val="solid"/>
                    </a:lnT>
                    <a:lnB w="7200">
                      <a:solidFill>
                        <a:srgbClr val="000000"/>
                      </a:solidFill>
                      <a:prstDash val="solid"/>
                    </a:lnB>
                    <a:noFill/>
                  </a:tcPr>
                </a:tc>
                <a:tc>
                  <a:txBody>
                    <a:bodyPr lIns="36000" tIns="36000" rIns="36000" bIns="36000" anchor="t">
                      <a:noAutofit/>
                    </a:bodyPr>
                    <a:p>
                      <a:pPr>
                        <a:lnSpc>
                          <a:spcPct val="100000"/>
                        </a:lnSpc>
                      </a:pPr>
                      <a:r>
                        <a:rPr lang="en-US" sz="900" b="0" u="none" strike="noStrike">
                          <a:solidFill>
                            <a:srgbClr val="000000"/>
                          </a:solidFill>
                          <a:effectLst/>
                          <a:uFillTx/>
                          <a:latin typeface="Times New Roman"/>
                        </a:rPr>
                        <a:t>Pending work</a:t>
                      </a:r>
                      <a:endParaRPr lang="en-US" sz="900" b="0" u="none" strike="noStrike">
                        <a:solidFill>
                          <a:srgbClr val="000000"/>
                        </a:solidFill>
                        <a:effectLst/>
                        <a:uFillTx/>
                        <a:latin typeface="Arial"/>
                      </a:endParaRPr>
                    </a:p>
                  </a:txBody>
                  <a:tcPr anchor="t" marL="36000" marR="36000" marT="36000" marB="36000">
                    <a:lnL w="7200">
                      <a:solidFill>
                        <a:srgbClr val="000000"/>
                      </a:solidFill>
                      <a:prstDash val="solid"/>
                    </a:lnL>
                    <a:lnR w="7200">
                      <a:solidFill>
                        <a:srgbClr val="000000"/>
                      </a:solidFill>
                      <a:prstDash val="solid"/>
                    </a:lnR>
                    <a:lnT w="7200">
                      <a:solidFill>
                        <a:srgbClr val="000000"/>
                      </a:solidFill>
                      <a:prstDash val="solid"/>
                    </a:lnT>
                    <a:lnB w="7200">
                      <a:solidFill>
                        <a:srgbClr val="000000"/>
                      </a:solidFill>
                      <a:prstDash val="solid"/>
                    </a:lnB>
                    <a:noFill/>
                  </a:tcPr>
                </a:tc>
                <a:tc>
                  <a:txBody>
                    <a:bodyPr lIns="36000" tIns="36000" rIns="36000" bIns="36000" anchor="t">
                      <a:noAutofit/>
                    </a:bodyPr>
                    <a:p>
                      <a:pPr>
                        <a:lnSpc>
                          <a:spcPct val="100000"/>
                        </a:lnSpc>
                      </a:pPr>
                      <a:r>
                        <a:rPr lang="en-US" sz="900" b="0" u="none" strike="noStrike">
                          <a:solidFill>
                            <a:srgbClr val="000000"/>
                          </a:solidFill>
                          <a:effectLst/>
                          <a:uFillTx/>
                          <a:latin typeface="Times New Roman"/>
                        </a:rPr>
                        <a:t>Status</a:t>
                      </a:r>
                      <a:endParaRPr lang="en-US" sz="900" b="0" u="none" strike="noStrike">
                        <a:solidFill>
                          <a:srgbClr val="000000"/>
                        </a:solidFill>
                        <a:effectLst/>
                        <a:uFillTx/>
                        <a:latin typeface="Arial"/>
                      </a:endParaRPr>
                    </a:p>
                  </a:txBody>
                  <a:tcPr anchor="t" marL="36000" marR="36000" marT="36000" marB="36000">
                    <a:lnL w="7200">
                      <a:solidFill>
                        <a:srgbClr val="000000"/>
                      </a:solidFill>
                      <a:prstDash val="solid"/>
                    </a:lnL>
                    <a:lnR w="7200">
                      <a:solidFill>
                        <a:srgbClr val="000000"/>
                      </a:solidFill>
                      <a:prstDash val="solid"/>
                    </a:lnR>
                    <a:lnT w="7200">
                      <a:solidFill>
                        <a:srgbClr val="000000"/>
                      </a:solidFill>
                      <a:prstDash val="solid"/>
                    </a:lnT>
                    <a:lnB w="7200">
                      <a:solidFill>
                        <a:srgbClr val="000000"/>
                      </a:solidFill>
                      <a:prstDash val="solid"/>
                    </a:lnB>
                    <a:noFill/>
                  </a:tcPr>
                </a:tc>
              </a:tr>
              <a:tr h="394200">
                <a:tc>
                  <a:txBody>
                    <a:bodyPr lIns="36000" tIns="36000" rIns="36000" bIns="36000" anchor="t">
                      <a:noAutofit/>
                    </a:bodyPr>
                    <a:p>
                      <a:pPr>
                        <a:lnSpc>
                          <a:spcPct val="100000"/>
                        </a:lnSpc>
                      </a:pPr>
                      <a:r>
                        <a:rPr lang="en-US" sz="900" b="0" u="none" strike="noStrike">
                          <a:solidFill>
                            <a:srgbClr val="000000"/>
                          </a:solidFill>
                          <a:effectLst/>
                          <a:uFillTx/>
                          <a:latin typeface="Times New Roman"/>
                        </a:rPr>
                        <a:t>M1 Source Acquisition &amp; Processing</a:t>
                      </a:r>
                      <a:endParaRPr lang="en-US" sz="900" b="0" u="none" strike="noStrike">
                        <a:solidFill>
                          <a:srgbClr val="000000"/>
                        </a:solidFill>
                        <a:effectLst/>
                        <a:uFillTx/>
                        <a:latin typeface="Arial"/>
                      </a:endParaRPr>
                    </a:p>
                  </a:txBody>
                  <a:tcPr anchor="t" marL="36000" marR="36000" marT="36000" marB="36000">
                    <a:lnL w="7200">
                      <a:solidFill>
                        <a:srgbClr val="000000"/>
                      </a:solidFill>
                      <a:prstDash val="solid"/>
                    </a:lnL>
                    <a:lnR w="7200">
                      <a:solidFill>
                        <a:srgbClr val="000000"/>
                      </a:solidFill>
                      <a:prstDash val="solid"/>
                    </a:lnR>
                    <a:lnT w="7200">
                      <a:solidFill>
                        <a:srgbClr val="000000"/>
                      </a:solidFill>
                      <a:prstDash val="solid"/>
                    </a:lnT>
                    <a:lnB w="7200">
                      <a:solidFill>
                        <a:srgbClr val="000000"/>
                      </a:solidFill>
                      <a:prstDash val="solid"/>
                    </a:lnB>
                    <a:noFill/>
                  </a:tcPr>
                </a:tc>
                <a:tc>
                  <a:txBody>
                    <a:bodyPr lIns="36000" tIns="36000" rIns="36000" bIns="36000" anchor="t">
                      <a:noAutofit/>
                    </a:bodyPr>
                    <a:p>
                      <a:pPr>
                        <a:lnSpc>
                          <a:spcPct val="100000"/>
                        </a:lnSpc>
                      </a:pPr>
                      <a:r>
                        <a:rPr lang="en-US" sz="900" b="0" u="none" strike="noStrike">
                          <a:solidFill>
                            <a:srgbClr val="000000"/>
                          </a:solidFill>
                          <a:effectLst/>
                          <a:uFillTx/>
                          <a:latin typeface="Times New Roman"/>
                        </a:rPr>
                        <a:t>Captures Pi messages and tool results; saves source events in PostgreSQL; handles duplicate requests, offline queuing and background jobs.</a:t>
                      </a:r>
                      <a:endParaRPr lang="en-US" sz="900" b="0" u="none" strike="noStrike">
                        <a:solidFill>
                          <a:srgbClr val="000000"/>
                        </a:solidFill>
                        <a:effectLst/>
                        <a:uFillTx/>
                        <a:latin typeface="Arial"/>
                      </a:endParaRPr>
                    </a:p>
                  </a:txBody>
                  <a:tcPr anchor="t" marL="36000" marR="36000" marT="36000" marB="36000">
                    <a:lnL w="7200">
                      <a:solidFill>
                        <a:srgbClr val="000000"/>
                      </a:solidFill>
                      <a:prstDash val="solid"/>
                    </a:lnL>
                    <a:lnR w="7200">
                      <a:solidFill>
                        <a:srgbClr val="000000"/>
                      </a:solidFill>
                      <a:prstDash val="solid"/>
                    </a:lnR>
                    <a:lnT w="7200">
                      <a:solidFill>
                        <a:srgbClr val="000000"/>
                      </a:solidFill>
                      <a:prstDash val="solid"/>
                    </a:lnT>
                    <a:lnB w="7200">
                      <a:solidFill>
                        <a:srgbClr val="000000"/>
                      </a:solidFill>
                      <a:prstDash val="solid"/>
                    </a:lnB>
                    <a:noFill/>
                  </a:tcPr>
                </a:tc>
                <a:tc>
                  <a:txBody>
                    <a:bodyPr lIns="36000" tIns="36000" rIns="36000" bIns="36000" anchor="t">
                      <a:noAutofit/>
                    </a:bodyPr>
                    <a:p>
                      <a:pPr>
                        <a:lnSpc>
                          <a:spcPct val="100000"/>
                        </a:lnSpc>
                      </a:pPr>
                      <a:r>
                        <a:rPr lang="en-US" sz="900" b="0" u="none" strike="noStrike">
                          <a:solidFill>
                            <a:srgbClr val="000000"/>
                          </a:solidFill>
                          <a:effectLst/>
                          <a:uFillTx/>
                          <a:latin typeface="Times New Roman"/>
                        </a:rPr>
                        <a:t>Pi integration tests cover capture, retries and namespace changes. Saved runs confirm source retention.</a:t>
                      </a:r>
                      <a:endParaRPr lang="en-US" sz="900" b="0" u="none" strike="noStrike">
                        <a:solidFill>
                          <a:srgbClr val="000000"/>
                        </a:solidFill>
                        <a:effectLst/>
                        <a:uFillTx/>
                        <a:latin typeface="Arial"/>
                      </a:endParaRPr>
                    </a:p>
                  </a:txBody>
                  <a:tcPr anchor="t" marL="36000" marR="36000" marT="36000" marB="36000">
                    <a:lnL w="7200">
                      <a:solidFill>
                        <a:srgbClr val="000000"/>
                      </a:solidFill>
                      <a:prstDash val="solid"/>
                    </a:lnL>
                    <a:lnR w="7200">
                      <a:solidFill>
                        <a:srgbClr val="000000"/>
                      </a:solidFill>
                      <a:prstDash val="solid"/>
                    </a:lnR>
                    <a:lnT w="7200">
                      <a:solidFill>
                        <a:srgbClr val="000000"/>
                      </a:solidFill>
                      <a:prstDash val="solid"/>
                    </a:lnT>
                    <a:lnB w="7200">
                      <a:solidFill>
                        <a:srgbClr val="000000"/>
                      </a:solidFill>
                      <a:prstDash val="solid"/>
                    </a:lnB>
                    <a:noFill/>
                  </a:tcPr>
                </a:tc>
                <a:tc>
                  <a:txBody>
                    <a:bodyPr lIns="36000" tIns="36000" rIns="36000" bIns="36000" anchor="t">
                      <a:noAutofit/>
                    </a:bodyPr>
                    <a:p>
                      <a:pPr>
                        <a:lnSpc>
                          <a:spcPct val="100000"/>
                        </a:lnSpc>
                      </a:pPr>
                      <a:r>
                        <a:rPr lang="en-US" sz="900" b="0" u="none" strike="noStrike">
                          <a:solidFill>
                            <a:srgbClr val="000000"/>
                          </a:solidFill>
                          <a:effectLst/>
                          <a:uFillTx/>
                          <a:latin typeface="Times New Roman"/>
                        </a:rPr>
                        <a:t>Add API access control and verify backup/restore procedures.</a:t>
                      </a:r>
                      <a:endParaRPr lang="en-US" sz="900" b="0" u="none" strike="noStrike">
                        <a:solidFill>
                          <a:srgbClr val="000000"/>
                        </a:solidFill>
                        <a:effectLst/>
                        <a:uFillTx/>
                        <a:latin typeface="Arial"/>
                      </a:endParaRPr>
                    </a:p>
                  </a:txBody>
                  <a:tcPr anchor="t" marL="36000" marR="36000" marT="36000" marB="36000">
                    <a:lnL w="7200">
                      <a:solidFill>
                        <a:srgbClr val="000000"/>
                      </a:solidFill>
                      <a:prstDash val="solid"/>
                    </a:lnL>
                    <a:lnR w="7200">
                      <a:solidFill>
                        <a:srgbClr val="000000"/>
                      </a:solidFill>
                      <a:prstDash val="solid"/>
                    </a:lnR>
                    <a:lnT w="7200">
                      <a:solidFill>
                        <a:srgbClr val="000000"/>
                      </a:solidFill>
                      <a:prstDash val="solid"/>
                    </a:lnT>
                    <a:lnB w="7200">
                      <a:solidFill>
                        <a:srgbClr val="000000"/>
                      </a:solidFill>
                      <a:prstDash val="solid"/>
                    </a:lnB>
                    <a:noFill/>
                  </a:tcPr>
                </a:tc>
                <a:tc>
                  <a:txBody>
                    <a:bodyPr lIns="36000" tIns="36000" rIns="36000" bIns="36000" anchor="t">
                      <a:noAutofit/>
                    </a:bodyPr>
                    <a:p>
                      <a:pPr>
                        <a:lnSpc>
                          <a:spcPct val="100000"/>
                        </a:lnSpc>
                      </a:pPr>
                      <a:r>
                        <a:rPr lang="en-US" sz="900" b="0" u="none" strike="noStrike">
                          <a:solidFill>
                            <a:srgbClr val="000000"/>
                          </a:solidFill>
                          <a:effectLst/>
                          <a:uFillTx/>
                          <a:latin typeface="Times New Roman"/>
                        </a:rPr>
                        <a:t>Implemented</a:t>
                      </a:r>
                      <a:endParaRPr lang="en-US" sz="900" b="0" u="none" strike="noStrike">
                        <a:solidFill>
                          <a:srgbClr val="000000"/>
                        </a:solidFill>
                        <a:effectLst/>
                        <a:uFillTx/>
                        <a:latin typeface="Arial"/>
                      </a:endParaRPr>
                    </a:p>
                  </a:txBody>
                  <a:tcPr anchor="t" marL="36000" marR="36000" marT="36000" marB="36000">
                    <a:lnL w="7200">
                      <a:solidFill>
                        <a:srgbClr val="000000"/>
                      </a:solidFill>
                      <a:prstDash val="solid"/>
                    </a:lnL>
                    <a:lnR w="7200">
                      <a:solidFill>
                        <a:srgbClr val="000000"/>
                      </a:solidFill>
                      <a:prstDash val="solid"/>
                    </a:lnR>
                    <a:lnT w="7200">
                      <a:solidFill>
                        <a:srgbClr val="000000"/>
                      </a:solidFill>
                      <a:prstDash val="solid"/>
                    </a:lnT>
                    <a:lnB w="7200">
                      <a:solidFill>
                        <a:srgbClr val="000000"/>
                      </a:solidFill>
                      <a:prstDash val="solid"/>
                    </a:lnB>
                    <a:noFill/>
                  </a:tcPr>
                </a:tc>
              </a:tr>
              <a:tr h="384120">
                <a:tc>
                  <a:txBody>
                    <a:bodyPr lIns="36000" tIns="36000" rIns="36000" bIns="36000" anchor="t">
                      <a:noAutofit/>
                    </a:bodyPr>
                    <a:p>
                      <a:pPr>
                        <a:lnSpc>
                          <a:spcPct val="100000"/>
                        </a:lnSpc>
                      </a:pPr>
                      <a:r>
                        <a:rPr lang="en-US" sz="900" b="0" u="none" strike="noStrike">
                          <a:solidFill>
                            <a:srgbClr val="000000"/>
                          </a:solidFill>
                          <a:effectLst/>
                          <a:uFillTx/>
                          <a:latin typeface="Times New Roman"/>
                        </a:rPr>
                        <a:t>M2 Knowledge Extraction &amp; Consolidation</a:t>
                      </a:r>
                      <a:endParaRPr lang="en-US" sz="900" b="0" u="none" strike="noStrike">
                        <a:solidFill>
                          <a:srgbClr val="000000"/>
                        </a:solidFill>
                        <a:effectLst/>
                        <a:uFillTx/>
                        <a:latin typeface="Arial"/>
                      </a:endParaRPr>
                    </a:p>
                  </a:txBody>
                  <a:tcPr anchor="t" marL="36000" marR="36000" marT="36000" marB="36000">
                    <a:lnL w="7200">
                      <a:solidFill>
                        <a:srgbClr val="000000"/>
                      </a:solidFill>
                      <a:prstDash val="solid"/>
                    </a:lnL>
                    <a:lnR w="7200">
                      <a:solidFill>
                        <a:srgbClr val="000000"/>
                      </a:solidFill>
                      <a:prstDash val="solid"/>
                    </a:lnR>
                    <a:lnT w="7200">
                      <a:solidFill>
                        <a:srgbClr val="000000"/>
                      </a:solidFill>
                      <a:prstDash val="solid"/>
                    </a:lnT>
                    <a:lnB w="7200">
                      <a:solidFill>
                        <a:srgbClr val="000000"/>
                      </a:solidFill>
                      <a:prstDash val="solid"/>
                    </a:lnB>
                    <a:noFill/>
                  </a:tcPr>
                </a:tc>
                <a:tc>
                  <a:txBody>
                    <a:bodyPr lIns="36000" tIns="36000" rIns="36000" bIns="36000" anchor="t">
                      <a:noAutofit/>
                    </a:bodyPr>
                    <a:p>
                      <a:pPr>
                        <a:lnSpc>
                          <a:spcPct val="100000"/>
                        </a:lnSpc>
                      </a:pPr>
                      <a:r>
                        <a:rPr lang="en-US" sz="900" b="0" u="none" strike="noStrike">
                          <a:solidFill>
                            <a:srgbClr val="000000"/>
                          </a:solidFill>
                          <a:effectLst/>
                          <a:uFillTx/>
                          <a:latin typeface="Times New Roman"/>
                        </a:rPr>
                        <a:t>Extracts assertions with source quotes; reviews correction intent and entity mentions; generates embeddings and combines supported assertions into inferences.</a:t>
                      </a:r>
                      <a:endParaRPr lang="en-US" sz="900" b="0" u="none" strike="noStrike">
                        <a:solidFill>
                          <a:srgbClr val="000000"/>
                        </a:solidFill>
                        <a:effectLst/>
                        <a:uFillTx/>
                        <a:latin typeface="Arial"/>
                      </a:endParaRPr>
                    </a:p>
                  </a:txBody>
                  <a:tcPr anchor="t" marL="36000" marR="36000" marT="36000" marB="36000">
                    <a:lnL w="7200">
                      <a:solidFill>
                        <a:srgbClr val="000000"/>
                      </a:solidFill>
                      <a:prstDash val="solid"/>
                    </a:lnL>
                    <a:lnR w="7200">
                      <a:solidFill>
                        <a:srgbClr val="000000"/>
                      </a:solidFill>
                      <a:prstDash val="solid"/>
                    </a:lnR>
                    <a:lnT w="7200">
                      <a:solidFill>
                        <a:srgbClr val="000000"/>
                      </a:solidFill>
                      <a:prstDash val="solid"/>
                    </a:lnT>
                    <a:lnB w="7200">
                      <a:solidFill>
                        <a:srgbClr val="000000"/>
                      </a:solidFill>
                      <a:prstDash val="solid"/>
                    </a:lnB>
                    <a:noFill/>
                  </a:tcPr>
                </a:tc>
                <a:tc>
                  <a:txBody>
                    <a:bodyPr lIns="36000" tIns="36000" rIns="36000" bIns="36000" anchor="t">
                      <a:noAutofit/>
                    </a:bodyPr>
                    <a:p>
                      <a:pPr>
                        <a:lnSpc>
                          <a:spcPct val="100000"/>
                        </a:lnSpc>
                      </a:pPr>
                      <a:r>
                        <a:rPr lang="en-US" sz="900" b="0" u="none" strike="noStrike">
                          <a:solidFill>
                            <a:srgbClr val="000000"/>
                          </a:solidFill>
                          <a:effectLst/>
                          <a:uFillTx/>
                          <a:latin typeface="Times New Roman"/>
                        </a:rPr>
                        <a:t>Extraction and review tests; model evaluations; saved live checks for assertions and supported inferences.</a:t>
                      </a:r>
                      <a:endParaRPr lang="en-US" sz="900" b="0" u="none" strike="noStrike">
                        <a:solidFill>
                          <a:srgbClr val="000000"/>
                        </a:solidFill>
                        <a:effectLst/>
                        <a:uFillTx/>
                        <a:latin typeface="Arial"/>
                      </a:endParaRPr>
                    </a:p>
                  </a:txBody>
                  <a:tcPr anchor="t" marL="36000" marR="36000" marT="36000" marB="36000">
                    <a:lnL w="7200">
                      <a:solidFill>
                        <a:srgbClr val="000000"/>
                      </a:solidFill>
                      <a:prstDash val="solid"/>
                    </a:lnL>
                    <a:lnR w="7200">
                      <a:solidFill>
                        <a:srgbClr val="000000"/>
                      </a:solidFill>
                      <a:prstDash val="solid"/>
                    </a:lnR>
                    <a:lnT w="7200">
                      <a:solidFill>
                        <a:srgbClr val="000000"/>
                      </a:solidFill>
                      <a:prstDash val="solid"/>
                    </a:lnT>
                    <a:lnB w="7200">
                      <a:solidFill>
                        <a:srgbClr val="000000"/>
                      </a:solidFill>
                      <a:prstDash val="solid"/>
                    </a:lnB>
                    <a:noFill/>
                  </a:tcPr>
                </a:tc>
                <a:tc>
                  <a:txBody>
                    <a:bodyPr lIns="36000" tIns="36000" rIns="36000" bIns="36000" anchor="t">
                      <a:noAutofit/>
                    </a:bodyPr>
                    <a:p>
                      <a:pPr>
                        <a:lnSpc>
                          <a:spcPct val="100000"/>
                        </a:lnSpc>
                      </a:pPr>
                      <a:r>
                        <a:rPr lang="en-US" sz="900" b="0" u="none" strike="noStrike">
                          <a:solidFill>
                            <a:srgbClr val="000000"/>
                          </a:solidFill>
                          <a:effectLst/>
                          <a:uFillTx/>
                          <a:latin typeface="Times New Roman"/>
                        </a:rPr>
                        <a:t>Improve extraction coverage, date interpretation and source attribution. Measure the added review step’s quality and latency.</a:t>
                      </a:r>
                      <a:endParaRPr lang="en-US" sz="900" b="0" u="none" strike="noStrike">
                        <a:solidFill>
                          <a:srgbClr val="000000"/>
                        </a:solidFill>
                        <a:effectLst/>
                        <a:uFillTx/>
                        <a:latin typeface="Arial"/>
                      </a:endParaRPr>
                    </a:p>
                  </a:txBody>
                  <a:tcPr anchor="t" marL="36000" marR="36000" marT="36000" marB="36000">
                    <a:lnL w="7200">
                      <a:solidFill>
                        <a:srgbClr val="000000"/>
                      </a:solidFill>
                      <a:prstDash val="solid"/>
                    </a:lnL>
                    <a:lnR w="7200">
                      <a:solidFill>
                        <a:srgbClr val="000000"/>
                      </a:solidFill>
                      <a:prstDash val="solid"/>
                    </a:lnR>
                    <a:lnT w="7200">
                      <a:solidFill>
                        <a:srgbClr val="000000"/>
                      </a:solidFill>
                      <a:prstDash val="solid"/>
                    </a:lnT>
                    <a:lnB w="7200">
                      <a:solidFill>
                        <a:srgbClr val="000000"/>
                      </a:solidFill>
                      <a:prstDash val="solid"/>
                    </a:lnB>
                    <a:noFill/>
                  </a:tcPr>
                </a:tc>
                <a:tc>
                  <a:txBody>
                    <a:bodyPr lIns="36000" tIns="36000" rIns="36000" bIns="36000" anchor="t">
                      <a:noAutofit/>
                    </a:bodyPr>
                    <a:p>
                      <a:pPr>
                        <a:lnSpc>
                          <a:spcPct val="100000"/>
                        </a:lnSpc>
                      </a:pPr>
                      <a:r>
                        <a:rPr lang="en-US" sz="900" b="0" u="none" strike="noStrike">
                          <a:solidFill>
                            <a:srgbClr val="000000"/>
                          </a:solidFill>
                          <a:effectLst/>
                          <a:uFillTx/>
                          <a:latin typeface="Times New Roman"/>
                        </a:rPr>
                        <a:t>Implemented; quality improvements pending</a:t>
                      </a:r>
                      <a:endParaRPr lang="en-US" sz="900" b="0" u="none" strike="noStrike">
                        <a:solidFill>
                          <a:srgbClr val="000000"/>
                        </a:solidFill>
                        <a:effectLst/>
                        <a:uFillTx/>
                        <a:latin typeface="Arial"/>
                      </a:endParaRPr>
                    </a:p>
                  </a:txBody>
                  <a:tcPr anchor="t" marL="36000" marR="36000" marT="36000" marB="36000">
                    <a:lnL w="7200">
                      <a:solidFill>
                        <a:srgbClr val="000000"/>
                      </a:solidFill>
                      <a:prstDash val="solid"/>
                    </a:lnL>
                    <a:lnR w="7200">
                      <a:solidFill>
                        <a:srgbClr val="000000"/>
                      </a:solidFill>
                      <a:prstDash val="solid"/>
                    </a:lnR>
                    <a:lnT w="7200">
                      <a:solidFill>
                        <a:srgbClr val="000000"/>
                      </a:solidFill>
                      <a:prstDash val="solid"/>
                    </a:lnT>
                    <a:lnB w="7200">
                      <a:solidFill>
                        <a:srgbClr val="000000"/>
                      </a:solidFill>
                      <a:prstDash val="solid"/>
                    </a:lnB>
                    <a:noFill/>
                  </a:tcPr>
                </a:tc>
              </a:tr>
              <a:tr h="440280">
                <a:tc>
                  <a:txBody>
                    <a:bodyPr lIns="36000" tIns="36000" rIns="36000" bIns="36000" anchor="t">
                      <a:noAutofit/>
                    </a:bodyPr>
                    <a:p>
                      <a:pPr>
                        <a:lnSpc>
                          <a:spcPct val="100000"/>
                        </a:lnSpc>
                      </a:pPr>
                      <a:r>
                        <a:rPr lang="en-US" sz="900" b="0" u="none" strike="noStrike">
                          <a:solidFill>
                            <a:srgbClr val="000000"/>
                          </a:solidFill>
                          <a:effectLst/>
                          <a:uFillTx/>
                          <a:latin typeface="Times New Roman"/>
                        </a:rPr>
                        <a:t>M3 Temporal Knowledge &amp; Graph Management</a:t>
                      </a:r>
                      <a:endParaRPr lang="en-US" sz="900" b="0" u="none" strike="noStrike">
                        <a:solidFill>
                          <a:srgbClr val="000000"/>
                        </a:solidFill>
                        <a:effectLst/>
                        <a:uFillTx/>
                        <a:latin typeface="Arial"/>
                      </a:endParaRPr>
                    </a:p>
                  </a:txBody>
                  <a:tcPr anchor="t" marL="36000" marR="36000" marT="36000" marB="36000">
                    <a:lnL w="7200">
                      <a:solidFill>
                        <a:srgbClr val="000000"/>
                      </a:solidFill>
                      <a:prstDash val="solid"/>
                    </a:lnL>
                    <a:lnR w="7200">
                      <a:solidFill>
                        <a:srgbClr val="000000"/>
                      </a:solidFill>
                      <a:prstDash val="solid"/>
                    </a:lnR>
                    <a:lnT w="7200">
                      <a:solidFill>
                        <a:srgbClr val="000000"/>
                      </a:solidFill>
                      <a:prstDash val="solid"/>
                    </a:lnT>
                    <a:lnB w="7200">
                      <a:solidFill>
                        <a:srgbClr val="000000"/>
                      </a:solidFill>
                      <a:prstDash val="solid"/>
                    </a:lnB>
                    <a:noFill/>
                  </a:tcPr>
                </a:tc>
                <a:tc>
                  <a:txBody>
                    <a:bodyPr lIns="36000" tIns="36000" rIns="36000" bIns="36000" anchor="t">
                      <a:noAutofit/>
                    </a:bodyPr>
                    <a:p>
                      <a:pPr>
                        <a:lnSpc>
                          <a:spcPct val="100000"/>
                        </a:lnSpc>
                      </a:pPr>
                      <a:r>
                        <a:rPr lang="en-US" sz="900" b="0" u="none" strike="noStrike">
                          <a:solidFill>
                            <a:srgbClr val="000000"/>
                          </a:solidFill>
                          <a:effectLst/>
                          <a:uFillTx/>
                          <a:latin typeface="Times New Roman"/>
                        </a:rPr>
                        <a:t>Resolves entities, reinforces assertions, handles corrections and conflicts, preserves history, invalidates dependent inferences and updates Neo4j. Includes graph rebuild and namespace deletion.</a:t>
                      </a:r>
                      <a:endParaRPr lang="en-US" sz="900" b="0" u="none" strike="noStrike">
                        <a:solidFill>
                          <a:srgbClr val="000000"/>
                        </a:solidFill>
                        <a:effectLst/>
                        <a:uFillTx/>
                        <a:latin typeface="Arial"/>
                      </a:endParaRPr>
                    </a:p>
                  </a:txBody>
                  <a:tcPr anchor="t" marL="36000" marR="36000" marT="36000" marB="36000">
                    <a:lnL w="7200">
                      <a:solidFill>
                        <a:srgbClr val="000000"/>
                      </a:solidFill>
                      <a:prstDash val="solid"/>
                    </a:lnL>
                    <a:lnR w="7200">
                      <a:solidFill>
                        <a:srgbClr val="000000"/>
                      </a:solidFill>
                      <a:prstDash val="solid"/>
                    </a:lnR>
                    <a:lnT w="7200">
                      <a:solidFill>
                        <a:srgbClr val="000000"/>
                      </a:solidFill>
                      <a:prstDash val="solid"/>
                    </a:lnT>
                    <a:lnB w="7200">
                      <a:solidFill>
                        <a:srgbClr val="000000"/>
                      </a:solidFill>
                      <a:prstDash val="solid"/>
                    </a:lnB>
                    <a:noFill/>
                  </a:tcPr>
                </a:tc>
                <a:tc>
                  <a:txBody>
                    <a:bodyPr lIns="36000" tIns="36000" rIns="36000" bIns="36000" anchor="t">
                      <a:noAutofit/>
                    </a:bodyPr>
                    <a:p>
                      <a:pPr>
                        <a:lnSpc>
                          <a:spcPct val="100000"/>
                        </a:lnSpc>
                      </a:pPr>
                      <a:r>
                        <a:rPr lang="en-US" sz="900" b="0" u="none" strike="noStrike">
                          <a:solidFill>
                            <a:srgbClr val="000000"/>
                          </a:solidFill>
                          <a:effectLst/>
                          <a:uFillTx/>
                          <a:latin typeface="Times New Roman"/>
                        </a:rPr>
                        <a:t>Integration tests cover validity intervals, conflicts, dependency invalidation and graph cleanup. Saved live checks confirm correction history and projection.</a:t>
                      </a:r>
                      <a:endParaRPr lang="en-US" sz="900" b="0" u="none" strike="noStrike">
                        <a:solidFill>
                          <a:srgbClr val="000000"/>
                        </a:solidFill>
                        <a:effectLst/>
                        <a:uFillTx/>
                        <a:latin typeface="Arial"/>
                      </a:endParaRPr>
                    </a:p>
                  </a:txBody>
                  <a:tcPr anchor="t" marL="36000" marR="36000" marT="36000" marB="36000">
                    <a:lnL w="7200">
                      <a:solidFill>
                        <a:srgbClr val="000000"/>
                      </a:solidFill>
                      <a:prstDash val="solid"/>
                    </a:lnL>
                    <a:lnR w="7200">
                      <a:solidFill>
                        <a:srgbClr val="000000"/>
                      </a:solidFill>
                      <a:prstDash val="solid"/>
                    </a:lnR>
                    <a:lnT w="7200">
                      <a:solidFill>
                        <a:srgbClr val="000000"/>
                      </a:solidFill>
                      <a:prstDash val="solid"/>
                    </a:lnT>
                    <a:lnB w="7200">
                      <a:solidFill>
                        <a:srgbClr val="000000"/>
                      </a:solidFill>
                      <a:prstDash val="solid"/>
                    </a:lnB>
                    <a:noFill/>
                  </a:tcPr>
                </a:tc>
                <a:tc>
                  <a:txBody>
                    <a:bodyPr lIns="36000" tIns="36000" rIns="36000" bIns="36000" anchor="t">
                      <a:noAutofit/>
                    </a:bodyPr>
                    <a:p>
                      <a:pPr>
                        <a:lnSpc>
                          <a:spcPct val="100000"/>
                        </a:lnSpc>
                      </a:pPr>
                      <a:r>
                        <a:rPr lang="en-US" sz="900" b="0" u="none" strike="noStrike">
                          <a:solidFill>
                            <a:srgbClr val="000000"/>
                          </a:solidFill>
                          <a:effectLst/>
                          <a:uFillTx/>
                          <a:latin typeface="Times New Roman"/>
                        </a:rPr>
                        <a:t>Extend evaluation to ambiguous updates, aliases and longer correction histories.</a:t>
                      </a:r>
                      <a:endParaRPr lang="en-US" sz="900" b="0" u="none" strike="noStrike">
                        <a:solidFill>
                          <a:srgbClr val="000000"/>
                        </a:solidFill>
                        <a:effectLst/>
                        <a:uFillTx/>
                        <a:latin typeface="Arial"/>
                      </a:endParaRPr>
                    </a:p>
                  </a:txBody>
                  <a:tcPr anchor="t" marL="36000" marR="36000" marT="36000" marB="36000">
                    <a:lnL w="7200">
                      <a:solidFill>
                        <a:srgbClr val="000000"/>
                      </a:solidFill>
                      <a:prstDash val="solid"/>
                    </a:lnL>
                    <a:lnR w="7200">
                      <a:solidFill>
                        <a:srgbClr val="000000"/>
                      </a:solidFill>
                      <a:prstDash val="solid"/>
                    </a:lnR>
                    <a:lnT w="7200">
                      <a:solidFill>
                        <a:srgbClr val="000000"/>
                      </a:solidFill>
                      <a:prstDash val="solid"/>
                    </a:lnT>
                    <a:lnB w="7200">
                      <a:solidFill>
                        <a:srgbClr val="000000"/>
                      </a:solidFill>
                      <a:prstDash val="solid"/>
                    </a:lnB>
                    <a:noFill/>
                  </a:tcPr>
                </a:tc>
                <a:tc>
                  <a:txBody>
                    <a:bodyPr lIns="36000" tIns="36000" rIns="36000" bIns="36000" anchor="t">
                      <a:noAutofit/>
                    </a:bodyPr>
                    <a:p>
                      <a:pPr>
                        <a:lnSpc>
                          <a:spcPct val="100000"/>
                        </a:lnSpc>
                      </a:pPr>
                      <a:r>
                        <a:rPr lang="en-US" sz="900" b="0" u="none" strike="noStrike">
                          <a:solidFill>
                            <a:srgbClr val="000000"/>
                          </a:solidFill>
                          <a:effectLst/>
                          <a:uFillTx/>
                          <a:latin typeface="Times New Roman"/>
                        </a:rPr>
                        <a:t>Implemented; broader validation pending</a:t>
                      </a:r>
                      <a:endParaRPr lang="en-US" sz="900" b="0" u="none" strike="noStrike">
                        <a:solidFill>
                          <a:srgbClr val="000000"/>
                        </a:solidFill>
                        <a:effectLst/>
                        <a:uFillTx/>
                        <a:latin typeface="Arial"/>
                      </a:endParaRPr>
                    </a:p>
                  </a:txBody>
                  <a:tcPr anchor="t" marL="36000" marR="36000" marT="36000" marB="36000">
                    <a:lnL w="7200">
                      <a:solidFill>
                        <a:srgbClr val="000000"/>
                      </a:solidFill>
                      <a:prstDash val="solid"/>
                    </a:lnL>
                    <a:lnR w="7200">
                      <a:solidFill>
                        <a:srgbClr val="000000"/>
                      </a:solidFill>
                      <a:prstDash val="solid"/>
                    </a:lnR>
                    <a:lnT w="7200">
                      <a:solidFill>
                        <a:srgbClr val="000000"/>
                      </a:solidFill>
                      <a:prstDash val="solid"/>
                    </a:lnT>
                    <a:lnB w="7200">
                      <a:solidFill>
                        <a:srgbClr val="000000"/>
                      </a:solidFill>
                      <a:prstDash val="solid"/>
                    </a:lnB>
                    <a:noFill/>
                  </a:tcPr>
                </a:tc>
              </a:tr>
              <a:tr h="981000">
                <a:tc>
                  <a:txBody>
                    <a:bodyPr lIns="36000" tIns="36000" rIns="36000" bIns="36000" anchor="t">
                      <a:noAutofit/>
                    </a:bodyPr>
                    <a:p>
                      <a:pPr>
                        <a:lnSpc>
                          <a:spcPct val="100000"/>
                        </a:lnSpc>
                      </a:pPr>
                      <a:r>
                        <a:rPr lang="en-US" sz="900" b="0" u="none" strike="noStrike">
                          <a:solidFill>
                            <a:srgbClr val="000000"/>
                          </a:solidFill>
                          <a:effectLst/>
                          <a:uFillTx/>
                          <a:latin typeface="Times New Roman"/>
                        </a:rPr>
                        <a:t>M4 Hybrid Retrieval &amp; Grounded Reasoning</a:t>
                      </a:r>
                      <a:endParaRPr lang="en-US" sz="900" b="0" u="none" strike="noStrike">
                        <a:solidFill>
                          <a:srgbClr val="000000"/>
                        </a:solidFill>
                        <a:effectLst/>
                        <a:uFillTx/>
                        <a:latin typeface="Arial"/>
                      </a:endParaRPr>
                    </a:p>
                  </a:txBody>
                  <a:tcPr anchor="t" marL="36000" marR="36000" marT="36000" marB="36000">
                    <a:lnL w="7200">
                      <a:solidFill>
                        <a:srgbClr val="000000"/>
                      </a:solidFill>
                      <a:prstDash val="solid"/>
                    </a:lnL>
                    <a:lnR w="7200">
                      <a:solidFill>
                        <a:srgbClr val="000000"/>
                      </a:solidFill>
                      <a:prstDash val="solid"/>
                    </a:lnR>
                    <a:lnT w="7200">
                      <a:solidFill>
                        <a:srgbClr val="000000"/>
                      </a:solidFill>
                      <a:prstDash val="solid"/>
                    </a:lnT>
                    <a:lnB w="7200">
                      <a:solidFill>
                        <a:srgbClr val="000000"/>
                      </a:solidFill>
                      <a:prstDash val="solid"/>
                    </a:lnB>
                    <a:noFill/>
                  </a:tcPr>
                </a:tc>
                <a:tc>
                  <a:txBody>
                    <a:bodyPr lIns="36000" tIns="36000" rIns="36000" bIns="36000" anchor="t">
                      <a:noAutofit/>
                    </a:bodyPr>
                    <a:p>
                      <a:pPr>
                        <a:lnSpc>
                          <a:spcPct val="100000"/>
                        </a:lnSpc>
                      </a:pPr>
                      <a:r>
                        <a:rPr lang="en-US" sz="900" b="0" u="none" strike="noStrike">
                          <a:solidFill>
                            <a:srgbClr val="000000"/>
                          </a:solidFill>
                          <a:effectLst/>
                          <a:uFillTx/>
                          <a:latin typeface="Times New Roman"/>
                        </a:rPr>
                        <a:t>Combines text, vector, temporal and graph retrieval; ranks and packs quoted assertions; injects relevant memory into Pi. Supports optional cited reflection.</a:t>
                      </a:r>
                      <a:endParaRPr lang="en-US" sz="900" b="0" u="none" strike="noStrike">
                        <a:solidFill>
                          <a:srgbClr val="000000"/>
                        </a:solidFill>
                        <a:effectLst/>
                        <a:uFillTx/>
                        <a:latin typeface="Arial"/>
                      </a:endParaRPr>
                    </a:p>
                  </a:txBody>
                  <a:tcPr anchor="t" marL="36000" marR="36000" marT="36000" marB="36000">
                    <a:lnL w="7200">
                      <a:solidFill>
                        <a:srgbClr val="000000"/>
                      </a:solidFill>
                      <a:prstDash val="solid"/>
                    </a:lnL>
                    <a:lnR w="7200">
                      <a:solidFill>
                        <a:srgbClr val="000000"/>
                      </a:solidFill>
                      <a:prstDash val="solid"/>
                    </a:lnR>
                    <a:lnT w="7200">
                      <a:solidFill>
                        <a:srgbClr val="000000"/>
                      </a:solidFill>
                      <a:prstDash val="solid"/>
                    </a:lnT>
                    <a:lnB w="7200">
                      <a:solidFill>
                        <a:srgbClr val="000000"/>
                      </a:solidFill>
                      <a:prstDash val="solid"/>
                    </a:lnB>
                    <a:noFill/>
                  </a:tcPr>
                </a:tc>
                <a:tc>
                  <a:txBody>
                    <a:bodyPr lIns="36000" tIns="36000" rIns="36000" bIns="36000" anchor="t">
                      <a:noAutofit/>
                    </a:bodyPr>
                    <a:p>
                      <a:pPr>
                        <a:lnSpc>
                          <a:spcPct val="100000"/>
                        </a:lnSpc>
                      </a:pPr>
                      <a:r>
                        <a:rPr lang="en-US" sz="900" b="0" u="none" strike="noStrike">
                          <a:solidFill>
                            <a:srgbClr val="000000"/>
                          </a:solidFill>
                          <a:effectLst/>
                          <a:uFillTx/>
                          <a:latin typeface="Times New Roman"/>
                        </a:rPr>
                        <a:t>Retrieval tests and saved live checks for source-backed recall and cited answers.</a:t>
                      </a:r>
                      <a:endParaRPr lang="en-US" sz="900" b="0" u="none" strike="noStrike">
                        <a:solidFill>
                          <a:srgbClr val="000000"/>
                        </a:solidFill>
                        <a:effectLst/>
                        <a:uFillTx/>
                        <a:latin typeface="Arial"/>
                      </a:endParaRPr>
                    </a:p>
                  </a:txBody>
                  <a:tcPr anchor="t" marL="36000" marR="36000" marT="36000" marB="36000">
                    <a:lnL w="7200">
                      <a:solidFill>
                        <a:srgbClr val="000000"/>
                      </a:solidFill>
                      <a:prstDash val="solid"/>
                    </a:lnL>
                    <a:lnR w="7200">
                      <a:solidFill>
                        <a:srgbClr val="000000"/>
                      </a:solidFill>
                      <a:prstDash val="solid"/>
                    </a:lnR>
                    <a:lnT w="7200">
                      <a:solidFill>
                        <a:srgbClr val="000000"/>
                      </a:solidFill>
                      <a:prstDash val="solid"/>
                    </a:lnT>
                    <a:lnB w="7200">
                      <a:solidFill>
                        <a:srgbClr val="000000"/>
                      </a:solidFill>
                      <a:prstDash val="solid"/>
                    </a:lnB>
                    <a:noFill/>
                  </a:tcPr>
                </a:tc>
                <a:tc>
                  <a:txBody>
                    <a:bodyPr lIns="36000" tIns="36000" rIns="36000" bIns="36000" anchor="t">
                      <a:noAutofit/>
                    </a:bodyPr>
                    <a:p>
                      <a:pPr>
                        <a:lnSpc>
                          <a:spcPct val="100000"/>
                        </a:lnSpc>
                      </a:pPr>
                      <a:r>
                        <a:rPr lang="en-US" sz="900" b="0" u="none" strike="noStrike">
                          <a:solidFill>
                            <a:srgbClr val="000000"/>
                          </a:solidFill>
                          <a:effectLst/>
                          <a:uFillTx/>
                          <a:latin typeface="Times New Roman"/>
                        </a:rPr>
                        <a:t>Complete LongMemEval-S, compare graph/consolidation ablations and report retrieval quality and latency.</a:t>
                      </a:r>
                      <a:endParaRPr lang="en-US" sz="900" b="0" u="none" strike="noStrike">
                        <a:solidFill>
                          <a:srgbClr val="000000"/>
                        </a:solidFill>
                        <a:effectLst/>
                        <a:uFillTx/>
                        <a:latin typeface="Arial"/>
                      </a:endParaRPr>
                    </a:p>
                  </a:txBody>
                  <a:tcPr anchor="t" marL="36000" marR="36000" marT="36000" marB="36000">
                    <a:lnL w="7200">
                      <a:solidFill>
                        <a:srgbClr val="000000"/>
                      </a:solidFill>
                      <a:prstDash val="solid"/>
                    </a:lnL>
                    <a:lnR w="7200">
                      <a:solidFill>
                        <a:srgbClr val="000000"/>
                      </a:solidFill>
                      <a:prstDash val="solid"/>
                    </a:lnR>
                    <a:lnT w="7200">
                      <a:solidFill>
                        <a:srgbClr val="000000"/>
                      </a:solidFill>
                      <a:prstDash val="solid"/>
                    </a:lnT>
                    <a:lnB w="7200">
                      <a:solidFill>
                        <a:srgbClr val="000000"/>
                      </a:solidFill>
                      <a:prstDash val="solid"/>
                    </a:lnB>
                    <a:noFill/>
                  </a:tcPr>
                </a:tc>
                <a:tc>
                  <a:txBody>
                    <a:bodyPr lIns="36000" tIns="36000" rIns="36000" bIns="36000" anchor="t">
                      <a:noAutofit/>
                    </a:bodyPr>
                    <a:p>
                      <a:pPr>
                        <a:lnSpc>
                          <a:spcPct val="100000"/>
                        </a:lnSpc>
                      </a:pPr>
                      <a:r>
                        <a:rPr lang="en-US" sz="900" b="0" u="none" strike="noStrike">
                          <a:solidFill>
                            <a:srgbClr val="000000"/>
                          </a:solidFill>
                          <a:effectLst/>
                          <a:uFillTx/>
                          <a:latin typeface="Times New Roman"/>
                        </a:rPr>
                        <a:t>Implemented; full benchmark pending</a:t>
                      </a:r>
                      <a:endParaRPr lang="en-US" sz="900" b="0" u="none" strike="noStrike">
                        <a:solidFill>
                          <a:srgbClr val="000000"/>
                        </a:solidFill>
                        <a:effectLst/>
                        <a:uFillTx/>
                        <a:latin typeface="Arial"/>
                      </a:endParaRPr>
                    </a:p>
                  </a:txBody>
                  <a:tcPr anchor="t" marL="36000" marR="36000" marT="36000" marB="36000">
                    <a:lnL w="7200">
                      <a:solidFill>
                        <a:srgbClr val="000000"/>
                      </a:solidFill>
                      <a:prstDash val="solid"/>
                    </a:lnL>
                    <a:lnR w="7200">
                      <a:solidFill>
                        <a:srgbClr val="000000"/>
                      </a:solidFill>
                      <a:prstDash val="solid"/>
                    </a:lnR>
                    <a:lnT w="7200">
                      <a:solidFill>
                        <a:srgbClr val="000000"/>
                      </a:solidFill>
                      <a:prstDash val="solid"/>
                    </a:lnT>
                    <a:lnB w="7200">
                      <a:solidFill>
                        <a:srgbClr val="000000"/>
                      </a:solidFill>
                      <a:prstDash val="solid"/>
                    </a:lnB>
                    <a:noFill/>
                  </a:tcPr>
                </a:tc>
              </a:tr>
              <a:tr h="1693440">
                <a:tc>
                  <a:txBody>
                    <a:bodyPr lIns="36000" tIns="36000" rIns="36000" bIns="36000" anchor="t">
                      <a:noAutofit/>
                    </a:bodyPr>
                    <a:p>
                      <a:pPr>
                        <a:lnSpc>
                          <a:spcPct val="100000"/>
                        </a:lnSpc>
                      </a:pPr>
                      <a:r>
                        <a:rPr lang="en-US" sz="900" b="0" u="none" strike="noStrike">
                          <a:solidFill>
                            <a:srgbClr val="000000"/>
                          </a:solidFill>
                          <a:effectLst/>
                          <a:uFillTx/>
                          <a:latin typeface="Times New Roman"/>
                        </a:rPr>
                        <a:t>M5 Model Training &amp; Evaluation</a:t>
                      </a:r>
                      <a:endParaRPr lang="en-US" sz="900" b="0" u="none" strike="noStrike">
                        <a:solidFill>
                          <a:srgbClr val="000000"/>
                        </a:solidFill>
                        <a:effectLst/>
                        <a:uFillTx/>
                        <a:latin typeface="Arial"/>
                      </a:endParaRPr>
                    </a:p>
                  </a:txBody>
                  <a:tcPr anchor="t" marL="36000" marR="36000" marT="36000" marB="36000">
                    <a:lnL w="7200">
                      <a:solidFill>
                        <a:srgbClr val="000000"/>
                      </a:solidFill>
                      <a:prstDash val="solid"/>
                    </a:lnL>
                    <a:lnR w="7200">
                      <a:solidFill>
                        <a:srgbClr val="000000"/>
                      </a:solidFill>
                      <a:prstDash val="solid"/>
                    </a:lnR>
                    <a:lnT w="7200">
                      <a:solidFill>
                        <a:srgbClr val="000000"/>
                      </a:solidFill>
                      <a:prstDash val="solid"/>
                    </a:lnT>
                    <a:lnB w="7200">
                      <a:solidFill>
                        <a:srgbClr val="000000"/>
                      </a:solidFill>
                      <a:prstDash val="solid"/>
                    </a:lnB>
                    <a:noFill/>
                  </a:tcPr>
                </a:tc>
                <a:tc>
                  <a:txBody>
                    <a:bodyPr lIns="36000" tIns="36000" rIns="36000" bIns="36000" anchor="t">
                      <a:noAutofit/>
                    </a:bodyPr>
                    <a:p>
                      <a:pPr>
                        <a:lnSpc>
                          <a:spcPct val="100000"/>
                        </a:lnSpc>
                      </a:pPr>
                      <a:r>
                        <a:rPr lang="en-US" sz="900" b="0" u="none" strike="noStrike">
                          <a:solidFill>
                            <a:srgbClr val="000000"/>
                          </a:solidFill>
                          <a:effectLst/>
                          <a:uFillTx/>
                          <a:latin typeface="Times New Roman"/>
                        </a:rPr>
                        <a:t>Fine-tuned Qwen3-4B using QLoRA; exported Q8 GGUF; integrated the model with Ollama and published the release.</a:t>
                      </a:r>
                      <a:endParaRPr lang="en-US" sz="900" b="0" u="none" strike="noStrike">
                        <a:solidFill>
                          <a:srgbClr val="000000"/>
                        </a:solidFill>
                        <a:effectLst/>
                        <a:uFillTx/>
                        <a:latin typeface="Arial"/>
                      </a:endParaRPr>
                    </a:p>
                  </a:txBody>
                  <a:tcPr anchor="t" marL="36000" marR="36000" marT="36000" marB="36000">
                    <a:lnL w="7200">
                      <a:solidFill>
                        <a:srgbClr val="000000"/>
                      </a:solidFill>
                      <a:prstDash val="solid"/>
                    </a:lnL>
                    <a:lnR w="7200">
                      <a:solidFill>
                        <a:srgbClr val="000000"/>
                      </a:solidFill>
                      <a:prstDash val="solid"/>
                    </a:lnR>
                    <a:lnT w="7200">
                      <a:solidFill>
                        <a:srgbClr val="000000"/>
                      </a:solidFill>
                      <a:prstDash val="solid"/>
                    </a:lnT>
                    <a:lnB w="7200">
                      <a:solidFill>
                        <a:srgbClr val="000000"/>
                      </a:solidFill>
                      <a:prstDash val="solid"/>
                    </a:lnB>
                    <a:noFill/>
                  </a:tcPr>
                </a:tc>
                <a:tc>
                  <a:txBody>
                    <a:bodyPr lIns="36000" tIns="36000" rIns="36000" bIns="36000" anchor="t">
                      <a:noAutofit/>
                    </a:bodyPr>
                    <a:p>
                      <a:pPr>
                        <a:lnSpc>
                          <a:spcPct val="100000"/>
                        </a:lnSpc>
                      </a:pPr>
                      <a:r>
                        <a:rPr lang="en-US" sz="900" b="0" u="none" strike="noStrike">
                          <a:solidFill>
                            <a:srgbClr val="000000"/>
                          </a:solidFill>
                          <a:effectLst/>
                          <a:uFillTx/>
                          <a:latin typeface="Times New Roman"/>
                        </a:rPr>
                        <a:t>Training receipts; 64 internal tasks and 16 external conversation windows; saved deployment checks.</a:t>
                      </a:r>
                      <a:endParaRPr lang="en-US" sz="900" b="0" u="none" strike="noStrike">
                        <a:solidFill>
                          <a:srgbClr val="000000"/>
                        </a:solidFill>
                        <a:effectLst/>
                        <a:uFillTx/>
                        <a:latin typeface="Arial"/>
                      </a:endParaRPr>
                    </a:p>
                  </a:txBody>
                  <a:tcPr anchor="t" marL="36000" marR="36000" marT="36000" marB="36000">
                    <a:lnL w="7200">
                      <a:solidFill>
                        <a:srgbClr val="000000"/>
                      </a:solidFill>
                      <a:prstDash val="solid"/>
                    </a:lnL>
                    <a:lnR w="7200">
                      <a:solidFill>
                        <a:srgbClr val="000000"/>
                      </a:solidFill>
                      <a:prstDash val="solid"/>
                    </a:lnR>
                    <a:lnT w="7200">
                      <a:solidFill>
                        <a:srgbClr val="000000"/>
                      </a:solidFill>
                      <a:prstDash val="solid"/>
                    </a:lnT>
                    <a:lnB w="7200">
                      <a:solidFill>
                        <a:srgbClr val="000000"/>
                      </a:solidFill>
                      <a:prstDash val="solid"/>
                    </a:lnB>
                    <a:noFill/>
                  </a:tcPr>
                </a:tc>
                <a:tc>
                  <a:txBody>
                    <a:bodyPr lIns="36000" tIns="36000" rIns="36000" bIns="36000" anchor="t">
                      <a:noAutofit/>
                    </a:bodyPr>
                    <a:p>
                      <a:pPr>
                        <a:lnSpc>
                          <a:spcPct val="100000"/>
                        </a:lnSpc>
                      </a:pPr>
                      <a:r>
                        <a:rPr lang="en-US" sz="900" b="0" u="none" strike="noStrike">
                          <a:solidFill>
                            <a:srgbClr val="000000"/>
                          </a:solidFill>
                          <a:effectLst/>
                          <a:uFillTx/>
                          <a:latin typeface="Times New Roman"/>
                        </a:rPr>
                        <a:t>Address extraction regression and temporal errors; expand external testing and independent human review.</a:t>
                      </a:r>
                      <a:endParaRPr lang="en-US" sz="900" b="0" u="none" strike="noStrike">
                        <a:solidFill>
                          <a:srgbClr val="000000"/>
                        </a:solidFill>
                        <a:effectLst/>
                        <a:uFillTx/>
                        <a:latin typeface="Arial"/>
                      </a:endParaRPr>
                    </a:p>
                  </a:txBody>
                  <a:tcPr anchor="t" marL="36000" marR="36000" marT="36000" marB="36000">
                    <a:lnL w="7200">
                      <a:solidFill>
                        <a:srgbClr val="000000"/>
                      </a:solidFill>
                      <a:prstDash val="solid"/>
                    </a:lnL>
                    <a:lnR w="7200">
                      <a:solidFill>
                        <a:srgbClr val="000000"/>
                      </a:solidFill>
                      <a:prstDash val="solid"/>
                    </a:lnR>
                    <a:lnT w="7200">
                      <a:solidFill>
                        <a:srgbClr val="000000"/>
                      </a:solidFill>
                      <a:prstDash val="solid"/>
                    </a:lnT>
                    <a:lnB w="7200">
                      <a:solidFill>
                        <a:srgbClr val="000000"/>
                      </a:solidFill>
                      <a:prstDash val="solid"/>
                    </a:lnB>
                    <a:noFill/>
                  </a:tcPr>
                </a:tc>
                <a:tc>
                  <a:txBody>
                    <a:bodyPr lIns="36000" tIns="36000" rIns="36000" bIns="36000" anchor="t">
                      <a:noAutofit/>
                    </a:bodyPr>
                    <a:p>
                      <a:pPr>
                        <a:lnSpc>
                          <a:spcPct val="100000"/>
                        </a:lnSpc>
                      </a:pPr>
                      <a:r>
                        <a:rPr lang="en-US" sz="900" b="0" u="none" strike="noStrike">
                          <a:solidFill>
                            <a:srgbClr val="000000"/>
                          </a:solidFill>
                          <a:effectLst/>
                          <a:uFillTx/>
                          <a:latin typeface="Times New Roman"/>
                        </a:rPr>
                        <a:t>Training and integration complete; evaluation ongoing</a:t>
                      </a:r>
                      <a:endParaRPr lang="en-US" sz="900" b="0" u="none" strike="noStrike">
                        <a:solidFill>
                          <a:srgbClr val="000000"/>
                        </a:solidFill>
                        <a:effectLst/>
                        <a:uFillTx/>
                        <a:latin typeface="Arial"/>
                      </a:endParaRPr>
                    </a:p>
                  </a:txBody>
                  <a:tcPr anchor="t" marL="36000" marR="36000" marT="36000" marB="36000">
                    <a:lnL w="7200">
                      <a:solidFill>
                        <a:srgbClr val="000000"/>
                      </a:solidFill>
                      <a:prstDash val="solid"/>
                    </a:lnL>
                    <a:lnR w="7200">
                      <a:solidFill>
                        <a:srgbClr val="000000"/>
                      </a:solidFill>
                      <a:prstDash val="solid"/>
                    </a:lnR>
                    <a:lnT w="7200">
                      <a:solidFill>
                        <a:srgbClr val="000000"/>
                      </a:solidFill>
                      <a:prstDash val="solid"/>
                    </a:lnT>
                    <a:lnB w="7200">
                      <a:solidFill>
                        <a:srgbClr val="000000"/>
                      </a:solidFill>
                      <a:prstDash val="solid"/>
                    </a:lnB>
                    <a:noFill/>
                  </a:tcPr>
                </a:tc>
              </a:tr>
            </a:tbl>
          </a:graphicData>
        </a:graphic>
      </p:graphicFrame>
    </p:spTree>
  </p:cSld>
  <mc:AlternateContent>
    <mc:Choice Requires="p14">
      <p:transition spd="slow" p14:dur="2000"/>
    </mc:Choice>
    <mc:Fallback>
      <p:transition spd="slow"/>
    </mc:Fallback>
  </mc:AlternateContent>
</p:sld>
</file>

<file path=ppt/slides/slide23.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92" name="PlaceHolder 1"/>
          <p:cNvSpPr>
            <a:spLocks noGrp="1"/>
          </p:cNvSpPr>
          <p:nvPr>
            <p:ph type="title" hasCustomPrompt="1"/>
          </p:nvPr>
        </p:nvSpPr>
        <p:spPr>
          <a:xfrm>
            <a:off x="594360" y="384120"/>
            <a:ext cx="9813240" cy="776160"/>
          </a:xfrm>
          <a:prstGeom prst="rect">
            <a:avLst/>
          </a:prstGeom>
          <a:noFill/>
          <a:ln w="0">
            <a:noFill/>
          </a:ln>
        </p:spPr>
        <p:txBody>
          <a:bodyPr lIns="0" tIns="0" rIns="0" bIns="0" anchor="ctr">
            <a:noAutofit/>
          </a:bodyPr>
          <a:p>
            <a:pPr indent="0" algn="l" defTabSz="914400">
              <a:lnSpc>
                <a:spcPct val="100000"/>
              </a:lnSpc>
              <a:buNone/>
              <a:tabLst>
                <a:tab pos="0" algn="l"/>
              </a:tabLst>
            </a:pPr>
            <a:r>
              <a:rPr lang="en-US" sz="3000" b="0" u="none" strike="noStrike">
                <a:solidFill>
                  <a:srgbClr val="000000"/>
                </a:solidFill>
                <a:effectLst/>
                <a:uFillTx/>
                <a:latin typeface="Times New Roman"/>
                <a:ea typeface="Times New Roman"/>
              </a:rPr>
              <a:t>REFERENCES</a:t>
            </a:r>
            <a:endParaRPr lang="en-US" sz="3000" b="0" u="none" strike="noStrike">
              <a:solidFill>
                <a:schemeClr val="dk1"/>
              </a:solidFill>
              <a:effectLst/>
              <a:uFillTx/>
              <a:latin typeface="Times New Roman"/>
            </a:endParaRPr>
          </a:p>
        </p:txBody>
      </p:sp>
      <p:sp>
        <p:nvSpPr>
          <p:cNvPr id="93" name="Text 1"/>
          <p:cNvSpPr/>
          <p:nvPr/>
        </p:nvSpPr>
        <p:spPr>
          <a:xfrm>
            <a:off x="594360" y="1216080"/>
            <a:ext cx="5340240" cy="5137920"/>
          </a:xfrm>
          <a:prstGeom prst="rect">
            <a:avLst/>
          </a:prstGeom>
          <a:noFill/>
          <a:ln w="0">
            <a:noFill/>
          </a:ln>
        </p:spPr>
        <p:style>
          <a:lnRef idx="0"/>
          <a:fillRef idx="0"/>
          <a:effectRef idx="0"/>
          <a:fontRef idx="minor"/>
        </p:style>
        <p:txBody>
          <a:bodyPr lIns="0" tIns="0" rIns="0" bIns="0" anchor="t">
            <a:noAutofit/>
          </a:bodyPr>
          <a:p>
            <a:pPr defTabSz="914400">
              <a:lnSpc>
                <a:spcPct val="100000"/>
              </a:lnSpc>
              <a:spcAft>
                <a:spcPts val="300"/>
              </a:spcAft>
              <a:tabLst>
                <a:tab pos="0" algn="l"/>
              </a:tabLst>
            </a:pPr>
            <a:r>
              <a:rPr lang="en-US" sz="1100" b="0" u="none" strike="noStrike">
                <a:solidFill>
                  <a:srgbClr val="1A1A1A"/>
                </a:solidFill>
                <a:effectLst/>
                <a:uFillTx/>
                <a:latin typeface="Times New Roman"/>
                <a:ea typeface="Times New Roman"/>
              </a:rPr>
              <a:t>[1] N. F. Liu, K. Lin, J. Hewitt, A. Paranjape, M. Bevilacqua, F. Petroni, and P. Liang, "Lost in the middle: How language models use long contexts," Trans. Assoc. Comput. Linguist., vol. 12, pp. 157-173, 2024. [Online]. Available: https://aclanthology.org/2024.tacl-1.9/</a:t>
            </a:r>
            <a:endParaRPr lang="en-US" sz="1100" b="0" u="none" strike="noStrike">
              <a:solidFill>
                <a:srgbClr val="000000"/>
              </a:solidFill>
              <a:effectLst/>
              <a:uFillTx/>
              <a:latin typeface="Arial"/>
            </a:endParaRPr>
          </a:p>
          <a:p>
            <a:pPr defTabSz="914400">
              <a:lnSpc>
                <a:spcPct val="100000"/>
              </a:lnSpc>
              <a:spcAft>
                <a:spcPts val="300"/>
              </a:spcAft>
              <a:tabLst>
                <a:tab pos="0" algn="l"/>
              </a:tabLst>
            </a:pPr>
            <a:r>
              <a:rPr lang="en-US" sz="1100" b="0" u="none" strike="noStrike">
                <a:solidFill>
                  <a:srgbClr val="1A1A1A"/>
                </a:solidFill>
                <a:effectLst/>
                <a:uFillTx/>
                <a:latin typeface="Times New Roman"/>
                <a:ea typeface="Times New Roman"/>
              </a:rPr>
              <a:t>[2] D. Wu, H. Wang, W. Yu, Y. Zhang, K.-W. Chang, and D. Yu, "LongMemEval: Benchmarking chat assistants on long-term interactive memory," in Proc. Int. Conf. Learn. Represent. (ICLR), 2025, pp. 86809-86836. [Online]. Available: https://proceedings.iclr.cc/paper_files/paper/2025/hash/d813d324dbf0598bbdc9c8e79740ed01-Abstract-Conference.html. Also arXiv:2410.10813.</a:t>
            </a:r>
            <a:endParaRPr lang="en-US" sz="1100" b="0" u="none" strike="noStrike">
              <a:solidFill>
                <a:srgbClr val="000000"/>
              </a:solidFill>
              <a:effectLst/>
              <a:uFillTx/>
              <a:latin typeface="Arial"/>
            </a:endParaRPr>
          </a:p>
          <a:p>
            <a:pPr defTabSz="914400">
              <a:lnSpc>
                <a:spcPct val="100000"/>
              </a:lnSpc>
              <a:spcAft>
                <a:spcPts val="300"/>
              </a:spcAft>
              <a:tabLst>
                <a:tab pos="0" algn="l"/>
              </a:tabLst>
            </a:pPr>
            <a:r>
              <a:rPr lang="en-US" sz="1100" b="0" u="none" strike="noStrike">
                <a:solidFill>
                  <a:srgbClr val="1A1A1A"/>
                </a:solidFill>
                <a:effectLst/>
                <a:uFillTx/>
                <a:latin typeface="Times New Roman"/>
                <a:ea typeface="Times New Roman"/>
              </a:rPr>
              <a:t>[3] C. Packer, S. Wooders, K. Lin, V. Fang, S. G. Patil, I. Stoica, and J. E. Gonzalez, "MemGPT: Towards LLMs as operating systems," arXiv preprint arXiv:2310.08560, Oct. 2023 (rev. Feb. 2024). [Online]. Available: https://arxiv.org/abs/2310.08560</a:t>
            </a:r>
            <a:endParaRPr lang="en-US" sz="1100" b="0" u="none" strike="noStrike">
              <a:solidFill>
                <a:srgbClr val="000000"/>
              </a:solidFill>
              <a:effectLst/>
              <a:uFillTx/>
              <a:latin typeface="Arial"/>
            </a:endParaRPr>
          </a:p>
          <a:p>
            <a:pPr defTabSz="914400">
              <a:lnSpc>
                <a:spcPct val="100000"/>
              </a:lnSpc>
              <a:spcAft>
                <a:spcPts val="300"/>
              </a:spcAft>
              <a:tabLst>
                <a:tab pos="0" algn="l"/>
              </a:tabLst>
            </a:pPr>
            <a:r>
              <a:rPr lang="en-US" sz="1100" b="0" u="none" strike="noStrike">
                <a:solidFill>
                  <a:srgbClr val="1A1A1A"/>
                </a:solidFill>
                <a:effectLst/>
                <a:uFillTx/>
                <a:latin typeface="Times New Roman"/>
                <a:ea typeface="Times New Roman"/>
              </a:rPr>
              <a:t>[4] P. Rasmussen, P. Paliychuk, T. Beauvais, J. Ryan, and D. Chalef, "Zep: A temporal knowledge graph architecture for agent memory," arXiv preprint arXiv:2501.13956 [cs.CL], Jan. 2025. [Online]. Available: https://arxiv.org/abs/2501.13956</a:t>
            </a:r>
            <a:endParaRPr lang="en-US" sz="1100" b="0" u="none" strike="noStrike">
              <a:solidFill>
                <a:srgbClr val="000000"/>
              </a:solidFill>
              <a:effectLst/>
              <a:uFillTx/>
              <a:latin typeface="Arial"/>
            </a:endParaRPr>
          </a:p>
          <a:p>
            <a:pPr defTabSz="914400">
              <a:lnSpc>
                <a:spcPct val="100000"/>
              </a:lnSpc>
              <a:spcAft>
                <a:spcPts val="300"/>
              </a:spcAft>
              <a:tabLst>
                <a:tab pos="0" algn="l"/>
              </a:tabLst>
            </a:pPr>
            <a:r>
              <a:rPr lang="en-US" sz="1100" b="0" u="none" strike="noStrike">
                <a:solidFill>
                  <a:srgbClr val="1A1A1A"/>
                </a:solidFill>
                <a:effectLst/>
                <a:uFillTx/>
                <a:latin typeface="Times New Roman"/>
                <a:ea typeface="Times New Roman"/>
              </a:rPr>
              <a:t>[5] P. Chhikara, D. Khant, S. Aryan, T. Singh, and D. Yadav, "Mem0: Building production-ready AI agents with scalable long-term memory," in Proc. 28th Eur. Conf. Artif. Intell. (ECAI), Oct. 2025, ser. Frontiers in Artificial Intelligence and Applications, vol. 413. IOS Press, 2025, pp. 2993-3000, doi: 10.3233/FAIA251160. Also arXiv:2504.19413 [cs.CL].</a:t>
            </a:r>
            <a:endParaRPr lang="en-US" sz="1100" b="0" u="none" strike="noStrike">
              <a:solidFill>
                <a:srgbClr val="000000"/>
              </a:solidFill>
              <a:effectLst/>
              <a:uFillTx/>
              <a:latin typeface="Arial"/>
            </a:endParaRPr>
          </a:p>
          <a:p>
            <a:pPr defTabSz="914400">
              <a:lnSpc>
                <a:spcPct val="100000"/>
              </a:lnSpc>
              <a:spcAft>
                <a:spcPts val="300"/>
              </a:spcAft>
              <a:tabLst>
                <a:tab pos="0" algn="l"/>
              </a:tabLst>
            </a:pPr>
            <a:r>
              <a:rPr lang="en-US" sz="1100" b="0" u="none" strike="noStrike">
                <a:solidFill>
                  <a:srgbClr val="1A1A1A"/>
                </a:solidFill>
                <a:effectLst/>
                <a:uFillTx/>
                <a:latin typeface="Times New Roman"/>
                <a:ea typeface="Times New Roman"/>
              </a:rPr>
              <a:t>[6] S. Daga, S. Sreedhar, and D. Shah, "LongMemEval," supermemory research (vendor-hosted evaluation report on LongMemEval-S, not peer reviewed), May 2026. [Online]. Available: https://supermemory.ai/research/longmembench/ (accessed Oct. 6, 2026).</a:t>
            </a:r>
            <a:endParaRPr lang="en-US" sz="1100" b="0" u="none" strike="noStrike">
              <a:solidFill>
                <a:srgbClr val="000000"/>
              </a:solidFill>
              <a:effectLst/>
              <a:uFillTx/>
              <a:latin typeface="Arial"/>
            </a:endParaRPr>
          </a:p>
          <a:p>
            <a:pPr defTabSz="914400">
              <a:lnSpc>
                <a:spcPct val="100000"/>
              </a:lnSpc>
              <a:spcAft>
                <a:spcPts val="300"/>
              </a:spcAft>
              <a:tabLst>
                <a:tab pos="0" algn="l"/>
              </a:tabLst>
            </a:pPr>
            <a:r>
              <a:rPr lang="en-US" sz="1100" b="0" u="none" strike="noStrike">
                <a:solidFill>
                  <a:srgbClr val="1A1A1A"/>
                </a:solidFill>
                <a:effectLst/>
                <a:uFillTx/>
                <a:latin typeface="Times New Roman"/>
                <a:ea typeface="Times New Roman"/>
              </a:rPr>
              <a:t>[7] C. Latimer, N. Boschi, A. Neeser, C. Bartholomew, G. Srivastava, X. Wang, and N. Ramakrishnan, "Hindsight is 20/20: Building agent memory that retains, recalls, and reflects," arXiv preprint arXiv:2512.12818 [cs.CL], Dec. 2025. [Online]. Available: https://arxiv.org/abs/2512.12818</a:t>
            </a:r>
            <a:endParaRPr lang="en-US" sz="1100" b="0" u="none" strike="noStrike">
              <a:solidFill>
                <a:srgbClr val="000000"/>
              </a:solidFill>
              <a:effectLst/>
              <a:uFillTx/>
              <a:latin typeface="Arial"/>
            </a:endParaRPr>
          </a:p>
          <a:p>
            <a:pPr defTabSz="914400">
              <a:lnSpc>
                <a:spcPct val="100000"/>
              </a:lnSpc>
              <a:spcAft>
                <a:spcPts val="300"/>
              </a:spcAft>
              <a:tabLst>
                <a:tab pos="0" algn="l"/>
              </a:tabLst>
            </a:pPr>
            <a:r>
              <a:rPr lang="en-US" sz="1100" b="0" u="none" strike="noStrike">
                <a:solidFill>
                  <a:srgbClr val="1A1A1A"/>
                </a:solidFill>
                <a:effectLst/>
                <a:uFillTx/>
                <a:latin typeface="Times New Roman"/>
                <a:ea typeface="Times New Roman"/>
              </a:rPr>
              <a:t>[8] Neo4j, Inc., "Query the database," in Neo4j HTTP API Manual, Version 5 (page marked deprecated in 5.26). Neo4j, Inc., 2026. [Online]. Available: https://neo4j.com/docs/http-api/5/query/ (accessed Oct. 6, 2026).</a:t>
            </a:r>
            <a:endParaRPr lang="en-US" sz="1100" b="0" u="none" strike="noStrike">
              <a:solidFill>
                <a:srgbClr val="000000"/>
              </a:solidFill>
              <a:effectLst/>
              <a:uFillTx/>
              <a:latin typeface="Arial"/>
            </a:endParaRPr>
          </a:p>
        </p:txBody>
      </p:sp>
      <p:sp>
        <p:nvSpPr>
          <p:cNvPr id="94" name="Text 2"/>
          <p:cNvSpPr/>
          <p:nvPr/>
        </p:nvSpPr>
        <p:spPr>
          <a:xfrm>
            <a:off x="6255720" y="1216080"/>
            <a:ext cx="5340240" cy="5137920"/>
          </a:xfrm>
          <a:prstGeom prst="rect">
            <a:avLst/>
          </a:prstGeom>
          <a:noFill/>
          <a:ln w="0">
            <a:noFill/>
          </a:ln>
        </p:spPr>
        <p:style>
          <a:lnRef idx="0"/>
          <a:fillRef idx="0"/>
          <a:effectRef idx="0"/>
          <a:fontRef idx="minor"/>
        </p:style>
        <p:txBody>
          <a:bodyPr lIns="0" tIns="0" rIns="0" bIns="0" anchor="t">
            <a:noAutofit/>
          </a:bodyPr>
          <a:p>
            <a:pPr defTabSz="914400">
              <a:lnSpc>
                <a:spcPct val="100000"/>
              </a:lnSpc>
              <a:spcAft>
                <a:spcPts val="300"/>
              </a:spcAft>
              <a:tabLst>
                <a:tab pos="0" algn="l"/>
              </a:tabLst>
            </a:pPr>
            <a:r>
              <a:rPr lang="en-US" sz="1100" b="0" u="none" strike="noStrike">
                <a:solidFill>
                  <a:srgbClr val="1A1A1A"/>
                </a:solidFill>
                <a:effectLst/>
                <a:uFillTx/>
                <a:latin typeface="Times New Roman"/>
                <a:ea typeface="Times New Roman"/>
              </a:rPr>
              <a:t>[9] M. Zechner et al., "pi: AI agent toolkit (unified LLM API, agent loop, TUI, coding agent CLI)," package @earendil-works/pi-coding-agent, v1.0.2 (version locked by the project's package-lock.json; latest is 1.0.4 on Oct. 6, 2026), GitHub repository, 2026. [Online]. Available: https://github.com/earendil-works/pi (accessed Oct. 6, 2026).</a:t>
            </a:r>
            <a:endParaRPr lang="en-US" sz="1100" b="0" u="none" strike="noStrike">
              <a:solidFill>
                <a:srgbClr val="000000"/>
              </a:solidFill>
              <a:effectLst/>
              <a:uFillTx/>
              <a:latin typeface="Arial"/>
            </a:endParaRPr>
          </a:p>
          <a:p>
            <a:pPr defTabSz="914400">
              <a:lnSpc>
                <a:spcPct val="100000"/>
              </a:lnSpc>
              <a:spcAft>
                <a:spcPts val="300"/>
              </a:spcAft>
              <a:tabLst>
                <a:tab pos="0" algn="l"/>
              </a:tabLst>
            </a:pPr>
            <a:r>
              <a:rPr lang="en-US" sz="1100" b="0" u="none" strike="noStrike">
                <a:solidFill>
                  <a:srgbClr val="1A1A1A"/>
                </a:solidFill>
                <a:effectLst/>
                <a:uFillTx/>
                <a:latin typeface="Times New Roman"/>
                <a:ea typeface="Times New Roman"/>
              </a:rPr>
              <a:t>[10] PostgreSQL Global Development Group, "PostgreSQL 17 Documentation, Chapter 12: Full Text Search (Sections 12.2.2, 12.3.2, 12.3.3, 12.9) and Section 64.4: GIN Indexes," PostgreSQL 17.11 documentation, 2026. [Online]. Available: https://www.postgresql.org/docs/17/textsearch.html (accessed Oct. 6, 2026).</a:t>
            </a:r>
            <a:endParaRPr lang="en-US" sz="1100" b="0" u="none" strike="noStrike">
              <a:solidFill>
                <a:srgbClr val="000000"/>
              </a:solidFill>
              <a:effectLst/>
              <a:uFillTx/>
              <a:latin typeface="Arial"/>
            </a:endParaRPr>
          </a:p>
          <a:p>
            <a:pPr defTabSz="914400">
              <a:lnSpc>
                <a:spcPct val="100000"/>
              </a:lnSpc>
              <a:spcAft>
                <a:spcPts val="300"/>
              </a:spcAft>
              <a:tabLst>
                <a:tab pos="0" algn="l"/>
              </a:tabLst>
            </a:pPr>
            <a:r>
              <a:rPr lang="en-US" sz="1100" b="0" u="none" strike="noStrike">
                <a:solidFill>
                  <a:srgbClr val="1A1A1A"/>
                </a:solidFill>
                <a:effectLst/>
                <a:uFillTx/>
                <a:latin typeface="Times New Roman"/>
                <a:ea typeface="Times New Roman"/>
              </a:rPr>
              <a:t>[11] A. Kane et al., "pgvector: Open-source vector similarity search for Postgres," source code repository and README (0.8.6 installed in the test database, v0.8.7 tag also released), Oct. 2026. [Online]. Available: https://github.com/pgvector/pgvector (accessed Oct. 6, 2026).</a:t>
            </a:r>
            <a:endParaRPr lang="en-US" sz="1100" b="0" u="none" strike="noStrike">
              <a:solidFill>
                <a:srgbClr val="000000"/>
              </a:solidFill>
              <a:effectLst/>
              <a:uFillTx/>
              <a:latin typeface="Arial"/>
            </a:endParaRPr>
          </a:p>
          <a:p>
            <a:pPr defTabSz="914400">
              <a:lnSpc>
                <a:spcPct val="100000"/>
              </a:lnSpc>
              <a:spcAft>
                <a:spcPts val="300"/>
              </a:spcAft>
              <a:tabLst>
                <a:tab pos="0" algn="l"/>
              </a:tabLst>
            </a:pPr>
            <a:r>
              <a:rPr lang="en-US" sz="1100" b="0" u="none" strike="noStrike">
                <a:solidFill>
                  <a:srgbClr val="1A1A1A"/>
                </a:solidFill>
                <a:effectLst/>
                <a:uFillTx/>
                <a:latin typeface="Times New Roman"/>
                <a:ea typeface="Times New Roman"/>
              </a:rPr>
              <a:t>[12] G. V. Cormack, C. L. A. Clarke, and S. Büttcher, "Reciprocal rank fusion outperforms Condorcet and individual rank learning methods," in Proc. 32nd Int. ACM SIGIR Conf. Research and Development in Information Retrieval (SIGIR '09), Boston, MA, USA, Jul. 2009, pp. 758-759, doi: 10.1145/1571941.1572114.</a:t>
            </a:r>
            <a:endParaRPr lang="en-US" sz="1100" b="0" u="none" strike="noStrike">
              <a:solidFill>
                <a:srgbClr val="000000"/>
              </a:solidFill>
              <a:effectLst/>
              <a:uFillTx/>
              <a:latin typeface="Arial"/>
            </a:endParaRPr>
          </a:p>
          <a:p>
            <a:pPr defTabSz="914400">
              <a:lnSpc>
                <a:spcPct val="100000"/>
              </a:lnSpc>
              <a:spcAft>
                <a:spcPts val="300"/>
              </a:spcAft>
              <a:tabLst>
                <a:tab pos="0" algn="l"/>
              </a:tabLst>
            </a:pPr>
            <a:r>
              <a:rPr lang="en-US" sz="1100" b="0" u="none" strike="noStrike">
                <a:solidFill>
                  <a:srgbClr val="1A1A1A"/>
                </a:solidFill>
                <a:effectLst/>
                <a:uFillTx/>
                <a:latin typeface="Times New Roman"/>
                <a:ea typeface="Times New Roman"/>
              </a:rPr>
              <a:t>[13] Y. Zhang, M. Li, D. Long, X. Zhang, H. Lin, B. Yang, P. Xie, A. Yang, D. Liu, J. Lin, F. Huang, and J. Zhou, "Qwen3 Embedding: Advancing text embedding and reranking through foundation models," arXiv preprint arXiv:2506.05176 [cs.CL], Jun. 2025. [Online]. Available: https://arxiv.org/abs/2506.05176</a:t>
            </a:r>
            <a:endParaRPr lang="en-US" sz="1100" b="0" u="none" strike="noStrike">
              <a:solidFill>
                <a:srgbClr val="000000"/>
              </a:solidFill>
              <a:effectLst/>
              <a:uFillTx/>
              <a:latin typeface="Arial"/>
            </a:endParaRPr>
          </a:p>
          <a:p>
            <a:pPr defTabSz="914400">
              <a:lnSpc>
                <a:spcPct val="100000"/>
              </a:lnSpc>
              <a:spcAft>
                <a:spcPts val="300"/>
              </a:spcAft>
              <a:tabLst>
                <a:tab pos="0" algn="l"/>
              </a:tabLst>
            </a:pPr>
            <a:r>
              <a:rPr lang="en-US" sz="1100" b="0" u="none" strike="noStrike">
                <a:solidFill>
                  <a:srgbClr val="1A1A1A"/>
                </a:solidFill>
                <a:effectLst/>
                <a:uFillTx/>
                <a:latin typeface="Times New Roman"/>
                <a:ea typeface="Times New Roman"/>
              </a:rPr>
              <a:t>[14] T. Dettmers, A. Pagnoni, A. Holtzman, and L. Zettlemoyer, "QLoRA: Efficient finetuning of quantized LLMs," in Advances in Neural Information Processing Systems 36 (NeurIPS 2023), 2023, pp. 10088-10115, doi: 10.52202/075280-0441. Also arXiv:2305.14314.</a:t>
            </a:r>
            <a:endParaRPr lang="en-US" sz="1100" b="0" u="none" strike="noStrike">
              <a:solidFill>
                <a:srgbClr val="000000"/>
              </a:solidFill>
              <a:effectLst/>
              <a:uFillTx/>
              <a:latin typeface="Arial"/>
            </a:endParaRPr>
          </a:p>
          <a:p>
            <a:pPr defTabSz="914400">
              <a:lnSpc>
                <a:spcPct val="100000"/>
              </a:lnSpc>
              <a:spcAft>
                <a:spcPts val="300"/>
              </a:spcAft>
              <a:tabLst>
                <a:tab pos="0" algn="l"/>
              </a:tabLst>
            </a:pPr>
            <a:r>
              <a:rPr lang="en-US" sz="1100" b="0" u="none" strike="noStrike">
                <a:solidFill>
                  <a:srgbClr val="1A1A1A"/>
                </a:solidFill>
                <a:effectLst/>
                <a:uFillTx/>
                <a:latin typeface="Times New Roman"/>
                <a:ea typeface="Times New Roman"/>
              </a:rPr>
              <a:t>[15] A. Maharana, D.-H. Lee, S. Tulyakov, M. Bansal, F. Barbieri, and Y. Fang, "Evaluating very long-term conversational memory of LLM agents," in Proc. 62nd Annu. Meeting Assoc. Comput. Linguistics (Volume 1: Long Papers), Bangkok, Thailand, Aug. 2024, pp. 13851-13870, doi: 10.18653/v1/2024.acl-long.747. [Online]. Available: https://aclanthology.org/2024.acl-long.747/ (preprint: arXiv:2402.17753)</a:t>
            </a:r>
            <a:endParaRPr lang="en-US" sz="1100" b="0" u="none" strike="noStrike">
              <a:solidFill>
                <a:srgbClr val="000000"/>
              </a:solidFill>
              <a:effectLst/>
              <a:uFillTx/>
              <a:latin typeface="Arial"/>
            </a:endParaRPr>
          </a:p>
        </p:txBody>
      </p:sp>
      <p:sp>
        <p:nvSpPr>
          <p:cNvPr id="95" name="PlaceHolder 2"/>
          <p:cNvSpPr>
            <a:spLocks noGrp="1"/>
          </p:cNvSpPr>
          <p:nvPr>
            <p:ph type="sldNum" idx="14"/>
          </p:nvPr>
        </p:nvSpPr>
        <p:spPr>
          <a:xfrm>
            <a:off x="10865880" y="384120"/>
            <a:ext cx="730440" cy="456120"/>
          </a:xfrm>
          <a:prstGeom prst="rect">
            <a:avLst/>
          </a:prstGeom>
          <a:noFill/>
          <a:ln w="0">
            <a:noFill/>
          </a:ln>
        </p:spPr>
        <p:txBody>
          <a:bodyPr lIns="90000" tIns="45000" rIns="90000" bIns="45000" anchor="t">
            <a:noAutofit/>
          </a:bodyPr>
          <a:lstStyle>
            <a:lvl1pPr indent="0" algn="r" defTabSz="914400">
              <a:lnSpc>
                <a:spcPct val="100000"/>
              </a:lnSpc>
              <a:buNone/>
              <a:tabLst>
                <a:tab pos="0" algn="l"/>
              </a:tabLst>
              <a:defRPr lang="en-US" sz="1600" b="0" u="none" strike="noStrike">
                <a:solidFill>
                  <a:srgbClr val="000000"/>
                </a:solidFill>
                <a:effectLst/>
                <a:uFillTx/>
                <a:latin typeface="Times New Roman"/>
                <a:ea typeface="Times New Roman"/>
              </a:defRPr>
            </a:lvl1pPr>
          </a:lstStyle>
          <a:p>
            <a:pPr indent="0" algn="r" defTabSz="914400">
              <a:lnSpc>
                <a:spcPct val="100000"/>
              </a:lnSpc>
              <a:buNone/>
              <a:tabLst>
                <a:tab pos="0" algn="l"/>
              </a:tabLst>
            </a:pPr>
            <a:fld id="{F03C0F4D-34BF-42B4-94F3-F4A577F82237}" type="slidenum">
              <a:rPr lang="en-US" sz="1600" b="0" u="none" strike="noStrike">
                <a:solidFill>
                  <a:srgbClr val="000000"/>
                </a:solidFill>
                <a:effectLst/>
                <a:uFillTx/>
                <a:latin typeface="Times New Roman"/>
                <a:ea typeface="Times New Roman"/>
              </a:rPr>
              <a:t>&lt;number&gt;</a:t>
            </a:fld>
            <a:endParaRPr lang="en-US" sz="1600" b="0" u="none" strike="noStrike">
              <a:solidFill>
                <a:srgbClr val="000000"/>
              </a:solidFill>
              <a:effectLst/>
              <a:uFillTx/>
              <a:latin typeface="Times New Roman"/>
            </a:endParaRPr>
          </a:p>
        </p:txBody>
      </p:sp>
    </p:spTree>
  </p:cSld>
  <mc:AlternateContent>
    <mc:Choice Requires="p14">
      <p:transition spd="slow" p14:dur="2000"/>
    </mc:Choice>
    <mc:Fallback>
      <p:transition spd="slow"/>
    </mc:Fallback>
  </mc:AlternateContent>
</p:sld>
</file>

<file path=ppt/theme/theme1.xml><?xml version="1.0" encoding="utf-8"?>
<a:theme xmlns:a="http://schemas.openxmlformats.org/drawingml/2006/main" xmlns:r="http://schemas.openxmlformats.org/officeDocument/2006/relationships" name="Second Review">
  <a:themeElements>
    <a:clrScheme name="Second Review">
      <a:dk1>
        <a:srgbClr val="000000"/>
      </a:dk1>
      <a:lt1>
        <a:srgbClr val="FFFFFF"/>
      </a:lt1>
      <a:dk2>
        <a:srgbClr val="333333"/>
      </a:dk2>
      <a:lt2>
        <a:srgbClr val="F2F2F2"/>
      </a:lt2>
      <a:accent1>
        <a:srgbClr val="333333"/>
      </a:accent1>
      <a:accent2>
        <a:srgbClr val="595959"/>
      </a:accent2>
      <a:accent3>
        <a:srgbClr val="808080"/>
      </a:accent3>
      <a:accent4>
        <a:srgbClr val="BFBFBF"/>
      </a:accent4>
      <a:accent5>
        <a:srgbClr val="D9D9D9"/>
      </a:accent5>
      <a:accent6>
        <a:srgbClr val="F2F2F2"/>
      </a:accent6>
      <a:hlink>
        <a:srgbClr val="333333"/>
      </a:hlink>
      <a:folHlink>
        <a:srgbClr val="595959"/>
      </a:folHlink>
    </a:clrScheme>
    <a:fontScheme name="Second Review">
      <a:majorFont>
        <a:latin typeface="Times New Roman" pitchFamily="0" charset="1"/>
        <a:ea typeface=""/>
        <a:cs typeface=""/>
      </a:majorFont>
      <a:minorFont>
        <a:latin typeface="Times New Roman" pitchFamily="0" charset="1"/>
        <a:ea typeface=""/>
        <a:cs typeface=""/>
      </a:minorFont>
    </a:fontScheme>
    <a:fmtScheme>
      <a:fillStyleLst>
        <a:solidFill>
          <a:schemeClr val="phClr"/>
        </a:solidFill>
        <a:gradFill>
          <a:gsLst>
            <a:gs pos="0">
              <a:schemeClr val="phClr">
                <a:lumMod val="110000"/>
                <a:tint val="67000"/>
              </a:schemeClr>
            </a:gs>
            <a:gs pos="50000">
              <a:schemeClr val="phClr">
                <a:lumMod val="105000"/>
                <a:tint val="73000"/>
              </a:schemeClr>
            </a:gs>
            <a:gs pos="100000">
              <a:schemeClr val="phClr">
                <a:lumMod val="105000"/>
                <a:tint val="81000"/>
              </a:schemeClr>
            </a:gs>
          </a:gsLst>
          <a:lin ang="5400000" scaled="0"/>
          <a:tileRect l="0" t="0" r="0" b="0"/>
        </a:gradFill>
        <a:gradFill>
          <a:gsLst>
            <a:gs pos="0">
              <a:schemeClr val="phClr">
                <a:lumMod val="102000"/>
                <a:tint val="94000"/>
              </a:schemeClr>
            </a:gs>
            <a:gs pos="50000">
              <a:schemeClr val="phClr">
                <a:lumMod val="100000"/>
                <a:shade val="100000"/>
              </a:schemeClr>
            </a:gs>
            <a:gs pos="100000">
              <a:schemeClr val="phClr">
                <a:lumMod val="99000"/>
                <a:shade val="78000"/>
              </a:schemeClr>
            </a:gs>
          </a:gsLst>
          <a:lin ang="5400000" scaled="0"/>
          <a:tileRect l="0" t="0" r="0" b="0"/>
        </a:gradFill>
      </a:fillStyleLst>
      <a:lnStyleLst>
        <a:ln w="6350" cap="flat" cmpd="sng" algn="ctr">
          <a:prstDash val="solid"/>
          <a:miter lim="800000"/>
        </a:ln>
        <a:ln w="12700" cap="flat" cmpd="sng" algn="ctr">
          <a:prstDash val="solid"/>
          <a:miter lim="800000"/>
        </a:ln>
        <a:ln w="19050" cap="flat" cmpd="sng" algn="ctr">
          <a:prstDash val="solid"/>
          <a:miter lim="800000"/>
        </a:ln>
      </a:lnStyleLst>
      <a:effectStyleLst>
        <a:effectStyle>
          <a:effectLst/>
        </a:effectStyle>
        <a:effectStyle>
          <a:effectLst/>
        </a:effectStyle>
        <a:effectStyle>
          <a:effectLst/>
        </a:effectStyle>
      </a:effectStyleLst>
      <a:bgFillStyleLst>
        <a:solidFill>
          <a:schemeClr val="phClr"/>
        </a:solidFill>
        <a:solidFill>
          <a:schemeClr val="phClr">
            <a:tint val="95000"/>
          </a:schemeClr>
        </a:solidFill>
        <a:gradFill>
          <a:gsLst>
            <a:gs pos="0">
              <a:schemeClr val="phClr">
                <a:tint val="93000"/>
                <a:shade val="98000"/>
                <a:lumMod val="102000"/>
              </a:schemeClr>
            </a:gs>
            <a:gs pos="50000">
              <a:schemeClr val="phClr">
                <a:tint val="98000"/>
                <a:shade val="90000"/>
                <a:lumMod val="103000"/>
              </a:schemeClr>
            </a:gs>
            <a:gs pos="100000">
              <a:schemeClr val="phClr">
                <a:shade val="63000"/>
              </a:schemeClr>
            </a:gs>
          </a:gsLst>
          <a:lin ang="5400000" scaled="0"/>
          <a:tileRect l="0" t="0" r="0" b="0"/>
        </a:gradFill>
      </a:bgFillStyleLst>
    </a:fmtScheme>
  </a:themeElements>
</a:theme>
</file>

<file path=ppt/theme/theme4.xml><?xml version="1.0" encoding="utf-8"?>
<a:theme xmlns:a="http://schemas.openxmlformats.org/drawingml/2006/main" xmlns:r="http://schemas.openxmlformats.org/officeDocument/2006/relationships" name="Office Theme">
  <a:themeElements>
    <a:clrScheme name="LibreOffice">
      <a:dk1>
        <a:srgbClr val="000000"/>
      </a:dk1>
      <a:lt1>
        <a:srgbClr val="FFFFFF"/>
      </a:lt1>
      <a:dk2>
        <a:srgbClr val="000000"/>
      </a:dk2>
      <a:lt2>
        <a:srgbClr val="FFFFFF"/>
      </a:lt2>
      <a:accent1>
        <a:srgbClr val="18A303"/>
      </a:accent1>
      <a:accent2>
        <a:srgbClr val="0369A3"/>
      </a:accent2>
      <a:accent3>
        <a:srgbClr val="A33E03"/>
      </a:accent3>
      <a:accent4>
        <a:srgbClr val="8E03A3"/>
      </a:accent4>
      <a:accent5>
        <a:srgbClr val="C99C00"/>
      </a:accent5>
      <a:accent6>
        <a:srgbClr val="C9211E"/>
      </a:accent6>
      <a:hlink>
        <a:srgbClr val="0000EE"/>
      </a:hlink>
      <a:folHlink>
        <a:srgbClr val="551A8B"/>
      </a:folHlink>
    </a:clrScheme>
    <a:fontScheme name="Office">
      <a:majorFont>
        <a:latin typeface="Arial" pitchFamily="0" charset="1"/>
        <a:ea typeface="DejaVu Sans" pitchFamily="0" charset="1"/>
        <a:cs typeface="DejaVu Sans" pitchFamily="0" charset="1"/>
      </a:majorFont>
      <a:minorFont>
        <a:latin typeface="Arial" pitchFamily="0" charset="1"/>
        <a:ea typeface="DejaVu Sans" pitchFamily="0" charset="1"/>
        <a:cs typeface="DejaVu Sans" pitchFamily="0" charset="1"/>
      </a:minorFont>
    </a:fontScheme>
    <a:fmtScheme>
      <a:fillStyleLst>
        <a:solidFill>
          <a:schemeClr val="phClr"/>
        </a:solidFill>
        <a:solidFill>
          <a:schemeClr val="phClr"/>
        </a:solidFill>
        <a:solidFill>
          <a:schemeClr val="phClr"/>
        </a:solidFill>
      </a:fillStyleLst>
      <a:lnStyleLst>
        <a:ln w="6350" cap="flat" cmpd="sng" algn="ctr">
          <a:prstDash val="solid"/>
          <a:miter/>
        </a:ln>
        <a:ln w="6350" cap="flat" cmpd="sng" algn="ctr">
          <a:prstDash val="solid"/>
          <a:miter/>
        </a:ln>
        <a:ln w="6350" cap="flat" cmpd="sng" algn="ctr">
          <a:prstDash val="solid"/>
          <a:miter/>
        </a:ln>
      </a:lnStyleLst>
      <a:effectStyleLst>
        <a:effectStyle>
          <a:effectLst/>
        </a:effectStyle>
        <a:effectStyle>
          <a:effectLst/>
        </a:effectStyle>
        <a:effectStyle>
          <a:effectLst/>
        </a:effectStyle>
      </a:effectStyleLst>
      <a:bgFillStyleLst>
        <a:solidFill>
          <a:schemeClr val="phClr"/>
        </a:solidFill>
        <a:solidFill>
          <a:schemeClr val="phClr"/>
        </a:solidFill>
        <a:solidFill>
          <a:schemeClr val="phClr"/>
        </a:solidFill>
      </a:bgFillStyleLst>
    </a:fmtScheme>
  </a:themeElements>
</a:theme>
</file>

<file path=docProps/app.xml><?xml version="1.0" encoding="utf-8"?>
<Properties xmlns="http://schemas.openxmlformats.org/officeDocument/2006/extended-properties" xmlns:vt="http://schemas.openxmlformats.org/officeDocument/2006/docPropsVTypes">
  <Template/>
  <TotalTime>146</TotalTime>
  <Application>LibreOffice/26.2.6.3$Linux_X86_64 LibreOffice_project/620$Build-3</Application>
  <AppVersion>15.0000</AppVersion>
  <Company>PptxGenJS</Company>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erms:created xsi:type="dcterms:W3CDTF">2026-10-06T07:36:11Z</dcterms:created>
  <dc:creator>Team 13</dc:creator>
  <dc:description/>
  <dc:language>en-US</dc:language>
  <cp:lastModifiedBy/>
  <dcterms:modified xsi:type="dcterms:W3CDTF">2026-10-14T16:59:10Z</dcterms:modified>
  <cp:revision>16</cp:revision>
  <dc:subject>Second Project Review</dc:subject>
  <dc:title>Long-Term Memory Engine for AI Agents in Rust, Second Review</dc:title>
</cp:coreProperties>
</file>

<file path=docProps/custom.xml><?xml version="1.0" encoding="utf-8"?>
<Properties xmlns="http://schemas.openxmlformats.org/officeDocument/2006/custom-properties" xmlns:vt="http://schemas.openxmlformats.org/officeDocument/2006/docPropsVTypes">
  <property fmtid="{D5CDD505-2E9C-101B-9397-08002B2CF9AE}" pid="2" name="Notes">
    <vt:i4>16</vt:i4>
  </property>
  <property fmtid="{D5CDD505-2E9C-101B-9397-08002B2CF9AE}" pid="3" name="PresentationFormat">
    <vt:lpwstr>On-screen Show (16:9)</vt:lpwstr>
  </property>
  <property fmtid="{D5CDD505-2E9C-101B-9397-08002B2CF9AE}" pid="4" name="Slides">
    <vt:i4>16</vt:i4>
  </property>
</Properties>
</file>