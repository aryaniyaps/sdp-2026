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4.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5"/>
    <p:sldId id="279" r:id="rId28"/>
    <p:sldId id="280" r:id="rId29"/>
    <p:sldId id="281" r:id="rId30"/>
    <p:sldId id="282" r:id="rId31"/>
    <p:sldId id="283" r:id="rId32"/>
    <p:sldId id="284" r:id="rId33"/>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3.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presProps" Target="presProps.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 name="PlaceHolder 1"/>
          <p:cNvSpPr>
            <a:spLocks noGrp="1"/>
          </p:cNvSpPr>
          <p:nvPr>
            <p:ph type="sldImg"/>
          </p:nvPr>
        </p:nvSpPr>
        <p:spPr>
          <a:xfrm>
            <a:off x="0" y="764280"/>
            <a:ext cx="0" cy="0"/>
          </a:xfrm>
          <a:prstGeom prst="rect">
            <a:avLst/>
          </a:prstGeom>
          <a:noFill/>
          <a:ln w="0">
            <a:noFill/>
          </a:ln>
        </p:spPr>
        <p:txBody>
          <a:bodyPr lIns="0" tIns="0" rIns="0" bIns="0" anchor="ctr">
            <a:noAutofit/>
          </a:bodyPr>
          <a:p>
            <a:r>
              <a:rPr lang="en-US" sz="3600" b="0" u="none" strike="noStrike">
                <a:solidFill>
                  <a:schemeClr val="dk1"/>
                </a:solidFill>
                <a:effectLst/>
                <a:uFillTx/>
                <a:latin typeface="Times New Roman"/>
              </a:rPr>
              <a:t>Click to move the slide</a:t>
            </a:r>
            <a:endParaRPr lang="en-US" sz="3600" b="0" u="none" strike="noStrike">
              <a:solidFill>
                <a:schemeClr val="dk1"/>
              </a:solidFill>
              <a:effectLst/>
              <a:uFillTx/>
              <a:latin typeface="Times New Roman"/>
            </a:endParaRPr>
          </a:p>
        </p:txBody>
      </p:sp>
      <p:sp>
        <p:nvSpPr>
          <p:cNvPr id="11"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2"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3" name="PlaceHolder 4"/>
          <p:cNvSpPr>
            <a:spLocks noGrp="1"/>
          </p:cNvSpPr>
          <p:nvPr>
            <p:ph type="dt" idx="2"/>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4" name="PlaceHolder 5"/>
          <p:cNvSpPr>
            <a:spLocks noGrp="1"/>
          </p:cNvSpPr>
          <p:nvPr>
            <p:ph type="ftr" idx="3"/>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6"/>
          <p:cNvSpPr>
            <a:spLocks noGrp="1"/>
          </p:cNvSpPr>
          <p:nvPr>
            <p:ph type="sldNum" idx="4"/>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317634A3-7D26-4BCA-864F-E88368E6EC6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sldImg"/>
          </p:nvPr>
        </p:nvSpPr>
        <p:spPr>
          <a:xfrm>
            <a:off x="685800" y="1143000"/>
            <a:ext cx="5485320" cy="3085200"/>
          </a:xfrm>
          <a:prstGeom prst="rect">
            <a:avLst/>
          </a:prstGeom>
          <a:ln w="0">
            <a:noFill/>
          </a:ln>
        </p:spPr>
      </p:sp>
      <p:sp>
        <p:nvSpPr>
          <p:cNvPr id="97" name="PlaceHolder 2"/>
          <p:cNvSpPr>
            <a:spLocks noGrp="1"/>
          </p:cNvSpPr>
          <p:nvPr>
            <p:ph type="body"/>
          </p:nvPr>
        </p:nvSpPr>
        <p:spPr>
          <a:xfrm>
            <a:off x="685800" y="4400640"/>
            <a:ext cx="5485320" cy="3599280"/>
          </a:xfrm>
          <a:prstGeom prst="rect">
            <a:avLst/>
          </a:prstGeom>
          <a:noFill/>
          <a:ln w="0">
            <a:noFill/>
          </a:ln>
        </p:spPr>
        <p:txBody>
          <a:bodyPr lIns="91440" tIns="45720" rIns="91440" bIns="45720" anchor="t">
            <a:noAutofit/>
          </a:bodyPr>
          <a:p>
            <a:r>
              <a:t>We are Team 13. This is our second review of the Long-Term Memory Engine for AI agents, written in Rust. It stores what an agent is told, ties every stored assertion to the message it came from, and brings the right assertions back in a later session. Pi in this deck is the Pi coding agent, not a Raspberry Pi.</a:t>
            </a:r>
          </a:p>
        </p:txBody>
      </p:sp>
      <p:sp>
        <p:nvSpPr>
          <p:cNvPr id="98" name="PlaceHolder 3"/>
          <p:cNvSpPr>
            <a:spLocks noGrp="1"/>
          </p:cNvSpPr>
          <p:nvPr>
            <p:ph type="sldNum" idx="15"/>
          </p:nvPr>
        </p:nvSpPr>
        <p:spPr>
          <a:xfrm>
            <a:off x="3884760" y="8685360"/>
            <a:ext cx="2970720" cy="4575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EA25BEB-A7A5-40D7-B7AC-0E97B534B31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An LLM call remembers nothing from earlier calls, so an agent that works across many sessions needs somewhere to keep what it was told. Putting the whole history back in the prompt is the obvious fix, but Liu et al. showed models use the middle of a long input poorly, and it gets slower and more expensive as the history grows. LongMemEval lists the abilities we are aiming for. The release-freeze example is the behaviour we want and is the same one shown in the demo.</a:t>
            </a:r>
          </a:p>
        </p:txBody>
      </p:sp>
      <p:sp>
        <p:nvSpPr>
          <p:cNvPr id="4" name="Slide Number Placeholder 3"/>
          <p:cNvSpPr>
            <a:spLocks noGrp="1"/>
          </p:cNvSpPr>
          <p:nvPr>
            <p:ph type="sldNum" idx="4"/>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MemGPT is a preprint; Letta grew out of it, so this row describes the paper, not the product. Zep's numbers come from the authors' own single run, and Zep calls its graph edges 'facts'. Mem0's authors work for Mem0 and ran only LoCoMo, where the full history actually scored higher on the judge metric.</a:t>
            </a:r>
          </a:p>
        </p:txBody>
      </p:sp>
      <p:sp>
        <p:nvSpPr>
          <p:cNvPr id="4" name="Slide Number Placeholder 3"/>
          <p:cNvSpPr>
            <a:spLocks noGrp="1"/>
          </p:cNvSpPr>
          <p:nvPr>
            <p:ph type="sldNum" idx="4"/>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We cite Supermemory for how it works only and do not repeat its numbers. Hindsight shaped our recall step: several searches fused by rank and packed to a budget. The last row is the baseline every system here is trying to beat. None of these scores can be ranked against each other, because each paper uses its own models, judges and benchmarks.</a:t>
            </a:r>
          </a:p>
        </p:txBody>
      </p:sp>
      <p:sp>
        <p:nvSpPr>
          <p:cNvPr id="4" name="Slide Number Placeholder 3"/>
          <p:cNvSpPr>
            <a:spLocks noGrp="1"/>
          </p:cNvSpPr>
          <p:nvPr>
            <p:ph type="sldNum" idx="4"/>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are the gaps we found while reading the literature, not problems we hit while building. The first is the main one: in MemGPT and Mem0 the model itself decides whether to add, update or delete, so a bad call is a lost or corrupted memory and there is no rule to inspect. Only Zep keeps the old value, and it does so inside the graph database. The remaining gaps are about trust and cost. Zep and Mem0 run extraction on hosted OpenAI models. And the published numbers come from the authors' own runs with different setups, so they cannot be compared. Our objectives on the next slide follow directly from these five gaps.</a:t>
            </a:r>
          </a:p>
        </p:txBody>
      </p:sp>
      <p:sp>
        <p:nvSpPr>
          <p:cNvPr id="4" name="Slide Number Placeholder 3"/>
          <p:cNvSpPr>
            <a:spLocks noGrp="1"/>
          </p:cNvSpPr>
          <p:nvPr>
            <p:ph type="sldNum" idx="4"/>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Each objective answers one of the gaps. Keeping old versions and linking to the source message answer the overwrite and traceability gaps, the local model answers the hosted-model gap, and the last objective is about making our own numbers repeatable.</a:t>
            </a:r>
          </a:p>
        </p:txBody>
      </p:sp>
      <p:sp>
        <p:nvSpPr>
          <p:cNvPr id="4" name="Slide Number Placeholder 3"/>
          <p:cNvSpPr>
            <a:spLocks noGrp="1"/>
          </p:cNvSpPr>
          <p:nvPr>
            <p:ph type="sldNum" idx="4"/>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Pi saves every message through M1 and asks M4 for memory before it answers. M2 turns saved messages into assertions, and M3 is the only part that writes them, keeping old versions. PostgreSQL is the store of record; Neo4j holds a graph copy that can be rebuilt from it. Ollama runs the models locally, and M5 trains the extraction model offline.</a:t>
            </a:r>
          </a:p>
        </p:txBody>
      </p:sp>
      <p:sp>
        <p:nvSpPr>
          <p:cNvPr id="4" name="Slide Number Placeholder 3"/>
          <p:cNvSpPr>
            <a:spLocks noGrp="1"/>
          </p:cNvSpPr>
          <p:nvPr>
            <p:ph type="sldNum" idx="4"/>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Module 1 saves the raw messages before any model touches them, so a failed model call can never lose a conversation. Retries are safe because the same request hash returns the same IDs.</a:t>
            </a:r>
          </a:p>
        </p:txBody>
      </p:sp>
      <p:sp>
        <p:nvSpPr>
          <p:cNvPr id="4" name="Slide Number Placeholder 3"/>
          <p:cNvSpPr>
            <a:spLocks noGrp="1"/>
          </p:cNvSpPr>
          <p:nvPr>
            <p:ph type="sldNum" idx="4"/>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Both stages call the same local model, and the prompt builder fits new messages and related existing assertions into its input. In the Maya example, 'Bengaluru is now my home city' comes out as a correction to Chennai, and three work assertions become one inference.</a:t>
            </a:r>
          </a:p>
        </p:txBody>
      </p:sp>
      <p:sp>
        <p:nvSpPr>
          <p:cNvPr id="4" name="Slide Number Placeholder 3"/>
          <p:cNvSpPr>
            <a:spLocks noGrp="1"/>
          </p:cNvSpPr>
          <p:nvPr>
            <p:ph type="sldNum" idx="4"/>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is where the update rule lives, and it is code, not a model decision. Everything for a job happens in one transaction that holds a namespace lock. Chennai stays on record as valid from 1 to 10 October and superseded; Bengaluru is active from 10 October and linked to its quote. When an assertion changes, inferences built on it are marked stale.</a:t>
            </a:r>
          </a:p>
        </p:txBody>
      </p:sp>
      <p:sp>
        <p:nvSpPr>
          <p:cNvPr id="4" name="Slide Number Placeholder 3"/>
          <p:cNvSpPr>
            <a:spLocks noGrp="1"/>
          </p:cNvSpPr>
          <p:nvPr>
            <p:ph type="sldNum" idx="4"/>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Recall never trusts the graph on its own: anything found through Neo4j is checked against PostgreSQL before it is used. Packing stops at the token budget, so the agent's prompt stays small.</a:t>
            </a:r>
          </a:p>
        </p:txBody>
      </p:sp>
      <p:sp>
        <p:nvSpPr>
          <p:cNvPr id="4" name="Slide Number Placeholder 3"/>
          <p:cNvSpPr>
            <a:spLocks noGrp="1"/>
          </p:cNvSpPr>
          <p:nvPr>
            <p:ph type="sldNum" idx="4"/>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Labels are checked for structure and exact quotes before they are frozen into training, validation and test splits. Module 5 produces the model that Modules 2 and 4 call. The comparison numbers are on the results slides.</a:t>
            </a:r>
          </a:p>
        </p:txBody>
      </p:sp>
      <p:sp>
        <p:nvSpPr>
          <p:cNvPr id="4" name="Slide Number Placeholder 3"/>
          <p:cNvSpPr>
            <a:spLocks noGrp="1"/>
          </p:cNvSpPr>
          <p:nvPr>
            <p:ph type="sldNum" idx="4"/>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Six algorithms carry the system. The first three run when memory is written, the last three when it is read. Each one gets its own pseudocode on the next slides.</a:t>
            </a:r>
          </a:p>
        </p:txBody>
      </p:sp>
      <p:sp>
        <p:nvSpPr>
          <p:cNvPr id="4" name="Slide Number Placeholder 3"/>
          <p:cNvSpPr>
            <a:spLocks noGrp="1"/>
          </p:cNvSpPr>
          <p:nvPr>
            <p:ph type="sldNum" idx="4"/>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Selection keeps the extraction prompt inside the model's limit without dropping the assertions the new messages talk about. Versioning is the update rule from Module 3, written out.</a:t>
            </a:r>
          </a:p>
        </p:txBody>
      </p:sp>
      <p:sp>
        <p:nvSpPr>
          <p:cNvPr id="4" name="Slide Number Placeholder 3"/>
          <p:cNvSpPr>
            <a:spLocks noGrp="1"/>
          </p:cNvSpPr>
          <p:nvPr>
            <p:ph type="sldNum" idx="4"/>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An inference is only as good as the assertions under it, so when one of them changes the inference is marked stale instead of quietly staying in memory. Retrieval runs several searches because each one misses different things.</a:t>
            </a:r>
          </a:p>
        </p:txBody>
      </p:sp>
      <p:sp>
        <p:nvSpPr>
          <p:cNvPr id="4" name="Slide Number Placeholder 3"/>
          <p:cNvSpPr>
            <a:spLocks noGrp="1"/>
          </p:cNvSpPr>
          <p:nvPr>
            <p:ph type="sldNum" idx="4"/>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 = 60 is the constant from the original RRF paper. The answering step refuses rather than guesses: with nothing retrieved it says so, and an answer that cites nothing is rejected.</a:t>
            </a:r>
          </a:p>
        </p:txBody>
      </p:sp>
      <p:sp>
        <p:nvSpPr>
          <p:cNvPr id="4" name="Slide Number Placeholder 3"/>
          <p:cNvSpPr>
            <a:spLocks noGrp="1"/>
          </p:cNvSpPr>
          <p:nvPr>
            <p:ph type="sldNum" idx="4"/>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service is written in Rust. PostgreSQL is the store of record, and Neo4j is only a copy. Everything model-related runs on Ollama on our own machine.</a:t>
            </a:r>
          </a:p>
        </p:txBody>
      </p:sp>
      <p:sp>
        <p:nvSpPr>
          <p:cNvPr id="4" name="Slide Number Placeholder 3"/>
          <p:cNvSpPr>
            <a:spLocks noGrp="1"/>
          </p:cNvSpPr>
          <p:nvPr>
            <p:ph type="sldNum" idx="4"/>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model side is the standard Hugging Face stack for QLoRA, then llama.cpp to get a GGUF file that Ollama can serve. Pi is the agent we integrate with; the dashboard is React.</a:t>
            </a:r>
          </a:p>
        </p:txBody>
      </p:sp>
      <p:sp>
        <p:nvSpPr>
          <p:cNvPr id="4" name="Slide Number Placeholder 3"/>
          <p:cNvSpPr>
            <a:spLocks noGrp="1"/>
          </p:cNvSpPr>
          <p:nvPr>
            <p:ph type="sldNum" idx="4"/>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All training conversations are synthetic. The teacher model labelled them, a second model checked the labels adversarially, and we cleaned what was left. A lot of rows test whether the model keeps only what the user said, like this one, where the assistant's suggestion must not become a memory.</a:t>
            </a:r>
          </a:p>
        </p:txBody>
      </p:sp>
      <p:sp>
        <p:nvSpPr>
          <p:cNvPr id="4" name="Slide Number Placeholder 3"/>
          <p:cNvSpPr>
            <a:spLocks noGrp="1"/>
          </p:cNvSpPr>
          <p:nvPr>
            <p:ph type="sldNum" idx="4"/>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LoCoMo gives us real-style conversations the model never saw in training. Forty reference assertions is a small set, so we treat these numbers as a check, not a benchmark.</a:t>
            </a:r>
          </a:p>
        </p:txBody>
      </p:sp>
      <p:sp>
        <p:nvSpPr>
          <p:cNvPr id="4" name="Slide Number Placeholder 3"/>
          <p:cNvSpPr>
            <a:spLocks noGrp="1"/>
          </p:cNvSpPr>
          <p:nvPr>
            <p:ph type="sldNum" idx="4"/>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Software is the largest domain because the dataset started as coding conversations only. The count is task rows, not conversations, since one episode can produce an extraction, a consolidation and a question-answering row.</a:t>
            </a:r>
          </a:p>
        </p:txBody>
      </p:sp>
      <p:sp>
        <p:nvSpPr>
          <p:cNvPr id="4" name="Slide Number Placeholder 3"/>
          <p:cNvSpPr>
            <a:spLocks noGrp="1"/>
          </p:cNvSpPr>
          <p:nvPr>
            <p:ph type="sldNum" idx="4"/>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Figures 1 and 2 were captured on 20 October 2026 from the current build, with Pi running Claude Sonnet 5.5 and a fresh namespace. Session 1 is in payments-api and session 2 in mobile-app, so nothing carries over except through the memory service.</a:t>
            </a:r>
          </a:p>
        </p:txBody>
      </p:sp>
      <p:sp>
        <p:nvSpPr>
          <p:cNvPr id="4" name="Slide Number Placeholder 3"/>
          <p:cNvSpPr>
            <a:spLocks noGrp="1"/>
          </p:cNvSpPr>
          <p:nvPr>
            <p:ph type="sldNum" idx="4"/>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In Figure 3 the agent also points out that the stored date has the year 2026 although the user never gave one, which is exactly why answers cite their quotes. Figure 4 is our graph page: the Friday assertion supersedes and contradicts the Thursday one, and the side panel shows its source message.</a:t>
            </a:r>
          </a:p>
        </p:txBody>
      </p:sp>
      <p:sp>
        <p:nvSpPr>
          <p:cNvPr id="4" name="Slide Number Placeholder 3"/>
          <p:cNvSpPr>
            <a:spLocks noGrp="1"/>
          </p:cNvSpPr>
          <p:nvPr>
            <p:ph type="sldNum" idx="4"/>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These come from demos and a database audit on one machine, not from a benchmark. The quote check shows every assertion can be traced, but it does not prove the model read the quote correctly.</a:t>
            </a:r>
          </a:p>
        </p:txBody>
      </p:sp>
      <p:sp>
        <p:nvSpPr>
          <p:cNvPr id="4" name="Slide Number Placeholder 3"/>
          <p:cNvSpPr>
            <a:spLocks noGrp="1"/>
          </p:cNvSpPr>
          <p:nvPr>
            <p:ph type="sldNum" idx="4"/>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1.7B model looked fine on synthetic data and fell apart on natural conversation. That is what pushed us to widen the training data and move to the 4B model. Dates are still the weakest part.</a:t>
            </a:r>
          </a:p>
        </p:txBody>
      </p:sp>
      <p:sp>
        <p:nvSpPr>
          <p:cNvPr id="4" name="Slide Number Placeholder 3"/>
          <p:cNvSpPr>
            <a:spLocks noGrp="1"/>
          </p:cNvSpPr>
          <p:nvPr>
            <p:ph type="sldNum" idx="4"/>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Fine-tuning clearly helped consolidation and answering. Extraction got worse, and we have not worked out why yet. Passing the format check says nothing about whether the content is right, and without the full LongMemEval run we cannot claim an overall improvement.</a:t>
            </a:r>
          </a:p>
        </p:txBody>
      </p:sp>
      <p:sp>
        <p:nvSpPr>
          <p:cNvPr id="4" name="Slide Number Placeholder 3"/>
          <p:cNvSpPr>
            <a:spLocks noGrp="1"/>
          </p:cNvSpPr>
          <p:nvPr>
            <p:ph type="sldNum" idx="4"/>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Implemented means the feature is in the code and tested, not that it has been measured to be good. M2's extraction quality is the main open problem. The biggest missing piece is the LongMemEval-S run, which needs a 277 MB dataset and a lot of model time. Until it is done we cannot say memory improves answers over long histories.</a:t>
            </a:r>
          </a:p>
        </p:txBody>
      </p:sp>
      <p:sp>
        <p:nvSpPr>
          <p:cNvPr id="4" name="Slide Number Placeholder 3"/>
          <p:cNvSpPr>
            <a:spLocks noGrp="1"/>
          </p:cNvSpPr>
          <p:nvPr>
            <p:ph type="sldNum" idx="4"/>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References follow IEEE style and are numbered in the order they are first cited in the slides.</a:t>
            </a:r>
          </a:p>
        </p:txBody>
      </p:sp>
      <p:sp>
        <p:nvSpPr>
          <p:cNvPr id="4" name="Slide Number Placeholder 3"/>
          <p:cNvSpPr>
            <a:spLocks noGrp="1"/>
          </p:cNvSpPr>
          <p:nvPr>
            <p:ph type="sldNum" idx="4"/>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bg>
      <p:bgPr>
        <a:solidFill>
          <a:srgbClr val="FFFFFF"/>
        </a:solidFill>
      </p:bgPr>
    </p:bg>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 name="Shape 1"/>
          <p:cNvSpPr/>
          <p:nvPr/>
        </p:nvSpPr>
        <p:spPr>
          <a:xfrm>
            <a:off x="594360" y="6382440"/>
            <a:ext cx="11002680" cy="360"/>
          </a:xfrm>
          <a:prstGeom prst="line">
            <a:avLst/>
          </a:prstGeom>
          <a:ln w="9525">
            <a:solidFill>
              <a:srgbClr val="BFBFBF"/>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4" name="PlaceHolder 1"/>
          <p:cNvSpPr>
            <a:spLocks noGrp="1"/>
          </p:cNvSpPr>
          <p:nvPr>
            <p:ph type="title"/>
          </p:nvPr>
        </p:nvSpPr>
        <p:spPr>
          <a:xfrm>
            <a:off x="594360" y="384120"/>
            <a:ext cx="9813240" cy="77616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000" b="0" u="none" strike="noStrike">
                <a:solidFill>
                  <a:schemeClr val="dk1"/>
                </a:solidFill>
                <a:effectLst/>
                <a:uFillTx/>
                <a:latin typeface="Times New Roman"/>
              </a:defRPr>
            </a:lvl1pPr>
          </a:lstStyle>
          <a:p>
            <a:pPr indent="0" algn="l">
              <a:lnSpc>
                <a:spcPct val="100000"/>
              </a:lnSpc>
              <a:buNone/>
              <a:tabLst>
                <a:tab pos="0" algn="l"/>
              </a:tabLst>
            </a:pPr>
            <a:r>
              <a:rPr lang="en-US" sz="3000" b="0" u="none" strike="noStrike">
                <a:solidFill>
                  <a:schemeClr val="dk1"/>
                </a:solidFill>
                <a:effectLst/>
                <a:uFillTx/>
                <a:latin typeface="Times New Roman"/>
              </a:rPr>
              <a:t>Click to edit the title text format</a:t>
            </a:r>
            <a:endParaRPr lang="en-US" sz="3000" b="0" u="none" strike="noStrike">
              <a:solidFill>
                <a:schemeClr val="dk1"/>
              </a:solidFill>
              <a:effectLst/>
              <a:uFillTx/>
              <a:latin typeface="Times New Roman"/>
            </a:endParaRPr>
          </a:p>
        </p:txBody>
      </p:sp>
      <p:sp>
        <p:nvSpPr>
          <p:cNvPr id="5" name="PlaceHolder 2"/>
          <p:cNvSpPr>
            <a:spLocks noGrp="1"/>
          </p:cNvSpPr>
          <p:nvPr>
            <p:ph type="sldNum" idx="1"/>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6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1E1AC1F3-9096-47FB-BC1A-BBB711A1D522}" type="slidenum">
              <a:rPr lang="en-US" sz="16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6" name="PlaceHolder 3"/>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p:bg>
      <p:bgPr>
        <a:solidFill>
          <a:srgbClr val="FFFFFF"/>
        </a:solidFill>
      </p:bgPr>
    </p:bg>
    <p:spTree>
      <p:nvGrpSpPr>
        <p:cNvPr id="1" name=""/>
        <p:cNvGrpSpPr/>
        <p:nvPr/>
      </p:nvGrpSpPr>
      <p:grpSpPr>
        <a:xfrm>
          <a:off x="0" y="0"/>
          <a:ext cx="0" cy="0"/>
          <a:chOff x="0" y="0"/>
          <a:chExt cx="0" cy="0"/>
        </a:xfrm>
      </p:grpSpPr>
      <p:sp>
        <p:nvSpPr>
          <p:cNvPr id="7" name="Shape 0"/>
          <p:cNvSpPr/>
          <p:nvPr/>
        </p:nvSpPr>
        <p:spPr>
          <a:xfrm>
            <a:off x="228600" y="228600"/>
            <a:ext cx="11733480" cy="6399720"/>
          </a:xfrm>
          <a:prstGeom prst="rect">
            <a:avLst/>
          </a:prstGeom>
          <a:noFill/>
          <a:ln w="12700">
            <a:solidFill>
              <a:srgbClr val="00000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 name="PlaceHolder 1"/>
          <p:cNvSpPr>
            <a:spLocks noGrp="1"/>
          </p:cNvSpPr>
          <p:nvPr>
            <p:ph type="title"/>
          </p:nvPr>
        </p:nvSpPr>
        <p:spPr>
          <a:xfrm>
            <a:off x="594360" y="1737360"/>
            <a:ext cx="10999080" cy="1370520"/>
          </a:xfrm>
          <a:prstGeom prst="rect">
            <a:avLst/>
          </a:prstGeom>
          <a:noFill/>
          <a:ln w="0">
            <a:noFill/>
          </a:ln>
        </p:spPr>
        <p:txBody>
          <a:bodyPr lIns="90000" tIns="45000" rIns="90000" bIns="45000" anchor="t">
            <a:noAutofit/>
          </a:bodyPr>
          <a:lstStyle>
            <a:lvl1pPr indent="0" algn="l">
              <a:lnSpc>
                <a:spcPct val="100000"/>
              </a:lnSpc>
              <a:buNone/>
              <a:tabLst>
                <a:tab pos="0" algn="l"/>
              </a:tabLst>
              <a:defRPr lang="en-US" sz="3600" b="0" u="none" strike="noStrike">
                <a:solidFill>
                  <a:schemeClr val="dk1"/>
                </a:solidFill>
                <a:effectLst/>
                <a:uFillTx/>
                <a:latin typeface="Times New Roman"/>
              </a:defRPr>
            </a:lvl1pPr>
          </a:lstStyle>
          <a:p>
            <a:pPr indent="0" algn="l">
              <a:lnSpc>
                <a:spcPct val="100000"/>
              </a:lnSpc>
              <a:buNone/>
              <a:tabLst>
                <a:tab pos="0" algn="l"/>
              </a:tabLst>
            </a:pPr>
            <a:r>
              <a:rPr lang="en-US" sz="3600" b="0" u="none" strike="noStrike">
                <a:solidFill>
                  <a:schemeClr val="dk1"/>
                </a:solidFill>
                <a:effectLst/>
                <a:uFillTx/>
                <a:latin typeface="Times New Roman"/>
              </a:rPr>
              <a:t>Click to edit the title text format</a:t>
            </a:r>
            <a:endParaRPr lang="en-US" sz="3600" b="0" u="none" strike="noStrike">
              <a:solidFill>
                <a:schemeClr val="dk1"/>
              </a:solidFill>
              <a:effectLst/>
              <a:uFillTx/>
              <a:latin typeface="Times New Roman"/>
            </a:endParaRPr>
          </a:p>
        </p:txBody>
      </p:sp>
      <p:sp>
        <p:nvSpPr>
          <p:cNvPr id="9"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Times New Roman"/>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Times New Roman"/>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Times New Roman"/>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Times New Roman"/>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Times New Roman"/>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Times New Roman"/>
              </a:rPr>
              <a:t>Click to edit the outline text format</a:t>
            </a:r>
            <a:endParaRPr lang="en-US" sz="3200" b="0" u="none" strike="noStrike">
              <a:solidFill>
                <a:schemeClr val="dk1"/>
              </a:solidFill>
              <a:effectLst/>
              <a:uFillTx/>
              <a:latin typeface="Times New Roman"/>
            </a:endParaRP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Times New Roman"/>
              </a:rPr>
              <a:t>Second Outline Level</a:t>
            </a:r>
            <a:endParaRPr lang="en-US" sz="2400" b="0" u="none" strike="noStrike">
              <a:solidFill>
                <a:schemeClr val="dk1"/>
              </a:solidFill>
              <a:effectLst/>
              <a:uFillTx/>
              <a:latin typeface="Times New Roman"/>
            </a:endParaRP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Times New Roman"/>
              </a:rPr>
              <a:t>Third Outline Level</a:t>
            </a:r>
            <a:endParaRPr lang="en-US" sz="2000" b="0" u="none" strike="noStrike">
              <a:solidFill>
                <a:schemeClr val="dk1"/>
              </a:solidFill>
              <a:effectLst/>
              <a:uFillTx/>
              <a:latin typeface="Times New Roman"/>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Times New Roman"/>
              </a:rPr>
              <a:t>Fourth Outline Level</a:t>
            </a:r>
            <a:endParaRPr lang="en-US" sz="2000" b="0" u="none" strike="noStrike">
              <a:solidFill>
                <a:schemeClr val="dk1"/>
              </a:solidFill>
              <a:effectLst/>
              <a:uFillTx/>
              <a:latin typeface="Times New Roman"/>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Fifth Outline Level</a:t>
            </a:r>
            <a:endParaRPr lang="en-US" sz="2000" b="0" u="none" strike="noStrike">
              <a:solidFill>
                <a:schemeClr val="dk1"/>
              </a:solidFill>
              <a:effectLst/>
              <a:uFillTx/>
              <a:latin typeface="Times New Roman"/>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Sixth Outline Level</a:t>
            </a:r>
            <a:endParaRPr lang="en-US" sz="2000" b="0" u="none" strike="noStrike">
              <a:solidFill>
                <a:schemeClr val="dk1"/>
              </a:solidFill>
              <a:effectLst/>
              <a:uFillTx/>
              <a:latin typeface="Times New Roman"/>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Times New Roman"/>
              </a:rPr>
              <a:t>Seventh Outline Level</a:t>
            </a:r>
            <a:endParaRPr lang="en-US" sz="2000" b="0" u="none" strike="noStrike">
              <a:solidFill>
                <a:schemeClr val="dk1"/>
              </a:solidFill>
              <a:effectLst/>
              <a:uFillTx/>
              <a:latin typeface="Times New Roman"/>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0.jpg"/><Relationship Id="rId4"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2.jpg"/><Relationship Id="rId4" Type="http://schemas.openxmlformats.org/officeDocument/2006/relationships/image" Target="../media/image13.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title" hasCustomPrompt="1"/>
          </p:nvPr>
        </p:nvSpPr>
        <p:spPr>
          <a:xfrm>
            <a:off x="594360" y="1737360"/>
            <a:ext cx="10999080" cy="1370520"/>
          </a:xfrm>
          <a:prstGeom prst="rect">
            <a:avLst/>
          </a:prstGeom>
          <a:noFill/>
          <a:ln w="0">
            <a:noFill/>
          </a:ln>
        </p:spPr>
        <p:txBody>
          <a:bodyPr lIns="0" tIns="0" rIns="0" bIns="0" anchor="ctr">
            <a:noAutofit/>
          </a:bodyPr>
          <a:p>
            <a:pPr indent="0" algn="ctr" defTabSz="914400">
              <a:lnSpc>
                <a:spcPct val="100000"/>
              </a:lnSpc>
              <a:buNone/>
              <a:tabLst>
                <a:tab pos="0" algn="l"/>
              </a:tabLst>
            </a:pPr>
            <a:r>
              <a:rPr lang="en-US" sz="2400" b="1" u="none" strike="noStrike" i="0">
                <a:solidFill>
                  <a:srgbClr val="000000"/>
                </a:solidFill>
                <a:effectLst/>
                <a:uFillTx/>
                <a:latin typeface="Times New Roman"/>
                <a:ea typeface="Times New Roman"/>
                <a:cs typeface="Times New Roman"/>
              </a:rPr>
              <a:t>LONG-TERM MEMORY ENGINE FOR AI AGENTS</a:t>
            </a:r>
            <a:endParaRPr lang="en-US" sz="3600" b="0" u="none" strike="noStrike">
              <a:solidFill>
                <a:schemeClr val="dk1"/>
              </a:solidFill>
              <a:effectLst/>
              <a:uFillTx/>
              <a:latin typeface="Times New Roman"/>
            </a:endParaRPr>
          </a:p>
        </p:txBody>
      </p:sp>
      <p:sp>
        <p:nvSpPr>
          <p:cNvPr id="17" name="Text 1"/>
          <p:cNvSpPr/>
          <p:nvPr/>
        </p:nvSpPr>
        <p:spPr>
          <a:xfrm>
            <a:off x="594360" y="3429000"/>
            <a:ext cx="10999080" cy="4561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2400" b="0" u="none" strike="noStrike" i="0">
                <a:solidFill>
                  <a:srgbClr val="000000"/>
                </a:solidFill>
                <a:effectLst/>
                <a:uFillTx/>
                <a:latin typeface="Times New Roman"/>
                <a:ea typeface="Times New Roman"/>
                <a:cs typeface="Times New Roman"/>
              </a:rPr>
              <a:t>Second Project Review</a:t>
            </a:r>
            <a:endParaRPr lang="en-US" sz="2400" b="0" u="none" strike="noStrike">
              <a:solidFill>
                <a:srgbClr val="000000"/>
              </a:solidFill>
              <a:effectLst/>
              <a:uFillTx/>
              <a:latin typeface="Arial"/>
            </a:endParaRPr>
          </a:p>
        </p:txBody>
      </p:sp>
      <p:pic>
        <p:nvPicPr>
          <p:cNvPr id="18" name="Image 0" descr="Anna University logo: a gear with a factory and an open book inside a ring, and the motto Progress through Knowledge"/>
          <p:cNvPicPr/>
          <p:nvPr/>
        </p:nvPicPr>
        <p:blipFill>
          <a:blip r:embed="rId1"/>
          <a:stretch/>
        </p:blipFill>
        <p:spPr>
          <a:xfrm>
            <a:off x="640080" y="457200"/>
            <a:ext cx="1228320" cy="1096200"/>
          </a:xfrm>
          <a:prstGeom prst="rect">
            <a:avLst/>
          </a:prstGeom>
          <a:noFill/>
          <a:ln w="0">
            <a:noFill/>
          </a:ln>
        </p:spPr>
      </p:pic>
      <p:pic>
        <p:nvPicPr>
          <p:cNvPr id="19" name="Image 1" descr="College of Engineering, Guindy crest: a winged shield with a rising sun and bridge, and the motto Labor Omnia Vincit"/>
          <p:cNvPicPr/>
          <p:nvPr/>
        </p:nvPicPr>
        <p:blipFill>
          <a:blip r:embed="rId2"/>
          <a:stretch/>
        </p:blipFill>
        <p:spPr>
          <a:xfrm>
            <a:off x="10260720" y="457200"/>
            <a:ext cx="1287000" cy="1096200"/>
          </a:xfrm>
          <a:prstGeom prst="rect">
            <a:avLst/>
          </a:prstGeom>
          <a:noFill/>
          <a:ln w="0">
            <a:noFill/>
          </a:ln>
        </p:spPr>
      </p:pic>
      <p:sp>
        <p:nvSpPr>
          <p:cNvPr id="20" name="Text 2"/>
          <p:cNvSpPr/>
          <p:nvPr/>
        </p:nvSpPr>
        <p:spPr>
          <a:xfrm>
            <a:off x="2377440" y="502920"/>
            <a:ext cx="7432920" cy="10047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Department of Information Technology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College of Engineering, Guindy</a:t>
            </a:r>
            <a:endParaRPr lang="en-US" sz="1800" b="0" u="none" strike="noStrike">
              <a:solidFill>
                <a:srgbClr val="000000"/>
              </a:solidFill>
              <a:effectLst/>
              <a:uFillTx/>
              <a:latin typeface="Arial"/>
            </a:endParaRPr>
          </a:p>
          <a:p>
            <a:pPr algn="ctr" defTabSz="914400">
              <a:lnSpc>
                <a:spcPct val="100000"/>
              </a:lnSpc>
              <a:spcAft>
                <a:spcPts val="400"/>
              </a:spcAft>
              <a:tabLst>
                <a:tab pos="0" algn="l"/>
              </a:tabLst>
            </a:pPr>
            <a:r>
              <a:rPr lang="en-US" sz="1800" b="0" u="none" strike="noStrike" i="0">
                <a:solidFill>
                  <a:srgbClr val="000000"/>
                </a:solidFill>
                <a:effectLst/>
                <a:uFillTx/>
                <a:latin typeface="Times New Roman"/>
                <a:ea typeface="Times New Roman"/>
                <a:cs typeface="Times New Roman"/>
              </a:rPr>
              <a:t>Anna University, Chennai-25</a:t>
            </a:r>
            <a:endParaRPr lang="en-US" sz="1800" b="0" u="none" strike="noStrike">
              <a:solidFill>
                <a:srgbClr val="000000"/>
              </a:solidFill>
              <a:effectLst/>
              <a:uFillTx/>
              <a:latin typeface="Arial"/>
            </a:endParaRPr>
          </a:p>
        </p:txBody>
      </p:sp>
      <p:sp>
        <p:nvSpPr>
          <p:cNvPr id="21" name="Text 3"/>
          <p:cNvSpPr/>
          <p:nvPr/>
        </p:nvSpPr>
        <p:spPr>
          <a:xfrm>
            <a:off x="822960" y="4617720"/>
            <a:ext cx="548532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800" b="1" u="none" strike="noStrike" i="0">
                <a:solidFill>
                  <a:srgbClr val="000000"/>
                </a:solidFill>
                <a:effectLst/>
                <a:uFillTx/>
                <a:latin typeface="Times New Roman"/>
                <a:ea typeface="Times New Roman"/>
                <a:cs typeface="Times New Roman"/>
              </a:rPr>
              <a:t>GUIDE:</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DR. BAMA SRINIVASAN</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DEPARTMENT OF INFORMATION TECHNOLOGY</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CEG, ANNA UNIVERSITY</a:t>
            </a:r>
            <a:endParaRPr lang="en-US" sz="1600" b="0" u="none" strike="noStrike">
              <a:solidFill>
                <a:srgbClr val="000000"/>
              </a:solidFill>
              <a:effectLst/>
              <a:uFillTx/>
              <a:latin typeface="Arial"/>
            </a:endParaRPr>
          </a:p>
        </p:txBody>
      </p:sp>
      <p:sp>
        <p:nvSpPr>
          <p:cNvPr id="22" name="Text 4"/>
          <p:cNvSpPr/>
          <p:nvPr/>
        </p:nvSpPr>
        <p:spPr>
          <a:xfrm>
            <a:off x="6858000" y="4617720"/>
            <a:ext cx="4662360" cy="1461960"/>
          </a:xfrm>
          <a:prstGeom prst="rect">
            <a:avLst/>
          </a:prstGeom>
          <a:noFill/>
          <a:ln w="0">
            <a:noFill/>
          </a:ln>
        </p:spPr>
        <p:style>
          <a:lnRef idx="0"/>
          <a:fillRef idx="0"/>
          <a:effectRef idx="0"/>
          <a:fontRef idx="minor"/>
        </p:style>
        <p:txBody>
          <a:bodyPr lIns="0" tIns="0" rIns="0" bIns="0" anchor="t">
            <a:noAutofit/>
          </a:bodyPr>
          <a:p>
            <a:pPr defTabSz="914400">
              <a:lnSpc>
                <a:spcPct val="100000"/>
              </a:lnSpc>
              <a:spcAft>
                <a:spcPts val="700"/>
              </a:spcAft>
              <a:tabLst>
                <a:tab pos="0" algn="l"/>
              </a:tabLst>
            </a:pPr>
            <a:r>
              <a:rPr lang="en-US" sz="1800" b="1" u="none" strike="noStrike" i="0">
                <a:solidFill>
                  <a:srgbClr val="000000"/>
                </a:solidFill>
                <a:effectLst/>
                <a:uFillTx/>
                <a:latin typeface="Times New Roman"/>
                <a:ea typeface="Times New Roman"/>
                <a:cs typeface="Times New Roman"/>
              </a:rPr>
              <a:t>TEAM MEMBERS:</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M. KRITHIKRAJ, 2023115004</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ALSTON S, 2023115006</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ARYAN I, 2023115021</a:t>
            </a:r>
            <a:endParaRPr lang="en-US" sz="1600" b="0" u="none" strike="noStrike">
              <a:solidFill>
                <a:srgbClr val="000000"/>
              </a:solidFill>
              <a:effectLst/>
              <a:uFillTx/>
              <a:latin typeface="Arial"/>
            </a:endParaRPr>
          </a:p>
          <a:p>
            <a:pPr defTabSz="914400">
              <a:lnSpc>
                <a:spcPct val="100000"/>
              </a:lnSpc>
              <a:spcAft>
                <a:spcPts val="700"/>
              </a:spcAft>
              <a:tabLst>
                <a:tab pos="0" algn="l"/>
              </a:tabLst>
            </a:pPr>
            <a:r>
              <a:rPr lang="en-US" sz="1800" b="0" u="none" strike="noStrike" i="0">
                <a:solidFill>
                  <a:srgbClr val="000000"/>
                </a:solidFill>
                <a:effectLst/>
                <a:uFillTx/>
                <a:latin typeface="Times New Roman"/>
                <a:ea typeface="Times New Roman"/>
                <a:cs typeface="Times New Roman"/>
              </a:rPr>
              <a:t>HARI SRINIVASAN, 2023115022</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PROBLEM STATEMENT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3246120"/>
          </a:xfrm>
          <a:prstGeom prst="rect">
            <a:avLst/>
          </a:prstGeom>
          <a:noFill/>
        </p:spPr>
        <p:txBody>
          <a:bodyPr wrap="square" lIns="45720" rIns="45720" tIns="27432" bIns="27432"/>
          <a:lstStyle/>
          <a:p>
            <a:pPr marL="256032" indent="-256032">
              <a:spcAft>
                <a:spcPts val="1000"/>
              </a:spcAft>
              <a:buFont typeface="Arial"/>
              <a:buChar char="•"/>
            </a:pPr>
            <a:r>
              <a:rPr sz="1800" b="0" i="0">
                <a:solidFill>
                  <a:srgbClr val="000000"/>
                </a:solidFill>
                <a:latin typeface="Times New Roman"/>
                <a:ea typeface="Times New Roman"/>
                <a:cs typeface="Times New Roman"/>
              </a:rPr>
              <a:t>An AI agent forgets everything when a session ends. Instructions, decisions and corrections from earlier sessions are lost unless the user repeats them.</a:t>
            </a:r>
          </a:p>
          <a:p>
            <a:pPr marL="256032" indent="-256032">
              <a:spcAft>
                <a:spcPts val="1000"/>
              </a:spcAft>
              <a:buFont typeface="Arial"/>
              <a:buChar char="•"/>
            </a:pPr>
            <a:r>
              <a:rPr sz="1800" b="0" i="0">
                <a:solidFill>
                  <a:srgbClr val="000000"/>
                </a:solidFill>
                <a:latin typeface="Times New Roman"/>
                <a:ea typeface="Times New Roman"/>
                <a:cs typeface="Times New Roman"/>
              </a:rPr>
              <a:t>Pasting the whole history into the prompt does not solve this. Models use information in the middle of a long context poorly [1], and every answer gets slower and costlier as the history grows.</a:t>
            </a:r>
          </a:p>
          <a:p>
            <a:pPr marL="256032" indent="-256032">
              <a:spcAft>
                <a:spcPts val="1000"/>
              </a:spcAft>
              <a:buFont typeface="Arial"/>
              <a:buChar char="•"/>
            </a:pPr>
            <a:r>
              <a:rPr sz="1800" b="0" i="0">
                <a:solidFill>
                  <a:srgbClr val="000000"/>
                </a:solidFill>
                <a:latin typeface="Times New Roman"/>
                <a:ea typeface="Times New Roman"/>
                <a:cs typeface="Times New Roman"/>
              </a:rPr>
              <a:t>When a detail changes, the agent cannot tell the new value from the old one, so it may act on outdated information.</a:t>
            </a:r>
          </a:p>
          <a:p>
            <a:pPr marL="256032" indent="-256032">
              <a:spcAft>
                <a:spcPts val="1000"/>
              </a:spcAft>
              <a:buFont typeface="Arial"/>
              <a:buChar char="•"/>
            </a:pPr>
            <a:r>
              <a:rPr sz="1800" b="0" i="0">
                <a:solidFill>
                  <a:srgbClr val="000000"/>
                </a:solidFill>
                <a:latin typeface="Times New Roman"/>
                <a:ea typeface="Times New Roman"/>
                <a:cs typeface="Times New Roman"/>
              </a:rPr>
              <a:t>We need a memory that keeps what the user said, notices when it changes, and returns only the relevant parts with the message each came from. LongMemEval [2] tests exactly this: recall across sessions, reasoning about time, handling updates and admitting when it does not know.</a:t>
            </a:r>
          </a:p>
        </p:txBody>
      </p:sp>
      <p:sp>
        <p:nvSpPr>
          <p:cNvPr id="27" name="Rectangle 26"/>
          <p:cNvSpPr/>
          <p:nvPr/>
        </p:nvSpPr>
        <p:spPr>
          <a:xfrm>
            <a:off x="594360" y="4617720"/>
            <a:ext cx="11000232" cy="1600200"/>
          </a:xfrm>
          <a:prstGeom prst="rect">
            <a:avLst/>
          </a:prstGeom>
          <a:solidFill>
            <a:srgbClr val="EEF2F7"/>
          </a:solidFill>
          <a:ln w="9525">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73152" bIns="73152" wrap="square"/>
          <a:lstStyle/>
          <a:p>
            <a:pPr algn="ctr" marL="0" indent="0">
              <a:spcAft>
                <a:spcPts val="400"/>
              </a:spcAft>
              <a:buNone/>
            </a:pPr>
            <a:r>
              <a:rPr sz="1800" b="1" i="0">
                <a:solidFill>
                  <a:srgbClr val="000000"/>
                </a:solidFill>
                <a:latin typeface="Times New Roman"/>
                <a:ea typeface="Times New Roman"/>
                <a:cs typeface="Times New Roman"/>
              </a:rPr>
              <a:t>Example</a:t>
            </a:r>
          </a:p>
          <a:p>
            <a:pPr marL="0" indent="0">
              <a:spcAft>
                <a:spcPts val="200"/>
              </a:spcAft>
              <a:buNone/>
            </a:pPr>
            <a:r>
              <a:rPr sz="1800" b="1" i="0">
                <a:solidFill>
                  <a:srgbClr val="000000"/>
                </a:solidFill>
                <a:latin typeface="Times New Roman"/>
                <a:ea typeface="Times New Roman"/>
                <a:cs typeface="Times New Roman"/>
              </a:rPr>
              <a:t>Session 1: </a:t>
            </a:r>
            <a:r>
              <a:rPr sz="1800" b="0" i="0">
                <a:solidFill>
                  <a:srgbClr val="000000"/>
                </a:solidFill>
                <a:latin typeface="Times New Roman"/>
                <a:ea typeface="Times New Roman"/>
                <a:cs typeface="Times New Roman"/>
              </a:rPr>
              <a:t>"The release freeze is Thursday at 17:00."</a:t>
            </a:r>
          </a:p>
          <a:p>
            <a:pPr marL="0" indent="0">
              <a:spcAft>
                <a:spcPts val="200"/>
              </a:spcAft>
              <a:buNone/>
            </a:pPr>
            <a:r>
              <a:rPr sz="1800" b="1" i="0">
                <a:solidFill>
                  <a:srgbClr val="000000"/>
                </a:solidFill>
                <a:latin typeface="Times New Roman"/>
                <a:ea typeface="Times New Roman"/>
                <a:cs typeface="Times New Roman"/>
              </a:rPr>
              <a:t>Session 2: </a:t>
            </a:r>
            <a:r>
              <a:rPr sz="1800" b="0" i="0">
                <a:solidFill>
                  <a:srgbClr val="000000"/>
                </a:solidFill>
                <a:latin typeface="Times New Roman"/>
                <a:ea typeface="Times New Roman"/>
                <a:cs typeface="Times New Roman"/>
              </a:rPr>
              <a:t>"The freeze moved to Friday at 16:30."</a:t>
            </a:r>
          </a:p>
          <a:p>
            <a:pPr marL="0" indent="0">
              <a:spcAft>
                <a:spcPts val="0"/>
              </a:spcAft>
              <a:buNone/>
            </a:pPr>
            <a:r>
              <a:rPr sz="1800" b="1" i="0">
                <a:solidFill>
                  <a:srgbClr val="000000"/>
                </a:solidFill>
                <a:latin typeface="Times New Roman"/>
                <a:ea typeface="Times New Roman"/>
                <a:cs typeface="Times New Roman"/>
              </a:rPr>
              <a:t>Session 3: </a:t>
            </a:r>
            <a:r>
              <a:rPr sz="1800" b="0" i="0">
                <a:solidFill>
                  <a:srgbClr val="000000"/>
                </a:solidFill>
                <a:latin typeface="Times New Roman"/>
                <a:ea typeface="Times New Roman"/>
                <a:cs typeface="Times New Roman"/>
              </a:rPr>
              <a:t>"When is the release freeze?" The agent should say Friday at 16:30, and know it used to be Thursday.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LITERATURE SURVEY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463040"/>
        </p:xfrm>
        <a:graphic>
          <a:graphicData uri="http://schemas.openxmlformats.org/drawingml/2006/table">
            <a:tbl>
              <a:tblPr firstRow="1" bandRow="0"/>
              <a:tblGrid>
                <a:gridCol w="2108377"/>
                <a:gridCol w="3300069"/>
                <a:gridCol w="2750058"/>
                <a:gridCol w="2841726"/>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it works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Reported results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Limitation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MemGPT, Packer et al., 2023 [3]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Splits the prompt into a main context and outside storage. The model moves data in and out with function calls.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92.5% on deep memory retrieval with GPT-4, against 32.1% for GPT-4 reading a summary.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Memory changes only when the model makes the right call. No latency or cost figures.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Zep / Graphiti, Rasmussen et al., 2025 [4]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Temporal knowledge graph of episodes, entities and edges. Each edge has a valid and an invalid time, and a contradiction closes the old edge.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71.2% on LongMemEval with gpt-4o, against 60.2% for the full 115k-token history.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One run with one configuration. The graph database is the main store.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Mem0, Chhikara et al., 2025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An LLM extracts candidate memories, compares each with similar stored ones and picks add, update, delete or no change.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LoCoMo judge score 66.9, against 72.9 for the full history. p95 latency 1.4 s against 17 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One benchmark and an unnamed judge model. The open-source release has dropped update, delete and graph memory.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LITERATURE SURVEY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463040"/>
        </p:xfrm>
        <a:graphic>
          <a:graphicData uri="http://schemas.openxmlformats.org/drawingml/2006/table">
            <a:tbl>
              <a:tblPr firstRow="1" bandRow="0"/>
              <a:tblGrid>
                <a:gridCol w="2108377"/>
                <a:gridCol w="3300069"/>
                <a:gridCol w="2750058"/>
                <a:gridCol w="2841726"/>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it works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Reported results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Limitation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Supermemory, Daga et al., 2026 [6]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Atomic memories linked to source chunks, with "updates", "extends" and "derives" links and two timestamps.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LongMemEval-S scores by category, from the vendor's own run.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Closed source. The report is not peer reviewed and some of its metrics are not defined.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Hindsight, Latimer et al., 2025 [7]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Retain, recall and reflect operations. Recall fuses four retrieval strategies by rank and packs the result into a token budget.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LongMemEval and LoCoMo scores from the authors' own runs.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Not peer reviewed. No ablation or variance, and the token budget is not stated.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Full history in the prompt, Liu et al., 2024 [1]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No separate memory. The whole conversation goes into the model's context.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Accuracy drops when the needed passage sits in the middle of a long input.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Slower and costlier as history grows. Nothing marks a value as outdated.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CHALLENGES / ISSUES IDENTIFIED: GAPS IN THE LITERATURE</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645920"/>
        </p:xfrm>
        <a:graphic>
          <a:graphicData uri="http://schemas.openxmlformats.org/drawingml/2006/table">
            <a:tbl>
              <a:tblPr firstRow="1" bandRow="0"/>
              <a:tblGrid>
                <a:gridCol w="4400092"/>
                <a:gridCol w="2566720"/>
                <a:gridCol w="4033418"/>
              </a:tblGrid>
              <a:tr h="274320">
                <a:tc>
                  <a:txBody>
                    <a:bodyPr wrap="square"/>
                    <a:lstStyle/>
                    <a:p>
                      <a:pPr marL="0" indent="0">
                        <a:spcAft>
                          <a:spcPts val="0"/>
                        </a:spcAft>
                        <a:buNone/>
                      </a:pPr>
                      <a:r>
                        <a:rPr sz="1800" b="1" i="0">
                          <a:solidFill>
                            <a:srgbClr val="000000"/>
                          </a:solidFill>
                          <a:latin typeface="Times New Roman"/>
                          <a:ea typeface="Times New Roman"/>
                          <a:cs typeface="Times New Roman"/>
                        </a:rPr>
                        <a:t>Gap in existing work</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Seen in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How we address it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The model decides how memory changes, so a missed or wrong call silently loses or overwrites a memory.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MemGPT [3], Mem0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Update rules are plain service code: one value or many per slot, plus a reviewed correction flag.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Changed values are overwritten or deleted, so there is no record of what used to be true.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Mem0 [5], MemGPT [3]; Zep [4] keeps it only in its graph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Each change is a new version with a validity interval in PostgreSQL. The graph is a copy we can rebuild.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Stored memories are hard to check against what the user actually said.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MemGPT [3], Mem0 [5]; Supermemory [6] is closed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Every assertion cites an exact quote, and the quote is matched against the original message.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Extraction depends on large hosted models, which adds cost, latency and privacy concerns.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Zep [4], Mem0 [5]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 fine-tuned 4B model does extraction, consolidation and answering locally through Ollama.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Results are hard to compare: single runs, vendor-run benchmarks, different judges and unstated budgets.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Zep [4], Mem0 [5], Supermemory [6], Hindsight [7]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We publish our own test cases and run LongMemEval-S with fixed settings.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OBJECTIVES OF THE PROJECT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371600"/>
            <a:ext cx="11000232" cy="4846320"/>
          </a:xfrm>
          <a:prstGeom prst="rect">
            <a:avLst/>
          </a:prstGeom>
          <a:noFill/>
        </p:spPr>
        <p:txBody>
          <a:bodyPr wrap="square" lIns="45720" rIns="45720" tIns="27432" bIns="27432"/>
          <a:lstStyle/>
          <a:p>
            <a:pPr marL="256032" indent="-256032">
              <a:spcAft>
                <a:spcPts val="1600"/>
              </a:spcAft>
              <a:buFont typeface="Arial"/>
              <a:buChar char="•"/>
            </a:pPr>
            <a:r>
              <a:rPr sz="1800" b="0" i="0">
                <a:solidFill>
                  <a:srgbClr val="000000"/>
                </a:solidFill>
                <a:latin typeface="Times New Roman"/>
                <a:ea typeface="Times New Roman"/>
                <a:cs typeface="Times New Roman"/>
              </a:rPr>
              <a:t>Keep useful information for a general-purpose AI agent across sessions.</a:t>
            </a:r>
          </a:p>
          <a:p>
            <a:pPr marL="256032" indent="-256032">
              <a:spcAft>
                <a:spcPts val="1600"/>
              </a:spcAft>
              <a:buFont typeface="Arial"/>
              <a:buChar char="•"/>
            </a:pPr>
            <a:r>
              <a:rPr sz="1800" b="0" i="0">
                <a:solidFill>
                  <a:srgbClr val="000000"/>
                </a:solidFill>
                <a:latin typeface="Times New Roman"/>
                <a:ea typeface="Times New Roman"/>
                <a:cs typeface="Times New Roman"/>
              </a:rPr>
              <a:t>Keep the latest version of an instruction without losing the earlier ones.</a:t>
            </a:r>
          </a:p>
          <a:p>
            <a:pPr marL="256032" indent="-256032">
              <a:spcAft>
                <a:spcPts val="1600"/>
              </a:spcAft>
              <a:buFont typeface="Arial"/>
              <a:buChar char="•"/>
            </a:pPr>
            <a:r>
              <a:rPr sz="1800" b="0" i="0">
                <a:solidFill>
                  <a:srgbClr val="000000"/>
                </a:solidFill>
                <a:latin typeface="Times New Roman"/>
                <a:ea typeface="Times New Roman"/>
                <a:cs typeface="Times New Roman"/>
              </a:rPr>
              <a:t>Link every stored assertion to the message it came from, so it can be checked.</a:t>
            </a:r>
          </a:p>
          <a:p>
            <a:pPr marL="256032" indent="-256032">
              <a:spcAft>
                <a:spcPts val="1600"/>
              </a:spcAft>
              <a:buFont typeface="Arial"/>
              <a:buChar char="•"/>
            </a:pPr>
            <a:r>
              <a:rPr sz="1800" b="0" i="0">
                <a:solidFill>
                  <a:srgbClr val="000000"/>
                </a:solidFill>
                <a:latin typeface="Times New Roman"/>
                <a:ea typeface="Times New Roman"/>
                <a:cs typeface="Times New Roman"/>
              </a:rPr>
              <a:t>Fine-tune a small local model to extract assertions, combine related ones and answer with citations.</a:t>
            </a:r>
          </a:p>
          <a:p>
            <a:pPr marL="256032" indent="-256032">
              <a:spcAft>
                <a:spcPts val="1600"/>
              </a:spcAft>
              <a:buFont typeface="Arial"/>
              <a:buChar char="•"/>
            </a:pPr>
            <a:r>
              <a:rPr sz="1800" b="0" i="0">
                <a:solidFill>
                  <a:srgbClr val="000000"/>
                </a:solidFill>
                <a:latin typeface="Times New Roman"/>
                <a:ea typeface="Times New Roman"/>
                <a:cs typeface="Times New Roman"/>
              </a:rPr>
              <a:t>Return the relevant memories quickly, within a fixed context budget.</a:t>
            </a:r>
          </a:p>
          <a:p>
            <a:pPr marL="256032" indent="-256032">
              <a:spcAft>
                <a:spcPts val="1600"/>
              </a:spcAft>
              <a:buFont typeface="Arial"/>
              <a:buChar char="•"/>
            </a:pPr>
            <a:r>
              <a:rPr sz="1800" b="0" i="0">
                <a:solidFill>
                  <a:srgbClr val="000000"/>
                </a:solidFill>
                <a:latin typeface="Times New Roman"/>
                <a:ea typeface="Times New Roman"/>
                <a:cs typeface="Times New Roman"/>
              </a:rPr>
              <a:t>Measure memory accuracy and retrieval quality with repeatable tests.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SYSTEM ARCHITECTURE</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Overall system architecture"/>
          <p:cNvPicPr>
            <a:picLocks noChangeAspect="1"/>
          </p:cNvPicPr>
          <p:nvPr/>
        </p:nvPicPr>
        <p:blipFill>
          <a:blip r:embed="rId3"/>
          <a:stretch>
            <a:fillRect/>
          </a:stretch>
        </p:blipFill>
        <p:spPr>
          <a:xfrm>
            <a:off x="2447435" y="1280160"/>
            <a:ext cx="7294080" cy="49834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1: SOURCE ACQUISITION AND PROCESSING</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1: Source Acquisition And Processing (landscape layout of the report figure)"/>
          <p:cNvPicPr>
            <a:picLocks noChangeAspect="1"/>
          </p:cNvPicPr>
          <p:nvPr/>
        </p:nvPicPr>
        <p:blipFill>
          <a:blip r:embed="rId3"/>
          <a:stretch>
            <a:fillRect/>
          </a:stretch>
        </p:blipFill>
        <p:spPr>
          <a:xfrm>
            <a:off x="594360" y="1280160"/>
            <a:ext cx="11000232" cy="1919653"/>
          </a:xfrm>
          <a:prstGeom prst="rect">
            <a:avLst/>
          </a:prstGeom>
        </p:spPr>
      </p:pic>
      <p:sp>
        <p:nvSpPr>
          <p:cNvPr id="27" name="TextBox 26"/>
          <p:cNvSpPr txBox="1"/>
          <p:nvPr/>
        </p:nvSpPr>
        <p:spPr>
          <a:xfrm>
            <a:off x="594360" y="3428413"/>
            <a:ext cx="11000232" cy="2835226"/>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Pi sends every message to a local spool first, so nothing is lost if the service is down.</a:t>
            </a:r>
          </a:p>
          <a:p>
            <a:pPr marL="256032" indent="-256032">
              <a:spcAft>
                <a:spcPts val="600"/>
              </a:spcAft>
              <a:buFont typeface="Arial"/>
              <a:buChar char="•"/>
            </a:pPr>
            <a:r>
              <a:rPr sz="1800" b="0" i="0">
                <a:solidFill>
                  <a:srgbClr val="000000"/>
                </a:solidFill>
                <a:latin typeface="Times New Roman"/>
                <a:ea typeface="Times New Roman"/>
                <a:cs typeface="Times New Roman"/>
              </a:rPr>
              <a:t>The retain API checks each batch, and a repeated request gets the existing IDs back instead of duplicates.</a:t>
            </a:r>
          </a:p>
          <a:p>
            <a:pPr marL="256032" indent="-256032">
              <a:spcAft>
                <a:spcPts val="600"/>
              </a:spcAft>
              <a:buFont typeface="Arial"/>
              <a:buChar char="•"/>
            </a:pPr>
            <a:r>
              <a:rPr sz="1800" b="0" i="0">
                <a:solidFill>
                  <a:srgbClr val="000000"/>
                </a:solidFill>
                <a:latin typeface="Times New Roman"/>
                <a:ea typeface="Times New Roman"/>
                <a:cs typeface="Times New Roman"/>
              </a:rPr>
              <a:t>Source events, chunks and an extraction job are saved in one PostgreSQL transaction.</a:t>
            </a:r>
          </a:p>
          <a:p>
            <a:pPr marL="256032" indent="-256032">
              <a:spcAft>
                <a:spcPts val="600"/>
              </a:spcAft>
              <a:buFont typeface="Arial"/>
              <a:buChar char="•"/>
            </a:pPr>
            <a:r>
              <a:rPr sz="1800" b="0" i="0">
                <a:solidFill>
                  <a:srgbClr val="000000"/>
                </a:solidFill>
                <a:latin typeface="Times New Roman"/>
                <a:ea typeface="Times New Roman"/>
                <a:cs typeface="Times New Roman"/>
              </a:rPr>
              <a:t>Chunks are embedded with Qwen3 Embedding, and Tokio workers lease jobs and retry up to five times.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2: KNOWLEDGE EXTRACTION AND CONSOLIDATION</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2: Knowledge Extraction And Consolidation (landscape layout of the report figure)"/>
          <p:cNvPicPr>
            <a:picLocks noChangeAspect="1"/>
          </p:cNvPicPr>
          <p:nvPr/>
        </p:nvPicPr>
        <p:blipFill>
          <a:blip r:embed="rId3"/>
          <a:stretch>
            <a:fillRect/>
          </a:stretch>
        </p:blipFill>
        <p:spPr>
          <a:xfrm>
            <a:off x="594360" y="1280160"/>
            <a:ext cx="11000232" cy="2304949"/>
          </a:xfrm>
          <a:prstGeom prst="rect">
            <a:avLst/>
          </a:prstGeom>
        </p:spPr>
      </p:pic>
      <p:sp>
        <p:nvSpPr>
          <p:cNvPr id="27" name="TextBox 26"/>
          <p:cNvSpPr txBox="1"/>
          <p:nvPr/>
        </p:nvSpPr>
        <p:spPr>
          <a:xfrm>
            <a:off x="594360" y="3813709"/>
            <a:ext cx="11000232" cy="2449930"/>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Extraction: the fine-tuned model returns claims with exact quotes. A quote missing from the source is rejected and the model retries, up to two times.</a:t>
            </a:r>
          </a:p>
          <a:p>
            <a:pPr marL="256032" indent="-256032">
              <a:spcAft>
                <a:spcPts val="600"/>
              </a:spcAft>
              <a:buFont typeface="Arial"/>
              <a:buChar char="•"/>
            </a:pPr>
            <a:r>
              <a:rPr sz="1800" b="0" i="0">
                <a:solidFill>
                  <a:srgbClr val="000000"/>
                </a:solidFill>
                <a:latin typeface="Times New Roman"/>
                <a:ea typeface="Times New Roman"/>
                <a:cs typeface="Times New Roman"/>
              </a:rPr>
              <a:t>A review step confirms corrections and filters out secrets before claims go to Module 3.</a:t>
            </a:r>
          </a:p>
          <a:p>
            <a:pPr marL="256032" indent="-256032">
              <a:spcAft>
                <a:spcPts val="600"/>
              </a:spcAft>
              <a:buFont typeface="Arial"/>
              <a:buChar char="•"/>
            </a:pPr>
            <a:r>
              <a:rPr sz="1800" b="0" i="0">
                <a:solidFill>
                  <a:srgbClr val="000000"/>
                </a:solidFill>
                <a:latin typeface="Times New Roman"/>
                <a:ea typeface="Times New Roman"/>
                <a:cs typeface="Times New Roman"/>
              </a:rPr>
              <a:t>Consolidation: after Module 3 commits, two or more active assertions about a subject can become one inference.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3: TEMPORAL KNOWLEDGE &amp; GRAPH MANAGEMENT</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3: Temporal Knowledge &amp; Graph Management (landscape layout of the report figure)"/>
          <p:cNvPicPr>
            <a:picLocks noChangeAspect="1"/>
          </p:cNvPicPr>
          <p:nvPr/>
        </p:nvPicPr>
        <p:blipFill>
          <a:blip r:embed="rId3"/>
          <a:stretch>
            <a:fillRect/>
          </a:stretch>
        </p:blipFill>
        <p:spPr>
          <a:xfrm>
            <a:off x="1164767" y="1280160"/>
            <a:ext cx="9859416" cy="3429000"/>
          </a:xfrm>
          <a:prstGeom prst="rect">
            <a:avLst/>
          </a:prstGeom>
        </p:spPr>
      </p:pic>
      <p:sp>
        <p:nvSpPr>
          <p:cNvPr id="27" name="TextBox 26"/>
          <p:cNvSpPr txBox="1"/>
          <p:nvPr/>
        </p:nvSpPr>
        <p:spPr>
          <a:xfrm>
            <a:off x="594360" y="4937760"/>
            <a:ext cx="11000232" cy="1325879"/>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The only module that writes assertions. A new value replaces the old one only if it is a reviewed correction with confidence of at least 0.8; otherwise both are marked contested.</a:t>
            </a:r>
          </a:p>
          <a:p>
            <a:pPr marL="256032" indent="-256032">
              <a:spcAft>
                <a:spcPts val="600"/>
              </a:spcAft>
              <a:buFont typeface="Arial"/>
              <a:buChar char="•"/>
            </a:pPr>
            <a:r>
              <a:rPr sz="1800" b="0" i="0">
                <a:solidFill>
                  <a:srgbClr val="000000"/>
                </a:solidFill>
                <a:latin typeface="Times New Roman"/>
                <a:ea typeface="Times New Roman"/>
                <a:cs typeface="Times New Roman"/>
              </a:rPr>
              <a:t>Old values keep their validity interval, and a projection worker copies every change to Neo4j.</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4: HYBRID RETRIEVAL AND GROUNDED REASONING</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4: Hybrid Retrieval And Grounded Reasoning (landscape layout of the report figure)"/>
          <p:cNvPicPr>
            <a:picLocks noChangeAspect="1"/>
          </p:cNvPicPr>
          <p:nvPr/>
        </p:nvPicPr>
        <p:blipFill>
          <a:blip r:embed="rId3"/>
          <a:stretch>
            <a:fillRect/>
          </a:stretch>
        </p:blipFill>
        <p:spPr>
          <a:xfrm>
            <a:off x="594360" y="1280160"/>
            <a:ext cx="11000232" cy="2676983"/>
          </a:xfrm>
          <a:prstGeom prst="rect">
            <a:avLst/>
          </a:prstGeom>
        </p:spPr>
      </p:pic>
      <p:sp>
        <p:nvSpPr>
          <p:cNvPr id="27" name="TextBox 26"/>
          <p:cNvSpPr txBox="1"/>
          <p:nvPr/>
        </p:nvSpPr>
        <p:spPr>
          <a:xfrm>
            <a:off x="594360" y="4185743"/>
            <a:ext cx="11000232" cy="2077896"/>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Keyword, vector and, when the question has dates, time-based search run together. Top hits are expanded through Neo4j and checked again in PostgreSQL.</a:t>
            </a:r>
          </a:p>
          <a:p>
            <a:pPr marL="256032" indent="-256032">
              <a:spcAft>
                <a:spcPts val="600"/>
              </a:spcAft>
              <a:buFont typeface="Arial"/>
              <a:buChar char="•"/>
            </a:pPr>
            <a:r>
              <a:rPr sz="1800" b="0" i="0">
                <a:solidFill>
                  <a:srgbClr val="000000"/>
                </a:solidFill>
                <a:latin typeface="Times New Roman"/>
                <a:ea typeface="Times New Roman"/>
                <a:cs typeface="Times New Roman"/>
              </a:rPr>
              <a:t>Reciprocal Rank Fusion merges the lists, and the best results are packed into the token budget with their quotes.</a:t>
            </a:r>
          </a:p>
          <a:p>
            <a:pPr marL="256032" indent="-256032">
              <a:spcAft>
                <a:spcPts val="600"/>
              </a:spcAft>
              <a:buFont typeface="Arial"/>
              <a:buChar char="•"/>
            </a:pPr>
            <a:r>
              <a:rPr sz="1800" b="0" i="0">
                <a:solidFill>
                  <a:srgbClr val="000000"/>
                </a:solidFill>
                <a:latin typeface="Times New Roman"/>
                <a:ea typeface="Times New Roman"/>
                <a:cs typeface="Times New Roman"/>
              </a:rPr>
              <a:t>An optional reflect step writes an answer with citations.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MODULE 5: MODEL TRAINING AND EVALUATION</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odule 5: Model Training And Evaluation (landscape layout of the report figure)"/>
          <p:cNvPicPr>
            <a:picLocks noChangeAspect="1"/>
          </p:cNvPicPr>
          <p:nvPr/>
        </p:nvPicPr>
        <p:blipFill>
          <a:blip r:embed="rId3"/>
          <a:stretch>
            <a:fillRect/>
          </a:stretch>
        </p:blipFill>
        <p:spPr>
          <a:xfrm>
            <a:off x="594360" y="1280160"/>
            <a:ext cx="11000232" cy="3094895"/>
          </a:xfrm>
          <a:prstGeom prst="rect">
            <a:avLst/>
          </a:prstGeom>
        </p:spPr>
      </p:pic>
      <p:sp>
        <p:nvSpPr>
          <p:cNvPr id="27" name="TextBox 26"/>
          <p:cNvSpPr txBox="1"/>
          <p:nvPr/>
        </p:nvSpPr>
        <p:spPr>
          <a:xfrm>
            <a:off x="594360" y="4603655"/>
            <a:ext cx="11000232" cy="1659984"/>
          </a:xfrm>
          <a:prstGeom prst="rect">
            <a:avLst/>
          </a:prstGeom>
          <a:noFill/>
        </p:spPr>
        <p:txBody>
          <a:bodyPr wrap="square" lIns="45720" rIns="45720" tIns="27432" bIns="27432"/>
          <a:lstStyle/>
          <a:p>
            <a:pPr marL="256032" indent="-256032">
              <a:spcAft>
                <a:spcPts val="600"/>
              </a:spcAft>
              <a:buFont typeface="Arial"/>
              <a:buChar char="•"/>
            </a:pPr>
            <a:r>
              <a:rPr sz="1800" b="0" i="0">
                <a:solidFill>
                  <a:srgbClr val="000000"/>
                </a:solidFill>
                <a:latin typeface="Times New Roman"/>
                <a:ea typeface="Times New Roman"/>
                <a:cs typeface="Times New Roman"/>
              </a:rPr>
              <a:t>Runs offline on synthetic episodes from 16 domains labelled by GPT-5.6-sol; live chats are never used for training.</a:t>
            </a:r>
          </a:p>
          <a:p>
            <a:pPr marL="256032" indent="-256032">
              <a:spcAft>
                <a:spcPts val="600"/>
              </a:spcAft>
              <a:buFont typeface="Arial"/>
              <a:buChar char="•"/>
            </a:pPr>
            <a:r>
              <a:rPr sz="1800" b="0" i="0">
                <a:solidFill>
                  <a:srgbClr val="000000"/>
                </a:solidFill>
                <a:latin typeface="Times New Roman"/>
                <a:ea typeface="Times New Roman"/>
                <a:cs typeface="Times New Roman"/>
              </a:rPr>
              <a:t>Qwen3-4B is fine-tuned with QLoRA, quantised to GGUF and served by Ollama only after it beats the base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200400"/>
        </p:xfrm>
        <a:graphic>
          <a:graphicData uri="http://schemas.openxmlformats.org/drawingml/2006/table">
            <a:tbl>
              <a:tblPr firstRow="1" bandRow="0"/>
              <a:tblGrid>
                <a:gridCol w="3850081"/>
                <a:gridCol w="7150150"/>
              </a:tblGrid>
              <a:tr h="457200">
                <a:tc>
                  <a:txBody>
                    <a:bodyPr wrap="square"/>
                    <a:lstStyle/>
                    <a:p>
                      <a:pPr marL="0" indent="0">
                        <a:spcAft>
                          <a:spcPts val="0"/>
                        </a:spcAft>
                        <a:buNone/>
                      </a:pPr>
                      <a:r>
                        <a:rPr sz="1800" b="1" i="0">
                          <a:solidFill>
                            <a:srgbClr val="000000"/>
                          </a:solidFill>
                          <a:latin typeface="Times New Roman"/>
                          <a:ea typeface="Times New Roman"/>
                          <a:cs typeface="Times New Roman"/>
                        </a:rPr>
                        <a:t>Algorithm</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Purpose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1. Priority-based context selection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Picks the existing assertions that matter most and fit the model's input limit.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2. Entity resolution and memory versioning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Matches entities and handles repeats, corrections and conflicting values.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3. Memory consolidation and invalidation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Combines assertions into inferences and marks them stale when their support changes.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4. Hybrid retrieval and graph traversal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Finds memories by keyword, meaning, date and graph connection.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5. Reciprocal Rank Fusion and context packing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Merges the search rankings and fits the best memories into the context budget.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457200">
                <a:tc>
                  <a:txBody>
                    <a:bodyPr wrap="square"/>
                    <a:lstStyle/>
                    <a:p>
                      <a:pPr marL="0" indent="0">
                        <a:spcAft>
                          <a:spcPts val="0"/>
                        </a:spcAft>
                        <a:buNone/>
                      </a:pPr>
                      <a:r>
                        <a:rPr sz="1800" b="0" i="0">
                          <a:solidFill>
                            <a:srgbClr val="000000"/>
                          </a:solidFill>
                          <a:latin typeface="Times New Roman"/>
                          <a:ea typeface="Times New Roman"/>
                          <a:cs typeface="Times New Roman"/>
                        </a:rPr>
                        <a:t>6. Source-grounded answer generation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Answers from retrieved memories and checks every citation.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1. Priority-based context selection</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existing assertions, new messages, input budget</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all existing assertions fit:</a:t>
            </a:r>
          </a:p>
          <a:p>
            <a:pPr marL="36576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all of them</a:t>
            </a:r>
          </a:p>
          <a:p>
            <a:pPr marL="0" indent="0">
              <a:spcAft>
                <a:spcPts val="400"/>
              </a:spcAft>
              <a:buNone/>
            </a:pPr>
            <a:r>
              <a:rPr sz="1800" b="0" i="0">
                <a:solidFill>
                  <a:srgbClr val="000000"/>
                </a:solidFill>
                <a:latin typeface="Times New Roman"/>
                <a:ea typeface="Times New Roman"/>
                <a:cs typeface="Times New Roman"/>
              </a:rPr>
              <a:t>Score each assertion by how often its subject and value appear in the new messages</a:t>
            </a:r>
          </a:p>
          <a:p>
            <a:pPr marL="0" indent="0">
              <a:spcAft>
                <a:spcPts val="400"/>
              </a:spcAft>
              <a:buNone/>
            </a:pPr>
            <a:r>
              <a:rPr sz="1800" b="0" i="0">
                <a:solidFill>
                  <a:srgbClr val="000000"/>
                </a:solidFill>
                <a:latin typeface="Times New Roman"/>
                <a:ea typeface="Times New Roman"/>
                <a:cs typeface="Times New Roman"/>
              </a:rPr>
              <a:t>Sort by score, newest first on ties</a:t>
            </a:r>
          </a:p>
          <a:p>
            <a:pPr marL="0" indent="0">
              <a:spcAft>
                <a:spcPts val="400"/>
              </a:spcAft>
              <a:buNone/>
            </a:pPr>
            <a:r>
              <a:rPr sz="1800" b="0" i="0">
                <a:solidFill>
                  <a:srgbClr val="000000"/>
                </a:solidFill>
                <a:latin typeface="Times New Roman"/>
                <a:ea typeface="Times New Roman"/>
                <a:cs typeface="Times New Roman"/>
              </a:rPr>
              <a:t>Binary-search the largest prefix that fits the budget</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that prefix in its original order</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2. Entity resolution and versioning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new claim and the stored memory</a:t>
            </a:r>
          </a:p>
          <a:p>
            <a:pPr marL="0" indent="0">
              <a:spcAft>
                <a:spcPts val="400"/>
              </a:spcAft>
              <a:buNone/>
            </a:pPr>
            <a:r>
              <a:rPr sz="1800" b="0" i="0">
                <a:solidFill>
                  <a:srgbClr val="000000"/>
                </a:solidFill>
                <a:latin typeface="Times New Roman"/>
                <a:ea typeface="Times New Roman"/>
                <a:cs typeface="Times New Roman"/>
              </a:rPr>
              <a:t>Match the entity by type and normalised name, or a unique alias; otherwise create it</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the same assertion exists:</a:t>
            </a:r>
          </a:p>
          <a:p>
            <a:pPr marL="365760" indent="0">
              <a:spcAft>
                <a:spcPts val="400"/>
              </a:spcAft>
              <a:buNone/>
            </a:pPr>
            <a:r>
              <a:rPr sz="1800" b="0" i="0">
                <a:solidFill>
                  <a:srgbClr val="000000"/>
                </a:solidFill>
                <a:latin typeface="Times New Roman"/>
                <a:ea typeface="Times New Roman"/>
                <a:cs typeface="Times New Roman"/>
              </a:rPr>
              <a:t>attach the new quote</a:t>
            </a:r>
          </a:p>
          <a:p>
            <a:pPr marL="0" indent="0">
              <a:spcAft>
                <a:spcPts val="400"/>
              </a:spcAft>
              <a:buNone/>
            </a:pPr>
            <a:r>
              <a:rPr sz="1800" b="1" i="0">
                <a:solidFill>
                  <a:srgbClr val="000000"/>
                </a:solidFill>
                <a:latin typeface="Times New Roman"/>
                <a:ea typeface="Times New Roman"/>
                <a:cs typeface="Times New Roman"/>
              </a:rPr>
              <a:t>ELSE IF</a:t>
            </a:r>
            <a:r>
              <a:rPr sz="1800" b="0" i="0">
                <a:solidFill>
                  <a:srgbClr val="000000"/>
                </a:solidFill>
                <a:latin typeface="Times New Roman"/>
                <a:ea typeface="Times New Roman"/>
                <a:cs typeface="Times New Roman"/>
              </a:rPr>
              <a:t> the slot has no conflicting value:</a:t>
            </a:r>
          </a:p>
          <a:p>
            <a:pPr marL="365760" indent="0">
              <a:spcAft>
                <a:spcPts val="400"/>
              </a:spcAft>
              <a:buNone/>
            </a:pPr>
            <a:r>
              <a:rPr sz="1800" b="0" i="0">
                <a:solidFill>
                  <a:srgbClr val="000000"/>
                </a:solidFill>
                <a:latin typeface="Times New Roman"/>
                <a:ea typeface="Times New Roman"/>
                <a:cs typeface="Times New Roman"/>
              </a:rPr>
              <a:t>store the claim as active</a:t>
            </a:r>
          </a:p>
          <a:p>
            <a:pPr marL="0" indent="0">
              <a:spcAft>
                <a:spcPts val="400"/>
              </a:spcAft>
              <a:buNone/>
            </a:pPr>
            <a:r>
              <a:rPr sz="1800" b="1" i="0">
                <a:solidFill>
                  <a:srgbClr val="000000"/>
                </a:solidFill>
                <a:latin typeface="Times New Roman"/>
                <a:ea typeface="Times New Roman"/>
                <a:cs typeface="Times New Roman"/>
              </a:rPr>
              <a:t>ELSE IF</a:t>
            </a:r>
            <a:r>
              <a:rPr sz="1800" b="0" i="0">
                <a:solidFill>
                  <a:srgbClr val="000000"/>
                </a:solidFill>
                <a:latin typeface="Times New Roman"/>
                <a:ea typeface="Times New Roman"/>
                <a:cs typeface="Times New Roman"/>
              </a:rPr>
              <a:t> reviewed correction AND confidence ≥ 0.8:</a:t>
            </a:r>
          </a:p>
          <a:p>
            <a:pPr marL="365760" indent="0">
              <a:spcAft>
                <a:spcPts val="400"/>
              </a:spcAft>
              <a:buNone/>
            </a:pPr>
            <a:r>
              <a:rPr sz="1800" b="0" i="0">
                <a:solidFill>
                  <a:srgbClr val="000000"/>
                </a:solidFill>
                <a:latin typeface="Times New Roman"/>
                <a:ea typeface="Times New Roman"/>
                <a:cs typeface="Times New Roman"/>
              </a:rPr>
              <a:t>supersede the old value</a:t>
            </a:r>
          </a:p>
          <a:p>
            <a:pPr marL="0" indent="0">
              <a:spcAft>
                <a:spcPts val="400"/>
              </a:spcAft>
              <a:buNone/>
            </a:pPr>
            <a:r>
              <a:rPr sz="1800" b="1" i="0">
                <a:solidFill>
                  <a:srgbClr val="000000"/>
                </a:solidFill>
                <a:latin typeface="Times New Roman"/>
                <a:ea typeface="Times New Roman"/>
                <a:cs typeface="Times New Roman"/>
              </a:rPr>
              <a:t>ELSE</a:t>
            </a:r>
            <a:r>
              <a:rPr sz="1800" b="0" i="0">
                <a:solidFill>
                  <a:srgbClr val="000000"/>
                </a:solidFill>
                <a:latin typeface="Times New Roman"/>
                <a:ea typeface="Times New Roman"/>
                <a:cs typeface="Times New Roman"/>
              </a:rPr>
              <a:t>:</a:t>
            </a:r>
          </a:p>
          <a:p>
            <a:pPr marL="365760" indent="0">
              <a:spcAft>
                <a:spcPts val="400"/>
              </a:spcAft>
              <a:buNone/>
            </a:pPr>
            <a:r>
              <a:rPr sz="1800" b="0" i="0">
                <a:solidFill>
                  <a:srgbClr val="000000"/>
                </a:solidFill>
                <a:latin typeface="Times New Roman"/>
                <a:ea typeface="Times New Roman"/>
                <a:cs typeface="Times New Roman"/>
              </a:rPr>
              <a:t>mark both values contested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3. Consolidation and invalidation</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active assertions about the changed entities</a:t>
            </a:r>
          </a:p>
          <a:p>
            <a:pPr marL="0" indent="0">
              <a:spcAft>
                <a:spcPts val="400"/>
              </a:spcAft>
              <a:buNone/>
            </a:pPr>
            <a:r>
              <a:rPr sz="1800" b="0" i="0">
                <a:solidFill>
                  <a:srgbClr val="000000"/>
                </a:solidFill>
                <a:latin typeface="Times New Roman"/>
                <a:ea typeface="Times New Roman"/>
                <a:cs typeface="Times New Roman"/>
              </a:rPr>
              <a:t>Ask the model to combine related assertions into inferences</a:t>
            </a:r>
          </a:p>
          <a:p>
            <a:pPr marL="0" indent="0">
              <a:spcAft>
                <a:spcPts val="400"/>
              </a:spcAft>
              <a:buNone/>
            </a:pPr>
            <a:r>
              <a:rPr sz="1800" b="0" i="0">
                <a:solidFill>
                  <a:srgbClr val="000000"/>
                </a:solidFill>
                <a:latin typeface="Times New Roman"/>
                <a:ea typeface="Times New Roman"/>
                <a:cs typeface="Times New Roman"/>
              </a:rPr>
              <a:t>Keep an inference only if it has two or more supports</a:t>
            </a:r>
          </a:p>
          <a:p>
            <a:pPr marL="0" indent="0">
              <a:spcAft>
                <a:spcPts val="400"/>
              </a:spcAft>
              <a:buNone/>
            </a:pPr>
            <a:r>
              <a:rPr sz="1800" b="0" i="0">
                <a:solidFill>
                  <a:srgbClr val="000000"/>
                </a:solidFill>
                <a:latin typeface="Times New Roman"/>
                <a:ea typeface="Times New Roman"/>
                <a:cs typeface="Times New Roman"/>
              </a:rPr>
              <a:t>Check the support IDs and the subject</a:t>
            </a:r>
          </a:p>
          <a:p>
            <a:pPr marL="0" indent="0">
              <a:spcAft>
                <a:spcPts val="400"/>
              </a:spcAft>
              <a:buNone/>
            </a:pPr>
            <a:r>
              <a:rPr sz="1800" b="0" i="0">
                <a:solidFill>
                  <a:srgbClr val="000000"/>
                </a:solidFill>
                <a:latin typeface="Times New Roman"/>
                <a:ea typeface="Times New Roman"/>
                <a:cs typeface="Times New Roman"/>
              </a:rPr>
              <a:t>Recheck that every support is still active, then save with links</a:t>
            </a:r>
          </a:p>
          <a:p>
            <a:pPr marL="0" indent="0">
              <a:spcAft>
                <a:spcPts val="400"/>
              </a:spcAft>
              <a:buNone/>
            </a:pPr>
            <a:r>
              <a:rPr sz="1800" b="1" i="0">
                <a:solidFill>
                  <a:srgbClr val="000000"/>
                </a:solidFill>
                <a:latin typeface="Times New Roman"/>
                <a:ea typeface="Times New Roman"/>
                <a:cs typeface="Times New Roman"/>
              </a:rPr>
              <a:t>WHEN</a:t>
            </a:r>
            <a:r>
              <a:rPr sz="1800" b="0" i="0">
                <a:solidFill>
                  <a:srgbClr val="000000"/>
                </a:solidFill>
                <a:latin typeface="Times New Roman"/>
                <a:ea typeface="Times New Roman"/>
                <a:cs typeface="Times New Roman"/>
              </a:rPr>
              <a:t> a support changes or is retracted:</a:t>
            </a:r>
          </a:p>
          <a:p>
            <a:pPr marL="365760" indent="0">
              <a:spcAft>
                <a:spcPts val="400"/>
              </a:spcAft>
              <a:buNone/>
            </a:pPr>
            <a:r>
              <a:rPr sz="1800" b="0" i="0">
                <a:solidFill>
                  <a:srgbClr val="000000"/>
                </a:solidFill>
                <a:latin typeface="Times New Roman"/>
                <a:ea typeface="Times New Roman"/>
                <a:cs typeface="Times New Roman"/>
              </a:rPr>
              <a:t>find dependent inferences recursively</a:t>
            </a:r>
          </a:p>
          <a:p>
            <a:pPr marL="365760" indent="0">
              <a:spcAft>
                <a:spcPts val="400"/>
              </a:spcAft>
              <a:buNone/>
            </a:pPr>
            <a:r>
              <a:rPr sz="1800" b="0" i="0">
                <a:solidFill>
                  <a:srgbClr val="000000"/>
                </a:solidFill>
                <a:latin typeface="Times New Roman"/>
                <a:ea typeface="Times New Roman"/>
                <a:cs typeface="Times New Roman"/>
              </a:rPr>
              <a:t>mark them stale</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4. Hybrid retrieval and graph traversal</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question and an optional date range</a:t>
            </a:r>
          </a:p>
          <a:p>
            <a:pPr marL="0" indent="0">
              <a:spcAft>
                <a:spcPts val="400"/>
              </a:spcAft>
              <a:buNone/>
            </a:pPr>
            <a:r>
              <a:rPr sz="1800" b="0" i="0">
                <a:solidFill>
                  <a:srgbClr val="000000"/>
                </a:solidFill>
                <a:latin typeface="Times New Roman"/>
                <a:ea typeface="Times New Roman"/>
                <a:cs typeface="Times New Roman"/>
              </a:rPr>
              <a:t>Resolve date phrases if planning is on</a:t>
            </a:r>
          </a:p>
          <a:p>
            <a:pPr marL="0" indent="0">
              <a:spcAft>
                <a:spcPts val="400"/>
              </a:spcAft>
              <a:buNone/>
            </a:pPr>
            <a:r>
              <a:rPr sz="1800" b="0" i="0">
                <a:solidFill>
                  <a:srgbClr val="000000"/>
                </a:solidFill>
                <a:latin typeface="Times New Roman"/>
                <a:ea typeface="Times New Roman"/>
                <a:cs typeface="Times New Roman"/>
              </a:rPr>
              <a:t>Run keyword search [8] and vector search [9]</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there is a date window:</a:t>
            </a:r>
          </a:p>
          <a:p>
            <a:pPr marL="365760" indent="0">
              <a:spcAft>
                <a:spcPts val="400"/>
              </a:spcAft>
              <a:buNone/>
            </a:pPr>
            <a:r>
              <a:rPr sz="1800" b="0" i="0">
                <a:solidFill>
                  <a:srgbClr val="000000"/>
                </a:solidFill>
                <a:latin typeface="Times New Roman"/>
                <a:ea typeface="Times New Roman"/>
                <a:cs typeface="Times New Roman"/>
              </a:rPr>
              <a:t>add time-based candidates</a:t>
            </a:r>
          </a:p>
          <a:p>
            <a:pPr marL="0" indent="0">
              <a:spcAft>
                <a:spcPts val="400"/>
              </a:spcAft>
              <a:buNone/>
            </a:pPr>
            <a:r>
              <a:rPr sz="1800" b="0" i="0">
                <a:solidFill>
                  <a:srgbClr val="000000"/>
                </a:solidFill>
                <a:latin typeface="Times New Roman"/>
                <a:ea typeface="Times New Roman"/>
                <a:cs typeface="Times New Roman"/>
              </a:rPr>
              <a:t>Expand from the matched assertions and entities for two bounded hops</a:t>
            </a:r>
          </a:p>
          <a:p>
            <a:pPr marL="0" indent="0">
              <a:spcAft>
                <a:spcPts val="400"/>
              </a:spcAft>
              <a:buNone/>
            </a:pPr>
            <a:r>
              <a:rPr sz="1800" b="0" i="0">
                <a:solidFill>
                  <a:srgbClr val="000000"/>
                </a:solidFill>
                <a:latin typeface="Times New Roman"/>
                <a:ea typeface="Times New Roman"/>
                <a:cs typeface="Times New Roman"/>
              </a:rPr>
              <a:t>Drop results outside their validity or the distance cutoff</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candidate lists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ALGORITHMS OR METHODOLOGY</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5. Rank fusion and context packing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ranked candidate lists and a token budget</a:t>
            </a:r>
          </a:p>
          <a:p>
            <a:pPr marL="0" indent="0">
              <a:spcAft>
                <a:spcPts val="400"/>
              </a:spcAft>
              <a:buNone/>
            </a:pPr>
            <a:r>
              <a:rPr sz="1800" b="1" i="0">
                <a:solidFill>
                  <a:srgbClr val="000000"/>
                </a:solidFill>
                <a:latin typeface="Times New Roman"/>
                <a:ea typeface="Times New Roman"/>
                <a:cs typeface="Times New Roman"/>
              </a:rPr>
              <a:t>FOR</a:t>
            </a:r>
            <a:r>
              <a:rPr sz="1800" b="0" i="0">
                <a:solidFill>
                  <a:srgbClr val="000000"/>
                </a:solidFill>
                <a:latin typeface="Times New Roman"/>
                <a:ea typeface="Times New Roman"/>
                <a:cs typeface="Times New Roman"/>
              </a:rPr>
              <a:t> each memory:</a:t>
            </a:r>
          </a:p>
          <a:p>
            <a:pPr marL="365760" indent="0">
              <a:spcAft>
                <a:spcPts val="400"/>
              </a:spcAft>
              <a:buNone/>
            </a:pPr>
            <a:r>
              <a:rPr sz="1800" b="0" i="0">
                <a:solidFill>
                  <a:srgbClr val="000000"/>
                </a:solidFill>
                <a:latin typeface="Times New Roman"/>
                <a:ea typeface="Times New Roman"/>
                <a:cs typeface="Times New Roman"/>
              </a:rPr>
              <a:t>score = Σ 1 / (60 + rank) over all lists [10]</a:t>
            </a:r>
          </a:p>
          <a:p>
            <a:pPr marL="0" indent="0">
              <a:spcAft>
                <a:spcPts val="400"/>
              </a:spcAft>
              <a:buNone/>
            </a:pPr>
            <a:r>
              <a:rPr sz="1800" b="0" i="0">
                <a:solidFill>
                  <a:srgbClr val="000000"/>
                </a:solidFill>
                <a:latin typeface="Times New Roman"/>
                <a:ea typeface="Times New Roman"/>
                <a:cs typeface="Times New Roman"/>
              </a:rPr>
              <a:t>Sort by score, then by ID</a:t>
            </a:r>
          </a:p>
          <a:p>
            <a:pPr marL="0" indent="0">
              <a:spcAft>
                <a:spcPts val="400"/>
              </a:spcAft>
              <a:buNone/>
            </a:pPr>
            <a:r>
              <a:rPr sz="1800" b="1" i="0">
                <a:solidFill>
                  <a:srgbClr val="000000"/>
                </a:solidFill>
                <a:latin typeface="Times New Roman"/>
                <a:ea typeface="Times New Roman"/>
                <a:cs typeface="Times New Roman"/>
              </a:rPr>
              <a:t>FOR</a:t>
            </a:r>
            <a:r>
              <a:rPr sz="1800" b="0" i="0">
                <a:solidFill>
                  <a:srgbClr val="000000"/>
                </a:solidFill>
                <a:latin typeface="Times New Roman"/>
                <a:ea typeface="Times New Roman"/>
                <a:cs typeface="Times New Roman"/>
              </a:rPr>
              <a:t> each memory in order:</a:t>
            </a:r>
          </a:p>
          <a:p>
            <a:pPr marL="365760" indent="0">
              <a:spcAft>
                <a:spcPts val="400"/>
              </a:spcAft>
              <a:buNone/>
            </a:pPr>
            <a:r>
              <a:rPr sz="1800" b="0" i="0">
                <a:solidFill>
                  <a:srgbClr val="000000"/>
                </a:solidFill>
                <a:latin typeface="Times New Roman"/>
                <a:ea typeface="Times New Roman"/>
                <a:cs typeface="Times New Roman"/>
              </a:rPr>
              <a:t>build a block with the assertion and its quotes</a:t>
            </a:r>
          </a:p>
          <a:p>
            <a:pPr marL="365760" indent="0">
              <a:spcAft>
                <a:spcPts val="400"/>
              </a:spcAft>
              <a:buNone/>
            </a:pPr>
            <a:r>
              <a:rPr sz="1800" b="0" i="0">
                <a:solidFill>
                  <a:srgbClr val="000000"/>
                </a:solidFill>
                <a:latin typeface="Times New Roman"/>
                <a:ea typeface="Times New Roman"/>
                <a:cs typeface="Times New Roman"/>
              </a:rPr>
              <a:t>add it if it fits the budget</a:t>
            </a:r>
          </a:p>
          <a:p>
            <a:pPr marL="365760" indent="0">
              <a:spcAft>
                <a:spcPts val="400"/>
              </a:spcAft>
              <a:buNone/>
            </a:pPr>
            <a:r>
              <a:rPr sz="1800" b="0" i="0">
                <a:solidFill>
                  <a:srgbClr val="000000"/>
                </a:solidFill>
                <a:latin typeface="Times New Roman"/>
                <a:ea typeface="Times New Roman"/>
                <a:cs typeface="Times New Roman"/>
              </a:rPr>
              <a:t>stop at the requested count</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packed context</a:t>
            </a:r>
          </a:p>
        </p:txBody>
      </p:sp>
      <p:sp>
        <p:nvSpPr>
          <p:cNvPr id="27" name="TextBox 26"/>
          <p:cNvSpPr txBox="1"/>
          <p:nvPr/>
        </p:nvSpPr>
        <p:spPr>
          <a:xfrm>
            <a:off x="6277356" y="1280160"/>
            <a:ext cx="5317236" cy="49834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6. Source-grounded answering</a:t>
            </a:r>
          </a:p>
          <a:p>
            <a:pPr marL="0" indent="0">
              <a:spcAft>
                <a:spcPts val="800"/>
              </a:spcAft>
              <a:buNone/>
            </a:pPr>
            <a:r>
              <a:rPr sz="1800" b="1" i="0">
                <a:solidFill>
                  <a:srgbClr val="000000"/>
                </a:solidFill>
                <a:latin typeface="Times New Roman"/>
                <a:ea typeface="Times New Roman"/>
                <a:cs typeface="Times New Roman"/>
              </a:rPr>
              <a:t>Input: </a:t>
            </a:r>
            <a:r>
              <a:rPr sz="1800" b="0" i="0">
                <a:solidFill>
                  <a:srgbClr val="000000"/>
                </a:solidFill>
                <a:latin typeface="Times New Roman"/>
                <a:ea typeface="Times New Roman"/>
                <a:cs typeface="Times New Roman"/>
              </a:rPr>
              <a:t>a question and the retrieved memories</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nothing was retrieved:</a:t>
            </a:r>
          </a:p>
          <a:p>
            <a:pPr marL="36576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"insufficient evidence"</a:t>
            </a:r>
          </a:p>
          <a:p>
            <a:pPr marL="0" indent="0">
              <a:spcAft>
                <a:spcPts val="400"/>
              </a:spcAft>
              <a:buNone/>
            </a:pPr>
            <a:r>
              <a:rPr sz="1800" b="0" i="0">
                <a:solidFill>
                  <a:srgbClr val="000000"/>
                </a:solidFill>
                <a:latin typeface="Times New Roman"/>
                <a:ea typeface="Times New Roman"/>
                <a:cs typeface="Times New Roman"/>
              </a:rPr>
              <a:t>Ask the model to answer only from the retrieved memories</a:t>
            </a:r>
          </a:p>
          <a:p>
            <a:pPr marL="0" indent="0">
              <a:spcAft>
                <a:spcPts val="400"/>
              </a:spcAft>
              <a:buNone/>
            </a:pPr>
            <a:r>
              <a:rPr sz="1800" b="0" i="0">
                <a:solidFill>
                  <a:srgbClr val="000000"/>
                </a:solidFill>
                <a:latin typeface="Times New Roman"/>
                <a:ea typeface="Times New Roman"/>
                <a:cs typeface="Times New Roman"/>
              </a:rPr>
              <a:t>Allow citations only to retrieved IDs</a:t>
            </a:r>
          </a:p>
          <a:p>
            <a:pPr marL="0" indent="0">
              <a:spcAft>
                <a:spcPts val="400"/>
              </a:spcAft>
              <a:buNone/>
            </a:pPr>
            <a:r>
              <a:rPr sz="1800" b="0" i="0">
                <a:solidFill>
                  <a:srgbClr val="000000"/>
                </a:solidFill>
                <a:latin typeface="Times New Roman"/>
                <a:ea typeface="Times New Roman"/>
                <a:cs typeface="Times New Roman"/>
              </a:rPr>
              <a:t>Check the output format and every cited ID</a:t>
            </a:r>
          </a:p>
          <a:p>
            <a:pPr marL="0" indent="0">
              <a:spcAft>
                <a:spcPts val="400"/>
              </a:spcAft>
              <a:buNone/>
            </a:pPr>
            <a:r>
              <a:rPr sz="1800" b="1" i="0">
                <a:solidFill>
                  <a:srgbClr val="000000"/>
                </a:solidFill>
                <a:latin typeface="Times New Roman"/>
                <a:ea typeface="Times New Roman"/>
                <a:cs typeface="Times New Roman"/>
              </a:rPr>
              <a:t>IF</a:t>
            </a:r>
            <a:r>
              <a:rPr sz="1800" b="0" i="0">
                <a:solidFill>
                  <a:srgbClr val="000000"/>
                </a:solidFill>
                <a:latin typeface="Times New Roman"/>
                <a:ea typeface="Times New Roman"/>
                <a:cs typeface="Times New Roman"/>
              </a:rPr>
              <a:t> it claims an answer without citations:</a:t>
            </a:r>
          </a:p>
          <a:p>
            <a:pPr marL="365760" indent="0">
              <a:spcAft>
                <a:spcPts val="400"/>
              </a:spcAft>
              <a:buNone/>
            </a:pPr>
            <a:r>
              <a:rPr sz="1800" b="0" i="0">
                <a:solidFill>
                  <a:srgbClr val="000000"/>
                </a:solidFill>
                <a:latin typeface="Times New Roman"/>
                <a:ea typeface="Times New Roman"/>
                <a:cs typeface="Times New Roman"/>
              </a:rPr>
              <a:t>reject it</a:t>
            </a:r>
          </a:p>
          <a:p>
            <a:pPr marL="0" indent="0">
              <a:spcAft>
                <a:spcPts val="400"/>
              </a:spcAft>
              <a:buNone/>
            </a:pPr>
            <a:r>
              <a:rPr sz="1800" b="1" i="0">
                <a:solidFill>
                  <a:srgbClr val="000000"/>
                </a:solidFill>
                <a:latin typeface="Times New Roman"/>
                <a:ea typeface="Times New Roman"/>
                <a:cs typeface="Times New Roman"/>
              </a:rPr>
              <a:t>RETURN</a:t>
            </a:r>
            <a:r>
              <a:rPr sz="1800" b="0" i="0">
                <a:solidFill>
                  <a:srgbClr val="000000"/>
                </a:solidFill>
                <a:latin typeface="Times New Roman"/>
                <a:ea typeface="Times New Roman"/>
                <a:cs typeface="Times New Roman"/>
              </a:rPr>
              <a:t> the answer with its citations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TOOLS AND TECHNOLOGIES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017520"/>
        </p:xfrm>
        <a:graphic>
          <a:graphicData uri="http://schemas.openxmlformats.org/drawingml/2006/table">
            <a:tbl>
              <a:tblPr firstRow="1" bandRow="0"/>
              <a:tblGrid>
                <a:gridCol w="4216755"/>
                <a:gridCol w="6783476"/>
              </a:tblGrid>
              <a:tr h="502920">
                <a:tc>
                  <a:txBody>
                    <a:bodyPr wrap="square"/>
                    <a:lstStyle/>
                    <a:p>
                      <a:pPr marL="0" indent="0">
                        <a:spcAft>
                          <a:spcPts val="0"/>
                        </a:spcAft>
                        <a:buNone/>
                      </a:pPr>
                      <a:r>
                        <a:rPr sz="1800" b="1" i="0">
                          <a:solidFill>
                            <a:srgbClr val="000000"/>
                          </a:solidFill>
                          <a:latin typeface="Times New Roman"/>
                          <a:ea typeface="Times New Roman"/>
                          <a:cs typeface="Times New Roman"/>
                        </a:rPr>
                        <a:t>Tool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Rust, Tokio, Axum and SQLx</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The memory service: API, background workers and database access.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PostgreSQL 17 with pgvector [8], [9]</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Source events, assertions, history and jobs; keyword and vector search.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Neo4j 5.26 [11]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Graph copy of assertions and entities, used to widen recall.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Ollama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Runs the memory model and the embedding model locally.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Qwen3-Embedding-0.6B [12]</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Turns messages, assertions and questions into vectors.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TOOLS AND TECHNOLOGIES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1" cy="3520440"/>
        </p:xfrm>
        <a:graphic>
          <a:graphicData uri="http://schemas.openxmlformats.org/drawingml/2006/table">
            <a:tbl>
              <a:tblPr firstRow="1" bandRow="0"/>
              <a:tblGrid>
                <a:gridCol w="4216755"/>
                <a:gridCol w="6783476"/>
              </a:tblGrid>
              <a:tr h="502920">
                <a:tc>
                  <a:txBody>
                    <a:bodyPr wrap="square"/>
                    <a:lstStyle/>
                    <a:p>
                      <a:pPr marL="0" indent="0">
                        <a:spcAft>
                          <a:spcPts val="0"/>
                        </a:spcAft>
                        <a:buNone/>
                      </a:pPr>
                      <a:r>
                        <a:rPr sz="1800" b="1" i="0">
                          <a:solidFill>
                            <a:srgbClr val="000000"/>
                          </a:solidFill>
                          <a:latin typeface="Times New Roman"/>
                          <a:ea typeface="Times New Roman"/>
                          <a:cs typeface="Times New Roman"/>
                        </a:rPr>
                        <a:t>Tool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Role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Fine-tuned Qwen3-4B-Instruct-2507</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Extracts assertions, combines them and answers with citations.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Python, PyTorch, Transformers, PEFT, bitsandbytes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Dataset preparation and QLoRA fine-tuning [14].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llama.cpp and GGUF</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Converts and quantises the trained model for Ollama.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Pi coding agent [13]</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Captures session messages and adds recalled memory to the agent's context.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React, TypeScript, Vite and Bootstrap</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Dashboard, session controls and the memory graph view.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502920">
                <a:tc>
                  <a:txBody>
                    <a:bodyPr wrap="square"/>
                    <a:lstStyle/>
                    <a:p>
                      <a:pPr marL="0" indent="0">
                        <a:spcAft>
                          <a:spcPts val="0"/>
                        </a:spcAft>
                        <a:buNone/>
                      </a:pPr>
                      <a:r>
                        <a:rPr sz="1800" b="0" i="0">
                          <a:solidFill>
                            <a:srgbClr val="000000"/>
                          </a:solidFill>
                          <a:latin typeface="Times New Roman"/>
                          <a:ea typeface="Times New Roman"/>
                          <a:cs typeface="Times New Roman"/>
                        </a:rPr>
                        <a:t>Docker Compose, Caddy and ttyd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Runs the services and gives browser access to the app and the Pi console.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(1/3)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Fine-tuning dataset (Qwen3-4B-Instruct-2507)</a:t>
            </a:r>
          </a:p>
        </p:txBody>
      </p:sp>
      <p:graphicFrame>
        <p:nvGraphicFramePr>
          <p:cNvPr id="27" name="Table 26"/>
          <p:cNvGraphicFramePr>
            <a:graphicFrameLocks noGrp="1"/>
          </p:cNvGraphicFramePr>
          <p:nvPr/>
        </p:nvGraphicFramePr>
        <p:xfrm>
          <a:off x="594360" y="1645919"/>
          <a:ext cx="11000231" cy="1828800"/>
        </p:xfrm>
        <a:graphic>
          <a:graphicData uri="http://schemas.openxmlformats.org/drawingml/2006/table">
            <a:tbl>
              <a:tblPr firstRow="1" bandRow="0"/>
              <a:tblGrid>
                <a:gridCol w="2383383"/>
                <a:gridCol w="8616848"/>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Aspect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Details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Scope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Started with coding conversations, then expanded to 16 domains such as family, food, travel, education, work and software.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Synthetic conversations labelled by GPT-5.6-sol, checked by a second adversarial model and cleaned.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Size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2,961 task examples: 2,095 training, 424 validation and 442 test.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Tasks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 assertions, combine related assertions and answer questions with citations.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Rectangle 27"/>
          <p:cNvSpPr/>
          <p:nvPr/>
        </p:nvSpPr>
        <p:spPr>
          <a:xfrm>
            <a:off x="594360" y="4617720"/>
            <a:ext cx="11000232" cy="1600200"/>
          </a:xfrm>
          <a:prstGeom prst="rect">
            <a:avLst/>
          </a:prstGeom>
          <a:solidFill>
            <a:srgbClr val="EEF2F7"/>
          </a:solidFill>
          <a:ln w="9525">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73152" bIns="73152" wrap="square"/>
          <a:lstStyle/>
          <a:p>
            <a:pPr algn="ctr" marL="0" indent="0">
              <a:spcAft>
                <a:spcPts val="400"/>
              </a:spcAft>
              <a:buNone/>
            </a:pPr>
            <a:r>
              <a:rPr sz="1800" b="1" i="0">
                <a:solidFill>
                  <a:srgbClr val="000000"/>
                </a:solidFill>
                <a:latin typeface="Times New Roman"/>
                <a:ea typeface="Times New Roman"/>
                <a:cs typeface="Times New Roman"/>
              </a:rPr>
              <a:t>Training example</a:t>
            </a:r>
          </a:p>
          <a:p>
            <a:pPr marL="0" indent="0">
              <a:spcAft>
                <a:spcPts val="200"/>
              </a:spcAft>
              <a:buNone/>
            </a:pPr>
            <a:r>
              <a:rPr sz="1800" b="1" i="0">
                <a:solidFill>
                  <a:srgbClr val="000000"/>
                </a:solidFill>
                <a:latin typeface="Times New Roman"/>
                <a:ea typeface="Times New Roman"/>
                <a:cs typeface="Times New Roman"/>
              </a:rPr>
              <a:t>Assistant: </a:t>
            </a:r>
            <a:r>
              <a:rPr sz="1800" b="0" i="0">
                <a:solidFill>
                  <a:srgbClr val="000000"/>
                </a:solidFill>
                <a:latin typeface="Times New Roman"/>
                <a:ea typeface="Times New Roman"/>
                <a:cs typeface="Times New Roman"/>
              </a:rPr>
              <a:t>"You could learn violin this winter."</a:t>
            </a:r>
          </a:p>
          <a:p>
            <a:pPr marL="0" indent="0">
              <a:spcAft>
                <a:spcPts val="200"/>
              </a:spcAft>
              <a:buNone/>
            </a:pPr>
            <a:r>
              <a:rPr sz="1800" b="1" i="0">
                <a:solidFill>
                  <a:srgbClr val="000000"/>
                </a:solidFill>
                <a:latin typeface="Times New Roman"/>
                <a:ea typeface="Times New Roman"/>
                <a:cs typeface="Times New Roman"/>
              </a:rPr>
              <a:t>User: </a:t>
            </a:r>
            <a:r>
              <a:rPr sz="1800" b="0" i="0">
                <a:solidFill>
                  <a:srgbClr val="000000"/>
                </a:solidFill>
                <a:latin typeface="Times New Roman"/>
                <a:ea typeface="Times New Roman"/>
                <a:cs typeface="Times New Roman"/>
              </a:rPr>
              <a:t>"No, that is not my plan. I am learning watercolor painting."</a:t>
            </a:r>
          </a:p>
          <a:p>
            <a:pPr marL="0" indent="0">
              <a:spcAft>
                <a:spcPts val="0"/>
              </a:spcAft>
              <a:buNone/>
            </a:pPr>
            <a:r>
              <a:rPr sz="1800" b="1" i="0">
                <a:solidFill>
                  <a:srgbClr val="000000"/>
                </a:solidFill>
                <a:latin typeface="Times New Roman"/>
                <a:ea typeface="Times New Roman"/>
                <a:cs typeface="Times New Roman"/>
              </a:rPr>
              <a:t>Expected memory: </a:t>
            </a:r>
            <a:r>
              <a:rPr sz="1800" b="0" i="0">
                <a:solidFill>
                  <a:srgbClr val="000000"/>
                </a:solidFill>
                <a:latin typeface="Times New Roman"/>
                <a:ea typeface="Times New Roman"/>
                <a:cs typeface="Times New Roman"/>
              </a:rPr>
              <a:t>The user is learning watercolor painting.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(2/3)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External evaluation dataset</a:t>
            </a:r>
          </a:p>
        </p:txBody>
      </p:sp>
      <p:graphicFrame>
        <p:nvGraphicFramePr>
          <p:cNvPr id="27" name="Table 26"/>
          <p:cNvGraphicFramePr>
            <a:graphicFrameLocks noGrp="1"/>
          </p:cNvGraphicFramePr>
          <p:nvPr/>
        </p:nvGraphicFramePr>
        <p:xfrm>
          <a:off x="594360" y="1645919"/>
          <a:ext cx="11000231" cy="1463040"/>
        </p:xfrm>
        <a:graphic>
          <a:graphicData uri="http://schemas.openxmlformats.org/drawingml/2006/table">
            <a:tbl>
              <a:tblPr firstRow="1" bandRow="0"/>
              <a:tblGrid>
                <a:gridCol w="2383383"/>
                <a:gridCol w="8616848"/>
              </a:tblGrid>
              <a:tr h="365760">
                <a:tc>
                  <a:txBody>
                    <a:bodyPr wrap="square"/>
                    <a:lstStyle/>
                    <a:p>
                      <a:pPr marL="0" indent="0">
                        <a:spcAft>
                          <a:spcPts val="0"/>
                        </a:spcAft>
                        <a:buNone/>
                      </a:pPr>
                      <a:r>
                        <a:rPr sz="1800" b="1" i="0">
                          <a:solidFill>
                            <a:srgbClr val="000000"/>
                          </a:solidFill>
                          <a:latin typeface="Times New Roman"/>
                          <a:ea typeface="Times New Roman"/>
                          <a:cs typeface="Times New Roman"/>
                        </a:rPr>
                        <a:t>Aspect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Details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LoCoMo [15]: long conversations spread over many sessions.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Size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16 conversation segments from 10 conversations, with 40 reference assertions.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65760">
                <a:tc>
                  <a:txBody>
                    <a:bodyPr wrap="square"/>
                    <a:lstStyle/>
                    <a:p>
                      <a:pPr marL="0" indent="0">
                        <a:spcAft>
                          <a:spcPts val="0"/>
                        </a:spcAft>
                        <a:buNone/>
                      </a:pPr>
                      <a:r>
                        <a:rPr sz="1800" b="0" i="0">
                          <a:solidFill>
                            <a:srgbClr val="000000"/>
                          </a:solidFill>
                          <a:latin typeface="Times New Roman"/>
                          <a:ea typeface="Times New Roman"/>
                          <a:cs typeface="Times New Roman"/>
                        </a:rPr>
                        <a:t>Purpose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Check whether the model extracts useful assertions from conversations outside our training data.</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Rectangle 27"/>
          <p:cNvSpPr/>
          <p:nvPr/>
        </p:nvSpPr>
        <p:spPr>
          <a:xfrm>
            <a:off x="594360" y="3520440"/>
            <a:ext cx="11000232" cy="2697480"/>
          </a:xfrm>
          <a:prstGeom prst="rect">
            <a:avLst/>
          </a:prstGeom>
          <a:solidFill>
            <a:srgbClr val="EEF2F7"/>
          </a:solidFill>
          <a:ln w="9525">
            <a:solidFill>
              <a:srgbClr val="8A9BB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73152" bIns="73152" wrap="square"/>
          <a:lstStyle/>
          <a:p>
            <a:pPr algn="ctr" marL="0" indent="0">
              <a:spcAft>
                <a:spcPts val="400"/>
              </a:spcAft>
              <a:buNone/>
            </a:pPr>
            <a:r>
              <a:rPr sz="1800" b="1" i="0">
                <a:solidFill>
                  <a:srgbClr val="000000"/>
                </a:solidFill>
                <a:latin typeface="Times New Roman"/>
                <a:ea typeface="Times New Roman"/>
                <a:cs typeface="Times New Roman"/>
              </a:rPr>
              <a:t>Evaluation example (LoCoMo)</a:t>
            </a:r>
          </a:p>
          <a:p>
            <a:pPr marL="0" indent="0">
              <a:spcAft>
                <a:spcPts val="1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"Did you make that plate?"</a:t>
            </a:r>
          </a:p>
          <a:p>
            <a:pPr marL="0" indent="0">
              <a:spcAft>
                <a:spcPts val="100"/>
              </a:spcAft>
              <a:buNone/>
            </a:pPr>
            <a:r>
              <a:rPr sz="1800" b="1" i="0">
                <a:solidFill>
                  <a:srgbClr val="000000"/>
                </a:solidFill>
                <a:latin typeface="Times New Roman"/>
                <a:ea typeface="Times New Roman"/>
                <a:cs typeface="Times New Roman"/>
              </a:rPr>
              <a:t>Melanie: </a:t>
            </a:r>
            <a:r>
              <a:rPr sz="1800" b="0" i="0">
                <a:solidFill>
                  <a:srgbClr val="000000"/>
                </a:solidFill>
                <a:latin typeface="Times New Roman"/>
                <a:ea typeface="Times New Roman"/>
                <a:cs typeface="Times New Roman"/>
              </a:rPr>
              <a:t>"Yes, during yesterday's pottery class. I find pottery relaxing and creative."</a:t>
            </a:r>
          </a:p>
          <a:p>
            <a:pPr marL="0" indent="0">
              <a:spcAft>
                <a:spcPts val="1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"I haven't tried pottery. I've been painting and recently finished a picture."</a:t>
            </a:r>
          </a:p>
          <a:p>
            <a:pPr marL="0" indent="0">
              <a:spcAft>
                <a:spcPts val="100"/>
              </a:spcAft>
              <a:buNone/>
            </a:pPr>
            <a:r>
              <a:rPr sz="1800" b="1" i="0">
                <a:solidFill>
                  <a:srgbClr val="000000"/>
                </a:solidFill>
                <a:latin typeface="Times New Roman"/>
                <a:ea typeface="Times New Roman"/>
                <a:cs typeface="Times New Roman"/>
              </a:rPr>
              <a:t>Melanie: </a:t>
            </a:r>
            <a:r>
              <a:rPr sz="1800" b="0" i="0">
                <a:solidFill>
                  <a:srgbClr val="000000"/>
                </a:solidFill>
                <a:latin typeface="Times New Roman"/>
                <a:ea typeface="Times New Roman"/>
                <a:cs typeface="Times New Roman"/>
              </a:rPr>
              <a:t>"What inspired your painting?"</a:t>
            </a:r>
          </a:p>
          <a:p>
            <a:pPr marL="0" indent="0">
              <a:spcAft>
                <a:spcPts val="400"/>
              </a:spcAft>
              <a:buNone/>
            </a:pPr>
            <a:r>
              <a:rPr sz="1800" b="1" i="0">
                <a:solidFill>
                  <a:srgbClr val="000000"/>
                </a:solidFill>
                <a:latin typeface="Times New Roman"/>
                <a:ea typeface="Times New Roman"/>
                <a:cs typeface="Times New Roman"/>
              </a:rPr>
              <a:t>Caroline: </a:t>
            </a:r>
            <a:r>
              <a:rPr sz="1800" b="0" i="0">
                <a:solidFill>
                  <a:srgbClr val="000000"/>
                </a:solidFill>
                <a:latin typeface="Times New Roman"/>
                <a:ea typeface="Times New Roman"/>
                <a:cs typeface="Times New Roman"/>
              </a:rPr>
              <a:t>"A visit to the beach last week inspired it."</a:t>
            </a:r>
          </a:p>
          <a:p>
            <a:pPr marL="0" indent="0">
              <a:spcAft>
                <a:spcPts val="0"/>
              </a:spcAft>
              <a:buNone/>
            </a:pPr>
            <a:r>
              <a:rPr sz="1800" b="1" i="0">
                <a:solidFill>
                  <a:srgbClr val="000000"/>
                </a:solidFill>
                <a:latin typeface="Times New Roman"/>
                <a:ea typeface="Times New Roman"/>
                <a:cs typeface="Times New Roman"/>
              </a:rPr>
              <a:t>Expected memory: </a:t>
            </a:r>
            <a:r>
              <a:rPr sz="1800" b="0" i="0">
                <a:solidFill>
                  <a:srgbClr val="000000"/>
                </a:solidFill>
                <a:latin typeface="Times New Roman"/>
                <a:ea typeface="Times New Roman"/>
                <a:cs typeface="Times New Roman"/>
              </a:rPr>
              <a:t>Melanie made a plate in pottery class. Caroline painted a picture inspired by her beach visit.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DATASET (3/3)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Training rows across the 16 domains"/>
          <p:cNvPicPr>
            <a:picLocks noChangeAspect="1"/>
          </p:cNvPicPr>
          <p:nvPr/>
        </p:nvPicPr>
        <p:blipFill>
          <a:blip r:embed="rId3"/>
          <a:stretch>
            <a:fillRect/>
          </a:stretch>
        </p:blipFill>
        <p:spPr>
          <a:xfrm>
            <a:off x="2561947" y="1280160"/>
            <a:ext cx="7065057" cy="4206240"/>
          </a:xfrm>
          <a:prstGeom prst="rect">
            <a:avLst/>
          </a:prstGeom>
        </p:spPr>
      </p:pic>
      <p:sp>
        <p:nvSpPr>
          <p:cNvPr id="27" name="TextBox 26"/>
          <p:cNvSpPr txBox="1"/>
          <p:nvPr/>
        </p:nvSpPr>
        <p:spPr>
          <a:xfrm>
            <a:off x="594360" y="5623560"/>
            <a:ext cx="11000232" cy="685800"/>
          </a:xfrm>
          <a:prstGeom prst="rect">
            <a:avLst/>
          </a:prstGeom>
          <a:noFill/>
        </p:spPr>
        <p:txBody>
          <a:bodyPr wrap="square" lIns="45720" rIns="45720" tIns="27432" bIns="27432"/>
          <a:lstStyle/>
          <a:p>
            <a:pPr marL="0" indent="0">
              <a:spcAft>
                <a:spcPts val="600"/>
              </a:spcAft>
              <a:buNone/>
            </a:pPr>
            <a:r>
              <a:rPr sz="1800" b="0" i="0">
                <a:solidFill>
                  <a:srgbClr val="000000"/>
                </a:solidFill>
                <a:latin typeface="Times New Roman"/>
                <a:ea typeface="Times New Roman"/>
                <a:cs typeface="Times New Roman"/>
              </a:rPr>
              <a:t>Software and technical projects has 240 rows and the other domains have about 110 to 140 each. One episode can give several task rows.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OUTPUT SCREENSHOTS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in the first session the user gives a certificate expiry date, a weekly review time and the dashboard owner, and Pi submits them to memory."/>
          <p:cNvPicPr>
            <a:picLocks noChangeAspect="1"/>
          </p:cNvPicPr>
          <p:nvPr/>
        </p:nvPicPr>
        <p:blipFill>
          <a:blip r:embed="rId3"/>
          <a:stretch>
            <a:fillRect/>
          </a:stretch>
        </p:blipFill>
        <p:spPr>
          <a:xfrm>
            <a:off x="952229" y="1280160"/>
            <a:ext cx="4601496" cy="3566160"/>
          </a:xfrm>
          <a:prstGeom prst="rect">
            <a:avLst/>
          </a:prstGeom>
          <a:ln w="9525">
            <a:solidFill>
              <a:srgbClr val="606060"/>
            </a:solidFill>
          </a:ln>
        </p:spPr>
      </p:pic>
      <p:sp>
        <p:nvSpPr>
          <p:cNvPr id="27" name="TextBox 26"/>
          <p:cNvSpPr txBox="1"/>
          <p:nvPr/>
        </p:nvSpPr>
        <p:spPr>
          <a:xfrm>
            <a:off x="594360" y="4937760"/>
            <a:ext cx="5317236" cy="13258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1. Recording: </a:t>
            </a:r>
            <a:r>
              <a:rPr sz="1800" b="0" i="0">
                <a:solidFill>
                  <a:srgbClr val="000000"/>
                </a:solidFill>
                <a:latin typeface="Times New Roman"/>
                <a:ea typeface="Times New Roman"/>
                <a:cs typeface="Times New Roman"/>
              </a:rPr>
              <a:t>in the first session the user gives a certificate expiry date, a weekly review time and the dashboard owner, and Pi submits them to memory.</a:t>
            </a:r>
          </a:p>
        </p:txBody>
      </p:sp>
      <p:pic>
        <p:nvPicPr>
          <p:cNvPr id="28" name="Picture 27" descr="a fresh session in another project folder asks for the same details without repeating them."/>
          <p:cNvPicPr>
            <a:picLocks noChangeAspect="1"/>
          </p:cNvPicPr>
          <p:nvPr/>
        </p:nvPicPr>
        <p:blipFill>
          <a:blip r:embed="rId4"/>
          <a:stretch>
            <a:fillRect/>
          </a:stretch>
        </p:blipFill>
        <p:spPr>
          <a:xfrm>
            <a:off x="6277356" y="1280160"/>
            <a:ext cx="5317236" cy="1967377"/>
          </a:xfrm>
          <a:prstGeom prst="rect">
            <a:avLst/>
          </a:prstGeom>
          <a:ln w="9525">
            <a:solidFill>
              <a:srgbClr val="606060"/>
            </a:solidFill>
          </a:ln>
        </p:spPr>
      </p:pic>
      <p:sp>
        <p:nvSpPr>
          <p:cNvPr id="29" name="TextBox 28"/>
          <p:cNvSpPr txBox="1"/>
          <p:nvPr/>
        </p:nvSpPr>
        <p:spPr>
          <a:xfrm>
            <a:off x="6277356" y="4937760"/>
            <a:ext cx="5317236" cy="13258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2. New session: </a:t>
            </a:r>
            <a:r>
              <a:rPr sz="1800" b="0" i="0">
                <a:solidFill>
                  <a:srgbClr val="000000"/>
                </a:solidFill>
                <a:latin typeface="Times New Roman"/>
                <a:ea typeface="Times New Roman"/>
                <a:cs typeface="Times New Roman"/>
              </a:rPr>
              <a:t>a fresh session in another project folder asks for the same details without repeating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OUTPUT SCREENSHOTS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pic>
        <p:nvPicPr>
          <p:cNvPr id="26" name="Picture 25" descr="memory from the first session is added to the context, and the agent answers March 3, Tuesday at 11:00 and Kavya."/>
          <p:cNvPicPr>
            <a:picLocks noChangeAspect="1"/>
          </p:cNvPicPr>
          <p:nvPr/>
        </p:nvPicPr>
        <p:blipFill>
          <a:blip r:embed="rId3"/>
          <a:stretch>
            <a:fillRect/>
          </a:stretch>
        </p:blipFill>
        <p:spPr>
          <a:xfrm>
            <a:off x="952229" y="1280160"/>
            <a:ext cx="4601496" cy="3566160"/>
          </a:xfrm>
          <a:prstGeom prst="rect">
            <a:avLst/>
          </a:prstGeom>
          <a:ln w="9525">
            <a:solidFill>
              <a:srgbClr val="606060"/>
            </a:solidFill>
          </a:ln>
        </p:spPr>
      </p:pic>
      <p:sp>
        <p:nvSpPr>
          <p:cNvPr id="27" name="TextBox 26"/>
          <p:cNvSpPr txBox="1"/>
          <p:nvPr/>
        </p:nvSpPr>
        <p:spPr>
          <a:xfrm>
            <a:off x="594360" y="4937760"/>
            <a:ext cx="5317236" cy="13258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3. Recall: </a:t>
            </a:r>
            <a:r>
              <a:rPr sz="1800" b="0" i="0">
                <a:solidFill>
                  <a:srgbClr val="000000"/>
                </a:solidFill>
                <a:latin typeface="Times New Roman"/>
                <a:ea typeface="Times New Roman"/>
                <a:cs typeface="Times New Roman"/>
              </a:rPr>
              <a:t>memory from the first session is added to the context, and the agent answers March 3, Tuesday at 11:00 and Kavya.</a:t>
            </a:r>
          </a:p>
        </p:txBody>
      </p:sp>
      <p:pic>
        <p:nvPicPr>
          <p:cNvPr id="28" name="Picture 27" descr="the graph shows Friday 16:30 as the current release freeze, linked to the old Thursday 17:00 value."/>
          <p:cNvPicPr>
            <a:picLocks noChangeAspect="1"/>
          </p:cNvPicPr>
          <p:nvPr/>
        </p:nvPicPr>
        <p:blipFill>
          <a:blip r:embed="rId4"/>
          <a:stretch>
            <a:fillRect/>
          </a:stretch>
        </p:blipFill>
        <p:spPr>
          <a:xfrm>
            <a:off x="7072127" y="1280160"/>
            <a:ext cx="3727693" cy="3566160"/>
          </a:xfrm>
          <a:prstGeom prst="rect">
            <a:avLst/>
          </a:prstGeom>
          <a:ln w="9525">
            <a:solidFill>
              <a:srgbClr val="606060"/>
            </a:solidFill>
          </a:ln>
        </p:spPr>
      </p:pic>
      <p:sp>
        <p:nvSpPr>
          <p:cNvPr id="29" name="TextBox 28"/>
          <p:cNvSpPr txBox="1"/>
          <p:nvPr/>
        </p:nvSpPr>
        <p:spPr>
          <a:xfrm>
            <a:off x="6277356" y="4937760"/>
            <a:ext cx="5317236" cy="132588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Figure 4. Correction: </a:t>
            </a:r>
            <a:r>
              <a:rPr sz="1800" b="0" i="0">
                <a:solidFill>
                  <a:srgbClr val="000000"/>
                </a:solidFill>
                <a:latin typeface="Times New Roman"/>
                <a:ea typeface="Times New Roman"/>
                <a:cs typeface="Times New Roman"/>
              </a:rPr>
              <a:t>the graph shows Friday 16:30 as the current release freeze, linked to the old Thursday 17:00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(1/3)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0" indent="0">
              <a:spcAft>
                <a:spcPts val="200"/>
              </a:spcAft>
              <a:buNone/>
            </a:pPr>
            <a:r>
              <a:rPr sz="1800" b="1" i="0">
                <a:solidFill>
                  <a:srgbClr val="000000"/>
                </a:solidFill>
                <a:latin typeface="Times New Roman"/>
                <a:ea typeface="Times New Roman"/>
                <a:cs typeface="Times New Roman"/>
              </a:rPr>
              <a:t>A corrected instruction carried into a new session.</a:t>
            </a:r>
          </a:p>
          <a:p>
            <a:pPr marL="0" indent="0">
              <a:spcAft>
                <a:spcPts val="1400"/>
              </a:spcAft>
              <a:buNone/>
            </a:pPr>
            <a:r>
              <a:rPr sz="1800" b="0" i="0">
                <a:solidFill>
                  <a:srgbClr val="000000"/>
                </a:solidFill>
                <a:latin typeface="Times New Roman"/>
                <a:ea typeface="Times New Roman"/>
                <a:cs typeface="Times New Roman"/>
              </a:rPr>
              <a:t>In a three-session coding demo the required output changed from milliseconds to microseconds. In the next session the agent used microseconds without being told again.</a:t>
            </a:r>
          </a:p>
          <a:p>
            <a:pPr marL="0" indent="0">
              <a:spcAft>
                <a:spcPts val="200"/>
              </a:spcAft>
              <a:buNone/>
            </a:pPr>
            <a:r>
              <a:rPr sz="1800" b="1" i="0">
                <a:solidFill>
                  <a:srgbClr val="000000"/>
                </a:solidFill>
                <a:latin typeface="Times New Roman"/>
                <a:ea typeface="Times New Roman"/>
                <a:cs typeface="Times New Roman"/>
              </a:rPr>
              <a:t>Updating one assertion left the others alone.</a:t>
            </a:r>
          </a:p>
          <a:p>
            <a:pPr marL="0" indent="0">
              <a:spcAft>
                <a:spcPts val="1400"/>
              </a:spcAft>
              <a:buNone/>
            </a:pPr>
            <a:r>
              <a:rPr sz="1800" b="0" i="0">
                <a:solidFill>
                  <a:srgbClr val="000000"/>
                </a:solidFill>
                <a:latin typeface="Times New Roman"/>
                <a:ea typeface="Times New Roman"/>
                <a:cs typeface="Times New Roman"/>
              </a:rPr>
              <a:t>A test conversation gave a person's city and food preference, then changed only the city. The system used the new city, kept the old one as history and still knew the food preference.</a:t>
            </a:r>
          </a:p>
          <a:p>
            <a:pPr marL="0" indent="0">
              <a:spcAft>
                <a:spcPts val="200"/>
              </a:spcAft>
              <a:buNone/>
            </a:pPr>
            <a:r>
              <a:rPr sz="1800" b="1" i="0">
                <a:solidFill>
                  <a:srgbClr val="000000"/>
                </a:solidFill>
                <a:latin typeface="Times New Roman"/>
                <a:ea typeface="Times New Roman"/>
                <a:cs typeface="Times New Roman"/>
              </a:rPr>
              <a:t>Every stored assertion can be traced to its message.</a:t>
            </a:r>
          </a:p>
          <a:p>
            <a:pPr marL="0" indent="0">
              <a:spcAft>
                <a:spcPts val="0"/>
              </a:spcAft>
              <a:buNone/>
            </a:pPr>
            <a:r>
              <a:rPr sz="1800" b="0" i="0">
                <a:solidFill>
                  <a:srgbClr val="000000"/>
                </a:solidFill>
                <a:latin typeface="Times New Roman"/>
                <a:ea typeface="Times New Roman"/>
                <a:cs typeface="Times New Roman"/>
              </a:rPr>
              <a:t>A database audit found that all 142 stored source quotes match their original text exactly.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(2/3)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0" indent="0">
              <a:spcAft>
                <a:spcPts val="200"/>
              </a:spcAft>
              <a:buNone/>
            </a:pPr>
            <a:r>
              <a:rPr sz="1800" b="1" i="0">
                <a:solidFill>
                  <a:srgbClr val="000000"/>
                </a:solidFill>
                <a:latin typeface="Times New Roman"/>
                <a:ea typeface="Times New Roman"/>
                <a:cs typeface="Times New Roman"/>
              </a:rPr>
              <a:t>Related assertions were combined into inferences.</a:t>
            </a:r>
          </a:p>
          <a:p>
            <a:pPr marL="0" indent="0">
              <a:spcAft>
                <a:spcPts val="1400"/>
              </a:spcAft>
              <a:buNone/>
            </a:pPr>
            <a:r>
              <a:rPr sz="1800" b="0" i="0">
                <a:solidFill>
                  <a:srgbClr val="000000"/>
                </a:solidFill>
                <a:latin typeface="Times New Roman"/>
                <a:ea typeface="Times New Roman"/>
                <a:cs typeface="Times New Roman"/>
              </a:rPr>
              <a:t>The same audit found 8 inferences, each linked to at least two supporting assertions.</a:t>
            </a:r>
          </a:p>
          <a:p>
            <a:pPr marL="0" indent="0">
              <a:spcAft>
                <a:spcPts val="200"/>
              </a:spcAft>
              <a:buNone/>
            </a:pPr>
            <a:r>
              <a:rPr sz="1800" b="1" i="0">
                <a:solidFill>
                  <a:srgbClr val="000000"/>
                </a:solidFill>
                <a:latin typeface="Times New Roman"/>
                <a:ea typeface="Times New Roman"/>
                <a:cs typeface="Times New Roman"/>
              </a:rPr>
              <a:t>Dates are still a weak point.</a:t>
            </a:r>
          </a:p>
          <a:p>
            <a:pPr marL="0" indent="0">
              <a:spcAft>
                <a:spcPts val="1400"/>
              </a:spcAft>
              <a:buNone/>
            </a:pPr>
            <a:r>
              <a:rPr sz="1800" b="0" i="0">
                <a:solidFill>
                  <a:srgbClr val="000000"/>
                </a:solidFill>
                <a:latin typeface="Times New Roman"/>
                <a:ea typeface="Times New Roman"/>
                <a:cs typeface="Times New Roman"/>
              </a:rPr>
              <a:t>Some relative dates were read wrongly. "Tomorrow" in a message sent on June 1 was stored as June 3.</a:t>
            </a:r>
          </a:p>
          <a:p>
            <a:pPr marL="0" indent="0">
              <a:spcAft>
                <a:spcPts val="200"/>
              </a:spcAft>
              <a:buNone/>
            </a:pPr>
            <a:r>
              <a:rPr sz="1800" b="1" i="0">
                <a:solidFill>
                  <a:srgbClr val="000000"/>
                </a:solidFill>
                <a:latin typeface="Times New Roman"/>
                <a:ea typeface="Times New Roman"/>
                <a:cs typeface="Times New Roman"/>
              </a:rPr>
              <a:t>The first model was too small.</a:t>
            </a:r>
          </a:p>
          <a:p>
            <a:pPr marL="0" indent="0">
              <a:spcAft>
                <a:spcPts val="0"/>
              </a:spcAft>
              <a:buNone/>
            </a:pPr>
            <a:r>
              <a:rPr sz="1800" b="0" i="0">
                <a:solidFill>
                  <a:srgbClr val="000000"/>
                </a:solidFill>
                <a:latin typeface="Times New Roman"/>
                <a:ea typeface="Times New Roman"/>
                <a:cs typeface="Times New Roman"/>
              </a:rPr>
              <a:t>Qwen3-1.7B did well on synthetic examples, but only 18 of 33 natural-conversation windows passed validation. Most failures were wrong source attribution, mismatched quotes and invalid IDs, so we widened the data, tightened the output format and moved to Qwen3-4B.</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RESULTS AND OBSERVATIONS (3/3)</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34439"/>
            <a:ext cx="11000232" cy="365760"/>
          </a:xfrm>
          <a:prstGeom prst="rect">
            <a:avLst/>
          </a:prstGeom>
          <a:noFill/>
        </p:spPr>
        <p:txBody>
          <a:bodyPr wrap="square" lIns="45720" rIns="45720" tIns="27432" bIns="27432"/>
          <a:lstStyle/>
          <a:p>
            <a:pPr marL="0" indent="0">
              <a:spcAft>
                <a:spcPts val="600"/>
              </a:spcAft>
              <a:buNone/>
            </a:pPr>
            <a:r>
              <a:rPr sz="1800" b="1" i="0">
                <a:solidFill>
                  <a:srgbClr val="000000"/>
                </a:solidFill>
                <a:latin typeface="Times New Roman"/>
                <a:ea typeface="Times New Roman"/>
                <a:cs typeface="Times New Roman"/>
              </a:rPr>
              <a:t>Qwen3-4B before and after fine-tuning, on 64 unseen tasks across 16 domains and 16 external samples</a:t>
            </a:r>
          </a:p>
        </p:txBody>
      </p:sp>
      <p:graphicFrame>
        <p:nvGraphicFramePr>
          <p:cNvPr id="27" name="Table 26"/>
          <p:cNvGraphicFramePr>
            <a:graphicFrameLocks noGrp="1"/>
          </p:cNvGraphicFramePr>
          <p:nvPr/>
        </p:nvGraphicFramePr>
        <p:xfrm>
          <a:off x="594360" y="1645919"/>
          <a:ext cx="11000231" cy="3072384"/>
        </p:xfrm>
        <a:graphic>
          <a:graphicData uri="http://schemas.openxmlformats.org/drawingml/2006/table">
            <a:tbl>
              <a:tblPr firstRow="1" bandRow="0"/>
              <a:tblGrid>
                <a:gridCol w="6416801"/>
                <a:gridCol w="2291715"/>
                <a:gridCol w="2291715"/>
              </a:tblGrid>
              <a:tr h="384048">
                <a:tc>
                  <a:txBody>
                    <a:bodyPr wrap="square"/>
                    <a:lstStyle/>
                    <a:p>
                      <a:pPr marL="0" indent="0">
                        <a:spcAft>
                          <a:spcPts val="0"/>
                        </a:spcAft>
                        <a:buNone/>
                      </a:pPr>
                      <a:r>
                        <a:rPr sz="1800" b="1" i="0">
                          <a:solidFill>
                            <a:srgbClr val="000000"/>
                          </a:solidFill>
                          <a:latin typeface="Times New Roman"/>
                          <a:ea typeface="Times New Roman"/>
                          <a:cs typeface="Times New Roman"/>
                        </a:rPr>
                        <a:t>Measurement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Before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After</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Correctly combined assertions (inferences)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13/16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 answers from supplied memories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10/16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15/16</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Expected assertions recovered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50/55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41/55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Extracted assertions supported by the source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92.1%</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90.5%</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Corrections handled correctly</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8/8</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8/8</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Outputs passing format checks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64/64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63/64</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384048">
                <a:tc>
                  <a:txBody>
                    <a:bodyPr wrap="square"/>
                    <a:lstStyle/>
                    <a:p>
                      <a:pPr marL="0" indent="0">
                        <a:spcAft>
                          <a:spcPts val="0"/>
                        </a:spcAft>
                        <a:buNone/>
                      </a:pPr>
                      <a:r>
                        <a:rPr sz="1800" b="0" i="0">
                          <a:solidFill>
                            <a:srgbClr val="000000"/>
                          </a:solidFill>
                          <a:latin typeface="Times New Roman"/>
                          <a:ea typeface="Times New Roman"/>
                          <a:cs typeface="Times New Roman"/>
                        </a:rPr>
                        <a:t>Expected assertions recovered (16 external samples)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16/40</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13/40</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
        <p:nvSpPr>
          <p:cNvPr id="28" name="TextBox 27"/>
          <p:cNvSpPr txBox="1"/>
          <p:nvPr/>
        </p:nvSpPr>
        <p:spPr>
          <a:xfrm>
            <a:off x="594360" y="5257800"/>
            <a:ext cx="11000232" cy="914400"/>
          </a:xfrm>
          <a:prstGeom prst="rect">
            <a:avLst/>
          </a:prstGeom>
          <a:noFill/>
        </p:spPr>
        <p:txBody>
          <a:bodyPr wrap="square" lIns="45720" rIns="45720" tIns="27432" bIns="27432"/>
          <a:lstStyle/>
          <a:p>
            <a:pPr marL="0" indent="0">
              <a:spcAft>
                <a:spcPts val="600"/>
              </a:spcAft>
              <a:buNone/>
            </a:pPr>
            <a:r>
              <a:rPr sz="1800" b="0" i="0">
                <a:solidFill>
                  <a:srgbClr val="000000"/>
                </a:solidFill>
                <a:latin typeface="Times New Roman"/>
                <a:ea typeface="Times New Roman"/>
                <a:cs typeface="Times New Roman"/>
              </a:rPr>
              <a:t>Combining and answering improved a lot, but extraction recovered fewer assertions. A correct format also does not guarantee a correct meaning.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STATUS AND PENDING WORK</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graphicFrame>
        <p:nvGraphicFramePr>
          <p:cNvPr id="26" name="Table 25"/>
          <p:cNvGraphicFramePr>
            <a:graphicFrameLocks noGrp="1"/>
          </p:cNvGraphicFramePr>
          <p:nvPr/>
        </p:nvGraphicFramePr>
        <p:xfrm>
          <a:off x="594360" y="1280160"/>
          <a:ext cx="11000230" cy="1645920"/>
        </p:xfrm>
        <a:graphic>
          <a:graphicData uri="http://schemas.openxmlformats.org/drawingml/2006/table">
            <a:tbl>
              <a:tblPr firstRow="1" bandRow="0"/>
              <a:tblGrid>
                <a:gridCol w="2163980"/>
                <a:gridCol w="4418125"/>
                <a:gridCol w="2704975"/>
                <a:gridCol w="1713150"/>
              </a:tblGrid>
              <a:tr h="274320">
                <a:tc>
                  <a:txBody>
                    <a:bodyPr wrap="square"/>
                    <a:lstStyle/>
                    <a:p>
                      <a:pPr marL="0" indent="0">
                        <a:spcAft>
                          <a:spcPts val="0"/>
                        </a:spcAft>
                        <a:buNone/>
                      </a:pPr>
                      <a:r>
                        <a:rPr sz="1800" b="1" i="0">
                          <a:solidFill>
                            <a:srgbClr val="000000"/>
                          </a:solidFill>
                          <a:latin typeface="Times New Roman"/>
                          <a:ea typeface="Times New Roman"/>
                          <a:cs typeface="Times New Roman"/>
                        </a:rPr>
                        <a:t>Module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What works now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c>
                  <a:txBody>
                    <a:bodyPr wrap="square"/>
                    <a:lstStyle/>
                    <a:p>
                      <a:pPr marL="0" indent="0">
                        <a:spcAft>
                          <a:spcPts val="0"/>
                        </a:spcAft>
                        <a:buNone/>
                      </a:pPr>
                      <a:r>
                        <a:rPr sz="1800" b="1" i="0">
                          <a:solidFill>
                            <a:srgbClr val="000000"/>
                          </a:solidFill>
                          <a:latin typeface="Times New Roman"/>
                          <a:ea typeface="Times New Roman"/>
                          <a:cs typeface="Times New Roman"/>
                        </a:rPr>
                        <a:t>Status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D9E2EC"/>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M1 Source Acquisition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Captures Pi messages and tool results; handles duplicates, offline queueing and retries. Covered by Pi integration tests.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API access control; tested backup and restore.</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M2 Knowledge Extraction</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Extracts assertions with quotes, reviews corrections, builds embeddings and inferences. Extraction and review tests.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Better coverage, dates and source attribution; measure the review step.</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quality work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M3 Temporal Graph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Entity resolution, corrections, conflicts, history, stale inferences and the Neo4j copy. Integration tests for each.</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Ambiguous updates, aliases and long correction chains.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wider testing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M4 Hybrid Retrieval</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Keyword, vector, time and graph search; rank fusion, packing, recall in Pi and cited answers.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Full LongMemEval-S run, ablations, quality and latency report.</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Implemented; benchmark pending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r h="274320">
                <a:tc>
                  <a:txBody>
                    <a:bodyPr wrap="square"/>
                    <a:lstStyle/>
                    <a:p>
                      <a:pPr marL="0" indent="0">
                        <a:spcAft>
                          <a:spcPts val="0"/>
                        </a:spcAft>
                        <a:buNone/>
                      </a:pPr>
                      <a:r>
                        <a:rPr sz="1800" b="0" i="0">
                          <a:solidFill>
                            <a:srgbClr val="000000"/>
                          </a:solidFill>
                          <a:latin typeface="Times New Roman"/>
                          <a:ea typeface="Times New Roman"/>
                          <a:cs typeface="Times New Roman"/>
                        </a:rPr>
                        <a:t>M5 Model Training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Qwen3-4B fine-tuned with QLoRA, exported to Q8 GGUF and served by Ollama. Tested on 64 internal and 16 external cases.</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Fix the extraction drop and date errors; more external tests and human review.</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c>
                  <a:txBody>
                    <a:bodyPr wrap="square"/>
                    <a:lstStyle/>
                    <a:p>
                      <a:pPr marL="0" indent="0">
                        <a:spcAft>
                          <a:spcPts val="0"/>
                        </a:spcAft>
                        <a:buNone/>
                      </a:pPr>
                      <a:r>
                        <a:rPr sz="1800" b="0" i="0">
                          <a:solidFill>
                            <a:srgbClr val="000000"/>
                          </a:solidFill>
                          <a:latin typeface="Times New Roman"/>
                          <a:ea typeface="Times New Roman"/>
                          <a:cs typeface="Times New Roman"/>
                        </a:rPr>
                        <a:t>Trained; evaluation ongoing</a:t>
                      </a:r>
                    </a:p>
                  </a:txBody>
                  <a:tcPr marL="73152" marR="73152" marT="36576" marB="36576">
                    <a:lnL w="9525" cap="flat" cmpd="sng" algn="ctr">
                      <a:solidFill>
                        <a:srgbClr val="404040"/>
                      </a:solidFill>
                      <a:prstDash val="solid"/>
                    </a:lnL>
                    <a:lnR w="9525" cap="flat" cmpd="sng" algn="ctr">
                      <a:solidFill>
                        <a:srgbClr val="404040"/>
                      </a:solidFill>
                      <a:prstDash val="solid"/>
                    </a:lnR>
                    <a:lnT w="9525" cap="flat" cmpd="sng" algn="ctr">
                      <a:solidFill>
                        <a:srgbClr val="404040"/>
                      </a:solidFill>
                      <a:prstDash val="solid"/>
                    </a:lnT>
                    <a:lnB w="9525" cap="flat" cmpd="sng" algn="ctr">
                      <a:solidFill>
                        <a:srgbClr val="404040"/>
                      </a:solidFill>
                      <a:prstDash val="soli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REFERENCES (1/2)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548640" indent="-548640">
              <a:spcAft>
                <a:spcPts val="300"/>
              </a:spcAft>
              <a:buNone/>
              <a:tabLst>
                <a:tab pos="548640" algn="l"/>
              </a:tabLst>
            </a:pPr>
            <a:r>
              <a:rPr sz="1800" b="0" i="0">
                <a:solidFill>
                  <a:srgbClr val="000000"/>
                </a:solidFill>
                <a:latin typeface="Times New Roman"/>
                <a:ea typeface="Times New Roman"/>
                <a:cs typeface="Times New Roman"/>
              </a:rPr>
              <a:t>[1]	</a:t>
            </a:r>
            <a:r>
              <a:rPr sz="1800" b="0" i="0">
                <a:solidFill>
                  <a:srgbClr val="000000"/>
                </a:solidFill>
                <a:latin typeface="Times New Roman"/>
                <a:ea typeface="Times New Roman"/>
                <a:cs typeface="Times New Roman"/>
              </a:rPr>
              <a:t>N. F. Liu et al., "Lost in the middle: How language models use long contexts," </a:t>
            </a:r>
            <a:r>
              <a:rPr sz="1800" b="0" i="1">
                <a:solidFill>
                  <a:srgbClr val="000000"/>
                </a:solidFill>
                <a:latin typeface="Times New Roman"/>
                <a:ea typeface="Times New Roman"/>
                <a:cs typeface="Times New Roman"/>
              </a:rPr>
              <a:t>Trans. Assoc. Comput. Linguist.</a:t>
            </a:r>
            <a:r>
              <a:rPr sz="1800" b="0" i="0">
                <a:solidFill>
                  <a:srgbClr val="000000"/>
                </a:solidFill>
                <a:latin typeface="Times New Roman"/>
                <a:ea typeface="Times New Roman"/>
                <a:cs typeface="Times New Roman"/>
              </a:rPr>
              <a:t>, vol. 12, pp. 157–173, 2024.</a:t>
            </a:r>
          </a:p>
          <a:p>
            <a:pPr marL="548640" indent="-548640">
              <a:spcAft>
                <a:spcPts val="300"/>
              </a:spcAft>
              <a:buNone/>
              <a:tabLst>
                <a:tab pos="548640" algn="l"/>
              </a:tabLst>
            </a:pPr>
            <a:r>
              <a:rPr sz="1800" b="0" i="0">
                <a:solidFill>
                  <a:srgbClr val="000000"/>
                </a:solidFill>
                <a:latin typeface="Times New Roman"/>
                <a:ea typeface="Times New Roman"/>
                <a:cs typeface="Times New Roman"/>
              </a:rPr>
              <a:t>[2]	</a:t>
            </a:r>
            <a:r>
              <a:rPr sz="1800" b="0" i="0">
                <a:solidFill>
                  <a:srgbClr val="000000"/>
                </a:solidFill>
                <a:latin typeface="Times New Roman"/>
                <a:ea typeface="Times New Roman"/>
                <a:cs typeface="Times New Roman"/>
              </a:rPr>
              <a:t>D. Wu, H. Wang, W. Yu, Y. Zhang, K.-W. Chang, and D. Yu, "LongMemEval: Benchmarking chat assistants on long-term interactive memory," in </a:t>
            </a:r>
            <a:r>
              <a:rPr sz="1800" b="0" i="1">
                <a:solidFill>
                  <a:srgbClr val="000000"/>
                </a:solidFill>
                <a:latin typeface="Times New Roman"/>
                <a:ea typeface="Times New Roman"/>
                <a:cs typeface="Times New Roman"/>
              </a:rPr>
              <a:t>Proc. Int. Conf. Learn. Represent. (ICLR)</a:t>
            </a:r>
            <a:r>
              <a:rPr sz="1800" b="0" i="0">
                <a:solidFill>
                  <a:srgbClr val="000000"/>
                </a:solidFill>
                <a:latin typeface="Times New Roman"/>
                <a:ea typeface="Times New Roman"/>
                <a:cs typeface="Times New Roman"/>
              </a:rPr>
              <a:t>, 2025, pp. 86809–86836.</a:t>
            </a:r>
          </a:p>
          <a:p>
            <a:pPr marL="548640" indent="-548640">
              <a:spcAft>
                <a:spcPts val="300"/>
              </a:spcAft>
              <a:buNone/>
              <a:tabLst>
                <a:tab pos="548640" algn="l"/>
              </a:tabLst>
            </a:pPr>
            <a:r>
              <a:rPr sz="1800" b="0" i="0">
                <a:solidFill>
                  <a:srgbClr val="000000"/>
                </a:solidFill>
                <a:latin typeface="Times New Roman"/>
                <a:ea typeface="Times New Roman"/>
                <a:cs typeface="Times New Roman"/>
              </a:rPr>
              <a:t>[3]	</a:t>
            </a:r>
            <a:r>
              <a:rPr sz="1800" b="0" i="0">
                <a:solidFill>
                  <a:srgbClr val="000000"/>
                </a:solidFill>
                <a:latin typeface="Times New Roman"/>
                <a:ea typeface="Times New Roman"/>
                <a:cs typeface="Times New Roman"/>
              </a:rPr>
              <a:t>C. Packer et al., "MemGPT: Towards LLMs as operating systems," 2023, </a:t>
            </a:r>
            <a:r>
              <a:rPr sz="1800" b="0" i="1">
                <a:solidFill>
                  <a:srgbClr val="000000"/>
                </a:solidFill>
                <a:latin typeface="Times New Roman"/>
                <a:ea typeface="Times New Roman"/>
                <a:cs typeface="Times New Roman"/>
              </a:rPr>
              <a:t>arXiv:2310.08560</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[4]	</a:t>
            </a:r>
            <a:r>
              <a:rPr sz="1800" b="0" i="0">
                <a:solidFill>
                  <a:srgbClr val="000000"/>
                </a:solidFill>
                <a:latin typeface="Times New Roman"/>
                <a:ea typeface="Times New Roman"/>
                <a:cs typeface="Times New Roman"/>
              </a:rPr>
              <a:t>P. Rasmussen, P. Paliychuk, T. Beauvais, J. Ryan, and D. Chalef, "Zep: A temporal knowledge graph architecture for agent memory," 2025, </a:t>
            </a:r>
            <a:r>
              <a:rPr sz="1800" b="0" i="1">
                <a:solidFill>
                  <a:srgbClr val="000000"/>
                </a:solidFill>
                <a:latin typeface="Times New Roman"/>
                <a:ea typeface="Times New Roman"/>
                <a:cs typeface="Times New Roman"/>
              </a:rPr>
              <a:t>arXiv:2501.13956</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[5]	</a:t>
            </a:r>
            <a:r>
              <a:rPr sz="1800" b="0" i="0">
                <a:solidFill>
                  <a:srgbClr val="000000"/>
                </a:solidFill>
                <a:latin typeface="Times New Roman"/>
                <a:ea typeface="Times New Roman"/>
                <a:cs typeface="Times New Roman"/>
              </a:rPr>
              <a:t>P. Chhikara, D. Khant, S. Aryan, T. Singh, and D. Yadav, "Mem0: Building production-ready AI agents with scalable long-term memory," in </a:t>
            </a:r>
            <a:r>
              <a:rPr sz="1800" b="0" i="1">
                <a:solidFill>
                  <a:srgbClr val="000000"/>
                </a:solidFill>
                <a:latin typeface="Times New Roman"/>
                <a:ea typeface="Times New Roman"/>
                <a:cs typeface="Times New Roman"/>
              </a:rPr>
              <a:t>Proc. 28th Eur. Conf. Artif. Intell. (ECAI)</a:t>
            </a:r>
            <a:r>
              <a:rPr sz="1800" b="0" i="0">
                <a:solidFill>
                  <a:srgbClr val="000000"/>
                </a:solidFill>
                <a:latin typeface="Times New Roman"/>
                <a:ea typeface="Times New Roman"/>
                <a:cs typeface="Times New Roman"/>
              </a:rPr>
              <a:t>, 2025, pp. 2993–3000, doi: 10.3233/FAIA251160.</a:t>
            </a:r>
          </a:p>
          <a:p>
            <a:pPr marL="548640" indent="-548640">
              <a:spcAft>
                <a:spcPts val="300"/>
              </a:spcAft>
              <a:buNone/>
              <a:tabLst>
                <a:tab pos="548640" algn="l"/>
              </a:tabLst>
            </a:pPr>
            <a:r>
              <a:rPr sz="1800" b="0" i="0">
                <a:solidFill>
                  <a:srgbClr val="000000"/>
                </a:solidFill>
                <a:latin typeface="Times New Roman"/>
                <a:ea typeface="Times New Roman"/>
                <a:cs typeface="Times New Roman"/>
              </a:rPr>
              <a:t>[6]	</a:t>
            </a:r>
            <a:r>
              <a:rPr sz="1800" b="0" i="0">
                <a:solidFill>
                  <a:srgbClr val="000000"/>
                </a:solidFill>
                <a:latin typeface="Times New Roman"/>
                <a:ea typeface="Times New Roman"/>
                <a:cs typeface="Times New Roman"/>
              </a:rPr>
              <a:t>S. Daga, S. Sreedhar, and D. Shah, "LongMemEval," Supermemory Research, May 2026. Accessed: Oct. 6, 2026. [Online]. Available: https://supermemory.ai/research/longmembench/</a:t>
            </a:r>
          </a:p>
          <a:p>
            <a:pPr marL="548640" indent="-548640">
              <a:spcAft>
                <a:spcPts val="300"/>
              </a:spcAft>
              <a:buNone/>
              <a:tabLst>
                <a:tab pos="548640" algn="l"/>
              </a:tabLst>
            </a:pPr>
            <a:r>
              <a:rPr sz="1800" b="0" i="0">
                <a:solidFill>
                  <a:srgbClr val="000000"/>
                </a:solidFill>
                <a:latin typeface="Times New Roman"/>
                <a:ea typeface="Times New Roman"/>
                <a:cs typeface="Times New Roman"/>
              </a:rPr>
              <a:t>[7]	</a:t>
            </a:r>
            <a:r>
              <a:rPr sz="1800" b="0" i="0">
                <a:solidFill>
                  <a:srgbClr val="000000"/>
                </a:solidFill>
                <a:latin typeface="Times New Roman"/>
                <a:ea typeface="Times New Roman"/>
                <a:cs typeface="Times New Roman"/>
              </a:rPr>
              <a:t>C. Latimer et al., "Hindsight is 20/20: Building agent memory that retains, recalls, and reflects," 2025, </a:t>
            </a:r>
            <a:r>
              <a:rPr sz="1800" b="0" i="1">
                <a:solidFill>
                  <a:srgbClr val="000000"/>
                </a:solidFill>
                <a:latin typeface="Times New Roman"/>
                <a:ea typeface="Times New Roman"/>
                <a:cs typeface="Times New Roman"/>
              </a:rPr>
              <a:t>arXiv:2512.12818</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[8]	</a:t>
            </a:r>
            <a:r>
              <a:rPr sz="1800" b="0" i="0">
                <a:solidFill>
                  <a:srgbClr val="000000"/>
                </a:solidFill>
                <a:latin typeface="Times New Roman"/>
                <a:ea typeface="Times New Roman"/>
                <a:cs typeface="Times New Roman"/>
              </a:rPr>
              <a:t>PostgreSQL Global Development Group, "Full text search," in </a:t>
            </a:r>
            <a:r>
              <a:rPr sz="1800" b="0" i="1">
                <a:solidFill>
                  <a:srgbClr val="000000"/>
                </a:solidFill>
                <a:latin typeface="Times New Roman"/>
                <a:ea typeface="Times New Roman"/>
                <a:cs typeface="Times New Roman"/>
              </a:rPr>
              <a:t>PostgreSQL 17 Documentation</a:t>
            </a:r>
            <a:r>
              <a:rPr sz="1800" b="0" i="0">
                <a:solidFill>
                  <a:srgbClr val="000000"/>
                </a:solidFill>
                <a:latin typeface="Times New Roman"/>
                <a:ea typeface="Times New Roman"/>
                <a:cs typeface="Times New Roman"/>
              </a:rPr>
              <a:t>, ch. 12, 2026. Accessed: Oct. 6, 2026. [Online]. Available: https://www.postgresql.org/docs/17/textsearch.html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b="1" i="0">
                <a:solidFill>
                  <a:srgbClr val="000000"/>
                </a:solidFill>
                <a:latin typeface="Times New Roman"/>
                <a:ea typeface="Times New Roman"/>
                <a:cs typeface="Times New Roman"/>
              </a:rPr>
              <a:t>REFERENCES (2/2)</a:t>
            </a:r>
          </a:p>
        </p:txBody>
      </p:sp>
      <p:sp>
        <p:nvSpPr>
          <p:cNvPr id="25" name="PlaceHolder 2"/>
          <p:cNvSpPr>
            <a:spLocks noGrp="1"/>
          </p:cNvSpPr>
          <p:nvPr>
            <p:ph type="sldNum" idx="5"/>
          </p:nvPr>
        </p:nvSpPr>
        <p:spPr>
          <a:xfrm>
            <a:off x="10865880" y="384120"/>
            <a:ext cx="730440" cy="456120"/>
          </a:xfrm>
          <a:prstGeom prst="rect">
            <a:avLst/>
          </a:prstGeom>
          <a:noFill/>
          <a:ln w="0">
            <a:noFill/>
          </a:ln>
        </p:spPr>
        <p:txBody>
          <a:bodyPr lIns="90000" tIns="45000" rIns="90000" bIns="45000" anchor="t">
            <a:noAutofit/>
          </a:bodyPr>
          <a:lstStyle>
            <a:lvl1pPr indent="0" algn="r" defTabSz="914400">
              <a:lnSpc>
                <a:spcPct val="100000"/>
              </a:lnSpc>
              <a:buNone/>
              <a:tabLst>
                <a:tab pos="0" algn="l"/>
              </a:tabLst>
              <a:defRPr lang="en-US" sz="1800" b="0" u="none" strike="noStrike">
                <a:solidFill>
                  <a:srgbClr val="000000"/>
                </a:solidFill>
                <a:effectLst/>
                <a:uFillTx/>
                <a:latin typeface="Times New Roman"/>
                <a:ea typeface="Times New Roman"/>
              </a:defRPr>
            </a:lvl1pPr>
          </a:lstStyle>
          <a:p>
            <a:pPr indent="0" algn="r" defTabSz="914400">
              <a:lnSpc>
                <a:spcPct val="100000"/>
              </a:lnSpc>
              <a:buNone/>
              <a:tabLst>
                <a:tab pos="0" algn="l"/>
              </a:tabLst>
            </a:pPr>
            <a:fld id="{9873986A-C957-40DB-B7BB-3EB1CE963720}" type="slidenum">
              <a:rPr lang="en-US" sz="1800" b="0" u="none" strike="noStrike">
                <a:solidFill>
                  <a:srgbClr val="000000"/>
                </a:solidFill>
                <a:effectLst/>
                <a:uFillTx/>
                <a:latin typeface="Times New Roman"/>
                <a:ea typeface="Times New Roman"/>
              </a:rPr>
              <a:t>&lt;number&gt;</a:t>
            </a:fld>
            <a:endParaRPr lang="en-US" sz="1600" b="0" u="none" strike="noStrike">
              <a:solidFill>
                <a:srgbClr val="000000"/>
              </a:solidFill>
              <a:effectLst/>
              <a:uFillTx/>
              <a:latin typeface="Times New Roman"/>
            </a:endParaRPr>
          </a:p>
        </p:txBody>
      </p:sp>
      <p:sp>
        <p:nvSpPr>
          <p:cNvPr id="26" name="TextBox 25"/>
          <p:cNvSpPr txBox="1"/>
          <p:nvPr/>
        </p:nvSpPr>
        <p:spPr>
          <a:xfrm>
            <a:off x="594360" y="1280160"/>
            <a:ext cx="11000232" cy="4983480"/>
          </a:xfrm>
          <a:prstGeom prst="rect">
            <a:avLst/>
          </a:prstGeom>
          <a:noFill/>
        </p:spPr>
        <p:txBody>
          <a:bodyPr wrap="square" lIns="45720" rIns="45720" tIns="27432" bIns="27432"/>
          <a:lstStyle/>
          <a:p>
            <a:pPr marL="548640" indent="-548640">
              <a:spcAft>
                <a:spcPts val="300"/>
              </a:spcAft>
              <a:buNone/>
              <a:tabLst>
                <a:tab pos="548640" algn="l"/>
              </a:tabLst>
            </a:pPr>
            <a:r>
              <a:rPr sz="1800" b="0" i="0">
                <a:solidFill>
                  <a:srgbClr val="000000"/>
                </a:solidFill>
                <a:latin typeface="Times New Roman"/>
                <a:ea typeface="Times New Roman"/>
                <a:cs typeface="Times New Roman"/>
              </a:rPr>
              <a:t>[9]	</a:t>
            </a:r>
            <a:r>
              <a:rPr sz="1800" b="0" i="0">
                <a:solidFill>
                  <a:srgbClr val="000000"/>
                </a:solidFill>
                <a:latin typeface="Times New Roman"/>
                <a:ea typeface="Times New Roman"/>
                <a:cs typeface="Times New Roman"/>
              </a:rPr>
              <a:t>A. Kane et al., "pgvector: Open-source vector similarity search for Postgres," GitHub repository, 2026. Accessed: Oct. 6, 2026. [Online]. Available: https://github.com/pgvector/pgvector</a:t>
            </a:r>
          </a:p>
          <a:p>
            <a:pPr marL="548640" indent="-548640">
              <a:spcAft>
                <a:spcPts val="300"/>
              </a:spcAft>
              <a:buNone/>
              <a:tabLst>
                <a:tab pos="548640" algn="l"/>
              </a:tabLst>
            </a:pPr>
            <a:r>
              <a:rPr sz="1800" b="0" i="0">
                <a:solidFill>
                  <a:srgbClr val="000000"/>
                </a:solidFill>
                <a:latin typeface="Times New Roman"/>
                <a:ea typeface="Times New Roman"/>
                <a:cs typeface="Times New Roman"/>
              </a:rPr>
              <a:t>[10]	</a:t>
            </a:r>
            <a:r>
              <a:rPr sz="1800" b="0" i="0">
                <a:solidFill>
                  <a:srgbClr val="000000"/>
                </a:solidFill>
                <a:latin typeface="Times New Roman"/>
                <a:ea typeface="Times New Roman"/>
                <a:cs typeface="Times New Roman"/>
              </a:rPr>
              <a:t>G. V. Cormack, C. L. A. Clarke, and S. Büttcher, "Reciprocal rank fusion outperforms Condorcet and individual rank learning methods," in </a:t>
            </a:r>
            <a:r>
              <a:rPr sz="1800" b="0" i="1">
                <a:solidFill>
                  <a:srgbClr val="000000"/>
                </a:solidFill>
                <a:latin typeface="Times New Roman"/>
                <a:ea typeface="Times New Roman"/>
                <a:cs typeface="Times New Roman"/>
              </a:rPr>
              <a:t>Proc. 32nd Int. ACM SIGIR Conf. Res. Develop. Inf. Retrieval</a:t>
            </a:r>
            <a:r>
              <a:rPr sz="1800" b="0" i="0">
                <a:solidFill>
                  <a:srgbClr val="000000"/>
                </a:solidFill>
                <a:latin typeface="Times New Roman"/>
                <a:ea typeface="Times New Roman"/>
                <a:cs typeface="Times New Roman"/>
              </a:rPr>
              <a:t>, Boston, MA, USA, 2009, pp. 758–759, doi: 10.1145/1571941.1572114.</a:t>
            </a:r>
          </a:p>
          <a:p>
            <a:pPr marL="548640" indent="-548640">
              <a:spcAft>
                <a:spcPts val="300"/>
              </a:spcAft>
              <a:buNone/>
              <a:tabLst>
                <a:tab pos="548640" algn="l"/>
              </a:tabLst>
            </a:pPr>
            <a:r>
              <a:rPr sz="1800" b="0" i="0">
                <a:solidFill>
                  <a:srgbClr val="000000"/>
                </a:solidFill>
                <a:latin typeface="Times New Roman"/>
                <a:ea typeface="Times New Roman"/>
                <a:cs typeface="Times New Roman"/>
              </a:rPr>
              <a:t>[11]	</a:t>
            </a:r>
            <a:r>
              <a:rPr sz="1800" b="0" i="0">
                <a:solidFill>
                  <a:srgbClr val="000000"/>
                </a:solidFill>
                <a:latin typeface="Times New Roman"/>
                <a:ea typeface="Times New Roman"/>
                <a:cs typeface="Times New Roman"/>
              </a:rPr>
              <a:t>Neo4j, Inc., "Query the database," in </a:t>
            </a:r>
            <a:r>
              <a:rPr sz="1800" b="0" i="1">
                <a:solidFill>
                  <a:srgbClr val="000000"/>
                </a:solidFill>
                <a:latin typeface="Times New Roman"/>
                <a:ea typeface="Times New Roman"/>
                <a:cs typeface="Times New Roman"/>
              </a:rPr>
              <a:t>Neo4j HTTP API Manual</a:t>
            </a:r>
            <a:r>
              <a:rPr sz="1800" b="0" i="0">
                <a:solidFill>
                  <a:srgbClr val="000000"/>
                </a:solidFill>
                <a:latin typeface="Times New Roman"/>
                <a:ea typeface="Times New Roman"/>
                <a:cs typeface="Times New Roman"/>
              </a:rPr>
              <a:t>, v5, 2026. Accessed: Oct. 6, 2026. [Online]. Available: https://neo4j.com/docs/http-api/5/query/</a:t>
            </a:r>
          </a:p>
          <a:p>
            <a:pPr marL="548640" indent="-548640">
              <a:spcAft>
                <a:spcPts val="300"/>
              </a:spcAft>
              <a:buNone/>
              <a:tabLst>
                <a:tab pos="548640" algn="l"/>
              </a:tabLst>
            </a:pPr>
            <a:r>
              <a:rPr sz="1800" b="0" i="0">
                <a:solidFill>
                  <a:srgbClr val="000000"/>
                </a:solidFill>
                <a:latin typeface="Times New Roman"/>
                <a:ea typeface="Times New Roman"/>
                <a:cs typeface="Times New Roman"/>
              </a:rPr>
              <a:t>[12]	</a:t>
            </a:r>
            <a:r>
              <a:rPr sz="1800" b="0" i="0">
                <a:solidFill>
                  <a:srgbClr val="000000"/>
                </a:solidFill>
                <a:latin typeface="Times New Roman"/>
                <a:ea typeface="Times New Roman"/>
                <a:cs typeface="Times New Roman"/>
              </a:rPr>
              <a:t>Y. Zhang et al., "Qwen3 Embedding: Advancing text embedding and reranking through foundation models," 2025, </a:t>
            </a:r>
            <a:r>
              <a:rPr sz="1800" b="0" i="1">
                <a:solidFill>
                  <a:srgbClr val="000000"/>
                </a:solidFill>
                <a:latin typeface="Times New Roman"/>
                <a:ea typeface="Times New Roman"/>
                <a:cs typeface="Times New Roman"/>
              </a:rPr>
              <a:t>arXiv:2506.05176</a:t>
            </a:r>
            <a:r>
              <a:rPr sz="1800" b="0" i="0">
                <a:solidFill>
                  <a:srgbClr val="000000"/>
                </a:solidFill>
                <a:latin typeface="Times New Roman"/>
                <a:ea typeface="Times New Roman"/>
                <a:cs typeface="Times New Roman"/>
              </a:rPr>
              <a:t>.</a:t>
            </a:r>
          </a:p>
          <a:p>
            <a:pPr marL="548640" indent="-548640">
              <a:spcAft>
                <a:spcPts val="300"/>
              </a:spcAft>
              <a:buNone/>
              <a:tabLst>
                <a:tab pos="548640" algn="l"/>
              </a:tabLst>
            </a:pPr>
            <a:r>
              <a:rPr sz="1800" b="0" i="0">
                <a:solidFill>
                  <a:srgbClr val="000000"/>
                </a:solidFill>
                <a:latin typeface="Times New Roman"/>
                <a:ea typeface="Times New Roman"/>
                <a:cs typeface="Times New Roman"/>
              </a:rPr>
              <a:t>[13]	</a:t>
            </a:r>
            <a:r>
              <a:rPr sz="1800" b="0" i="0">
                <a:solidFill>
                  <a:srgbClr val="000000"/>
                </a:solidFill>
                <a:latin typeface="Times New Roman"/>
                <a:ea typeface="Times New Roman"/>
                <a:cs typeface="Times New Roman"/>
              </a:rPr>
              <a:t>M. Zechner et al., "pi: AI agent toolkit," GitHub repository, 2026. Accessed: Oct. 6, 2026. [Online]. Available: https://github.com/earendil-works/pi</a:t>
            </a:r>
          </a:p>
          <a:p>
            <a:pPr marL="548640" indent="-548640">
              <a:spcAft>
                <a:spcPts val="300"/>
              </a:spcAft>
              <a:buNone/>
              <a:tabLst>
                <a:tab pos="548640" algn="l"/>
              </a:tabLst>
            </a:pPr>
            <a:r>
              <a:rPr sz="1800" b="0" i="0">
                <a:solidFill>
                  <a:srgbClr val="000000"/>
                </a:solidFill>
                <a:latin typeface="Times New Roman"/>
                <a:ea typeface="Times New Roman"/>
                <a:cs typeface="Times New Roman"/>
              </a:rPr>
              <a:t>[14]	</a:t>
            </a:r>
            <a:r>
              <a:rPr sz="1800" b="0" i="0">
                <a:solidFill>
                  <a:srgbClr val="000000"/>
                </a:solidFill>
                <a:latin typeface="Times New Roman"/>
                <a:ea typeface="Times New Roman"/>
                <a:cs typeface="Times New Roman"/>
              </a:rPr>
              <a:t>T. Dettmers, A. Pagnoni, A. Holtzman, and L. Zettlemoyer, "QLoRA: Efficient finetuning of quantized LLMs," in </a:t>
            </a:r>
            <a:r>
              <a:rPr sz="1800" b="0" i="1">
                <a:solidFill>
                  <a:srgbClr val="000000"/>
                </a:solidFill>
                <a:latin typeface="Times New Roman"/>
                <a:ea typeface="Times New Roman"/>
                <a:cs typeface="Times New Roman"/>
              </a:rPr>
              <a:t>Proc. Adv. Neural Inf. Process. Syst. (NeurIPS)</a:t>
            </a:r>
            <a:r>
              <a:rPr sz="1800" b="0" i="0">
                <a:solidFill>
                  <a:srgbClr val="000000"/>
                </a:solidFill>
                <a:latin typeface="Times New Roman"/>
                <a:ea typeface="Times New Roman"/>
                <a:cs typeface="Times New Roman"/>
              </a:rPr>
              <a:t>, vol. 36, 2023, pp. 10088–10115.</a:t>
            </a:r>
          </a:p>
          <a:p>
            <a:pPr marL="548640" indent="-548640">
              <a:spcAft>
                <a:spcPts val="300"/>
              </a:spcAft>
              <a:buNone/>
              <a:tabLst>
                <a:tab pos="548640" algn="l"/>
              </a:tabLst>
            </a:pPr>
            <a:r>
              <a:rPr sz="1800" b="0" i="0">
                <a:solidFill>
                  <a:srgbClr val="000000"/>
                </a:solidFill>
                <a:latin typeface="Times New Roman"/>
                <a:ea typeface="Times New Roman"/>
                <a:cs typeface="Times New Roman"/>
              </a:rPr>
              <a:t>[15]	</a:t>
            </a:r>
            <a:r>
              <a:rPr sz="1800" b="0" i="0">
                <a:solidFill>
                  <a:srgbClr val="000000"/>
                </a:solidFill>
                <a:latin typeface="Times New Roman"/>
                <a:ea typeface="Times New Roman"/>
                <a:cs typeface="Times New Roman"/>
              </a:rPr>
              <a:t>A. Maharana, D.-H. Lee, S. Tulyakov, M. Bansal, F. Barbieri, and Y. Fang, "Evaluating very long-term conversational memory of LLM agents," in </a:t>
            </a:r>
            <a:r>
              <a:rPr sz="1800" b="0" i="1">
                <a:solidFill>
                  <a:srgbClr val="000000"/>
                </a:solidFill>
                <a:latin typeface="Times New Roman"/>
                <a:ea typeface="Times New Roman"/>
                <a:cs typeface="Times New Roman"/>
              </a:rPr>
              <a:t>Proc. 62nd Annu. Meeting Assoc. Comput. Linguist.</a:t>
            </a:r>
            <a:r>
              <a:rPr sz="1800" b="0" i="0">
                <a:solidFill>
                  <a:srgbClr val="000000"/>
                </a:solidFill>
                <a:latin typeface="Times New Roman"/>
                <a:ea typeface="Times New Roman"/>
                <a:cs typeface="Times New Roman"/>
              </a:rPr>
              <a:t>, Bangkok, Thailand, 2024, pp. 13851–13870, doi: 10.18653/v1/2024.acl-long.747.</a:t>
            </a:r>
          </a:p>
        </p:txBody>
      </p:sp>
    </p:spTree>
  </p:cSld>
  <p:clrMapOvr>
    <a:masterClrMapping/>
  </p:clrMapOvr>
</p:sld>
</file>

<file path=ppt/theme/theme1.xml><?xml version="1.0" encoding="utf-8"?>
<a:theme xmlns:a="http://schemas.openxmlformats.org/drawingml/2006/main" xmlns:r="http://schemas.openxmlformats.org/officeDocument/2006/relationships"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pitchFamily="0" charset="1"/>
        <a:ea typeface=""/>
        <a:cs typeface=""/>
      </a:majorFont>
      <a:minorFont>
        <a:latin typeface="Times New Roman"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146</TotalTime>
  <Application>LibreOffice/26.2.6.3$Linux_X86_64 LibreOffice_project/620$Build-3</Application>
  <AppVersion>15.0000</AppVersion>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2026-10-06T07:36:11Z</dcterms:created>
  <dc:creator>Team 13</dc:creator>
  <dc:description/>
  <dc:language>en-US</dc:language>
  <cp:lastModifiedBy/>
  <dcterms:modified xsi:type="dcterms:W3CDTF">2026-10-14T16:59:10Z</dcterms:modified>
  <cp:revision>16</cp:revision>
  <dc:subject>Second Project Review</dc:subject>
  <dc:title>Long-Term Memory Engine for AI Agents in Rust, Second Review</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16</vt:i4>
  </property>
  <property fmtid="{D5CDD505-2E9C-101B-9397-08002B2CF9AE}" pid="3" name="PresentationFormat">
    <vt:lpwstr>On-screen Show (16:9)</vt:lpwstr>
  </property>
  <property fmtid="{D5CDD505-2E9C-101B-9397-08002B2CF9AE}" pid="4" name="Slides">
    <vt:i4>16</vt:i4>
  </property>
</Properties>
</file>