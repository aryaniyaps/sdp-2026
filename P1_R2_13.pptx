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5"/>
    <p:sldId id="279" r:id="rId28"/>
    <p:sldId id="280" r:id="rId29"/>
    <p:sldId id="281" r:id="rId30"/>
    <p:sldId id="282" r:id="rId31"/>
    <p:sldId id="283" r:id="rId32"/>
    <p:sldId id="284" r:id="rId33"/>
    <p:sldId id="285" r:id="rId34"/>
    <p:sldId id="286" r:id="rId35"/>
    <p:sldId id="287" r:id="rId36"/>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3.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presProps" Target="presProps.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3600" b="0" u="none" strike="noStrike">
                <a:solidFill>
                  <a:schemeClr val="dk1"/>
                </a:solidFill>
                <a:effectLst/>
                <a:uFillTx/>
                <a:latin typeface="Times New Roman"/>
              </a:rPr>
              <a:t>Click to move the slide</a:t>
            </a:r>
            <a:endParaRPr lang="en-US" sz="3600" b="0" u="none" strike="noStrike">
              <a:solidFill>
                <a:schemeClr val="dk1"/>
              </a:solidFill>
              <a:effectLst/>
              <a:uFillTx/>
              <a:latin typeface="Times New Roman"/>
            </a:endParaRP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3" name="PlaceHolder 4"/>
          <p:cNvSpPr>
            <a:spLocks noGrp="1"/>
          </p:cNvSpPr>
          <p:nvPr>
            <p:ph type="dt" idx="2"/>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4" name="PlaceHolder 5"/>
          <p:cNvSpPr>
            <a:spLocks noGrp="1"/>
          </p:cNvSpPr>
          <p:nvPr>
            <p:ph type="ftr" idx="3"/>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6"/>
          <p:cNvSpPr>
            <a:spLocks noGrp="1"/>
          </p:cNvSpPr>
          <p:nvPr>
            <p:ph type="sldNum" idx="4"/>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17634A3-7D26-4BCA-864F-E88368E6EC6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 name="Shape 1"/>
          <p:cNvSpPr/>
          <p:nvPr/>
        </p:nvSpPr>
        <p:spPr>
          <a:xfrm>
            <a:off x="594360" y="6382440"/>
            <a:ext cx="11002680" cy="360"/>
          </a:xfrm>
          <a:prstGeom prst="line">
            <a:avLst/>
          </a:prstGeom>
          <a:ln w="9525">
            <a:solidFill>
              <a:srgbClr val="BFBFBF"/>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 name="PlaceHolder 1"/>
          <p:cNvSpPr>
            <a:spLocks noGrp="1"/>
          </p:cNvSpPr>
          <p:nvPr>
            <p:ph type="title"/>
          </p:nvPr>
        </p:nvSpPr>
        <p:spPr>
          <a:xfrm>
            <a:off x="594360" y="384120"/>
            <a:ext cx="9813240" cy="77616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000" b="0" u="none" strike="noStrike">
                <a:solidFill>
                  <a:schemeClr val="dk1"/>
                </a:solidFill>
                <a:effectLst/>
                <a:uFillTx/>
                <a:latin typeface="Times New Roman"/>
              </a:defRPr>
            </a:lvl1pPr>
          </a:lstStyle>
          <a:p>
            <a:pPr indent="0" algn="l">
              <a:lnSpc>
                <a:spcPct val="100000"/>
              </a:lnSpc>
              <a:buNone/>
              <a:tabLst>
                <a:tab pos="0" algn="l"/>
              </a:tabLst>
            </a:pPr>
            <a:r>
              <a:rPr lang="en-US" sz="3000" b="0" u="none" strike="noStrike">
                <a:solidFill>
                  <a:schemeClr val="dk1"/>
                </a:solidFill>
                <a:effectLst/>
                <a:uFillTx/>
                <a:latin typeface="Times New Roman"/>
              </a:rPr>
              <a:t>Click to edit the title text format</a:t>
            </a:r>
            <a:endParaRPr lang="en-US" sz="3000" b="0" u="none" strike="noStrike">
              <a:solidFill>
                <a:schemeClr val="dk1"/>
              </a:solidFill>
              <a:effectLst/>
              <a:uFillTx/>
              <a:latin typeface="Times New Roman"/>
            </a:endParaRPr>
          </a:p>
        </p:txBody>
      </p:sp>
      <p:sp>
        <p:nvSpPr>
          <p:cNvPr id="5" name="PlaceHolder 2"/>
          <p:cNvSpPr>
            <a:spLocks noGrp="1"/>
          </p:cNvSpPr>
          <p:nvPr>
            <p:ph type="sldNum" idx="1"/>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1E1AC1F3-9096-47FB-BC1A-BBB711A1D522}"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6" name="PlaceHolder 3"/>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p:bg>
      <p:bgPr>
        <a:solidFill>
          <a:srgbClr val="FFFFFF"/>
        </a:solidFill>
      </p:bgPr>
    </p:bg>
    <p:spTree>
      <p:nvGrpSpPr>
        <p:cNvPr id="1" name=""/>
        <p:cNvGrpSpPr/>
        <p:nvPr/>
      </p:nvGrpSpPr>
      <p:grpSpPr>
        <a:xfrm>
          <a:off x="0" y="0"/>
          <a:ext cx="0" cy="0"/>
          <a:chOff x="0" y="0"/>
          <a:chExt cx="0" cy="0"/>
        </a:xfrm>
      </p:grpSpPr>
      <p:sp>
        <p:nvSpPr>
          <p:cNvPr id="7"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 name="PlaceHolder 1"/>
          <p:cNvSpPr>
            <a:spLocks noGrp="1"/>
          </p:cNvSpPr>
          <p:nvPr>
            <p:ph type="title"/>
          </p:nvPr>
        </p:nvSpPr>
        <p:spPr>
          <a:xfrm>
            <a:off x="594360" y="1737360"/>
            <a:ext cx="10999080" cy="137052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600" b="0" u="none" strike="noStrike">
                <a:solidFill>
                  <a:schemeClr val="dk1"/>
                </a:solidFill>
                <a:effectLst/>
                <a:uFillTx/>
                <a:latin typeface="Times New Roman"/>
              </a:defRPr>
            </a:lvl1pPr>
          </a:lstStyle>
          <a:p>
            <a:pPr indent="0" algn="l">
              <a:lnSpc>
                <a:spcPct val="100000"/>
              </a:lnSpc>
              <a:buNone/>
              <a:tabLst>
                <a:tab pos="0" algn="l"/>
              </a:tabLst>
            </a:pPr>
            <a:r>
              <a:rPr lang="en-US" sz="3600" b="0" u="none" strike="noStrike">
                <a:solidFill>
                  <a:schemeClr val="dk1"/>
                </a:solidFill>
                <a:effectLst/>
                <a:uFillTx/>
                <a:latin typeface="Times New Roman"/>
              </a:rPr>
              <a:t>Click to edit the title text format</a:t>
            </a:r>
            <a:endParaRPr lang="en-US" sz="3600" b="0" u="none" strike="noStrike">
              <a:solidFill>
                <a:schemeClr val="dk1"/>
              </a:solidFill>
              <a:effectLst/>
              <a:uFillTx/>
              <a:latin typeface="Times New Roman"/>
            </a:endParaRPr>
          </a:p>
        </p:txBody>
      </p:sp>
      <p:sp>
        <p:nvSpPr>
          <p:cNvPr id="9"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0.jpg"/><Relationship Id="rId4" Type="http://schemas.openxmlformats.org/officeDocument/2006/relationships/image" Target="../media/image1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2.jpg"/><Relationship Id="rId4" Type="http://schemas.openxmlformats.org/officeDocument/2006/relationships/image" Target="../media/image13.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title" hasCustomPrompt="1"/>
          </p:nvPr>
        </p:nvSpPr>
        <p:spPr>
          <a:xfrm>
            <a:off x="594360" y="1737360"/>
            <a:ext cx="10999080" cy="1370520"/>
          </a:xfrm>
          <a:prstGeom prst="rect">
            <a:avLst/>
          </a:prstGeom>
          <a:noFill/>
          <a:ln w="0">
            <a:noFill/>
          </a:ln>
        </p:spPr>
        <p:txBody>
          <a:bodyPr lIns="0" tIns="0" rIns="0" bIns="0" anchor="ctr">
            <a:noAutofit/>
          </a:bodyPr>
          <a:p>
            <a:pPr indent="0" algn="ctr" defTabSz="914400">
              <a:lnSpc>
                <a:spcPct val="100000"/>
              </a:lnSpc>
              <a:buNone/>
              <a:tabLst>
                <a:tab pos="0" algn="l"/>
              </a:tabLst>
            </a:pPr>
            <a:r>
              <a:rPr lang="en-US" sz="2400" b="1" u="none" strike="noStrike" i="0">
                <a:solidFill>
                  <a:srgbClr val="000000"/>
                </a:solidFill>
                <a:effectLst/>
                <a:uFillTx/>
                <a:latin typeface="Times New Roman"/>
                <a:ea typeface="Times New Roman"/>
                <a:cs typeface="Times New Roman"/>
              </a:rPr>
              <a:t>LONG-TERM MEMORY ENGINE FOR AI AGENTS</a:t>
            </a:r>
            <a:endParaRPr lang="en-US" sz="3600" b="0" u="none" strike="noStrike">
              <a:solidFill>
                <a:schemeClr val="dk1"/>
              </a:solidFill>
              <a:effectLst/>
              <a:uFillTx/>
              <a:latin typeface="Times New Roman"/>
            </a:endParaRPr>
          </a:p>
        </p:txBody>
      </p:sp>
      <p:sp>
        <p:nvSpPr>
          <p:cNvPr id="17" name="Text 1"/>
          <p:cNvSpPr/>
          <p:nvPr/>
        </p:nvSpPr>
        <p:spPr>
          <a:xfrm>
            <a:off x="594360" y="3429000"/>
            <a:ext cx="1099908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0" u="none" strike="noStrike" i="0">
                <a:solidFill>
                  <a:srgbClr val="000000"/>
                </a:solidFill>
                <a:effectLst/>
                <a:uFillTx/>
                <a:latin typeface="Times New Roman"/>
                <a:ea typeface="Times New Roman"/>
                <a:cs typeface="Times New Roman"/>
              </a:rPr>
              <a:t>Second Project Review</a:t>
            </a:r>
            <a:endParaRPr lang="en-US" sz="2400" b="0" u="none" strike="noStrike">
              <a:solidFill>
                <a:srgbClr val="000000"/>
              </a:solidFill>
              <a:effectLst/>
              <a:uFillTx/>
              <a:latin typeface="Arial"/>
            </a:endParaRPr>
          </a:p>
        </p:txBody>
      </p:sp>
      <p:pic>
        <p:nvPicPr>
          <p:cNvPr id="18" name="Image 0" descr="Anna University logo: a gear with a factory and an open book inside a ring, and the motto Progress through Knowledge"/>
          <p:cNvPicPr/>
          <p:nvPr/>
        </p:nvPicPr>
        <p:blipFill>
          <a:blip r:embed="rId1"/>
          <a:stretch/>
        </p:blipFill>
        <p:spPr>
          <a:xfrm>
            <a:off x="640080" y="457200"/>
            <a:ext cx="1228320" cy="1096200"/>
          </a:xfrm>
          <a:prstGeom prst="rect">
            <a:avLst/>
          </a:prstGeom>
          <a:noFill/>
          <a:ln w="0">
            <a:noFill/>
          </a:ln>
        </p:spPr>
      </p:pic>
      <p:pic>
        <p:nvPicPr>
          <p:cNvPr id="19" name="Image 1" descr="College of Engineering, Guindy crest: a winged shield with a rising sun and bridge, and the motto Labor Omnia Vincit"/>
          <p:cNvPicPr/>
          <p:nvPr/>
        </p:nvPicPr>
        <p:blipFill>
          <a:blip r:embed="rId2"/>
          <a:stretch/>
        </p:blipFill>
        <p:spPr>
          <a:xfrm>
            <a:off x="10260720" y="457200"/>
            <a:ext cx="1287000" cy="1096200"/>
          </a:xfrm>
          <a:prstGeom prst="rect">
            <a:avLst/>
          </a:prstGeom>
          <a:noFill/>
          <a:ln w="0">
            <a:noFill/>
          </a:ln>
        </p:spPr>
      </p:pic>
      <p:sp>
        <p:nvSpPr>
          <p:cNvPr id="20" name="Text 2"/>
          <p:cNvSpPr/>
          <p:nvPr/>
        </p:nvSpPr>
        <p:spPr>
          <a:xfrm>
            <a:off x="2377440" y="502920"/>
            <a:ext cx="7432920" cy="1004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Department of Information Technology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College of Engineering, Guindy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Anna University, Chennai-25</a:t>
            </a:r>
            <a:endParaRPr lang="en-US" sz="1800" b="0" u="none" strike="noStrike">
              <a:solidFill>
                <a:srgbClr val="000000"/>
              </a:solidFill>
              <a:effectLst/>
              <a:uFillTx/>
              <a:latin typeface="Arial"/>
            </a:endParaRPr>
          </a:p>
        </p:txBody>
      </p:sp>
      <p:sp>
        <p:nvSpPr>
          <p:cNvPr id="21" name="Text 3"/>
          <p:cNvSpPr/>
          <p:nvPr/>
        </p:nvSpPr>
        <p:spPr>
          <a:xfrm>
            <a:off x="822960" y="4617720"/>
            <a:ext cx="548532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800" b="1" u="none" strike="noStrike" i="0">
                <a:solidFill>
                  <a:srgbClr val="000000"/>
                </a:solidFill>
                <a:effectLst/>
                <a:uFillTx/>
                <a:latin typeface="Times New Roman"/>
                <a:ea typeface="Times New Roman"/>
                <a:cs typeface="Times New Roman"/>
              </a:rPr>
              <a:t>GUIDE:</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DR. BAMA SRINIVASAN</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DEPARTMENT OF INFORMATION TECHNOLOGY</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CEG, ANNA UNIVERSITY</a:t>
            </a:r>
            <a:endParaRPr lang="en-US" sz="1600" b="0" u="none" strike="noStrike">
              <a:solidFill>
                <a:srgbClr val="000000"/>
              </a:solidFill>
              <a:effectLst/>
              <a:uFillTx/>
              <a:latin typeface="Arial"/>
            </a:endParaRPr>
          </a:p>
        </p:txBody>
      </p:sp>
      <p:sp>
        <p:nvSpPr>
          <p:cNvPr id="22" name="Text 4"/>
          <p:cNvSpPr/>
          <p:nvPr/>
        </p:nvSpPr>
        <p:spPr>
          <a:xfrm>
            <a:off x="6858000" y="4617720"/>
            <a:ext cx="466236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800" b="1" u="none" strike="noStrike" i="0">
                <a:solidFill>
                  <a:srgbClr val="000000"/>
                </a:solidFill>
                <a:effectLst/>
                <a:uFillTx/>
                <a:latin typeface="Times New Roman"/>
                <a:ea typeface="Times New Roman"/>
                <a:cs typeface="Times New Roman"/>
              </a:rPr>
              <a:t>TEAM MEMBERS:</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M. KRITHIKRAJ, 2023115004</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ALSTON S, 2023115006</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ARYAN I, 2023115021</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HARI SRINIVASAN, 2023115022</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PROBLEM STATEMENT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3931920"/>
          </a:xfrm>
          <a:prstGeom prst="rect">
            <a:avLst/>
          </a:prstGeom>
          <a:noFill/>
        </p:spPr>
        <p:txBody>
          <a:bodyPr wrap="square" lIns="45720" rIns="45720" tIns="27432" bIns="27432"/>
          <a:lstStyle/>
          <a:p>
            <a:pPr marL="256032" indent="-256032">
              <a:spcAft>
                <a:spcPts val="1400"/>
              </a:spcAft>
              <a:buFont typeface="Arial"/>
              <a:buChar char="•"/>
            </a:pPr>
            <a:r>
              <a:rPr sz="1800" b="0" i="0">
                <a:solidFill>
                  <a:srgbClr val="000000"/>
                </a:solidFill>
                <a:latin typeface="Times New Roman"/>
                <a:ea typeface="Times New Roman"/>
                <a:cs typeface="Times New Roman"/>
              </a:rPr>
              <a:t>An AI agent starts every session with a blank memory. Instructions, decisions and corrections from earlier sessions are gone unless the user repeats them.</a:t>
            </a:r>
          </a:p>
          <a:p>
            <a:pPr marL="256032" indent="-256032">
              <a:spcAft>
                <a:spcPts val="1400"/>
              </a:spcAft>
              <a:buFont typeface="Arial"/>
              <a:buChar char="•"/>
            </a:pPr>
            <a:r>
              <a:rPr sz="1800" b="0" i="0">
                <a:solidFill>
                  <a:srgbClr val="000000"/>
                </a:solidFill>
                <a:latin typeface="Times New Roman"/>
                <a:ea typeface="Times New Roman"/>
                <a:cs typeface="Times New Roman"/>
              </a:rPr>
              <a:t>Pasting the whole history back into the prompt does not scale. Models make poor use of information in the middle of a long input [1], and each answer gets slower and more expensive.</a:t>
            </a:r>
          </a:p>
          <a:p>
            <a:pPr marL="256032" indent="-256032">
              <a:spcAft>
                <a:spcPts val="1400"/>
              </a:spcAft>
              <a:buFont typeface="Arial"/>
              <a:buChar char="•"/>
            </a:pPr>
            <a:r>
              <a:rPr sz="1800" b="0" i="0">
                <a:solidFill>
                  <a:srgbClr val="000000"/>
                </a:solidFill>
                <a:latin typeface="Times New Roman"/>
                <a:ea typeface="Times New Roman"/>
                <a:cs typeface="Times New Roman"/>
              </a:rPr>
              <a:t>When something changes, the agent cannot tell the new value from the old one, so it can act on outdated information.</a:t>
            </a:r>
          </a:p>
          <a:p>
            <a:pPr marL="256032" indent="-256032">
              <a:spcAft>
                <a:spcPts val="1400"/>
              </a:spcAft>
              <a:buFont typeface="Arial"/>
              <a:buChar char="•"/>
            </a:pPr>
            <a:r>
              <a:rPr sz="1800" b="0" i="0">
                <a:solidFill>
                  <a:srgbClr val="000000"/>
                </a:solidFill>
                <a:latin typeface="Times New Roman"/>
                <a:ea typeface="Times New Roman"/>
                <a:cs typeface="Times New Roman"/>
              </a:rPr>
              <a:t>An agent needs a memory that records what the user said and when it changed, and returns only the parts relevant to the current question, each with its source message. The LongMemEval benchmark [2] measures this.</a:t>
            </a:r>
          </a:p>
        </p:txBody>
      </p:sp>
      <p:sp>
        <p:nvSpPr>
          <p:cNvPr id="27" name="TextBox 26"/>
          <p:cNvSpPr txBox="1"/>
          <p:nvPr/>
        </p:nvSpPr>
        <p:spPr>
          <a:xfrm>
            <a:off x="594360" y="4434840"/>
            <a:ext cx="11000232" cy="73152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This project builds that memory as a service for AI agents, connected here to Pi, an open-source coding agent that runs in the terminal.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LITERATURE SURVEY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463040"/>
        </p:xfrm>
        <a:graphic>
          <a:graphicData uri="http://schemas.openxmlformats.org/drawingml/2006/table">
            <a:tbl>
              <a:tblPr firstRow="1" bandRow="0"/>
              <a:tblGrid>
                <a:gridCol w="2108377"/>
                <a:gridCol w="3300069"/>
                <a:gridCol w="2750058"/>
                <a:gridCol w="2841726"/>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it works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Reported results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Limitation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MemGPT, Packer et al., 2023 [3]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Splits the prompt into a working area and outside storage. The model moves data between them by calling functions.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92.5% on a deep-memory recall test with GPT-4, against 32.1% for GPT-4 reading a summary.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Memory changes only when the model makes the right call. No speed or cost figures.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Zep / Graphiti, Rasmussen et al., 2025 [4]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knowledge graph whose edges carry the time they became true and stopped being true. A contradiction closes the old edge.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71.2% on LongMemEval with gpt-4o, against 60.2% for the full 115k-token history.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single run with one setup. The graph database is the only store.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Mem0, Chhikara et al., 2025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An LLM extracts candidate memories, compares each with similar stored ones and chooses add, update, delete or no change.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Score 66.9 from an LLM judge on the LoCoMo conversation benchmark, against 72.9 for the full history, but about 12 times faster.</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One benchmark and an unnamed judge model. The open-source release has since dropped update and delete.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LITERATURE SURVEY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463040"/>
        </p:xfrm>
        <a:graphic>
          <a:graphicData uri="http://schemas.openxmlformats.org/drawingml/2006/table">
            <a:tbl>
              <a:tblPr firstRow="1" bandRow="0"/>
              <a:tblGrid>
                <a:gridCol w="2108377"/>
                <a:gridCol w="3300069"/>
                <a:gridCol w="2750058"/>
                <a:gridCol w="2841726"/>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it works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Reported results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Limitation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Supermemory, Daga et al., 2026 [6]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Small memories linked to the text they came from, with "updates", "extends" and "derives" links and two timestamps.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Scores on LongMemEval-S (the standard-size version), from the company's own run.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Closed source. The report is not peer reviewed and some of its metrics are not defined.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Hindsight, Latimer et al., 2025 [7]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Retain, recall and reflect operations. Recall merges four kinds of search by rank and trims the result to a size limit.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LongMemEval and LoCoMo scores from the authors' own runs.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Not peer reviewed. No repeated runs or component-by-component tests, and the size limit is not stated.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Full history in the prompt, Liu et al., 2024 [1]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No separate memory. The whole conversation goes into the model's input.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Accuracy drops when the needed passage sits in the middle of a long input.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Slower and costlier as history grows. Nothing marks a value as outdated.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CHALLENGES / ISSUES IDENTIFIED: GAPS IN THE LITERATURE</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645920"/>
        </p:xfrm>
        <a:graphic>
          <a:graphicData uri="http://schemas.openxmlformats.org/drawingml/2006/table">
            <a:tbl>
              <a:tblPr firstRow="1" bandRow="0"/>
              <a:tblGrid>
                <a:gridCol w="4400092"/>
                <a:gridCol w="2566720"/>
                <a:gridCol w="4033418"/>
              </a:tblGrid>
              <a:tr h="274320">
                <a:tc>
                  <a:txBody>
                    <a:bodyPr wrap="square"/>
                    <a:lstStyle/>
                    <a:p>
                      <a:pPr marL="0" indent="0">
                        <a:spcAft>
                          <a:spcPts val="0"/>
                        </a:spcAft>
                        <a:buNone/>
                      </a:pPr>
                      <a:r>
                        <a:rPr sz="1800" b="1" i="0">
                          <a:solidFill>
                            <a:srgbClr val="000000"/>
                          </a:solidFill>
                          <a:latin typeface="Times New Roman"/>
                          <a:ea typeface="Times New Roman"/>
                          <a:cs typeface="Times New Roman"/>
                        </a:rPr>
                        <a:t>Gap in existing 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Seen in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we address it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G1. The model decides how memory changes, so one wrong call silently loses or overwrites a memory.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MemGPT [3], Mem0 paper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Changes follow fixed rules written in code, not a model decision.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G2. Changed values are overwritten or deleted, so nobody can see what used to be true.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Mem0 [5], MemGPT [3]; Zep [4] keeps history only in its graph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Every change is a new version that records when it was valid.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G3. A stored memory is hard to check against what the user actually said.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MemGPT [3], Mem0 [5]; Supermemory [6] is closed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Every memory cites an exact quote, matched against the original message.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G4. Extraction depends on large hosted models, which adds cost and sends user data to a third party.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Zep [4], Mem0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small fine-tuned model runs on our own machine.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G5. Results are hard to compare: single runs, company-run benchmarks, different judges.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Zep [4], Mem0 [5], Supermemory [6], Hindsight [7]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We publish our test cases and are running LongMemEval-S with fixed settings.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OBJECTIVES OF THE PROJECT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520440"/>
        </p:xfrm>
        <a:graphic>
          <a:graphicData uri="http://schemas.openxmlformats.org/drawingml/2006/table">
            <a:tbl>
              <a:tblPr firstRow="1" bandRow="0"/>
              <a:tblGrid>
                <a:gridCol w="8800185"/>
                <a:gridCol w="2200046"/>
              </a:tblGrid>
              <a:tr h="502920">
                <a:tc>
                  <a:txBody>
                    <a:bodyPr wrap="square"/>
                    <a:lstStyle/>
                    <a:p>
                      <a:pPr marL="0" indent="0">
                        <a:spcAft>
                          <a:spcPts val="0"/>
                        </a:spcAft>
                        <a:buNone/>
                      </a:pPr>
                      <a:r>
                        <a:rPr sz="1800" b="1" i="0">
                          <a:solidFill>
                            <a:srgbClr val="000000"/>
                          </a:solidFill>
                          <a:latin typeface="Times New Roman"/>
                          <a:ea typeface="Times New Roman"/>
                          <a:cs typeface="Times New Roman"/>
                        </a:rPr>
                        <a:t>Objective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Answers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Keep useful information for an AI agent across sessions.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Problem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Apply changes with fixed rules in code, and keep earlier versions with the dates they were valid.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G1, G2</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Link every stored memory to the exact message it came from.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Fine-tune a small local model to extract memories, combine them and answer with citations.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Return only the relevant memories, within a fixed size limit for the prompt.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Problem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Measure accuracy with repeatable tests and a public benchmark.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KEY TERMS</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703320"/>
        </p:xfrm>
        <a:graphic>
          <a:graphicData uri="http://schemas.openxmlformats.org/drawingml/2006/table">
            <a:tbl>
              <a:tblPr firstRow="1" bandRow="0"/>
              <a:tblGrid>
                <a:gridCol w="2016709"/>
                <a:gridCol w="5133441"/>
                <a:gridCol w="3850081"/>
              </a:tblGrid>
              <a:tr h="411480">
                <a:tc>
                  <a:txBody>
                    <a:bodyPr wrap="square"/>
                    <a:lstStyle/>
                    <a:p>
                      <a:pPr marL="0" indent="0">
                        <a:spcAft>
                          <a:spcPts val="0"/>
                        </a:spcAft>
                        <a:buNone/>
                      </a:pPr>
                      <a:r>
                        <a:rPr sz="1800" b="1" i="0">
                          <a:solidFill>
                            <a:srgbClr val="000000"/>
                          </a:solidFill>
                          <a:latin typeface="Times New Roman"/>
                          <a:ea typeface="Times New Roman"/>
                          <a:cs typeface="Times New Roman"/>
                        </a:rPr>
                        <a:t>Term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Meaning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Example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Source event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message or tool result, saved exactly as received.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 live in Chennai." (1 Oct)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Assertion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statement the model extracts from source events, kept with the quote it came from.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Maya's home city is Chennai.</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Slot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One attribute of one subject. A single-value slot has one current value.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Maya's home city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Correction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new value that replaces the old one. The old one stays as history.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Bengaluru replaces Chennai.</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Inference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statement built from two or more assertions.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Maya works remotely as an engineer at NovaTech.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Stale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An inference whose supporting assertion has changed, so it is no longer used.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If Maya leaves NovaTech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Namespace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One user's or project's separate memory.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user:maya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11480">
                <a:tc>
                  <a:txBody>
                    <a:bodyPr wrap="square"/>
                    <a:lstStyle/>
                    <a:p>
                      <a:pPr marL="0" indent="0">
                        <a:spcAft>
                          <a:spcPts val="0"/>
                        </a:spcAft>
                        <a:buNone/>
                      </a:pPr>
                      <a:r>
                        <a:rPr sz="1800" b="0" i="0">
                          <a:solidFill>
                            <a:srgbClr val="000000"/>
                          </a:solidFill>
                          <a:latin typeface="Times New Roman"/>
                          <a:ea typeface="Times New Roman"/>
                          <a:cs typeface="Times New Roman"/>
                        </a:rPr>
                        <a:t>Token budget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The most text the memory may add to the agent's prompt.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2,048 tokens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SYSTEM ARCHITECTURE</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Overall system architecture"/>
          <p:cNvPicPr>
            <a:picLocks noChangeAspect="1"/>
          </p:cNvPicPr>
          <p:nvPr/>
        </p:nvPicPr>
        <p:blipFill>
          <a:blip r:embed="rId3"/>
          <a:stretch>
            <a:fillRect/>
          </a:stretch>
        </p:blipFill>
        <p:spPr>
          <a:xfrm>
            <a:off x="2915863" y="1280160"/>
            <a:ext cx="6357225" cy="4343400"/>
          </a:xfrm>
          <a:prstGeom prst="rect">
            <a:avLst/>
          </a:prstGeom>
        </p:spPr>
      </p:pic>
      <p:sp>
        <p:nvSpPr>
          <p:cNvPr id="27" name="TextBox 26"/>
          <p:cNvSpPr txBox="1"/>
          <p:nvPr/>
        </p:nvSpPr>
        <p:spPr>
          <a:xfrm>
            <a:off x="594360" y="5760720"/>
            <a:ext cx="11000232" cy="685800"/>
          </a:xfrm>
          <a:prstGeom prst="rect">
            <a:avLst/>
          </a:prstGeom>
          <a:noFill/>
        </p:spPr>
        <p:txBody>
          <a:bodyPr wrap="square" lIns="45720" rIns="45720" tIns="27432" bIns="27432"/>
          <a:lstStyle/>
          <a:p>
            <a:pPr marL="0" indent="0">
              <a:spcAft>
                <a:spcPts val="600"/>
              </a:spcAft>
              <a:buNone/>
            </a:pPr>
            <a:r>
              <a:rPr sz="1800" b="0" i="0">
                <a:solidFill>
                  <a:srgbClr val="000000"/>
                </a:solidFill>
                <a:latin typeface="Times New Roman"/>
                <a:ea typeface="Times New Roman"/>
                <a:cs typeface="Times New Roman"/>
              </a:rPr>
              <a:t>M1 saves messages, M2 extracts assertions, M3 keeps every version, M4 finds and packs memories for the agent, and M5 trains the extraction model offline.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EXAMPLE WALKTHROUGH</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Rounded Rectangle 25"/>
          <p:cNvSpPr/>
          <p:nvPr/>
        </p:nvSpPr>
        <p:spPr>
          <a:xfrm>
            <a:off x="594360" y="1280160"/>
            <a:ext cx="1828800" cy="896112"/>
          </a:xfrm>
          <a:prstGeom prst="roundRect">
            <a:avLst/>
          </a:prstGeom>
          <a:solidFill>
            <a:srgbClr val="F2F2F2"/>
          </a:solidFill>
          <a:ln>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1800" b="1" i="0">
                <a:solidFill>
                  <a:srgbClr val="000000"/>
                </a:solidFill>
                <a:latin typeface="Times New Roman"/>
                <a:ea typeface="Times New Roman"/>
                <a:cs typeface="Times New Roman"/>
              </a:rPr>
              <a:t>Input</a:t>
            </a:r>
          </a:p>
        </p:txBody>
      </p:sp>
      <p:sp>
        <p:nvSpPr>
          <p:cNvPr id="27" name="Rectangle 26"/>
          <p:cNvSpPr/>
          <p:nvPr/>
        </p:nvSpPr>
        <p:spPr>
          <a:xfrm>
            <a:off x="2560320" y="1280160"/>
            <a:ext cx="9034272" cy="896112"/>
          </a:xfrm>
          <a:prstGeom prst="rect">
            <a:avLst/>
          </a:prstGeom>
          <a:noFill/>
          <a:ln>
            <a:solidFill>
              <a:srgbClr val="BFC8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marL="0" indent="0">
              <a:spcAft>
                <a:spcPts val="0"/>
              </a:spcAft>
              <a:buNone/>
            </a:pPr>
            <a:r>
              <a:rPr sz="1800" b="0" i="0">
                <a:solidFill>
                  <a:srgbClr val="000000"/>
                </a:solidFill>
                <a:latin typeface="Times New Roman"/>
                <a:ea typeface="Times New Roman"/>
                <a:cs typeface="Times New Roman"/>
              </a:rPr>
              <a:t>1 Oct: "I live in Chennai."   10 Oct: "Bengaluru is now my home city."</a:t>
            </a:r>
          </a:p>
          <a:p>
            <a:pPr marL="0" indent="0" algn="l">
              <a:spcAft>
                <a:spcPts val="0"/>
              </a:spcAft>
              <a:buNone/>
            </a:pPr>
            <a:r>
              <a:rPr sz="1800" b="0" i="0">
                <a:solidFill>
                  <a:srgbClr val="000000"/>
                </a:solidFill>
                <a:latin typeface="Times New Roman"/>
                <a:ea typeface="Times New Roman"/>
                <a:cs typeface="Times New Roman"/>
              </a:rPr>
              <a:t>13 Oct, new session: "Where do I live now?"</a:t>
            </a:r>
          </a:p>
        </p:txBody>
      </p:sp>
      <p:sp>
        <p:nvSpPr>
          <p:cNvPr id="28" name="Rounded Rectangle 27"/>
          <p:cNvSpPr/>
          <p:nvPr/>
        </p:nvSpPr>
        <p:spPr>
          <a:xfrm>
            <a:off x="594360" y="2286000"/>
            <a:ext cx="1828800" cy="896112"/>
          </a:xfrm>
          <a:prstGeom prst="roundRect">
            <a:avLst/>
          </a:prstGeom>
          <a:solidFill>
            <a:srgbClr val="D9E2EC"/>
          </a:solidFill>
          <a:ln>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1800" b="1" i="0">
                <a:solidFill>
                  <a:srgbClr val="000000"/>
                </a:solidFill>
                <a:latin typeface="Times New Roman"/>
                <a:ea typeface="Times New Roman"/>
                <a:cs typeface="Times New Roman"/>
              </a:rPr>
              <a:t>M1  Save</a:t>
            </a:r>
          </a:p>
        </p:txBody>
      </p:sp>
      <p:sp>
        <p:nvSpPr>
          <p:cNvPr id="29" name="Rectangle 28"/>
          <p:cNvSpPr/>
          <p:nvPr/>
        </p:nvSpPr>
        <p:spPr>
          <a:xfrm>
            <a:off x="2560320" y="2286000"/>
            <a:ext cx="9034272" cy="896112"/>
          </a:xfrm>
          <a:prstGeom prst="rect">
            <a:avLst/>
          </a:prstGeom>
          <a:noFill/>
          <a:ln>
            <a:solidFill>
              <a:srgbClr val="BFC8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marL="0" indent="0">
              <a:spcAft>
                <a:spcPts val="0"/>
              </a:spcAft>
              <a:buNone/>
            </a:pPr>
            <a:r>
              <a:rPr sz="1800" b="0" i="0">
                <a:solidFill>
                  <a:srgbClr val="000000"/>
                </a:solidFill>
                <a:latin typeface="Times New Roman"/>
                <a:ea typeface="Times New Roman"/>
                <a:cs typeface="Times New Roman"/>
              </a:rPr>
              <a:t>Both messages are saved exactly as sent, with speaker and time, and an extraction job is queued.</a:t>
            </a:r>
          </a:p>
        </p:txBody>
      </p:sp>
      <p:sp>
        <p:nvSpPr>
          <p:cNvPr id="30" name="Rounded Rectangle 29"/>
          <p:cNvSpPr/>
          <p:nvPr/>
        </p:nvSpPr>
        <p:spPr>
          <a:xfrm>
            <a:off x="594360" y="3291840"/>
            <a:ext cx="1828800" cy="896112"/>
          </a:xfrm>
          <a:prstGeom prst="roundRect">
            <a:avLst/>
          </a:prstGeom>
          <a:solidFill>
            <a:srgbClr val="D9E2EC"/>
          </a:solidFill>
          <a:ln>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1800" b="1" i="0">
                <a:solidFill>
                  <a:srgbClr val="000000"/>
                </a:solidFill>
                <a:latin typeface="Times New Roman"/>
                <a:ea typeface="Times New Roman"/>
                <a:cs typeface="Times New Roman"/>
              </a:rPr>
              <a:t>M2  Extract</a:t>
            </a:r>
          </a:p>
        </p:txBody>
      </p:sp>
      <p:sp>
        <p:nvSpPr>
          <p:cNvPr id="31" name="Rectangle 30"/>
          <p:cNvSpPr/>
          <p:nvPr/>
        </p:nvSpPr>
        <p:spPr>
          <a:xfrm>
            <a:off x="2560320" y="3291840"/>
            <a:ext cx="9034272" cy="896112"/>
          </a:xfrm>
          <a:prstGeom prst="rect">
            <a:avLst/>
          </a:prstGeom>
          <a:noFill/>
          <a:ln>
            <a:solidFill>
              <a:srgbClr val="BFC8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marL="0" indent="0">
              <a:spcAft>
                <a:spcPts val="0"/>
              </a:spcAft>
              <a:buNone/>
            </a:pPr>
            <a:r>
              <a:rPr sz="1800" b="0" i="0">
                <a:solidFill>
                  <a:srgbClr val="000000"/>
                </a:solidFill>
                <a:latin typeface="Times New Roman"/>
                <a:ea typeface="Times New Roman"/>
                <a:cs typeface="Times New Roman"/>
              </a:rPr>
              <a:t>The model from Module 5 returns two assertions, each with its quote: home city Chennai, then home city Bengaluru, marked as a correction.</a:t>
            </a:r>
          </a:p>
        </p:txBody>
      </p:sp>
      <p:sp>
        <p:nvSpPr>
          <p:cNvPr id="32" name="Rounded Rectangle 31"/>
          <p:cNvSpPr/>
          <p:nvPr/>
        </p:nvSpPr>
        <p:spPr>
          <a:xfrm>
            <a:off x="594360" y="4297680"/>
            <a:ext cx="1828800" cy="896112"/>
          </a:xfrm>
          <a:prstGeom prst="roundRect">
            <a:avLst/>
          </a:prstGeom>
          <a:solidFill>
            <a:srgbClr val="D9E2EC"/>
          </a:solidFill>
          <a:ln>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1800" b="1" i="0">
                <a:solidFill>
                  <a:srgbClr val="000000"/>
                </a:solidFill>
                <a:latin typeface="Times New Roman"/>
                <a:ea typeface="Times New Roman"/>
                <a:cs typeface="Times New Roman"/>
              </a:rPr>
              <a:t>M3  Update</a:t>
            </a:r>
          </a:p>
        </p:txBody>
      </p:sp>
      <p:sp>
        <p:nvSpPr>
          <p:cNvPr id="33" name="Rectangle 32"/>
          <p:cNvSpPr/>
          <p:nvPr/>
        </p:nvSpPr>
        <p:spPr>
          <a:xfrm>
            <a:off x="2560320" y="4297680"/>
            <a:ext cx="9034272" cy="896112"/>
          </a:xfrm>
          <a:prstGeom prst="rect">
            <a:avLst/>
          </a:prstGeom>
          <a:noFill/>
          <a:ln>
            <a:solidFill>
              <a:srgbClr val="BFC8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marL="0" indent="0">
              <a:spcAft>
                <a:spcPts val="0"/>
              </a:spcAft>
              <a:buNone/>
            </a:pPr>
            <a:r>
              <a:rPr sz="1800" b="0" i="0">
                <a:solidFill>
                  <a:srgbClr val="000000"/>
                </a:solidFill>
                <a:latin typeface="Times New Roman"/>
                <a:ea typeface="Times New Roman"/>
                <a:cs typeface="Times New Roman"/>
              </a:rPr>
              <a:t>Bengaluru supersedes Chennai. Chennai is kept, valid from 1 to 10 Oct, and Bengaluru is current from 10 Oct.</a:t>
            </a:r>
          </a:p>
        </p:txBody>
      </p:sp>
      <p:sp>
        <p:nvSpPr>
          <p:cNvPr id="34" name="Rounded Rectangle 33"/>
          <p:cNvSpPr/>
          <p:nvPr/>
        </p:nvSpPr>
        <p:spPr>
          <a:xfrm>
            <a:off x="594360" y="5303520"/>
            <a:ext cx="1828800" cy="896112"/>
          </a:xfrm>
          <a:prstGeom prst="roundRect">
            <a:avLst/>
          </a:prstGeom>
          <a:solidFill>
            <a:srgbClr val="D9E2EC"/>
          </a:solidFill>
          <a:ln>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1800" b="1" i="0">
                <a:solidFill>
                  <a:srgbClr val="000000"/>
                </a:solidFill>
                <a:latin typeface="Times New Roman"/>
                <a:ea typeface="Times New Roman"/>
                <a:cs typeface="Times New Roman"/>
              </a:rPr>
              <a:t>M4  Recall</a:t>
            </a:r>
          </a:p>
        </p:txBody>
      </p:sp>
      <p:sp>
        <p:nvSpPr>
          <p:cNvPr id="35" name="Rectangle 34"/>
          <p:cNvSpPr/>
          <p:nvPr/>
        </p:nvSpPr>
        <p:spPr>
          <a:xfrm>
            <a:off x="2560320" y="5303520"/>
            <a:ext cx="9034272" cy="896112"/>
          </a:xfrm>
          <a:prstGeom prst="rect">
            <a:avLst/>
          </a:prstGeom>
          <a:noFill/>
          <a:ln>
            <a:solidFill>
              <a:srgbClr val="BFC8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marL="0" indent="0">
              <a:spcAft>
                <a:spcPts val="0"/>
              </a:spcAft>
              <a:buNone/>
            </a:pPr>
            <a:r>
              <a:rPr sz="1800" b="0" i="0">
                <a:solidFill>
                  <a:srgbClr val="000000"/>
                </a:solidFill>
                <a:latin typeface="Times New Roman"/>
                <a:ea typeface="Times New Roman"/>
                <a:cs typeface="Times New Roman"/>
              </a:rPr>
              <a:t>For the 13 Oct question, search finds the Bengaluru assertion and passes it to Pi with its quote. Pi answers: "Bengaluru, since 10 October. Before that, Chennai."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1: SOURCE ACQUISITION AND PROCESSING</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1: Source Acquisition And Processing (landscape layout of the report figure)"/>
          <p:cNvPicPr>
            <a:picLocks noChangeAspect="1"/>
          </p:cNvPicPr>
          <p:nvPr/>
        </p:nvPicPr>
        <p:blipFill>
          <a:blip r:embed="rId3"/>
          <a:stretch>
            <a:fillRect/>
          </a:stretch>
        </p:blipFill>
        <p:spPr>
          <a:xfrm>
            <a:off x="594360" y="1280160"/>
            <a:ext cx="11000232" cy="1919653"/>
          </a:xfrm>
          <a:prstGeom prst="rect">
            <a:avLst/>
          </a:prstGeom>
        </p:spPr>
      </p:pic>
      <p:sp>
        <p:nvSpPr>
          <p:cNvPr id="27" name="TextBox 26"/>
          <p:cNvSpPr txBox="1"/>
          <p:nvPr/>
        </p:nvSpPr>
        <p:spPr>
          <a:xfrm>
            <a:off x="594360" y="3428413"/>
            <a:ext cx="11000232" cy="2835226"/>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Pi first writes each message to a local file queue, so nothing is lost if the memory service is down.</a:t>
            </a:r>
          </a:p>
          <a:p>
            <a:pPr marL="256032" indent="-256032">
              <a:spcAft>
                <a:spcPts val="600"/>
              </a:spcAft>
              <a:buFont typeface="Arial"/>
              <a:buChar char="•"/>
            </a:pPr>
            <a:r>
              <a:rPr sz="1800" b="0" i="0">
                <a:solidFill>
                  <a:srgbClr val="000000"/>
                </a:solidFill>
                <a:latin typeface="Times New Roman"/>
                <a:ea typeface="Times New Roman"/>
                <a:cs typeface="Times New Roman"/>
              </a:rPr>
              <a:t>The service's save endpoint stores them as source events, together with a job for Module 2. Sending the same request twice does not create duplicates.</a:t>
            </a:r>
          </a:p>
          <a:p>
            <a:pPr marL="256032" indent="-256032">
              <a:spcAft>
                <a:spcPts val="600"/>
              </a:spcAft>
              <a:buFont typeface="Arial"/>
              <a:buChar char="•"/>
            </a:pPr>
            <a:r>
              <a:rPr sz="1800" b="0" i="0">
                <a:solidFill>
                  <a:srgbClr val="000000"/>
                </a:solidFill>
                <a:latin typeface="Times New Roman"/>
                <a:ea typeface="Times New Roman"/>
                <a:cs typeface="Times New Roman"/>
              </a:rPr>
              <a:t>Messages are split into chunks and turned into vectors for search. Background workers pick up jobs and retry failures up to five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2: KNOWLEDGE EXTRACTION AND CONSOLIDATION</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2: Knowledge Extraction And Consolidation (landscape layout of the report figure)"/>
          <p:cNvPicPr>
            <a:picLocks noChangeAspect="1"/>
          </p:cNvPicPr>
          <p:nvPr/>
        </p:nvPicPr>
        <p:blipFill>
          <a:blip r:embed="rId3"/>
          <a:stretch>
            <a:fillRect/>
          </a:stretch>
        </p:blipFill>
        <p:spPr>
          <a:xfrm>
            <a:off x="594360" y="1280160"/>
            <a:ext cx="11000232" cy="2304949"/>
          </a:xfrm>
          <a:prstGeom prst="rect">
            <a:avLst/>
          </a:prstGeom>
        </p:spPr>
      </p:pic>
      <p:sp>
        <p:nvSpPr>
          <p:cNvPr id="27" name="TextBox 26"/>
          <p:cNvSpPr txBox="1"/>
          <p:nvPr/>
        </p:nvSpPr>
        <p:spPr>
          <a:xfrm>
            <a:off x="594360" y="3813709"/>
            <a:ext cx="11000232" cy="2449930"/>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Extraction: the fine-tuned model turns new source events into assertions, each with an exact quote. A quote that is not in the message is rejected, and the model tries again up to two times.</a:t>
            </a:r>
          </a:p>
          <a:p>
            <a:pPr marL="256032" indent="-256032">
              <a:spcAft>
                <a:spcPts val="600"/>
              </a:spcAft>
              <a:buFont typeface="Arial"/>
              <a:buChar char="•"/>
            </a:pPr>
            <a:r>
              <a:rPr sz="1800" b="0" i="0">
                <a:solidFill>
                  <a:srgbClr val="000000"/>
                </a:solidFill>
                <a:latin typeface="Times New Roman"/>
                <a:ea typeface="Times New Roman"/>
                <a:cs typeface="Times New Roman"/>
              </a:rPr>
              <a:t>A review step checks that a correction is really stated in the text and removes secrets.</a:t>
            </a:r>
          </a:p>
          <a:p>
            <a:pPr marL="256032" indent="-256032">
              <a:spcAft>
                <a:spcPts val="600"/>
              </a:spcAft>
              <a:buFont typeface="Arial"/>
              <a:buChar char="•"/>
            </a:pPr>
            <a:r>
              <a:rPr sz="1800" b="0" i="0">
                <a:solidFill>
                  <a:srgbClr val="000000"/>
                </a:solidFill>
                <a:latin typeface="Times New Roman"/>
                <a:ea typeface="Times New Roman"/>
                <a:cs typeface="Times New Roman"/>
              </a:rPr>
              <a:t>Consolidation: after Module 3 saves them, the model may combine two or more assertions about one subject into an inference.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3: TEMPORAL KNOWLEDGE &amp; GRAPH MANAGEMENT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3: Temporal Knowledge &amp; Graph Management (landscape layout of the report figure)"/>
          <p:cNvPicPr>
            <a:picLocks noChangeAspect="1"/>
          </p:cNvPicPr>
          <p:nvPr/>
        </p:nvPicPr>
        <p:blipFill>
          <a:blip r:embed="rId3"/>
          <a:stretch>
            <a:fillRect/>
          </a:stretch>
        </p:blipFill>
        <p:spPr>
          <a:xfrm>
            <a:off x="1164767" y="1280160"/>
            <a:ext cx="9859416" cy="3429000"/>
          </a:xfrm>
          <a:prstGeom prst="rect">
            <a:avLst/>
          </a:prstGeom>
        </p:spPr>
      </p:pic>
      <p:sp>
        <p:nvSpPr>
          <p:cNvPr id="27" name="TextBox 26"/>
          <p:cNvSpPr txBox="1"/>
          <p:nvPr/>
        </p:nvSpPr>
        <p:spPr>
          <a:xfrm>
            <a:off x="594360" y="4937760"/>
            <a:ext cx="11000232" cy="1325879"/>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The only module that writes assertions. In a single-value slot, a new value supersedes the old one only if it is a reviewed correction and the model's confidence is at least 0.8. Otherwise both are marked contested: kept, but neither is current.</a:t>
            </a:r>
          </a:p>
          <a:p>
            <a:pPr marL="256032" indent="-256032">
              <a:spcAft>
                <a:spcPts val="600"/>
              </a:spcAft>
              <a:buFont typeface="Arial"/>
              <a:buChar char="•"/>
            </a:pPr>
            <a:r>
              <a:rPr sz="1800" b="0" i="0">
                <a:solidFill>
                  <a:srgbClr val="000000"/>
                </a:solidFill>
                <a:latin typeface="Times New Roman"/>
                <a:ea typeface="Times New Roman"/>
                <a:cs typeface="Times New Roman"/>
              </a:rPr>
              <a:t>Replaced values keep the dates they were valid, and every change is copied to Neo4j for graph 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4: HYBRID RETRIEVAL AND GROUNDED REASONING</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4: Hybrid Retrieval And Grounded Reasoning (landscape layout of the report figure)"/>
          <p:cNvPicPr>
            <a:picLocks noChangeAspect="1"/>
          </p:cNvPicPr>
          <p:nvPr/>
        </p:nvPicPr>
        <p:blipFill>
          <a:blip r:embed="rId3"/>
          <a:stretch>
            <a:fillRect/>
          </a:stretch>
        </p:blipFill>
        <p:spPr>
          <a:xfrm>
            <a:off x="594360" y="1280160"/>
            <a:ext cx="11000232" cy="2676983"/>
          </a:xfrm>
          <a:prstGeom prst="rect">
            <a:avLst/>
          </a:prstGeom>
        </p:spPr>
      </p:pic>
      <p:sp>
        <p:nvSpPr>
          <p:cNvPr id="27" name="TextBox 26"/>
          <p:cNvSpPr txBox="1"/>
          <p:nvPr/>
        </p:nvSpPr>
        <p:spPr>
          <a:xfrm>
            <a:off x="594360" y="4185743"/>
            <a:ext cx="11000232" cy="2077896"/>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Before Pi answers, it asks for memory. Keyword search, vector search and, for questions about dates, time-based search run together.</a:t>
            </a:r>
          </a:p>
          <a:p>
            <a:pPr marL="256032" indent="-256032">
              <a:spcAft>
                <a:spcPts val="600"/>
              </a:spcAft>
              <a:buFont typeface="Arial"/>
              <a:buChar char="•"/>
            </a:pPr>
            <a:r>
              <a:rPr sz="1800" b="0" i="0">
                <a:solidFill>
                  <a:srgbClr val="000000"/>
                </a:solidFill>
                <a:latin typeface="Times New Roman"/>
                <a:ea typeface="Times New Roman"/>
                <a:cs typeface="Times New Roman"/>
              </a:rPr>
              <a:t>Top hits are expanded through Neo4j and checked again in PostgreSQL. The lists are merged by rank and packed into the token budget, each with its quote.</a:t>
            </a:r>
          </a:p>
          <a:p>
            <a:pPr marL="256032" indent="-256032">
              <a:spcAft>
                <a:spcPts val="600"/>
              </a:spcAft>
              <a:buFont typeface="Arial"/>
              <a:buChar char="•"/>
            </a:pPr>
            <a:r>
              <a:rPr sz="1800" b="0" i="0">
                <a:solidFill>
                  <a:srgbClr val="000000"/>
                </a:solidFill>
                <a:latin typeface="Times New Roman"/>
                <a:ea typeface="Times New Roman"/>
                <a:cs typeface="Times New Roman"/>
              </a:rPr>
              <a:t>An optional step writes a full answer that cites the memories it used.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5: MODEL TRAINING AND EVALUATION</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5: Model Training And Evaluation (landscape layout of the report figure)"/>
          <p:cNvPicPr>
            <a:picLocks noChangeAspect="1"/>
          </p:cNvPicPr>
          <p:nvPr/>
        </p:nvPicPr>
        <p:blipFill>
          <a:blip r:embed="rId3"/>
          <a:stretch>
            <a:fillRect/>
          </a:stretch>
        </p:blipFill>
        <p:spPr>
          <a:xfrm>
            <a:off x="594360" y="1280160"/>
            <a:ext cx="11000232" cy="3094895"/>
          </a:xfrm>
          <a:prstGeom prst="rect">
            <a:avLst/>
          </a:prstGeom>
        </p:spPr>
      </p:pic>
      <p:sp>
        <p:nvSpPr>
          <p:cNvPr id="27" name="TextBox 26"/>
          <p:cNvSpPr txBox="1"/>
          <p:nvPr/>
        </p:nvSpPr>
        <p:spPr>
          <a:xfrm>
            <a:off x="594360" y="4603655"/>
            <a:ext cx="11000232" cy="1659984"/>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Runs offline. Short synthetic conversations from 16 domains are labelled by a larger model, GPT-5.6-sol. Live chats are never used for training.</a:t>
            </a:r>
          </a:p>
          <a:p>
            <a:pPr marL="256032" indent="-256032">
              <a:spcAft>
                <a:spcPts val="600"/>
              </a:spcAft>
              <a:buFont typeface="Arial"/>
              <a:buChar char="•"/>
            </a:pPr>
            <a:r>
              <a:rPr sz="1800" b="0" i="0">
                <a:solidFill>
                  <a:srgbClr val="000000"/>
                </a:solidFill>
                <a:latin typeface="Times New Roman"/>
                <a:ea typeface="Times New Roman"/>
                <a:cs typeface="Times New Roman"/>
              </a:rPr>
              <a:t>Qwen3-4B is fine-tuned on those labels and served to Modules 2 and 4 through Ollama, but only after it beats the base model on held-out tests.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200400"/>
        </p:xfrm>
        <a:graphic>
          <a:graphicData uri="http://schemas.openxmlformats.org/drawingml/2006/table">
            <a:tbl>
              <a:tblPr firstRow="1" bandRow="0"/>
              <a:tblGrid>
                <a:gridCol w="4033418"/>
                <a:gridCol w="5866790"/>
                <a:gridCol w="1100023"/>
              </a:tblGrid>
              <a:tr h="457200">
                <a:tc>
                  <a:txBody>
                    <a:bodyPr wrap="square"/>
                    <a:lstStyle/>
                    <a:p>
                      <a:pPr marL="0" indent="0">
                        <a:spcAft>
                          <a:spcPts val="0"/>
                        </a:spcAft>
                        <a:buNone/>
                      </a:pPr>
                      <a:r>
                        <a:rPr sz="1800" b="1" i="0">
                          <a:solidFill>
                            <a:srgbClr val="000000"/>
                          </a:solidFill>
                          <a:latin typeface="Times New Roman"/>
                          <a:ea typeface="Times New Roman"/>
                          <a:cs typeface="Times New Roman"/>
                        </a:rPr>
                        <a:t>Algorithm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Purpose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Module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1. Priority-based context selection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Picks the existing assertions that matter most and fit the model's input.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M2</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2. Entity resolution and versioning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Matches the subject, then handles repeats, corrections and conflicts.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3. Consolidation and invalidation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Builds inferences and marks them stale when their support changes.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M2, M3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4. Hybrid retrieval and graph traversal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Finds memories by keyword, meaning, date and graph link.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5. Rank fusion and context packing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Merges the search rankings and fits the best memories into the token budget.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6. Source-grounded answering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Answers only from retrieved memories and checks every citation.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1. Priority-based context selection</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existing assertions, new messages, input limit</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all existing assertions fit:</a:t>
            </a:r>
          </a:p>
          <a:p>
            <a:pPr marL="36576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all of them</a:t>
            </a:r>
          </a:p>
          <a:p>
            <a:pPr marL="0" indent="0">
              <a:spcAft>
                <a:spcPts val="400"/>
              </a:spcAft>
              <a:buNone/>
            </a:pPr>
            <a:r>
              <a:rPr sz="1800" b="0" i="0">
                <a:solidFill>
                  <a:srgbClr val="000000"/>
                </a:solidFill>
                <a:latin typeface="Times New Roman"/>
                <a:ea typeface="Times New Roman"/>
                <a:cs typeface="Times New Roman"/>
              </a:rPr>
              <a:t>Score each assertion by how often its subject and value appear in the new messages</a:t>
            </a:r>
          </a:p>
          <a:p>
            <a:pPr marL="0" indent="0">
              <a:spcAft>
                <a:spcPts val="400"/>
              </a:spcAft>
              <a:buNone/>
            </a:pPr>
            <a:r>
              <a:rPr sz="1800" b="0" i="0">
                <a:solidFill>
                  <a:srgbClr val="000000"/>
                </a:solidFill>
                <a:latin typeface="Times New Roman"/>
                <a:ea typeface="Times New Roman"/>
                <a:cs typeface="Times New Roman"/>
              </a:rPr>
              <a:t>Sort by score, newest first on ties</a:t>
            </a:r>
          </a:p>
          <a:p>
            <a:pPr marL="0" indent="0">
              <a:spcAft>
                <a:spcPts val="400"/>
              </a:spcAft>
              <a:buNone/>
            </a:pPr>
            <a:r>
              <a:rPr sz="1800" b="0" i="0">
                <a:solidFill>
                  <a:srgbClr val="000000"/>
                </a:solidFill>
                <a:latin typeface="Times New Roman"/>
                <a:ea typeface="Times New Roman"/>
                <a:cs typeface="Times New Roman"/>
              </a:rPr>
              <a:t>Find the longest sorted prefix that fits, by binary search</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that prefix in its original order</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2. Entity resolution and versioning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new assertion and the stored memory</a:t>
            </a:r>
          </a:p>
          <a:p>
            <a:pPr marL="0" indent="0">
              <a:spcAft>
                <a:spcPts val="400"/>
              </a:spcAft>
              <a:buNone/>
            </a:pPr>
            <a:r>
              <a:rPr sz="1800" b="0" i="0">
                <a:solidFill>
                  <a:srgbClr val="000000"/>
                </a:solidFill>
                <a:latin typeface="Times New Roman"/>
                <a:ea typeface="Times New Roman"/>
                <a:cs typeface="Times New Roman"/>
              </a:rPr>
              <a:t>Match the subject by type and name, or a unique alias; otherwise create it</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the same assertion exists:</a:t>
            </a:r>
          </a:p>
          <a:p>
            <a:pPr marL="365760" indent="0">
              <a:spcAft>
                <a:spcPts val="400"/>
              </a:spcAft>
              <a:buNone/>
            </a:pPr>
            <a:r>
              <a:rPr sz="1800" b="0" i="0">
                <a:solidFill>
                  <a:srgbClr val="000000"/>
                </a:solidFill>
                <a:latin typeface="Times New Roman"/>
                <a:ea typeface="Times New Roman"/>
                <a:cs typeface="Times New Roman"/>
              </a:rPr>
              <a:t>attach the new quote</a:t>
            </a:r>
          </a:p>
          <a:p>
            <a:pPr marL="0" indent="0">
              <a:spcAft>
                <a:spcPts val="400"/>
              </a:spcAft>
              <a:buNone/>
            </a:pPr>
            <a:r>
              <a:rPr sz="1800" b="1" i="0">
                <a:solidFill>
                  <a:srgbClr val="000000"/>
                </a:solidFill>
                <a:latin typeface="Times New Roman"/>
                <a:ea typeface="Times New Roman"/>
                <a:cs typeface="Times New Roman"/>
              </a:rPr>
              <a:t>ELSE IF</a:t>
            </a:r>
            <a:r>
              <a:rPr sz="1800" b="0" i="0">
                <a:solidFill>
                  <a:srgbClr val="000000"/>
                </a:solidFill>
                <a:latin typeface="Times New Roman"/>
                <a:ea typeface="Times New Roman"/>
                <a:cs typeface="Times New Roman"/>
              </a:rPr>
              <a:t> the slot has no conflicting value:</a:t>
            </a:r>
          </a:p>
          <a:p>
            <a:pPr marL="365760" indent="0">
              <a:spcAft>
                <a:spcPts val="400"/>
              </a:spcAft>
              <a:buNone/>
            </a:pPr>
            <a:r>
              <a:rPr sz="1800" b="0" i="0">
                <a:solidFill>
                  <a:srgbClr val="000000"/>
                </a:solidFill>
                <a:latin typeface="Times New Roman"/>
                <a:ea typeface="Times New Roman"/>
                <a:cs typeface="Times New Roman"/>
              </a:rPr>
              <a:t>store it as active</a:t>
            </a:r>
          </a:p>
          <a:p>
            <a:pPr marL="0" indent="0">
              <a:spcAft>
                <a:spcPts val="400"/>
              </a:spcAft>
              <a:buNone/>
            </a:pPr>
            <a:r>
              <a:rPr sz="1800" b="1" i="0">
                <a:solidFill>
                  <a:srgbClr val="000000"/>
                </a:solidFill>
                <a:latin typeface="Times New Roman"/>
                <a:ea typeface="Times New Roman"/>
                <a:cs typeface="Times New Roman"/>
              </a:rPr>
              <a:t>ELSE IF</a:t>
            </a:r>
            <a:r>
              <a:rPr sz="1800" b="0" i="0">
                <a:solidFill>
                  <a:srgbClr val="000000"/>
                </a:solidFill>
                <a:latin typeface="Times New Roman"/>
                <a:ea typeface="Times New Roman"/>
                <a:cs typeface="Times New Roman"/>
              </a:rPr>
              <a:t> reviewed correction AND confidence ≥ 0.8:</a:t>
            </a:r>
          </a:p>
          <a:p>
            <a:pPr marL="365760" indent="0">
              <a:spcAft>
                <a:spcPts val="400"/>
              </a:spcAft>
              <a:buNone/>
            </a:pPr>
            <a:r>
              <a:rPr sz="1800" b="0" i="0">
                <a:solidFill>
                  <a:srgbClr val="000000"/>
                </a:solidFill>
                <a:latin typeface="Times New Roman"/>
                <a:ea typeface="Times New Roman"/>
                <a:cs typeface="Times New Roman"/>
              </a:rPr>
              <a:t>replace the old value, keep it as history</a:t>
            </a:r>
          </a:p>
          <a:p>
            <a:pPr marL="0" indent="0">
              <a:spcAft>
                <a:spcPts val="400"/>
              </a:spcAft>
              <a:buNone/>
            </a:pPr>
            <a:r>
              <a:rPr sz="1800" b="1" i="0">
                <a:solidFill>
                  <a:srgbClr val="000000"/>
                </a:solidFill>
                <a:latin typeface="Times New Roman"/>
                <a:ea typeface="Times New Roman"/>
                <a:cs typeface="Times New Roman"/>
              </a:rPr>
              <a:t>ELSE</a:t>
            </a:r>
            <a:r>
              <a:rPr sz="1800" b="0" i="0">
                <a:solidFill>
                  <a:srgbClr val="000000"/>
                </a:solidFill>
                <a:latin typeface="Times New Roman"/>
                <a:ea typeface="Times New Roman"/>
                <a:cs typeface="Times New Roman"/>
              </a:rPr>
              <a:t>:</a:t>
            </a:r>
          </a:p>
          <a:p>
            <a:pPr marL="365760" indent="0">
              <a:spcAft>
                <a:spcPts val="400"/>
              </a:spcAft>
              <a:buNone/>
            </a:pPr>
            <a:r>
              <a:rPr sz="1800" b="0" i="0">
                <a:solidFill>
                  <a:srgbClr val="000000"/>
                </a:solidFill>
                <a:latin typeface="Times New Roman"/>
                <a:ea typeface="Times New Roman"/>
                <a:cs typeface="Times New Roman"/>
              </a:rPr>
              <a:t>mark both values contested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3. Consolidation and invalidation</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active assertions about the changed subjects</a:t>
            </a:r>
          </a:p>
          <a:p>
            <a:pPr marL="0" indent="0">
              <a:spcAft>
                <a:spcPts val="400"/>
              </a:spcAft>
              <a:buNone/>
            </a:pPr>
            <a:r>
              <a:rPr sz="1800" b="0" i="0">
                <a:solidFill>
                  <a:srgbClr val="000000"/>
                </a:solidFill>
                <a:latin typeface="Times New Roman"/>
                <a:ea typeface="Times New Roman"/>
                <a:cs typeface="Times New Roman"/>
              </a:rPr>
              <a:t>Ask the model to combine related assertions into inferences</a:t>
            </a:r>
          </a:p>
          <a:p>
            <a:pPr marL="0" indent="0">
              <a:spcAft>
                <a:spcPts val="400"/>
              </a:spcAft>
              <a:buNone/>
            </a:pPr>
            <a:r>
              <a:rPr sz="1800" b="0" i="0">
                <a:solidFill>
                  <a:srgbClr val="000000"/>
                </a:solidFill>
                <a:latin typeface="Times New Roman"/>
                <a:ea typeface="Times New Roman"/>
                <a:cs typeface="Times New Roman"/>
              </a:rPr>
              <a:t>Keep an inference only if it has two or more supports</a:t>
            </a:r>
          </a:p>
          <a:p>
            <a:pPr marL="0" indent="0">
              <a:spcAft>
                <a:spcPts val="400"/>
              </a:spcAft>
              <a:buNone/>
            </a:pPr>
            <a:r>
              <a:rPr sz="1800" b="0" i="0">
                <a:solidFill>
                  <a:srgbClr val="000000"/>
                </a:solidFill>
                <a:latin typeface="Times New Roman"/>
                <a:ea typeface="Times New Roman"/>
                <a:cs typeface="Times New Roman"/>
              </a:rPr>
              <a:t>Check the support IDs and the subject</a:t>
            </a:r>
          </a:p>
          <a:p>
            <a:pPr marL="0" indent="0">
              <a:spcAft>
                <a:spcPts val="400"/>
              </a:spcAft>
              <a:buNone/>
            </a:pPr>
            <a:r>
              <a:rPr sz="1800" b="0" i="0">
                <a:solidFill>
                  <a:srgbClr val="000000"/>
                </a:solidFill>
                <a:latin typeface="Times New Roman"/>
                <a:ea typeface="Times New Roman"/>
                <a:cs typeface="Times New Roman"/>
              </a:rPr>
              <a:t>Check that every support is still active, then save with links</a:t>
            </a:r>
          </a:p>
          <a:p>
            <a:pPr marL="0" indent="0">
              <a:spcAft>
                <a:spcPts val="400"/>
              </a:spcAft>
              <a:buNone/>
            </a:pPr>
            <a:r>
              <a:rPr sz="1800" b="1" i="0">
                <a:solidFill>
                  <a:srgbClr val="000000"/>
                </a:solidFill>
                <a:latin typeface="Times New Roman"/>
                <a:ea typeface="Times New Roman"/>
                <a:cs typeface="Times New Roman"/>
              </a:rPr>
              <a:t>WHEN</a:t>
            </a:r>
            <a:r>
              <a:rPr sz="1800" b="0" i="0">
                <a:solidFill>
                  <a:srgbClr val="000000"/>
                </a:solidFill>
                <a:latin typeface="Times New Roman"/>
                <a:ea typeface="Times New Roman"/>
                <a:cs typeface="Times New Roman"/>
              </a:rPr>
              <a:t> a support changes or is retracted:</a:t>
            </a:r>
          </a:p>
          <a:p>
            <a:pPr marL="365760" indent="0">
              <a:spcAft>
                <a:spcPts val="400"/>
              </a:spcAft>
              <a:buNone/>
            </a:pPr>
            <a:r>
              <a:rPr sz="1800" b="0" i="0">
                <a:solidFill>
                  <a:srgbClr val="000000"/>
                </a:solidFill>
                <a:latin typeface="Times New Roman"/>
                <a:ea typeface="Times New Roman"/>
                <a:cs typeface="Times New Roman"/>
              </a:rPr>
              <a:t>find inferences that depend on it</a:t>
            </a:r>
          </a:p>
          <a:p>
            <a:pPr marL="365760" indent="0">
              <a:spcAft>
                <a:spcPts val="400"/>
              </a:spcAft>
              <a:buNone/>
            </a:pPr>
            <a:r>
              <a:rPr sz="1800" b="0" i="0">
                <a:solidFill>
                  <a:srgbClr val="000000"/>
                </a:solidFill>
                <a:latin typeface="Times New Roman"/>
                <a:ea typeface="Times New Roman"/>
                <a:cs typeface="Times New Roman"/>
              </a:rPr>
              <a:t>mark them stale</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4. Hybrid retrieval and graph traversal</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question and an optional date range</a:t>
            </a:r>
          </a:p>
          <a:p>
            <a:pPr marL="0" indent="0">
              <a:spcAft>
                <a:spcPts val="400"/>
              </a:spcAft>
              <a:buNone/>
            </a:pPr>
            <a:r>
              <a:rPr sz="1800" b="0" i="0">
                <a:solidFill>
                  <a:srgbClr val="000000"/>
                </a:solidFill>
                <a:latin typeface="Times New Roman"/>
                <a:ea typeface="Times New Roman"/>
                <a:cs typeface="Times New Roman"/>
              </a:rPr>
              <a:t>Work out the dates a question refers to, if any</a:t>
            </a:r>
          </a:p>
          <a:p>
            <a:pPr marL="0" indent="0">
              <a:spcAft>
                <a:spcPts val="400"/>
              </a:spcAft>
              <a:buNone/>
            </a:pPr>
            <a:r>
              <a:rPr sz="1800" b="0" i="0">
                <a:solidFill>
                  <a:srgbClr val="000000"/>
                </a:solidFill>
                <a:latin typeface="Times New Roman"/>
                <a:ea typeface="Times New Roman"/>
                <a:cs typeface="Times New Roman"/>
              </a:rPr>
              <a:t>Run keyword search [8] and vector search [9]</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there is a date range:</a:t>
            </a:r>
          </a:p>
          <a:p>
            <a:pPr marL="365760" indent="0">
              <a:spcAft>
                <a:spcPts val="400"/>
              </a:spcAft>
              <a:buNone/>
            </a:pPr>
            <a:r>
              <a:rPr sz="1800" b="0" i="0">
                <a:solidFill>
                  <a:srgbClr val="000000"/>
                </a:solidFill>
                <a:latin typeface="Times New Roman"/>
                <a:ea typeface="Times New Roman"/>
                <a:cs typeface="Times New Roman"/>
              </a:rPr>
              <a:t>add assertions valid in that range</a:t>
            </a:r>
          </a:p>
          <a:p>
            <a:pPr marL="0" indent="0">
              <a:spcAft>
                <a:spcPts val="400"/>
              </a:spcAft>
              <a:buNone/>
            </a:pPr>
            <a:r>
              <a:rPr sz="1800" b="0" i="0">
                <a:solidFill>
                  <a:srgbClr val="000000"/>
                </a:solidFill>
                <a:latin typeface="Times New Roman"/>
                <a:ea typeface="Times New Roman"/>
                <a:cs typeface="Times New Roman"/>
              </a:rPr>
              <a:t>Follow graph links from the matches for up to two steps</a:t>
            </a:r>
          </a:p>
          <a:p>
            <a:pPr marL="0" indent="0">
              <a:spcAft>
                <a:spcPts val="400"/>
              </a:spcAft>
              <a:buNone/>
            </a:pPr>
            <a:r>
              <a:rPr sz="1800" b="0" i="0">
                <a:solidFill>
                  <a:srgbClr val="000000"/>
                </a:solidFill>
                <a:latin typeface="Times New Roman"/>
                <a:ea typeface="Times New Roman"/>
                <a:cs typeface="Times New Roman"/>
              </a:rPr>
              <a:t>Drop results outside their validity or too far in meaning</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candidate lists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5. Rank fusion and context packing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ranked candidate lists and a token budget</a:t>
            </a:r>
          </a:p>
          <a:p>
            <a:pPr marL="0" indent="0">
              <a:spcAft>
                <a:spcPts val="400"/>
              </a:spcAft>
              <a:buNone/>
            </a:pPr>
            <a:r>
              <a:rPr sz="1800" b="1" i="0">
                <a:solidFill>
                  <a:srgbClr val="000000"/>
                </a:solidFill>
                <a:latin typeface="Times New Roman"/>
                <a:ea typeface="Times New Roman"/>
                <a:cs typeface="Times New Roman"/>
              </a:rPr>
              <a:t>FOR</a:t>
            </a:r>
            <a:r>
              <a:rPr sz="1800" b="0" i="0">
                <a:solidFill>
                  <a:srgbClr val="000000"/>
                </a:solidFill>
                <a:latin typeface="Times New Roman"/>
                <a:ea typeface="Times New Roman"/>
                <a:cs typeface="Times New Roman"/>
              </a:rPr>
              <a:t> each memory:</a:t>
            </a:r>
          </a:p>
          <a:p>
            <a:pPr marL="365760" indent="0">
              <a:spcAft>
                <a:spcPts val="400"/>
              </a:spcAft>
              <a:buNone/>
            </a:pPr>
            <a:r>
              <a:rPr sz="1800" b="0" i="0">
                <a:solidFill>
                  <a:srgbClr val="000000"/>
                </a:solidFill>
                <a:latin typeface="Times New Roman"/>
                <a:ea typeface="Times New Roman"/>
                <a:cs typeface="Times New Roman"/>
              </a:rPr>
              <a:t>score = Σ 1 / (60 + rank) over all lists [10]</a:t>
            </a:r>
          </a:p>
          <a:p>
            <a:pPr marL="0" indent="0">
              <a:spcAft>
                <a:spcPts val="400"/>
              </a:spcAft>
              <a:buNone/>
            </a:pPr>
            <a:r>
              <a:rPr sz="1800" b="0" i="0">
                <a:solidFill>
                  <a:srgbClr val="000000"/>
                </a:solidFill>
                <a:latin typeface="Times New Roman"/>
                <a:ea typeface="Times New Roman"/>
                <a:cs typeface="Times New Roman"/>
              </a:rPr>
              <a:t>Sort by score, then by ID</a:t>
            </a:r>
          </a:p>
          <a:p>
            <a:pPr marL="0" indent="0">
              <a:spcAft>
                <a:spcPts val="400"/>
              </a:spcAft>
              <a:buNone/>
            </a:pPr>
            <a:r>
              <a:rPr sz="1800" b="1" i="0">
                <a:solidFill>
                  <a:srgbClr val="000000"/>
                </a:solidFill>
                <a:latin typeface="Times New Roman"/>
                <a:ea typeface="Times New Roman"/>
                <a:cs typeface="Times New Roman"/>
              </a:rPr>
              <a:t>FOR</a:t>
            </a:r>
            <a:r>
              <a:rPr sz="1800" b="0" i="0">
                <a:solidFill>
                  <a:srgbClr val="000000"/>
                </a:solidFill>
                <a:latin typeface="Times New Roman"/>
                <a:ea typeface="Times New Roman"/>
                <a:cs typeface="Times New Roman"/>
              </a:rPr>
              <a:t> each memory in order:</a:t>
            </a:r>
          </a:p>
          <a:p>
            <a:pPr marL="365760" indent="0">
              <a:spcAft>
                <a:spcPts val="400"/>
              </a:spcAft>
              <a:buNone/>
            </a:pPr>
            <a:r>
              <a:rPr sz="1800" b="0" i="0">
                <a:solidFill>
                  <a:srgbClr val="000000"/>
                </a:solidFill>
                <a:latin typeface="Times New Roman"/>
                <a:ea typeface="Times New Roman"/>
                <a:cs typeface="Times New Roman"/>
              </a:rPr>
              <a:t>build a block with the assertion and its quotes</a:t>
            </a:r>
          </a:p>
          <a:p>
            <a:pPr marL="365760" indent="0">
              <a:spcAft>
                <a:spcPts val="400"/>
              </a:spcAft>
              <a:buNone/>
            </a:pPr>
            <a:r>
              <a:rPr sz="1800" b="0" i="0">
                <a:solidFill>
                  <a:srgbClr val="000000"/>
                </a:solidFill>
                <a:latin typeface="Times New Roman"/>
                <a:ea typeface="Times New Roman"/>
                <a:cs typeface="Times New Roman"/>
              </a:rPr>
              <a:t>add it if it fits the budget</a:t>
            </a:r>
          </a:p>
          <a:p>
            <a:pPr marL="365760" indent="0">
              <a:spcAft>
                <a:spcPts val="400"/>
              </a:spcAft>
              <a:buNone/>
            </a:pPr>
            <a:r>
              <a:rPr sz="1800" b="0" i="0">
                <a:solidFill>
                  <a:srgbClr val="000000"/>
                </a:solidFill>
                <a:latin typeface="Times New Roman"/>
                <a:ea typeface="Times New Roman"/>
                <a:cs typeface="Times New Roman"/>
              </a:rPr>
              <a:t>stop at the requested count</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packed context</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6. Source-grounded answering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question and the retrieved memories</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nothing was retrieved:</a:t>
            </a:r>
          </a:p>
          <a:p>
            <a:pPr marL="36576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"insufficient evidence"</a:t>
            </a:r>
          </a:p>
          <a:p>
            <a:pPr marL="0" indent="0">
              <a:spcAft>
                <a:spcPts val="400"/>
              </a:spcAft>
              <a:buNone/>
            </a:pPr>
            <a:r>
              <a:rPr sz="1800" b="0" i="0">
                <a:solidFill>
                  <a:srgbClr val="000000"/>
                </a:solidFill>
                <a:latin typeface="Times New Roman"/>
                <a:ea typeface="Times New Roman"/>
                <a:cs typeface="Times New Roman"/>
              </a:rPr>
              <a:t>Ask the model to answer only from the retrieved memories</a:t>
            </a:r>
          </a:p>
          <a:p>
            <a:pPr marL="0" indent="0">
              <a:spcAft>
                <a:spcPts val="400"/>
              </a:spcAft>
              <a:buNone/>
            </a:pPr>
            <a:r>
              <a:rPr sz="1800" b="0" i="0">
                <a:solidFill>
                  <a:srgbClr val="000000"/>
                </a:solidFill>
                <a:latin typeface="Times New Roman"/>
                <a:ea typeface="Times New Roman"/>
                <a:cs typeface="Times New Roman"/>
              </a:rPr>
              <a:t>Allow citations only to retrieved IDs</a:t>
            </a:r>
          </a:p>
          <a:p>
            <a:pPr marL="0" indent="0">
              <a:spcAft>
                <a:spcPts val="400"/>
              </a:spcAft>
              <a:buNone/>
            </a:pPr>
            <a:r>
              <a:rPr sz="1800" b="0" i="0">
                <a:solidFill>
                  <a:srgbClr val="000000"/>
                </a:solidFill>
                <a:latin typeface="Times New Roman"/>
                <a:ea typeface="Times New Roman"/>
                <a:cs typeface="Times New Roman"/>
              </a:rPr>
              <a:t>Check the output format and every cited ID</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it claims an answer without citations:</a:t>
            </a:r>
          </a:p>
          <a:p>
            <a:pPr marL="365760" indent="0">
              <a:spcAft>
                <a:spcPts val="400"/>
              </a:spcAft>
              <a:buNone/>
            </a:pPr>
            <a:r>
              <a:rPr sz="1800" b="0" i="0">
                <a:solidFill>
                  <a:srgbClr val="000000"/>
                </a:solidFill>
                <a:latin typeface="Times New Roman"/>
                <a:ea typeface="Times New Roman"/>
                <a:cs typeface="Times New Roman"/>
              </a:rPr>
              <a:t>reject it</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answer with its citations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TOOLS AND TECHNOLOGIES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017520"/>
        </p:xfrm>
        <a:graphic>
          <a:graphicData uri="http://schemas.openxmlformats.org/drawingml/2006/table">
            <a:tbl>
              <a:tblPr firstRow="1" bandRow="0"/>
              <a:tblGrid>
                <a:gridCol w="4216755"/>
                <a:gridCol w="6783476"/>
              </a:tblGrid>
              <a:tr h="502920">
                <a:tc>
                  <a:txBody>
                    <a:bodyPr wrap="square"/>
                    <a:lstStyle/>
                    <a:p>
                      <a:pPr marL="0" indent="0">
                        <a:spcAft>
                          <a:spcPts val="0"/>
                        </a:spcAft>
                        <a:buNone/>
                      </a:pPr>
                      <a:r>
                        <a:rPr sz="1800" b="1" i="0">
                          <a:solidFill>
                            <a:srgbClr val="000000"/>
                          </a:solidFill>
                          <a:latin typeface="Times New Roman"/>
                          <a:ea typeface="Times New Roman"/>
                          <a:cs typeface="Times New Roman"/>
                        </a:rPr>
                        <a:t>Tool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Rust, Tokio, Axum and SQLx</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The memory service: API, background workers and database access.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PostgreSQL 17 with pgvector [8], [9]</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Stores sources, assertions, history and jobs; keyword and vector search.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Neo4j 5.26 [11]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Graph copy of assertions and subjects, used to widen recall.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Ollama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Runs the memory model and the embedding model on our machine.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Qwen3-Embedding-0.6B [12]</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Turns messages, assertions and questions into vectors.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TOOLS AND TECHNOLOGIES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520440"/>
        </p:xfrm>
        <a:graphic>
          <a:graphicData uri="http://schemas.openxmlformats.org/drawingml/2006/table">
            <a:tbl>
              <a:tblPr firstRow="1" bandRow="0"/>
              <a:tblGrid>
                <a:gridCol w="4216755"/>
                <a:gridCol w="6783476"/>
              </a:tblGrid>
              <a:tr h="502920">
                <a:tc>
                  <a:txBody>
                    <a:bodyPr wrap="square"/>
                    <a:lstStyle/>
                    <a:p>
                      <a:pPr marL="0" indent="0">
                        <a:spcAft>
                          <a:spcPts val="0"/>
                        </a:spcAft>
                        <a:buNone/>
                      </a:pPr>
                      <a:r>
                        <a:rPr sz="1800" b="1" i="0">
                          <a:solidFill>
                            <a:srgbClr val="000000"/>
                          </a:solidFill>
                          <a:latin typeface="Times New Roman"/>
                          <a:ea typeface="Times New Roman"/>
                          <a:cs typeface="Times New Roman"/>
                        </a:rPr>
                        <a:t>Tool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Fine-tuned Qwen3-4B-Instruct-2507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Extracts assertions, combines them and answers with citations.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Pi coding agent [13]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The agent we connect to: it sends messages and receives recalled memory.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Python, PyTorch, Transformers, PEFT, bitsandbytes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Dataset preparation and QLoRA, a low-memory fine-tuning method [14].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llama.cpp and GGUF</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Converts and compresses the trained model so Ollama can run it.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React, TypeScript, Vite and Bootstrap</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Dashboard, session controls and the memory graph view.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Docker Compose, Caddy and ttyd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Runs the services and gives browser access to the app and the Pi console.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(1/3)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Fine-tuning dataset for the Module 5 model (Qwen3-4B-Instruct-2507)</a:t>
            </a:r>
          </a:p>
        </p:txBody>
      </p:sp>
      <p:graphicFrame>
        <p:nvGraphicFramePr>
          <p:cNvPr id="27" name="Table 26"/>
          <p:cNvGraphicFramePr>
            <a:graphicFrameLocks noGrp="1"/>
          </p:cNvGraphicFramePr>
          <p:nvPr/>
        </p:nvGraphicFramePr>
        <p:xfrm>
          <a:off x="594360" y="1645919"/>
          <a:ext cx="11000231" cy="1828800"/>
        </p:xfrm>
        <a:graphic>
          <a:graphicData uri="http://schemas.openxmlformats.org/drawingml/2006/table">
            <a:tbl>
              <a:tblPr firstRow="1" bandRow="0"/>
              <a:tblGrid>
                <a:gridCol w="2383383"/>
                <a:gridCol w="8616848"/>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Aspect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Details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Scope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Started with coding conversations, then grew to 16 domains such as family, food, travel, education, work and software.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Synthetic conversations labelled by GPT-5.6-sol, checked by a second model and cleaned by us.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Size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2,961 task examples: 2,095 for training, 424 for validation and 442 for testing.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Tasks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 assertions, combine related assertions, and answer questions with citations.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Rectangle 27"/>
          <p:cNvSpPr/>
          <p:nvPr/>
        </p:nvSpPr>
        <p:spPr>
          <a:xfrm>
            <a:off x="594360" y="4617720"/>
            <a:ext cx="11000232" cy="1600200"/>
          </a:xfrm>
          <a:prstGeom prst="rect">
            <a:avLst/>
          </a:prstGeom>
          <a:solidFill>
            <a:srgbClr val="EEF2F7"/>
          </a:solidFill>
          <a:ln w="9525">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73152" bIns="73152" wrap="square"/>
          <a:lstStyle/>
          <a:p>
            <a:pPr algn="ctr" marL="0" indent="0">
              <a:spcAft>
                <a:spcPts val="400"/>
              </a:spcAft>
              <a:buNone/>
            </a:pPr>
            <a:r>
              <a:rPr sz="1800" b="1" i="0">
                <a:solidFill>
                  <a:srgbClr val="000000"/>
                </a:solidFill>
                <a:latin typeface="Times New Roman"/>
                <a:ea typeface="Times New Roman"/>
                <a:cs typeface="Times New Roman"/>
              </a:rPr>
              <a:t>Training example</a:t>
            </a:r>
          </a:p>
          <a:p>
            <a:pPr marL="0" indent="0">
              <a:spcAft>
                <a:spcPts val="200"/>
              </a:spcAft>
              <a:buNone/>
            </a:pPr>
            <a:r>
              <a:rPr sz="1800" b="1" i="0">
                <a:solidFill>
                  <a:srgbClr val="000000"/>
                </a:solidFill>
                <a:latin typeface="Times New Roman"/>
                <a:ea typeface="Times New Roman"/>
                <a:cs typeface="Times New Roman"/>
              </a:rPr>
              <a:t>Assistant: </a:t>
            </a:r>
            <a:r>
              <a:rPr sz="1800" b="0" i="0">
                <a:solidFill>
                  <a:srgbClr val="000000"/>
                </a:solidFill>
                <a:latin typeface="Times New Roman"/>
                <a:ea typeface="Times New Roman"/>
                <a:cs typeface="Times New Roman"/>
              </a:rPr>
              <a:t>"You could learn violin this winter."</a:t>
            </a:r>
          </a:p>
          <a:p>
            <a:pPr marL="0" indent="0">
              <a:spcAft>
                <a:spcPts val="200"/>
              </a:spcAft>
              <a:buNone/>
            </a:pPr>
            <a:r>
              <a:rPr sz="1800" b="1" i="0">
                <a:solidFill>
                  <a:srgbClr val="000000"/>
                </a:solidFill>
                <a:latin typeface="Times New Roman"/>
                <a:ea typeface="Times New Roman"/>
                <a:cs typeface="Times New Roman"/>
              </a:rPr>
              <a:t>User: </a:t>
            </a:r>
            <a:r>
              <a:rPr sz="1800" b="0" i="0">
                <a:solidFill>
                  <a:srgbClr val="000000"/>
                </a:solidFill>
                <a:latin typeface="Times New Roman"/>
                <a:ea typeface="Times New Roman"/>
                <a:cs typeface="Times New Roman"/>
              </a:rPr>
              <a:t>"No, that is not my plan. I am learning watercolor painting."</a:t>
            </a:r>
          </a:p>
          <a:p>
            <a:pPr marL="0" indent="0">
              <a:spcAft>
                <a:spcPts val="0"/>
              </a:spcAft>
              <a:buNone/>
            </a:pPr>
            <a:r>
              <a:rPr sz="1800" b="1" i="0">
                <a:solidFill>
                  <a:srgbClr val="000000"/>
                </a:solidFill>
                <a:latin typeface="Times New Roman"/>
                <a:ea typeface="Times New Roman"/>
                <a:cs typeface="Times New Roman"/>
              </a:rPr>
              <a:t>Expected memory: </a:t>
            </a:r>
            <a:r>
              <a:rPr sz="1800" b="0" i="0">
                <a:solidFill>
                  <a:srgbClr val="000000"/>
                </a:solidFill>
                <a:latin typeface="Times New Roman"/>
                <a:ea typeface="Times New Roman"/>
                <a:cs typeface="Times New Roman"/>
              </a:rPr>
              <a:t>The user is learning watercolor painting.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(2/3)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External test dataset</a:t>
            </a:r>
          </a:p>
        </p:txBody>
      </p:sp>
      <p:graphicFrame>
        <p:nvGraphicFramePr>
          <p:cNvPr id="27" name="Table 26"/>
          <p:cNvGraphicFramePr>
            <a:graphicFrameLocks noGrp="1"/>
          </p:cNvGraphicFramePr>
          <p:nvPr/>
        </p:nvGraphicFramePr>
        <p:xfrm>
          <a:off x="594360" y="1645919"/>
          <a:ext cx="11000231" cy="1463040"/>
        </p:xfrm>
        <a:graphic>
          <a:graphicData uri="http://schemas.openxmlformats.org/drawingml/2006/table">
            <a:tbl>
              <a:tblPr firstRow="1" bandRow="0"/>
              <a:tblGrid>
                <a:gridCol w="2383383"/>
                <a:gridCol w="8616848"/>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Aspect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Details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LoCoMo [15]: long conversations spread over many sessions.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Size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16 conversation segments from 10 conversations, with 40 reference assertions.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Purpose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Check whether the model extracts useful assertions from conversations outside our training data.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Rectangle 27"/>
          <p:cNvSpPr/>
          <p:nvPr/>
        </p:nvSpPr>
        <p:spPr>
          <a:xfrm>
            <a:off x="594360" y="3520440"/>
            <a:ext cx="11000232" cy="2697480"/>
          </a:xfrm>
          <a:prstGeom prst="rect">
            <a:avLst/>
          </a:prstGeom>
          <a:solidFill>
            <a:srgbClr val="EEF2F7"/>
          </a:solidFill>
          <a:ln w="9525">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73152" bIns="73152" wrap="square"/>
          <a:lstStyle/>
          <a:p>
            <a:pPr algn="ctr" marL="0" indent="0">
              <a:spcAft>
                <a:spcPts val="400"/>
              </a:spcAft>
              <a:buNone/>
            </a:pPr>
            <a:r>
              <a:rPr sz="1800" b="1" i="0">
                <a:solidFill>
                  <a:srgbClr val="000000"/>
                </a:solidFill>
                <a:latin typeface="Times New Roman"/>
                <a:ea typeface="Times New Roman"/>
                <a:cs typeface="Times New Roman"/>
              </a:rPr>
              <a:t>Test example (LoCoMo)</a:t>
            </a:r>
          </a:p>
          <a:p>
            <a:pPr marL="0" indent="0">
              <a:spcAft>
                <a:spcPts val="1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"Did you make that plate?"</a:t>
            </a:r>
          </a:p>
          <a:p>
            <a:pPr marL="0" indent="0">
              <a:spcAft>
                <a:spcPts val="100"/>
              </a:spcAft>
              <a:buNone/>
            </a:pPr>
            <a:r>
              <a:rPr sz="1800" b="1" i="0">
                <a:solidFill>
                  <a:srgbClr val="000000"/>
                </a:solidFill>
                <a:latin typeface="Times New Roman"/>
                <a:ea typeface="Times New Roman"/>
                <a:cs typeface="Times New Roman"/>
              </a:rPr>
              <a:t>Melanie: </a:t>
            </a:r>
            <a:r>
              <a:rPr sz="1800" b="0" i="0">
                <a:solidFill>
                  <a:srgbClr val="000000"/>
                </a:solidFill>
                <a:latin typeface="Times New Roman"/>
                <a:ea typeface="Times New Roman"/>
                <a:cs typeface="Times New Roman"/>
              </a:rPr>
              <a:t>"Yes, during yesterday's pottery class. I find pottery relaxing and creative."</a:t>
            </a:r>
          </a:p>
          <a:p>
            <a:pPr marL="0" indent="0">
              <a:spcAft>
                <a:spcPts val="1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"I haven't tried pottery. I've been painting and recently finished a picture."</a:t>
            </a:r>
          </a:p>
          <a:p>
            <a:pPr marL="0" indent="0">
              <a:spcAft>
                <a:spcPts val="100"/>
              </a:spcAft>
              <a:buNone/>
            </a:pPr>
            <a:r>
              <a:rPr sz="1800" b="1" i="0">
                <a:solidFill>
                  <a:srgbClr val="000000"/>
                </a:solidFill>
                <a:latin typeface="Times New Roman"/>
                <a:ea typeface="Times New Roman"/>
                <a:cs typeface="Times New Roman"/>
              </a:rPr>
              <a:t>Melanie: </a:t>
            </a:r>
            <a:r>
              <a:rPr sz="1800" b="0" i="0">
                <a:solidFill>
                  <a:srgbClr val="000000"/>
                </a:solidFill>
                <a:latin typeface="Times New Roman"/>
                <a:ea typeface="Times New Roman"/>
                <a:cs typeface="Times New Roman"/>
              </a:rPr>
              <a:t>"What inspired your painting?"</a:t>
            </a:r>
          </a:p>
          <a:p>
            <a:pPr marL="0" indent="0">
              <a:spcAft>
                <a:spcPts val="4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"A visit to the beach last week inspired it."</a:t>
            </a:r>
          </a:p>
          <a:p>
            <a:pPr marL="0" indent="0">
              <a:spcAft>
                <a:spcPts val="0"/>
              </a:spcAft>
              <a:buNone/>
            </a:pPr>
            <a:r>
              <a:rPr sz="1800" b="1" i="0">
                <a:solidFill>
                  <a:srgbClr val="000000"/>
                </a:solidFill>
                <a:latin typeface="Times New Roman"/>
                <a:ea typeface="Times New Roman"/>
                <a:cs typeface="Times New Roman"/>
              </a:rPr>
              <a:t>Expected memory: </a:t>
            </a:r>
            <a:r>
              <a:rPr sz="1800" b="0" i="0">
                <a:solidFill>
                  <a:srgbClr val="000000"/>
                </a:solidFill>
                <a:latin typeface="Times New Roman"/>
                <a:ea typeface="Times New Roman"/>
                <a:cs typeface="Times New Roman"/>
              </a:rPr>
              <a:t>Melanie made a plate in pottery class. Caroline painted a picture inspired by her beach visit.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(3/3)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Training rows across the 16 domains"/>
          <p:cNvPicPr>
            <a:picLocks noChangeAspect="1"/>
          </p:cNvPicPr>
          <p:nvPr/>
        </p:nvPicPr>
        <p:blipFill>
          <a:blip r:embed="rId3"/>
          <a:stretch>
            <a:fillRect/>
          </a:stretch>
        </p:blipFill>
        <p:spPr>
          <a:xfrm>
            <a:off x="2561947" y="1280160"/>
            <a:ext cx="7065057" cy="4206240"/>
          </a:xfrm>
          <a:prstGeom prst="rect">
            <a:avLst/>
          </a:prstGeom>
        </p:spPr>
      </p:pic>
      <p:sp>
        <p:nvSpPr>
          <p:cNvPr id="27" name="TextBox 26"/>
          <p:cNvSpPr txBox="1"/>
          <p:nvPr/>
        </p:nvSpPr>
        <p:spPr>
          <a:xfrm>
            <a:off x="594360" y="5623560"/>
            <a:ext cx="11000232" cy="685800"/>
          </a:xfrm>
          <a:prstGeom prst="rect">
            <a:avLst/>
          </a:prstGeom>
          <a:noFill/>
        </p:spPr>
        <p:txBody>
          <a:bodyPr wrap="square" lIns="45720" rIns="45720" tIns="27432" bIns="27432"/>
          <a:lstStyle/>
          <a:p>
            <a:pPr marL="0" indent="0">
              <a:spcAft>
                <a:spcPts val="600"/>
              </a:spcAft>
              <a:buNone/>
            </a:pPr>
            <a:r>
              <a:rPr sz="1800" b="0" i="0">
                <a:solidFill>
                  <a:srgbClr val="000000"/>
                </a:solidFill>
                <a:latin typeface="Times New Roman"/>
                <a:ea typeface="Times New Roman"/>
                <a:cs typeface="Times New Roman"/>
              </a:rPr>
              <a:t>Of the 2,095 training rows, software and technical projects has 240; the other domains have about 110 to 140 each.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OUTPUT SCREENSHOTS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Demo: two Pi sessions in different project folders, sharing one memory</a:t>
            </a:r>
          </a:p>
        </p:txBody>
      </p:sp>
      <p:pic>
        <p:nvPicPr>
          <p:cNvPr id="27" name="Picture 26" descr="the user gives a certificate expiry date, a weekly review time and the dashboard owner, and Pi saves them to memory."/>
          <p:cNvPicPr>
            <a:picLocks noChangeAspect="1"/>
          </p:cNvPicPr>
          <p:nvPr/>
        </p:nvPicPr>
        <p:blipFill>
          <a:blip r:embed="rId3"/>
          <a:stretch>
            <a:fillRect/>
          </a:stretch>
        </p:blipFill>
        <p:spPr>
          <a:xfrm>
            <a:off x="1158707" y="1691639"/>
            <a:ext cx="4188541" cy="3246120"/>
          </a:xfrm>
          <a:prstGeom prst="rect">
            <a:avLst/>
          </a:prstGeom>
          <a:ln w="9525">
            <a:solidFill>
              <a:srgbClr val="606060"/>
            </a:solidFill>
          </a:ln>
        </p:spPr>
      </p:pic>
      <p:sp>
        <p:nvSpPr>
          <p:cNvPr id="28" name="TextBox 27"/>
          <p:cNvSpPr txBox="1"/>
          <p:nvPr/>
        </p:nvSpPr>
        <p:spPr>
          <a:xfrm>
            <a:off x="594360" y="5029200"/>
            <a:ext cx="5317236" cy="123444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1. Recording: </a:t>
            </a:r>
            <a:r>
              <a:rPr sz="1800" b="0" i="0">
                <a:solidFill>
                  <a:srgbClr val="000000"/>
                </a:solidFill>
                <a:latin typeface="Times New Roman"/>
                <a:ea typeface="Times New Roman"/>
                <a:cs typeface="Times New Roman"/>
              </a:rPr>
              <a:t>the user gives a certificate expiry date, a weekly review time and the dashboard owner, and Pi saves them to memory.</a:t>
            </a:r>
          </a:p>
        </p:txBody>
      </p:sp>
      <p:pic>
        <p:nvPicPr>
          <p:cNvPr id="29" name="Picture 28" descr="a fresh session in another folder asks for the same three details without repeating them."/>
          <p:cNvPicPr>
            <a:picLocks noChangeAspect="1"/>
          </p:cNvPicPr>
          <p:nvPr/>
        </p:nvPicPr>
        <p:blipFill>
          <a:blip r:embed="rId4"/>
          <a:stretch>
            <a:fillRect/>
          </a:stretch>
        </p:blipFill>
        <p:spPr>
          <a:xfrm>
            <a:off x="6277356" y="1691639"/>
            <a:ext cx="5317236" cy="1967377"/>
          </a:xfrm>
          <a:prstGeom prst="rect">
            <a:avLst/>
          </a:prstGeom>
          <a:ln w="9525">
            <a:solidFill>
              <a:srgbClr val="606060"/>
            </a:solidFill>
          </a:ln>
        </p:spPr>
      </p:pic>
      <p:sp>
        <p:nvSpPr>
          <p:cNvPr id="30" name="TextBox 29"/>
          <p:cNvSpPr txBox="1"/>
          <p:nvPr/>
        </p:nvSpPr>
        <p:spPr>
          <a:xfrm>
            <a:off x="6277356" y="5029200"/>
            <a:ext cx="5317236" cy="123444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2. New session: </a:t>
            </a:r>
            <a:r>
              <a:rPr sz="1800" b="0" i="0">
                <a:solidFill>
                  <a:srgbClr val="000000"/>
                </a:solidFill>
                <a:latin typeface="Times New Roman"/>
                <a:ea typeface="Times New Roman"/>
                <a:cs typeface="Times New Roman"/>
              </a:rPr>
              <a:t>a fresh session in another folder asks for the same three details without repeating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OUTPUT SCREENSHOTS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The new session answers from memory, and the graph keeps the correction</a:t>
            </a:r>
          </a:p>
        </p:txBody>
      </p:sp>
      <p:pic>
        <p:nvPicPr>
          <p:cNvPr id="27" name="Picture 26" descr="the memory from session 1 is added to the prompt, and Pi answers March 3, Tuesday at 11:00 and Kavya."/>
          <p:cNvPicPr>
            <a:picLocks noChangeAspect="1"/>
          </p:cNvPicPr>
          <p:nvPr/>
        </p:nvPicPr>
        <p:blipFill>
          <a:blip r:embed="rId3"/>
          <a:stretch>
            <a:fillRect/>
          </a:stretch>
        </p:blipFill>
        <p:spPr>
          <a:xfrm>
            <a:off x="1158707" y="1691639"/>
            <a:ext cx="4188541" cy="3246120"/>
          </a:xfrm>
          <a:prstGeom prst="rect">
            <a:avLst/>
          </a:prstGeom>
          <a:ln w="9525">
            <a:solidFill>
              <a:srgbClr val="606060"/>
            </a:solidFill>
          </a:ln>
        </p:spPr>
      </p:pic>
      <p:sp>
        <p:nvSpPr>
          <p:cNvPr id="28" name="TextBox 27"/>
          <p:cNvSpPr txBox="1"/>
          <p:nvPr/>
        </p:nvSpPr>
        <p:spPr>
          <a:xfrm>
            <a:off x="594360" y="5029200"/>
            <a:ext cx="5317236" cy="123444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3. Recall: </a:t>
            </a:r>
            <a:r>
              <a:rPr sz="1800" b="0" i="0">
                <a:solidFill>
                  <a:srgbClr val="000000"/>
                </a:solidFill>
                <a:latin typeface="Times New Roman"/>
                <a:ea typeface="Times New Roman"/>
                <a:cs typeface="Times New Roman"/>
              </a:rPr>
              <a:t>the memory from session 1 is added to the prompt, and Pi answers March 3, Tuesday at 11:00 and Kavya.</a:t>
            </a:r>
          </a:p>
        </p:txBody>
      </p:sp>
      <p:pic>
        <p:nvPicPr>
          <p:cNvPr id="29" name="Picture 28" descr="the user later moved the release freeze from Thursday 17:00 to Friday 16:30. The graph shows Friday as current, linked to the old value."/>
          <p:cNvPicPr>
            <a:picLocks noChangeAspect="1"/>
          </p:cNvPicPr>
          <p:nvPr/>
        </p:nvPicPr>
        <p:blipFill>
          <a:blip r:embed="rId4"/>
          <a:stretch>
            <a:fillRect/>
          </a:stretch>
        </p:blipFill>
        <p:spPr>
          <a:xfrm>
            <a:off x="7239395" y="1691639"/>
            <a:ext cx="3393156" cy="3246120"/>
          </a:xfrm>
          <a:prstGeom prst="rect">
            <a:avLst/>
          </a:prstGeom>
          <a:ln w="9525">
            <a:solidFill>
              <a:srgbClr val="606060"/>
            </a:solidFill>
          </a:ln>
        </p:spPr>
      </p:pic>
      <p:sp>
        <p:nvSpPr>
          <p:cNvPr id="30" name="TextBox 29"/>
          <p:cNvSpPr txBox="1"/>
          <p:nvPr/>
        </p:nvSpPr>
        <p:spPr>
          <a:xfrm>
            <a:off x="6277356" y="5029200"/>
            <a:ext cx="5317236" cy="123444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4. Correction: </a:t>
            </a:r>
            <a:r>
              <a:rPr sz="1800" b="0" i="0">
                <a:solidFill>
                  <a:srgbClr val="000000"/>
                </a:solidFill>
                <a:latin typeface="Times New Roman"/>
                <a:ea typeface="Times New Roman"/>
                <a:cs typeface="Times New Roman"/>
              </a:rPr>
              <a:t>the user later moved the release freeze from Thursday 17:00 to Friday 16:30. The graph shows Friday as current, linked to the old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(1/3)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0" indent="0">
              <a:spcAft>
                <a:spcPts val="200"/>
              </a:spcAft>
              <a:buNone/>
            </a:pPr>
            <a:r>
              <a:rPr sz="1800" b="1" i="0">
                <a:solidFill>
                  <a:srgbClr val="000000"/>
                </a:solidFill>
                <a:latin typeface="Times New Roman"/>
                <a:ea typeface="Times New Roman"/>
                <a:cs typeface="Times New Roman"/>
              </a:rPr>
              <a:t>A corrected instruction carried into a new session.</a:t>
            </a:r>
          </a:p>
          <a:p>
            <a:pPr marL="0" indent="0">
              <a:spcAft>
                <a:spcPts val="1200"/>
              </a:spcAft>
              <a:buNone/>
            </a:pPr>
            <a:r>
              <a:rPr sz="1800" b="0" i="0">
                <a:solidFill>
                  <a:srgbClr val="000000"/>
                </a:solidFill>
                <a:latin typeface="Times New Roman"/>
                <a:ea typeface="Times New Roman"/>
                <a:cs typeface="Times New Roman"/>
              </a:rPr>
              <a:t>In a three-session coding demo the required output changed from milliseconds to microseconds. In the next session the agent used microseconds without being told again.</a:t>
            </a:r>
          </a:p>
          <a:p>
            <a:pPr marL="0" indent="0">
              <a:spcAft>
                <a:spcPts val="200"/>
              </a:spcAft>
              <a:buNone/>
            </a:pPr>
            <a:r>
              <a:rPr sz="1800" b="1" i="0">
                <a:solidFill>
                  <a:srgbClr val="000000"/>
                </a:solidFill>
                <a:latin typeface="Times New Roman"/>
                <a:ea typeface="Times New Roman"/>
                <a:cs typeface="Times New Roman"/>
              </a:rPr>
              <a:t>Changing one assertion left the others alone.</a:t>
            </a:r>
          </a:p>
          <a:p>
            <a:pPr marL="0" indent="0">
              <a:spcAft>
                <a:spcPts val="1200"/>
              </a:spcAft>
              <a:buNone/>
            </a:pPr>
            <a:r>
              <a:rPr sz="1800" b="0" i="0">
                <a:solidFill>
                  <a:srgbClr val="000000"/>
                </a:solidFill>
                <a:latin typeface="Times New Roman"/>
                <a:ea typeface="Times New Roman"/>
                <a:cs typeface="Times New Roman"/>
              </a:rPr>
              <a:t>A test conversation gave a person's city and food preference, then changed only the city. The system used the new city, kept the old one as history and still knew the food preference.</a:t>
            </a:r>
          </a:p>
          <a:p>
            <a:pPr marL="0" indent="0">
              <a:spcAft>
                <a:spcPts val="200"/>
              </a:spcAft>
              <a:buNone/>
            </a:pPr>
            <a:r>
              <a:rPr sz="1800" b="1" i="0">
                <a:solidFill>
                  <a:srgbClr val="000000"/>
                </a:solidFill>
                <a:latin typeface="Times New Roman"/>
                <a:ea typeface="Times New Roman"/>
                <a:cs typeface="Times New Roman"/>
              </a:rPr>
              <a:t>Every stored assertion can be traced to its message.</a:t>
            </a:r>
          </a:p>
          <a:p>
            <a:pPr marL="0" indent="0">
              <a:spcAft>
                <a:spcPts val="1200"/>
              </a:spcAft>
              <a:buNone/>
            </a:pPr>
            <a:r>
              <a:rPr sz="1800" b="0" i="0">
                <a:solidFill>
                  <a:srgbClr val="000000"/>
                </a:solidFill>
                <a:latin typeface="Times New Roman"/>
                <a:ea typeface="Times New Roman"/>
                <a:cs typeface="Times New Roman"/>
              </a:rPr>
              <a:t>A database audit found that all 142 stored quotes match their original messages exactly.</a:t>
            </a:r>
          </a:p>
          <a:p>
            <a:pPr marL="0" indent="0">
              <a:spcAft>
                <a:spcPts val="200"/>
              </a:spcAft>
              <a:buNone/>
            </a:pPr>
            <a:r>
              <a:rPr sz="1800" b="1" i="0">
                <a:solidFill>
                  <a:srgbClr val="000000"/>
                </a:solidFill>
                <a:latin typeface="Times New Roman"/>
                <a:ea typeface="Times New Roman"/>
                <a:cs typeface="Times New Roman"/>
              </a:rPr>
              <a:t>Related assertions were combined.</a:t>
            </a:r>
          </a:p>
          <a:p>
            <a:pPr marL="0" indent="0">
              <a:spcAft>
                <a:spcPts val="0"/>
              </a:spcAft>
              <a:buNone/>
            </a:pPr>
            <a:r>
              <a:rPr sz="1800" b="0" i="0">
                <a:solidFill>
                  <a:srgbClr val="000000"/>
                </a:solidFill>
                <a:latin typeface="Times New Roman"/>
                <a:ea typeface="Times New Roman"/>
                <a:cs typeface="Times New Roman"/>
              </a:rPr>
              <a:t>The same audit found 8 inferences, each built from at least two assertions.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(2/3)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Base Qwen3-4B (before) and our fine-tuned model (after), on 64 held-out tasks and 16 LoCoMo samples</a:t>
            </a:r>
          </a:p>
        </p:txBody>
      </p:sp>
      <p:graphicFrame>
        <p:nvGraphicFramePr>
          <p:cNvPr id="27" name="Table 26"/>
          <p:cNvGraphicFramePr>
            <a:graphicFrameLocks noGrp="1"/>
          </p:cNvGraphicFramePr>
          <p:nvPr/>
        </p:nvGraphicFramePr>
        <p:xfrm>
          <a:off x="594360" y="1645919"/>
          <a:ext cx="11000231" cy="3072384"/>
        </p:xfrm>
        <a:graphic>
          <a:graphicData uri="http://schemas.openxmlformats.org/drawingml/2006/table">
            <a:tbl>
              <a:tblPr firstRow="1" bandRow="0"/>
              <a:tblGrid>
                <a:gridCol w="6416801"/>
                <a:gridCol w="2291715"/>
                <a:gridCol w="2291715"/>
              </a:tblGrid>
              <a:tr h="384048">
                <a:tc>
                  <a:txBody>
                    <a:bodyPr wrap="square"/>
                    <a:lstStyle/>
                    <a:p>
                      <a:pPr marL="0" indent="0">
                        <a:spcAft>
                          <a:spcPts val="0"/>
                        </a:spcAft>
                        <a:buNone/>
                      </a:pPr>
                      <a:r>
                        <a:rPr sz="1800" b="1" i="0">
                          <a:solidFill>
                            <a:srgbClr val="000000"/>
                          </a:solidFill>
                          <a:latin typeface="Times New Roman"/>
                          <a:ea typeface="Times New Roman"/>
                          <a:cs typeface="Times New Roman"/>
                        </a:rPr>
                        <a:t>Measurement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Before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After</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Correctly combined assertions (inferences)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13/16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 answers from supplied memories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10/16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15/16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Expected assertions recovered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50/55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41/55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Extracted assertions supported by the 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92.1%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90.5%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Corrections handled correctly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8/8</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8/8</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Outputs passing format checks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64/64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63/64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Expected assertions recovered (16 external samples)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16/40</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13/40</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TextBox 27"/>
          <p:cNvSpPr txBox="1"/>
          <p:nvPr/>
        </p:nvSpPr>
        <p:spPr>
          <a:xfrm>
            <a:off x="594360" y="5257800"/>
            <a:ext cx="11000232" cy="914400"/>
          </a:xfrm>
          <a:prstGeom prst="rect">
            <a:avLst/>
          </a:prstGeom>
          <a:noFill/>
        </p:spPr>
        <p:txBody>
          <a:bodyPr wrap="square" lIns="45720" rIns="45720" tIns="27432" bIns="27432"/>
          <a:lstStyle/>
          <a:p>
            <a:pPr marL="0" indent="0">
              <a:spcAft>
                <a:spcPts val="600"/>
              </a:spcAft>
              <a:buNone/>
            </a:pPr>
            <a:r>
              <a:rPr sz="1800" b="0" i="0">
                <a:solidFill>
                  <a:srgbClr val="000000"/>
                </a:solidFill>
                <a:latin typeface="Times New Roman"/>
                <a:ea typeface="Times New Roman"/>
                <a:cs typeface="Times New Roman"/>
              </a:rPr>
              <a:t>Combining went from 1/16 to 13/16 and answering from 10/16 to 15/16, but extraction now misses more assertions.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(3/3)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0" indent="0">
              <a:spcAft>
                <a:spcPts val="200"/>
              </a:spcAft>
              <a:buNone/>
            </a:pPr>
            <a:r>
              <a:rPr sz="1800" b="1" i="0">
                <a:solidFill>
                  <a:srgbClr val="000000"/>
                </a:solidFill>
                <a:latin typeface="Times New Roman"/>
                <a:ea typeface="Times New Roman"/>
                <a:cs typeface="Times New Roman"/>
              </a:rPr>
              <a:t>The full benchmark has not been run yet.</a:t>
            </a:r>
          </a:p>
          <a:p>
            <a:pPr marL="0" indent="0">
              <a:spcAft>
                <a:spcPts val="1200"/>
              </a:spcAft>
              <a:buNone/>
            </a:pPr>
            <a:r>
              <a:rPr sz="1800" b="0" i="0">
                <a:solidFill>
                  <a:srgbClr val="000000"/>
                </a:solidFill>
                <a:latin typeface="Times New Roman"/>
                <a:ea typeface="Times New Roman"/>
                <a:cs typeface="Times New Roman"/>
              </a:rPr>
              <a:t>Until LongMemEval-S is done, we cannot claim the memory improves answers over long histories.</a:t>
            </a:r>
          </a:p>
          <a:p>
            <a:pPr marL="0" indent="0">
              <a:spcAft>
                <a:spcPts val="200"/>
              </a:spcAft>
              <a:buNone/>
            </a:pPr>
            <a:r>
              <a:rPr sz="1800" b="1" i="0">
                <a:solidFill>
                  <a:srgbClr val="000000"/>
                </a:solidFill>
                <a:latin typeface="Times New Roman"/>
                <a:ea typeface="Times New Roman"/>
                <a:cs typeface="Times New Roman"/>
              </a:rPr>
              <a:t>Dates are still a weak point.</a:t>
            </a:r>
          </a:p>
          <a:p>
            <a:pPr marL="0" indent="0">
              <a:spcAft>
                <a:spcPts val="1200"/>
              </a:spcAft>
              <a:buNone/>
            </a:pPr>
            <a:r>
              <a:rPr sz="1800" b="0" i="0">
                <a:solidFill>
                  <a:srgbClr val="000000"/>
                </a:solidFill>
                <a:latin typeface="Times New Roman"/>
                <a:ea typeface="Times New Roman"/>
                <a:cs typeface="Times New Roman"/>
              </a:rPr>
              <a:t>Some relative dates were read wrongly: "tomorrow" in a message sent on June 1 was stored as June 3.</a:t>
            </a:r>
          </a:p>
          <a:p>
            <a:pPr marL="0" indent="0">
              <a:spcAft>
                <a:spcPts val="200"/>
              </a:spcAft>
              <a:buNone/>
            </a:pPr>
            <a:r>
              <a:rPr sz="1800" b="1" i="0">
                <a:solidFill>
                  <a:srgbClr val="000000"/>
                </a:solidFill>
                <a:latin typeface="Times New Roman"/>
                <a:ea typeface="Times New Roman"/>
                <a:cs typeface="Times New Roman"/>
              </a:rPr>
              <a:t>The first model was too small.</a:t>
            </a:r>
          </a:p>
          <a:p>
            <a:pPr marL="0" indent="0">
              <a:spcAft>
                <a:spcPts val="0"/>
              </a:spcAft>
              <a:buNone/>
            </a:pPr>
            <a:r>
              <a:rPr sz="1800" b="0" i="0">
                <a:solidFill>
                  <a:srgbClr val="000000"/>
                </a:solidFill>
                <a:latin typeface="Times New Roman"/>
                <a:ea typeface="Times New Roman"/>
                <a:cs typeface="Times New Roman"/>
              </a:rPr>
              <a:t>Our first choice, Qwen3-1.7B, did well on synthetic examples, but only 18 of 33 real-style conversation segments passed validation. Most failures were wrong sources, quotes that did not match and invalid IDs. So we widened the data, tightened the output format and moved to Qwen3-4B.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STATUS AND PENDING WORK</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645920"/>
        </p:xfrm>
        <a:graphic>
          <a:graphicData uri="http://schemas.openxmlformats.org/drawingml/2006/table">
            <a:tbl>
              <a:tblPr firstRow="1" bandRow="0"/>
              <a:tblGrid>
                <a:gridCol w="2163980"/>
                <a:gridCol w="4418125"/>
                <a:gridCol w="2704975"/>
                <a:gridCol w="1713150"/>
              </a:tblGrid>
              <a:tr h="274320">
                <a:tc>
                  <a:txBody>
                    <a:bodyPr wrap="square"/>
                    <a:lstStyle/>
                    <a:p>
                      <a:pPr marL="0" indent="0">
                        <a:spcAft>
                          <a:spcPts val="0"/>
                        </a:spcAft>
                        <a:buNone/>
                      </a:pPr>
                      <a:r>
                        <a:rPr sz="1800" b="1" i="0">
                          <a:solidFill>
                            <a:srgbClr val="000000"/>
                          </a:solidFill>
                          <a:latin typeface="Times New Roman"/>
                          <a:ea typeface="Times New Roman"/>
                          <a:cs typeface="Times New Roman"/>
                        </a:rPr>
                        <a:t>Module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What works now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Status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M1 Source Acquisition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Saves Pi messages and tool results; handles duplicates, offline queueing and retries. Covered by Pi integration tests.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Access control for the API; tested backup and restore.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M2 Knowledge Extraction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Extracts assertions with quotes, reviews corrections, builds vectors and inferences. Covered by tests.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Fewer missed assertions, better dates and sources; measure the review step.</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quality work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M3 Temporal Graph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Matches subjects, applies corrections, keeps history, marks stale inferences, updates Neo4j. Tests for each.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Unclear updates, aliases and long chains of corrections.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wider testing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M4 Hybrid Retrieval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Keyword, vector, time and graph search; rank fusion, packing, recall in Pi and cited answers.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Full LongMemEval-S run, with and without graph search and inferences.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benchmark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M5 Model Training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Qwen3-4B fine-tuned with QLoRA and served by Ollama. Tested on 64 internal and 16 external cases.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Fix the extraction drop and date errors; more external tests and human review.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Trained; evaluation ongoing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CONCLUSION AND NEXT STEPS</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371600"/>
            <a:ext cx="11000232" cy="4846320"/>
          </a:xfrm>
          <a:prstGeom prst="rect">
            <a:avLst/>
          </a:prstGeom>
          <a:noFill/>
        </p:spPr>
        <p:txBody>
          <a:bodyPr wrap="square" lIns="45720" rIns="45720" tIns="27432" bIns="27432"/>
          <a:lstStyle/>
          <a:p>
            <a:pPr marL="256032" indent="-256032">
              <a:spcAft>
                <a:spcPts val="1600"/>
              </a:spcAft>
              <a:buFont typeface="Arial"/>
              <a:buChar char="•"/>
            </a:pPr>
            <a:r>
              <a:rPr sz="1800" b="0" i="0">
                <a:solidFill>
                  <a:srgbClr val="000000"/>
                </a:solidFill>
                <a:latin typeface="Times New Roman"/>
                <a:ea typeface="Times New Roman"/>
                <a:cs typeface="Times New Roman"/>
              </a:rPr>
              <a:t>All five modules are built. An agent can save what it is told, recall it in a new session and show the message each memory came from.</a:t>
            </a:r>
          </a:p>
          <a:p>
            <a:pPr marL="256032" indent="-256032">
              <a:spcAft>
                <a:spcPts val="1600"/>
              </a:spcAft>
              <a:buFont typeface="Arial"/>
              <a:buChar char="•"/>
            </a:pPr>
            <a:r>
              <a:rPr sz="1800" b="0" i="0">
                <a:solidFill>
                  <a:srgbClr val="000000"/>
                </a:solidFill>
                <a:latin typeface="Times New Roman"/>
                <a:ea typeface="Times New Roman"/>
                <a:cs typeface="Times New Roman"/>
              </a:rPr>
              <a:t>Corrections replace old values without erasing them, and unrelated memories stay as they were.</a:t>
            </a:r>
          </a:p>
          <a:p>
            <a:pPr marL="256032" indent="-256032">
              <a:spcAft>
                <a:spcPts val="1600"/>
              </a:spcAft>
              <a:buFont typeface="Arial"/>
              <a:buChar char="•"/>
            </a:pPr>
            <a:r>
              <a:rPr sz="1800" b="0" i="0">
                <a:solidFill>
                  <a:srgbClr val="000000"/>
                </a:solidFill>
                <a:latin typeface="Times New Roman"/>
                <a:ea typeface="Times New Roman"/>
                <a:cs typeface="Times New Roman"/>
              </a:rPr>
              <a:t>Fine-tuning raised correct inferences from 1/16 to 13/16 and correct answers from 10/16 to 15/16, but extraction dropped from 50/55 to 41/55.</a:t>
            </a:r>
          </a:p>
          <a:p>
            <a:pPr marL="256032" indent="-256032">
              <a:spcAft>
                <a:spcPts val="1600"/>
              </a:spcAft>
              <a:buFont typeface="Arial"/>
              <a:buChar char="•"/>
            </a:pPr>
            <a:r>
              <a:rPr sz="1800" b="0" i="0">
                <a:solidFill>
                  <a:srgbClr val="000000"/>
                </a:solidFill>
                <a:latin typeface="Times New Roman"/>
                <a:ea typeface="Times New Roman"/>
                <a:cs typeface="Times New Roman"/>
              </a:rPr>
              <a:t>Next: fix extraction and date handling, run the full LongMemEval-S benchmark, and add external tests with human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REFERENCES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548640" indent="-548640">
              <a:spcAft>
                <a:spcPts val="300"/>
              </a:spcAft>
              <a:buNone/>
              <a:tabLst>
                <a:tab pos="548640" algn="l"/>
              </a:tabLst>
            </a:pPr>
            <a:r>
              <a:rPr sz="1800" b="0" i="0">
                <a:solidFill>
                  <a:srgbClr val="000000"/>
                </a:solidFill>
                <a:latin typeface="Times New Roman"/>
                <a:ea typeface="Times New Roman"/>
                <a:cs typeface="Times New Roman"/>
              </a:rPr>
              <a:t>[1]	</a:t>
            </a:r>
            <a:r>
              <a:rPr sz="1800" b="0" i="0">
                <a:solidFill>
                  <a:srgbClr val="000000"/>
                </a:solidFill>
                <a:latin typeface="Times New Roman"/>
                <a:ea typeface="Times New Roman"/>
                <a:cs typeface="Times New Roman"/>
              </a:rPr>
              <a:t>N. F. Liu et al., "Lost in the middle: How language models use long contexts," </a:t>
            </a:r>
            <a:r>
              <a:rPr sz="1800" b="0" i="1">
                <a:solidFill>
                  <a:srgbClr val="000000"/>
                </a:solidFill>
                <a:latin typeface="Times New Roman"/>
                <a:ea typeface="Times New Roman"/>
                <a:cs typeface="Times New Roman"/>
              </a:rPr>
              <a:t>Trans. Assoc. Comput. Linguist.</a:t>
            </a:r>
            <a:r>
              <a:rPr sz="1800" b="0" i="0">
                <a:solidFill>
                  <a:srgbClr val="000000"/>
                </a:solidFill>
                <a:latin typeface="Times New Roman"/>
                <a:ea typeface="Times New Roman"/>
                <a:cs typeface="Times New Roman"/>
              </a:rPr>
              <a:t>, vol. 12, pp. 157–173, 2024.</a:t>
            </a:r>
          </a:p>
          <a:p>
            <a:pPr marL="548640" indent="-548640">
              <a:spcAft>
                <a:spcPts val="300"/>
              </a:spcAft>
              <a:buNone/>
              <a:tabLst>
                <a:tab pos="548640" algn="l"/>
              </a:tabLst>
            </a:pPr>
            <a:r>
              <a:rPr sz="1800" b="0" i="0">
                <a:solidFill>
                  <a:srgbClr val="000000"/>
                </a:solidFill>
                <a:latin typeface="Times New Roman"/>
                <a:ea typeface="Times New Roman"/>
                <a:cs typeface="Times New Roman"/>
              </a:rPr>
              <a:t>[2]	</a:t>
            </a:r>
            <a:r>
              <a:rPr sz="1800" b="0" i="0">
                <a:solidFill>
                  <a:srgbClr val="000000"/>
                </a:solidFill>
                <a:latin typeface="Times New Roman"/>
                <a:ea typeface="Times New Roman"/>
                <a:cs typeface="Times New Roman"/>
              </a:rPr>
              <a:t>D. Wu, H. Wang, W. Yu, Y. Zhang, K.-W. Chang, and D. Yu, "LongMemEval: Benchmarking chat assistants on long-term interactive memory," in </a:t>
            </a:r>
            <a:r>
              <a:rPr sz="1800" b="0" i="1">
                <a:solidFill>
                  <a:srgbClr val="000000"/>
                </a:solidFill>
                <a:latin typeface="Times New Roman"/>
                <a:ea typeface="Times New Roman"/>
                <a:cs typeface="Times New Roman"/>
              </a:rPr>
              <a:t>Proc. Int. Conf. Learn. Represent. (ICLR)</a:t>
            </a:r>
            <a:r>
              <a:rPr sz="1800" b="0" i="0">
                <a:solidFill>
                  <a:srgbClr val="000000"/>
                </a:solidFill>
                <a:latin typeface="Times New Roman"/>
                <a:ea typeface="Times New Roman"/>
                <a:cs typeface="Times New Roman"/>
              </a:rPr>
              <a:t>, 2025, pp. 86809–86836.</a:t>
            </a:r>
          </a:p>
          <a:p>
            <a:pPr marL="548640" indent="-548640">
              <a:spcAft>
                <a:spcPts val="300"/>
              </a:spcAft>
              <a:buNone/>
              <a:tabLst>
                <a:tab pos="548640" algn="l"/>
              </a:tabLst>
            </a:pPr>
            <a:r>
              <a:rPr sz="1800" b="0" i="0">
                <a:solidFill>
                  <a:srgbClr val="000000"/>
                </a:solidFill>
                <a:latin typeface="Times New Roman"/>
                <a:ea typeface="Times New Roman"/>
                <a:cs typeface="Times New Roman"/>
              </a:rPr>
              <a:t>[3]	</a:t>
            </a:r>
            <a:r>
              <a:rPr sz="1800" b="0" i="0">
                <a:solidFill>
                  <a:srgbClr val="000000"/>
                </a:solidFill>
                <a:latin typeface="Times New Roman"/>
                <a:ea typeface="Times New Roman"/>
                <a:cs typeface="Times New Roman"/>
              </a:rPr>
              <a:t>C. Packer et al., "MemGPT: Towards LLMs as operating systems," 2023, </a:t>
            </a:r>
            <a:r>
              <a:rPr sz="1800" b="0" i="1">
                <a:solidFill>
                  <a:srgbClr val="000000"/>
                </a:solidFill>
                <a:latin typeface="Times New Roman"/>
                <a:ea typeface="Times New Roman"/>
                <a:cs typeface="Times New Roman"/>
              </a:rPr>
              <a:t>arXiv:2310.08560</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[4]	</a:t>
            </a:r>
            <a:r>
              <a:rPr sz="1800" b="0" i="0">
                <a:solidFill>
                  <a:srgbClr val="000000"/>
                </a:solidFill>
                <a:latin typeface="Times New Roman"/>
                <a:ea typeface="Times New Roman"/>
                <a:cs typeface="Times New Roman"/>
              </a:rPr>
              <a:t>P. Rasmussen, P. Paliychuk, T. Beauvais, J. Ryan, and D. Chalef, "Zep: A temporal knowledge graph architecture for agent memory," 2025, </a:t>
            </a:r>
            <a:r>
              <a:rPr sz="1800" b="0" i="1">
                <a:solidFill>
                  <a:srgbClr val="000000"/>
                </a:solidFill>
                <a:latin typeface="Times New Roman"/>
                <a:ea typeface="Times New Roman"/>
                <a:cs typeface="Times New Roman"/>
              </a:rPr>
              <a:t>arXiv:2501.13956</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[5]	</a:t>
            </a:r>
            <a:r>
              <a:rPr sz="1800" b="0" i="0">
                <a:solidFill>
                  <a:srgbClr val="000000"/>
                </a:solidFill>
                <a:latin typeface="Times New Roman"/>
                <a:ea typeface="Times New Roman"/>
                <a:cs typeface="Times New Roman"/>
              </a:rPr>
              <a:t>P. Chhikara, D. Khant, S. Aryan, T. Singh, and D. Yadav, "Mem0: Building production-ready AI agents with scalable long-term memory," in </a:t>
            </a:r>
            <a:r>
              <a:rPr sz="1800" b="0" i="1">
                <a:solidFill>
                  <a:srgbClr val="000000"/>
                </a:solidFill>
                <a:latin typeface="Times New Roman"/>
                <a:ea typeface="Times New Roman"/>
                <a:cs typeface="Times New Roman"/>
              </a:rPr>
              <a:t>Proc. 28th Eur. Conf. Artif. Intell. (ECAI)</a:t>
            </a:r>
            <a:r>
              <a:rPr sz="1800" b="0" i="0">
                <a:solidFill>
                  <a:srgbClr val="000000"/>
                </a:solidFill>
                <a:latin typeface="Times New Roman"/>
                <a:ea typeface="Times New Roman"/>
                <a:cs typeface="Times New Roman"/>
              </a:rPr>
              <a:t>, 2025, pp. 2993–3000, doi: 10.3233/FAIA251160.</a:t>
            </a:r>
          </a:p>
          <a:p>
            <a:pPr marL="548640" indent="-548640">
              <a:spcAft>
                <a:spcPts val="300"/>
              </a:spcAft>
              <a:buNone/>
              <a:tabLst>
                <a:tab pos="548640" algn="l"/>
              </a:tabLst>
            </a:pPr>
            <a:r>
              <a:rPr sz="1800" b="0" i="0">
                <a:solidFill>
                  <a:srgbClr val="000000"/>
                </a:solidFill>
                <a:latin typeface="Times New Roman"/>
                <a:ea typeface="Times New Roman"/>
                <a:cs typeface="Times New Roman"/>
              </a:rPr>
              <a:t>[6]	</a:t>
            </a:r>
            <a:r>
              <a:rPr sz="1800" b="0" i="0">
                <a:solidFill>
                  <a:srgbClr val="000000"/>
                </a:solidFill>
                <a:latin typeface="Times New Roman"/>
                <a:ea typeface="Times New Roman"/>
                <a:cs typeface="Times New Roman"/>
              </a:rPr>
              <a:t>S. Daga, S. Sreedhar, and D. Shah, "LongMemEval," Supermemory Research, May 2026. Accessed: Oct. 6, 2026. [Online]. Available: https://supermemory.ai/research/longmembench/</a:t>
            </a:r>
          </a:p>
          <a:p>
            <a:pPr marL="548640" indent="-548640">
              <a:spcAft>
                <a:spcPts val="300"/>
              </a:spcAft>
              <a:buNone/>
              <a:tabLst>
                <a:tab pos="548640" algn="l"/>
              </a:tabLst>
            </a:pPr>
            <a:r>
              <a:rPr sz="1800" b="0" i="0">
                <a:solidFill>
                  <a:srgbClr val="000000"/>
                </a:solidFill>
                <a:latin typeface="Times New Roman"/>
                <a:ea typeface="Times New Roman"/>
                <a:cs typeface="Times New Roman"/>
              </a:rPr>
              <a:t>[7]	</a:t>
            </a:r>
            <a:r>
              <a:rPr sz="1800" b="0" i="0">
                <a:solidFill>
                  <a:srgbClr val="000000"/>
                </a:solidFill>
                <a:latin typeface="Times New Roman"/>
                <a:ea typeface="Times New Roman"/>
                <a:cs typeface="Times New Roman"/>
              </a:rPr>
              <a:t>C. Latimer et al., "Hindsight is 20/20: Building agent memory that retains, recalls, and reflects," 2025, </a:t>
            </a:r>
            <a:r>
              <a:rPr sz="1800" b="0" i="1">
                <a:solidFill>
                  <a:srgbClr val="000000"/>
                </a:solidFill>
                <a:latin typeface="Times New Roman"/>
                <a:ea typeface="Times New Roman"/>
                <a:cs typeface="Times New Roman"/>
              </a:rPr>
              <a:t>arXiv:2512.12818</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[8]	</a:t>
            </a:r>
            <a:r>
              <a:rPr sz="1800" b="0" i="0">
                <a:solidFill>
                  <a:srgbClr val="000000"/>
                </a:solidFill>
                <a:latin typeface="Times New Roman"/>
                <a:ea typeface="Times New Roman"/>
                <a:cs typeface="Times New Roman"/>
              </a:rPr>
              <a:t>PostgreSQL Global Development Group, "Full text search," in </a:t>
            </a:r>
            <a:r>
              <a:rPr sz="1800" b="0" i="1">
                <a:solidFill>
                  <a:srgbClr val="000000"/>
                </a:solidFill>
                <a:latin typeface="Times New Roman"/>
                <a:ea typeface="Times New Roman"/>
                <a:cs typeface="Times New Roman"/>
              </a:rPr>
              <a:t>PostgreSQL 17 Documentation</a:t>
            </a:r>
            <a:r>
              <a:rPr sz="1800" b="0" i="0">
                <a:solidFill>
                  <a:srgbClr val="000000"/>
                </a:solidFill>
                <a:latin typeface="Times New Roman"/>
                <a:ea typeface="Times New Roman"/>
                <a:cs typeface="Times New Roman"/>
              </a:rPr>
              <a:t>, ch. 12, 2026. Accessed: Oct. 6, 2026. [Online]. Available: https://www.postgresql.org/docs/17/textsearch.html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REFERENCES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548640" indent="-548640">
              <a:spcAft>
                <a:spcPts val="300"/>
              </a:spcAft>
              <a:buNone/>
              <a:tabLst>
                <a:tab pos="548640" algn="l"/>
              </a:tabLst>
            </a:pPr>
            <a:r>
              <a:rPr sz="1800" b="0" i="0">
                <a:solidFill>
                  <a:srgbClr val="000000"/>
                </a:solidFill>
                <a:latin typeface="Times New Roman"/>
                <a:ea typeface="Times New Roman"/>
                <a:cs typeface="Times New Roman"/>
              </a:rPr>
              <a:t>[9]	</a:t>
            </a:r>
            <a:r>
              <a:rPr sz="1800" b="0" i="0">
                <a:solidFill>
                  <a:srgbClr val="000000"/>
                </a:solidFill>
                <a:latin typeface="Times New Roman"/>
                <a:ea typeface="Times New Roman"/>
                <a:cs typeface="Times New Roman"/>
              </a:rPr>
              <a:t>A. Kane et al., "pgvector: Open-source vector similarity search for Postgres," GitHub repository, 2026. Accessed: Oct. 6, 2026. [Online]. Available: https://github.com/pgvector/pgvector</a:t>
            </a:r>
          </a:p>
          <a:p>
            <a:pPr marL="548640" indent="-548640">
              <a:spcAft>
                <a:spcPts val="300"/>
              </a:spcAft>
              <a:buNone/>
              <a:tabLst>
                <a:tab pos="548640" algn="l"/>
              </a:tabLst>
            </a:pPr>
            <a:r>
              <a:rPr sz="1800" b="0" i="0">
                <a:solidFill>
                  <a:srgbClr val="000000"/>
                </a:solidFill>
                <a:latin typeface="Times New Roman"/>
                <a:ea typeface="Times New Roman"/>
                <a:cs typeface="Times New Roman"/>
              </a:rPr>
              <a:t>[10]	</a:t>
            </a:r>
            <a:r>
              <a:rPr sz="1800" b="0" i="0">
                <a:solidFill>
                  <a:srgbClr val="000000"/>
                </a:solidFill>
                <a:latin typeface="Times New Roman"/>
                <a:ea typeface="Times New Roman"/>
                <a:cs typeface="Times New Roman"/>
              </a:rPr>
              <a:t>G. V. Cormack, C. L. A. Clarke, and S. Büttcher, "Reciprocal rank fusion outperforms Condorcet and individual rank learning methods," in </a:t>
            </a:r>
            <a:r>
              <a:rPr sz="1800" b="0" i="1">
                <a:solidFill>
                  <a:srgbClr val="000000"/>
                </a:solidFill>
                <a:latin typeface="Times New Roman"/>
                <a:ea typeface="Times New Roman"/>
                <a:cs typeface="Times New Roman"/>
              </a:rPr>
              <a:t>Proc. 32nd Int. ACM SIGIR Conf. Res. Develop. Inf. Retrieval</a:t>
            </a:r>
            <a:r>
              <a:rPr sz="1800" b="0" i="0">
                <a:solidFill>
                  <a:srgbClr val="000000"/>
                </a:solidFill>
                <a:latin typeface="Times New Roman"/>
                <a:ea typeface="Times New Roman"/>
                <a:cs typeface="Times New Roman"/>
              </a:rPr>
              <a:t>, Boston, MA, USA, 2009, pp. 758–759, doi: 10.1145/1571941.1572114.</a:t>
            </a:r>
          </a:p>
          <a:p>
            <a:pPr marL="548640" indent="-548640">
              <a:spcAft>
                <a:spcPts val="300"/>
              </a:spcAft>
              <a:buNone/>
              <a:tabLst>
                <a:tab pos="548640" algn="l"/>
              </a:tabLst>
            </a:pPr>
            <a:r>
              <a:rPr sz="1800" b="0" i="0">
                <a:solidFill>
                  <a:srgbClr val="000000"/>
                </a:solidFill>
                <a:latin typeface="Times New Roman"/>
                <a:ea typeface="Times New Roman"/>
                <a:cs typeface="Times New Roman"/>
              </a:rPr>
              <a:t>[11]	</a:t>
            </a:r>
            <a:r>
              <a:rPr sz="1800" b="0" i="0">
                <a:solidFill>
                  <a:srgbClr val="000000"/>
                </a:solidFill>
                <a:latin typeface="Times New Roman"/>
                <a:ea typeface="Times New Roman"/>
                <a:cs typeface="Times New Roman"/>
              </a:rPr>
              <a:t>Neo4j, Inc., "Query the database," in </a:t>
            </a:r>
            <a:r>
              <a:rPr sz="1800" b="0" i="1">
                <a:solidFill>
                  <a:srgbClr val="000000"/>
                </a:solidFill>
                <a:latin typeface="Times New Roman"/>
                <a:ea typeface="Times New Roman"/>
                <a:cs typeface="Times New Roman"/>
              </a:rPr>
              <a:t>Neo4j HTTP API Manual</a:t>
            </a:r>
            <a:r>
              <a:rPr sz="1800" b="0" i="0">
                <a:solidFill>
                  <a:srgbClr val="000000"/>
                </a:solidFill>
                <a:latin typeface="Times New Roman"/>
                <a:ea typeface="Times New Roman"/>
                <a:cs typeface="Times New Roman"/>
              </a:rPr>
              <a:t>, v5, 2026. Accessed: Oct. 6, 2026. [Online]. Available: https://neo4j.com/docs/http-api/5/query/</a:t>
            </a:r>
          </a:p>
          <a:p>
            <a:pPr marL="548640" indent="-548640">
              <a:spcAft>
                <a:spcPts val="300"/>
              </a:spcAft>
              <a:buNone/>
              <a:tabLst>
                <a:tab pos="548640" algn="l"/>
              </a:tabLst>
            </a:pPr>
            <a:r>
              <a:rPr sz="1800" b="0" i="0">
                <a:solidFill>
                  <a:srgbClr val="000000"/>
                </a:solidFill>
                <a:latin typeface="Times New Roman"/>
                <a:ea typeface="Times New Roman"/>
                <a:cs typeface="Times New Roman"/>
              </a:rPr>
              <a:t>[12]	</a:t>
            </a:r>
            <a:r>
              <a:rPr sz="1800" b="0" i="0">
                <a:solidFill>
                  <a:srgbClr val="000000"/>
                </a:solidFill>
                <a:latin typeface="Times New Roman"/>
                <a:ea typeface="Times New Roman"/>
                <a:cs typeface="Times New Roman"/>
              </a:rPr>
              <a:t>Y. Zhang et al., "Qwen3 Embedding: Advancing text embedding and reranking through foundation models," 2025, </a:t>
            </a:r>
            <a:r>
              <a:rPr sz="1800" b="0" i="1">
                <a:solidFill>
                  <a:srgbClr val="000000"/>
                </a:solidFill>
                <a:latin typeface="Times New Roman"/>
                <a:ea typeface="Times New Roman"/>
                <a:cs typeface="Times New Roman"/>
              </a:rPr>
              <a:t>arXiv:2506.05176</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[13]	</a:t>
            </a:r>
            <a:r>
              <a:rPr sz="1800" b="0" i="0">
                <a:solidFill>
                  <a:srgbClr val="000000"/>
                </a:solidFill>
                <a:latin typeface="Times New Roman"/>
                <a:ea typeface="Times New Roman"/>
                <a:cs typeface="Times New Roman"/>
              </a:rPr>
              <a:t>M. Zechner et al., "pi: AI agent toolkit," GitHub repository, 2026. Accessed: Oct. 6, 2026. [Online]. Available: https://github.com/earendil-works/pi</a:t>
            </a:r>
          </a:p>
          <a:p>
            <a:pPr marL="548640" indent="-548640">
              <a:spcAft>
                <a:spcPts val="300"/>
              </a:spcAft>
              <a:buNone/>
              <a:tabLst>
                <a:tab pos="548640" algn="l"/>
              </a:tabLst>
            </a:pPr>
            <a:r>
              <a:rPr sz="1800" b="0" i="0">
                <a:solidFill>
                  <a:srgbClr val="000000"/>
                </a:solidFill>
                <a:latin typeface="Times New Roman"/>
                <a:ea typeface="Times New Roman"/>
                <a:cs typeface="Times New Roman"/>
              </a:rPr>
              <a:t>[14]	</a:t>
            </a:r>
            <a:r>
              <a:rPr sz="1800" b="0" i="0">
                <a:solidFill>
                  <a:srgbClr val="000000"/>
                </a:solidFill>
                <a:latin typeface="Times New Roman"/>
                <a:ea typeface="Times New Roman"/>
                <a:cs typeface="Times New Roman"/>
              </a:rPr>
              <a:t>T. Dettmers, A. Pagnoni, A. Holtzman, and L. Zettlemoyer, "QLoRA: Efficient finetuning of quantized LLMs," in </a:t>
            </a:r>
            <a:r>
              <a:rPr sz="1800" b="0" i="1">
                <a:solidFill>
                  <a:srgbClr val="000000"/>
                </a:solidFill>
                <a:latin typeface="Times New Roman"/>
                <a:ea typeface="Times New Roman"/>
                <a:cs typeface="Times New Roman"/>
              </a:rPr>
              <a:t>Proc. Adv. Neural Inf. Process. Syst. (NeurIPS)</a:t>
            </a:r>
            <a:r>
              <a:rPr sz="1800" b="0" i="0">
                <a:solidFill>
                  <a:srgbClr val="000000"/>
                </a:solidFill>
                <a:latin typeface="Times New Roman"/>
                <a:ea typeface="Times New Roman"/>
                <a:cs typeface="Times New Roman"/>
              </a:rPr>
              <a:t>, vol. 36, 2023, pp. 10088–10115.</a:t>
            </a:r>
          </a:p>
          <a:p>
            <a:pPr marL="548640" indent="-548640">
              <a:spcAft>
                <a:spcPts val="300"/>
              </a:spcAft>
              <a:buNone/>
              <a:tabLst>
                <a:tab pos="548640" algn="l"/>
              </a:tabLst>
            </a:pPr>
            <a:r>
              <a:rPr sz="1800" b="0" i="0">
                <a:solidFill>
                  <a:srgbClr val="000000"/>
                </a:solidFill>
                <a:latin typeface="Times New Roman"/>
                <a:ea typeface="Times New Roman"/>
                <a:cs typeface="Times New Roman"/>
              </a:rPr>
              <a:t>[15]	</a:t>
            </a:r>
            <a:r>
              <a:rPr sz="1800" b="0" i="0">
                <a:solidFill>
                  <a:srgbClr val="000000"/>
                </a:solidFill>
                <a:latin typeface="Times New Roman"/>
                <a:ea typeface="Times New Roman"/>
                <a:cs typeface="Times New Roman"/>
              </a:rPr>
              <a:t>A. Maharana, D.-H. Lee, S. Tulyakov, M. Bansal, F. Barbieri, and Y. Fang, "Evaluating very long-term conversational memory of LLM agents," in </a:t>
            </a:r>
            <a:r>
              <a:rPr sz="1800" b="0" i="1">
                <a:solidFill>
                  <a:srgbClr val="000000"/>
                </a:solidFill>
                <a:latin typeface="Times New Roman"/>
                <a:ea typeface="Times New Roman"/>
                <a:cs typeface="Times New Roman"/>
              </a:rPr>
              <a:t>Proc. 62nd Annu. Meeting Assoc. Comput. Linguist.</a:t>
            </a:r>
            <a:r>
              <a:rPr sz="1800" b="0" i="0">
                <a:solidFill>
                  <a:srgbClr val="000000"/>
                </a:solidFill>
                <a:latin typeface="Times New Roman"/>
                <a:ea typeface="Times New Roman"/>
                <a:cs typeface="Times New Roman"/>
              </a:rPr>
              <a:t>, Bangkok, Thailand, 2024, pp. 13851–13870, doi: 10.18653/v1/2024.acl-long.747.</a:t>
            </a:r>
          </a:p>
        </p:txBody>
      </p:sp>
    </p:spTree>
  </p:cSld>
  <p:clrMapOvr>
    <a:masterClrMapping/>
  </p:clrMapOvr>
</p:sld>
</file>

<file path=ppt/theme/theme1.xml><?xml version="1.0" encoding="utf-8"?>
<a:theme xmlns:a="http://schemas.openxmlformats.org/drawingml/2006/main" xmlns:r="http://schemas.openxmlformats.org/officeDocument/2006/relationships"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pitchFamily="0" charset="1"/>
        <a:ea typeface=""/>
        <a:cs typeface=""/>
      </a:majorFont>
      <a:minorFont>
        <a:latin typeface="Times New Roman"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146</TotalTime>
  <Application>LibreOffice/26.2.6.3$Linux_X86_64 LibreOffice_project/620$Build-3</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2026-10-06T07:36:11Z</dcterms:created>
  <dc:creator>Team 13</dc:creator>
  <dc:description/>
  <dc:language>en-US</dc:language>
  <cp:lastModifiedBy/>
  <dcterms:modified xsi:type="dcterms:W3CDTF">2026-10-14T16:59:10Z</dcterms:modified>
  <cp:revision>16</cp:revision>
  <dc:subject>Second Project Review</dc:subject>
  <dc:title>Long-Term Memory Engine for AI Agents in Rust, Second Review</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16</vt:i4>
  </property>
  <property fmtid="{D5CDD505-2E9C-101B-9397-08002B2CF9AE}" pid="3" name="PresentationFormat">
    <vt:lpwstr>On-screen Show (16:9)</vt:lpwstr>
  </property>
  <property fmtid="{D5CDD505-2E9C-101B-9397-08002B2CF9AE}" pid="4" name="Slides">
    <vt:i4>16</vt:i4>
  </property>
</Properties>
</file>