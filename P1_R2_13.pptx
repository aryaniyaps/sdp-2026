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2" r:id="rId23"/>
    <p:sldId id="264" r:id="rId10"/>
    <p:sldId id="265" r:id="rId11"/>
    <p:sldId id="266" r:id="rId12"/>
    <p:sldId id="267" r:id="rId13"/>
    <p:sldId id="268" r:id="rId14"/>
    <p:sldId id="269" r:id="rId15"/>
    <p:sldId id="273" r:id="rId24"/>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9.xml"/><Relationship Id="rId24"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We are Team 13, and this is our second review of the Long-Term Memory Engine for AI agents, written in Rust.</a:t>
            </a:r>
          </a:p>
          <a:p>
            <a:pPr>
              <a:spcBef>
                <a:spcPts val="600"/>
              </a:spcBef>
            </a:pPr>
            <a:r>
              <a:rPr lang="en-US" dirty="0"/>
              <a:t>The engine stores what an agent is told, keeps every fact tied to its source, and brings the right facts back in a later session.</a:t>
            </a:r>
          </a:p>
          <a:p>
            <a:pPr>
              <a:spcBef>
                <a:spcPts val="600"/>
              </a:spcBef>
            </a:pPr>
            <a:r>
              <a:rPr lang="en-US" dirty="0"/>
              <a:t>We will go through the problem, what changed since the first review, the design, the numbers we measured and what is still left to do. Pi in this deck is the Pi coding agent, not a Raspberry Pi.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An LLM call has no memory of earlier calls, so an agent that works over many sessions needs a store of what was said, what changed and where each fact came from. Lost in the Middle found that models often answer worse when the relevant passage sits in the middle of a long input [1].</a:t>
            </a:r>
          </a:p>
          <a:p>
            <a:pPr>
              <a:spcBef>
                <a:spcPts val="600"/>
              </a:spcBef>
            </a:pPr>
            <a:r>
              <a:rPr lang="en-US" dirty="0"/>
              <a:t>LongMemEval lists five things a memory system has to do: extract information, reason across sessions, reason about time, handle updates and say when it does not know [2]. The boxed statement is the problem we build for: raw events as evidence, facts with a validity interval, and a context that fits a token budget where every item shows its quote and its status.</a:t>
            </a:r>
          </a:p>
          <a:p>
            <a:pPr>
              <a:spcBef>
                <a:spcPts val="600"/>
              </a:spcBef>
            </a:pPr>
            <a:r>
              <a:rPr lang="en-US" dirty="0"/>
              <a:t>The Friday and Tuesday example shows the behaviour we require. Our scripted Pi check tests the same thing with a fact that is told and then corrected.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MemGPT is a preprint, and we found no peer reviewed version [3]. Letta grew out of it, and the current Letta documentation calls the original memory blocks legacy, so the row describes the paper and not the product.</a:t>
            </a:r>
          </a:p>
          <a:p>
            <a:pPr>
              <a:spcBef>
                <a:spcPts val="600"/>
              </a:spcBef>
            </a:pPr>
            <a:r>
              <a:rPr lang="en-US" dirty="0"/>
              <a:t>Zep and Mem0 report their own results, and the authors of both work for those companies [4], [5]. Zep reports 71.2% on LongMemEval with gpt-4o against 60.2% for the full history, and Mem0 used only LoCoMo, where the full history scored higher than Mem0 on the judge metric.</a:t>
            </a:r>
          </a:p>
          <a:p>
            <a:pPr>
              <a:spcBef>
                <a:spcPts val="600"/>
              </a:spcBef>
            </a:pPr>
            <a:r>
              <a:rPr lang="en-US" dirty="0"/>
              <a:t>We cite Supermemory and Hindsight for how they work only, and we do not repeat their numbers [6], [7]. The five works use different benchmarks, judges and models, so their scores cannot be ranked against each other.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In the First Review we treated memory as plain chunks of text that we searched by keywords and vectors, with no context around a fact. So we could not tell which fact was newer, what it was linked to, or where it came from.</a:t>
            </a:r>
          </a:p>
          <a:p>
            <a:pPr>
              <a:spcBef>
                <a:spcPts val="600"/>
              </a:spcBef>
            </a:pPr>
            <a:r>
              <a:rPr lang="en-US" dirty="0"/>
              <a:t>The right column lists what went wrong when we actually ran it on 2026-10-06, and each one was reproduced against a live service. Most of them are fixed or reduced now, but repeated facts, memory output fed back as input and a misleading health check are still open.</a:t>
            </a:r>
          </a:p>
          <a:p>
            <a:pPr>
              <a:spcBef>
                <a:spcPts val="600"/>
              </a:spcBef>
            </a:pPr>
            <a:r>
              <a:rPr lang="en-US" dirty="0"/>
              <a:t>The knowledge graph fixed the design problems, because facts are linked to each other and to their quotes, and it helped us a lot while building it. Vijaylaxmi Ma’am’s guidance pointed us towards the graph, and we have not measured the retrieval gain yet because the LongMemEval run is pending.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seven rows are the objectives we set in the First Review, and the Pi row is the only one we added. Reproducibility had no number in the First Review, so we describe it in words.</a:t>
            </a:r>
          </a:p>
          <a:p>
            <a:pPr>
              <a:spcBef>
                <a:spcPts val="600"/>
              </a:spcBef>
            </a:pPr>
            <a:r>
              <a:rPr lang="en-US" dirty="0"/>
              <a:t>Every number in the Measured column comes from one machine on 2026-10-06, mostly from our own user:dev namespace with 323 facts, so none of it is a benchmark result. The two targets we miss are the median context size and the latency when the date planner runs.</a:t>
            </a:r>
          </a:p>
          <a:p>
            <a:pPr>
              <a:spcBef>
                <a:spcPts val="600"/>
              </a:spcBef>
            </a:pPr>
            <a:r>
              <a:rPr lang="en-US" dirty="0"/>
              <a:t>Retrieval quality is not run yet, because LongMemEval-S needs a 277 MB dataset and a lot of model use.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First Review design was one PostgreSQL store with a distilled Qwen3-1.7B doing the extraction. Since then we added a graph projection, background workers and a Pi extension, and the next slide redraws the architecture to match.</a:t>
            </a:r>
          </a:p>
          <a:p>
            <a:pPr>
              <a:spcBef>
                <a:spcPts val="600"/>
              </a:spcBef>
            </a:pPr>
            <a:r>
              <a:rPr lang="en-US" dirty="0"/>
              <a:t>Three First Review claims changed: there is a second store, which is Neo4j 5.26 as a projection we can rebuild, the student is now a retrained Qwen3-4B instead of Qwen3-1.7B and it runs as the worker through Ollama, and Pi still sends the coding conversation to its own hosted model even though extraction is local.</a:t>
            </a:r>
          </a:p>
          <a:p>
            <a:pPr>
              <a:spcBef>
                <a:spcPts val="600"/>
              </a:spcBef>
            </a:pPr>
            <a:r>
              <a:rPr lang="en-US" dirty="0"/>
              <a:t>The route list in the First Review, with its 202 status and its delete route, does not match the code: V1 has 8 routes, V2 has 13, and retraction replaces deletion.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This is the architecture figure from the First Review, redrawn to match the code as it is now. The routes are /api/v1 and /api/v2, PostgreSQL is the authoritative store, and Neo4j is a second store that we can rebuild from it [8]. Coding sessions are the input: the developer's prompts and the tool output of each session go to the memory extension in Pi, which sends them on as events.</a:t>
            </a:r>
          </a:p>
          <a:p>
            <a:pPr>
              <a:spcBef>
                <a:spcPts val="600"/>
              </a:spcBef>
            </a:pPr>
            <a:r>
              <a:rPr lang="en-US" dirty="0"/>
              <a:t>On the way in, retain stores an episode, its chunks and an extract job in one transaction, a worker turns the model output into versioned facts, and a projection job copies them to Neo4j. On the way out, recall runs lexical, vector, temporal and graph searches and fuses them by rank, and the next slide draws both paths step by step.</a:t>
            </a:r>
          </a:p>
          <a:p>
            <a:pPr>
              <a:spcBef>
                <a:spcPts val="600"/>
              </a:spcBef>
            </a:pPr>
            <a:r>
              <a:rPr lang="en-US" dirty="0"/>
              <a:t>Offline training is separate and not in the request path: a hosted teacher labels windows and we train Qwen3-4B with QLoRA. The trained model is published as a GGUF and served through Ollama as mem-extractor, which is the worker. Pi is the coding agent [9] and the Azure OpenAI adapter is hosted.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Pi extension writes each batch to a spool file and sends it to POST /api/v2/retain, which stores one episode, its events, one chunk per event and an extract job in a single PostgreSQL transaction. A background task then embeds the new chunks with Ollama, and workers claim jobs under a 15 minute lease and retry up to 5 times.</a:t>
            </a:r>
          </a:p>
          <a:p>
            <a:pPr>
              <a:spcBef>
                <a:spcPts val="600"/>
              </a:spcBef>
            </a:pPr>
            <a:r>
              <a:rPr lang="en-US" dirty="0"/>
              <a:t>The extraction prompt carries up to 80 known facts and the model must answer with JSON claims that have exact quotes, then version resolution queues a Neo4j project job [8].</a:t>
            </a:r>
          </a:p>
          <a:p>
            <a:pPr>
              <a:spcBef>
                <a:spcPts val="600"/>
              </a:spcBef>
            </a:pPr>
            <a:r>
              <a:rPr lang="en-US" dirty="0"/>
              <a:t>Recall checks its bounds, plans a date window only for time questions, embeds the query locally and runs four searches of at most 40 ids each, plus raw text for evidence that is still waiting for extraction. Lexical search uses a GIN index [10], vector search an HNSW index [11], and fusion is reciprocal rank fusion with k = 60 [12] and no reranker. The latency of this path is on slide 14.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Arrows point from the table that holds the foreign key to the table it references, and evidence is never rewritten. Each event is one chunk with no splitting, and an episode is the events from one retain call, keyed by UNIQUE(namespace, external_id).</a:t>
            </a:r>
          </a:p>
          <a:p>
            <a:pPr>
              <a:spcBef>
                <a:spcPts val="600"/>
              </a:spcBef>
            </a:pPr>
            <a:r>
              <a:rPr lang="en-US" dirty="0"/>
              <a:t>An assertion has four time columns: valid_from and valid_to say when a belief applies, event_at says when a dated event happened, and recorded_at says when the engine stored it. A partial unique index allows one active assertion per single-valued slot, so a correction closes the old interval and keeps the old row.</a:t>
            </a:r>
          </a:p>
          <a:p>
            <a:pPr>
              <a:spcBef>
                <a:spcPts val="600"/>
              </a:spcBef>
            </a:pPr>
            <a:r>
              <a:rPr lang="en-US" dirty="0"/>
              <a:t>PostgreSQL is authoritative, and Neo4j [8] is a projection we can replay, with a revision number that rejects older writes. Recall seeds the graph with at most 20 assertions, expands two rounds, and checks every returned id in PostgreSQL again before rank fusion.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Pi here is the coding agent, not a Raspberry Pi, and our extension runs inside it on five hooks that recall before a prompt and queue new text afterwards [9]. Pi worker processes run with MEMORY_WORKER=1, so extraction never retains its own output. Delivery is at least once with idempotency: a spool batch is deleted only after retain succeeds, and the server returns the existing episode when the content hash matches.</a:t>
            </a:r>
          </a:p>
          <a:p>
            <a:pPr>
              <a:spcBef>
                <a:spcPts val="600"/>
              </a:spcBef>
            </a:pPr>
            <a:r>
              <a:rPr lang="en-US" dirty="0"/>
              <a:t>Namespaces are per user and not per directory, which is why a fact told in payments-api can be recalled from mobile-app, and a cursor makes each turn send only new messages. Automatic recall sends max_distance 0.45 so far facts are dropped before ranking, and the explicit memory_recall tool sends none.</a:t>
            </a:r>
          </a:p>
          <a:p>
            <a:pPr>
              <a:spcBef>
                <a:spcPts val="600"/>
              </a:spcBef>
            </a:pPr>
            <a:r>
              <a:rPr lang="en-US" dirty="0"/>
              <a:t>The scripted check starts real pi --mode rpc processes and passed 14 of 14 in four runs, but it is one fact and one correction on one machine, so it says nothing about answer quality or latency.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The left panel is how a conversation turns into stored facts: the model reads the events and returns claims with quotes, we check every quote, and then each claim is added as a new fact, a correction or a conflict. The right panel is how a question turns into a context: four searches each rank candidate facts, we fuse the rankings, and we pack the best ones into the token budget.</a:t>
            </a:r>
          </a:p>
          <a:p>
            <a:pPr>
              <a:spcBef>
                <a:spcPts val="600"/>
              </a:spcBef>
            </a:pPr>
            <a:r>
              <a:rPr lang="en-US" dirty="0"/>
              <a:t>Reciprocal rank fusion gives a result 1 divided by 60 plus its rank from every search that found it, so results that several searches agree on rise to the top [12]. The value 60 comes from the original paper and we did not tune it.</a:t>
            </a:r>
          </a:p>
          <a:p>
            <a:pPr>
              <a:spcBef>
                <a:spcPts val="600"/>
              </a:spcBef>
            </a:pPr>
            <a:r>
              <a:rPr lang="en-US" dirty="0"/>
              <a:t>We estimate tokens as characters divided by four, which is a rough rule for English text and not a real tokenizer count. Quote matching proves where a claim came from, not that the quote supports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Versions come from Cargo.lock, rust-toolchain.toml and docker-compose.yml. Compose pins only the floating tag pg17, the running database reports pgvector 0.8.6, and Pi is locked at 1.0.2 while 0.85.0 is installed on the workstation.</a:t>
            </a:r>
          </a:p>
          <a:p>
            <a:pPr>
              <a:spcBef>
                <a:spcPts val="600"/>
              </a:spcBef>
            </a:pPr>
            <a:r>
              <a:rPr lang="en-US" dirty="0"/>
              <a:t>The worker is the fine-tuned Qwen3-4B served by Ollama. The older Qwen2.5-14B extractor passed validation on only 2 of 10 test batches and is no longer the default.</a:t>
            </a:r>
          </a:p>
          <a:p>
            <a:pPr>
              <a:spcBef>
                <a:spcPts val="600"/>
              </a:spcBef>
            </a:pPr>
            <a:r>
              <a:rPr lang="en-US" dirty="0"/>
              <a:t>The development namespace user:dev was filled through POST /api/v2/retain with the project documents and source plus invented example facts. The fine-tuning set holds 2,961 task rows in sixteen domains, split 2,095, 424 and 442. LoCoMo [15] is released under CC BY-NC 4.0 and only sixteen held-out windows of it are used, for evaluation.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Figures 1 to 3 are real captures from one screen recording, pi-two-sessions-shared-memory.mp4, which is 86 seconds long and sits in the second-review folder next to this deck, so copy it to the presenting machine. It shows two real interactive Pi sessions with the memory extension, driven by real keystrokes.</a:t>
            </a:r>
          </a:p>
          <a:p>
            <a:pPr>
              <a:spcBef>
                <a:spcPts val="600"/>
              </a:spcBef>
            </a:pPr>
            <a:r>
              <a:rPr lang="en-US" dirty="0"/>
              <a:t>In Figure 1 session 1 in payments-api is told three invented example facts and saves them with memory_remember, and in Figure 2 session 2 in mobile-app starts with no history. Figure 3 shows the memory the extension injected from session 1 and then the answer, and the CTX-OK marker comes from my own Pi instructions, not from the memory system.</a:t>
            </a:r>
          </a:p>
          <a:p>
            <a:pPr>
              <a:spcBef>
                <a:spcPts val="600"/>
              </a:spcBef>
            </a:pPr>
            <a:r>
              <a:rPr lang="en-US" dirty="0"/>
              <a:t>Figure 4 is a screenshot of our graph page for user:dev, cropped to the selected fact and its details panel, where the release freeze fact supersedes and contradicts the earlier Thursday fact. A hosted copy runs Pi next to the same graph for a live demo, and the recording is the fallback.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Every row is one measurement on one machine, mostly on our own user:dev namespace, so none of this is a benchmark result. The two numbers that miss their target are the median context size and the latency when the date planner runs.</a:t>
            </a:r>
          </a:p>
          <a:p>
            <a:pPr>
              <a:spcBef>
                <a:spcPts val="600"/>
              </a:spcBef>
            </a:pPr>
            <a:r>
              <a:rPr lang="en-US" dirty="0"/>
              <a:t>For latency we sent 300 requests at 10 per second, using 40 questions about the stored project. Four questions contain words such as when or before, which start a date-planning model call of 1.6 to 2.1 s, and without that call p95 is 72 ms.</a:t>
            </a:r>
          </a:p>
          <a:p>
            <a:pPr>
              <a:spcBef>
                <a:spcPts val="600"/>
              </a:spcBef>
            </a:pPr>
            <a:r>
              <a:rPr lang="en-US" dirty="0"/>
              <a:t>The local model row replays 10 of the 18 document batches that the hosted model had already processed, and the 14B model passed 2 of them. LongMemEval-S has not been run, because it needs a 277 MB dataset and a lot of model use, so we cannot say yet that memory improves answers.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Completed means the feature is implemented in code, and it does not mean it has been measured to be good. The results slide shows which modules have numbers so far and which have none.</a:t>
            </a:r>
          </a:p>
          <a:p>
            <a:pPr>
              <a:spcBef>
                <a:spcPts val="600"/>
              </a:spcBef>
            </a:pPr>
            <a:r>
              <a:rPr lang="en-US" dirty="0"/>
              <a:t>M4 covers jobs, consolidation, traces, metrics and the LongMemEval runner, and decay, re-embedding and backup are Planned. The local 14B extractor is In progress because it passed validation on only 2 of 10 test batches.</a:t>
            </a:r>
          </a:p>
          <a:p>
            <a:pPr>
              <a:spcBef>
                <a:spcPts val="600"/>
              </a:spcBef>
            </a:pPr>
            <a:r>
              <a:rPr lang="en-US" dirty="0"/>
              <a:t>The fine-tuned worker is In progress because its internal scores are mixed: consolidation and reflection improved, extraction coverage fell, and we have not yet run the full benchmark with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r>
              <a:rPr lang="en-US" dirty="0"/>
              <a:t>All entries were checked against their primary sources on 2026-10-06.</a:t>
            </a:r>
          </a:p>
          <a:p>
            <a:pPr>
              <a:spcBef>
                <a:spcPts val="600"/>
              </a:spcBef>
            </a:pPr>
            <a:r>
              <a:rPr lang="en-US" dirty="0"/>
              <a:t>Peer reviewed: Liu et al. (TACL 2024), Wu et al. (ICLR 2025), Maharana et al. (ACL 2024), Chhikara et al. (ECAI 2025), Cormack et al. (SIGIR 2009) and Dettmers et al. (NeurIPS 2023).</a:t>
            </a:r>
          </a:p>
          <a:p>
            <a:pPr>
              <a:spcBef>
                <a:spcPts val="600"/>
              </a:spcBef>
            </a:pPr>
            <a:r>
              <a:rPr lang="en-US" dirty="0"/>
              <a:t>Preprints: Packer et al., Rasmussen et al. (written by Zep staff), Latimer et al. (vendor affiliated) and Zhang et al.</a:t>
            </a:r>
          </a:p>
          <a:p>
            <a:pPr>
              <a:spcBef>
                <a:spcPts val="600"/>
              </a:spcBef>
            </a:pPr>
            <a:r>
              <a:rPr lang="en-US" dirty="0"/>
              <a:t>PostgreSQL and Neo4j are official documentation, and pgvector and Pi are software repositories.</a:t>
            </a:r>
          </a:p>
          <a:p>
            <a:pPr>
              <a:spcBef>
                <a:spcPts val="600"/>
              </a:spcBef>
            </a:pPr>
            <a:r>
              <a:rPr lang="en-US" dirty="0"/>
              <a:t>Reference [6] is a vendor hosted web report and is not peer reviewed, and its numbers are vendor reported and were not reproduced by us, so the deck cites it for mechanism only.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Retaining a conversation and interpreting it are separate jobs. Retain stores the episode and queues an extract job in one transaction. A worker claims that job under a lease, sends windows of about 2,800 tokens to mem-extractor on Ollama, and checks every reply against the engine's rules, with at most two repairs. Valid claims are stored as facts: a new value in a single-value slot supersedes the old one, and the old one stays as history. Storing an episode queues a consolidate job, where the same model combines two or more facts into observations, and a project job that copies entities and edges to Neo4j. A job lease renewed every 30 seconds lets one attempt own a job, and a namespace lease keeps one episode per namespace at a time, so four namespaces run in parallel by default. A late attempt that lost its lease cannot commit. There is no fallback model: if the model is unreachable or never gives a valid reply, the job fails and is retried.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table for the full memory benchmark. Every TBD is filled from the run outputs after the run finishes, and none of it is claimed before that. The three conditions are raw hybrid search, the enhanced memory with observations and graph expansion, and the full history in the prompt. The two ablations switch off the graph expansion and the observations on the same 100 questions, and the repeats show how much the score moves when nothing changes. A pilot run of 10 questions was started on 2026-10-09 with Sonnet 5.5 as reader and Opus 5.5 as judge. It stopped during ingestion because the worker model hit its 3,072 token output limit on some episodes and the harness stops on a failed job, so there are no scored answers yet.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Shape 1"/>
          <p:cNvSpPr/>
          <p:nvPr/>
        </p:nvSpPr>
        <p:spPr>
          <a:xfrm>
            <a:off x="594360" y="6382512"/>
            <a:ext cx="11002975" cy="0"/>
          </a:xfrm>
          <a:prstGeom prst="line">
            <a:avLst/>
          </a:prstGeom>
          <a:noFill/>
          <a:ln w="9525">
            <a:solidFill>
              <a:srgbClr val="BFBFBF"/>
            </a:solidFill>
            <a:prstDash val="solid"/>
          </a:ln>
        </p:spPr>
      </p:sp>
      <p:sp>
        <p:nvSpPr>
          <p:cNvPr id="4" name="Text 2"/>
          <p:cNvSpPr/>
          <p:nvPr>
            <p:ph idx="102" type="title" hasCustomPrompt="1"/>
          </p:nvPr>
        </p:nvSpPr>
        <p:spPr>
          <a:xfrm>
            <a:off x="594360" y="384048"/>
            <a:ext cx="9814255" cy="777240"/>
          </a:xfrm>
          <a:prstGeom prst="rect">
            <a:avLst/>
          </a:prstGeom>
          <a:noFill/>
          <a:ln/>
        </p:spPr>
        <p:txBody>
          <a:bodyPr wrap="square" rtlCol="0"/>
          <a:lstStyle>
            <a:lvl1pPr algn="l" indent="0" marL="0">
              <a:buNone/>
              <a:defRPr lang="en-US" sz="3000" dirty="0">
                <a:solidFill>
                  <a:srgbClr val="000000"/>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228600"/>
            <a:ext cx="11734495" cy="6400800"/>
          </a:xfrm>
          <a:prstGeom prst="rect">
            <a:avLst/>
          </a:prstGeom>
          <a:solidFill>
            <a:srgbClr val="FFFFFF">
              <a:alpha val="0"/>
            </a:srgbClr>
          </a:solidFill>
          <a:ln w="12700">
            <a:solidFill>
              <a:srgbClr val="000000"/>
            </a:solidFill>
            <a:prstDash val="solid"/>
          </a:ln>
        </p:spPr>
      </p:sp>
      <p:sp>
        <p:nvSpPr>
          <p:cNvPr id="3" name="Text 1"/>
          <p:cNvSpPr/>
          <p:nvPr>
            <p:ph idx="101" type="title" hasCustomPrompt="1"/>
          </p:nvPr>
        </p:nvSpPr>
        <p:spPr>
          <a:xfrm>
            <a:off x="594360" y="1737360"/>
            <a:ext cx="11000232" cy="1371600"/>
          </a:xfrm>
          <a:prstGeom prst="rect">
            <a:avLst/>
          </a:prstGeom>
          <a:noFill/>
          <a:ln/>
        </p:spPr>
        <p:txBody>
          <a:bodyPr wrap="square" rtlCol="0"/>
          <a:lstStyle>
            <a:lvl1pPr algn="ctr" indent="0" marL="0">
              <a:buNone/>
              <a:defRPr lang="en-US" sz="3600" b="1" dirty="0">
                <a:solidFill>
                  <a:srgbClr val="000000"/>
                </a:solidFill>
                <a:latin typeface="Times New Roman" pitchFamily="34" charset="0"/>
                <a:ea typeface="Times New Roman" pitchFamily="34" charset="-122"/>
                <a:cs typeface="Times New Roman" pitchFamily="34" charset="-120"/>
              </a:defRPr>
            </a:lvl1pPr>
          </a:lstStyle>
          <a:p>
            <a:pPr algn="ct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94360" y="1737360"/>
            <a:ext cx="11000232" cy="1371600"/>
          </a:xfrm>
          <a:prstGeom prst="rect">
            <a:avLst/>
          </a:prstGeom>
          <a:noFill/>
          <a:ln/>
        </p:spPr>
        <p:txBody>
          <a:bodyPr wrap="square" lIns="0" tIns="0" rIns="0" bIns="0" rtlCol="0" anchor="ctr"/>
          <a:lstStyle/>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LONG-TERM MEMORY ENGINE FOR AI AGENTS</a:t>
            </a:r>
            <a:endParaRPr lang="en-US" sz="3600" dirty="0"/>
          </a:p>
          <a:p>
            <a:pPr algn="ctr" indent="0" marL="0">
              <a:buNone/>
            </a:pPr>
            <a:r>
              <a:rPr lang="en-US" sz="3600" b="1" dirty="0">
                <a:solidFill>
                  <a:srgbClr val="000000"/>
                </a:solidFill>
                <a:latin typeface="Times New Roman" pitchFamily="34" charset="0"/>
                <a:ea typeface="Times New Roman" pitchFamily="34" charset="-122"/>
                <a:cs typeface="Times New Roman" pitchFamily="34" charset="-120"/>
              </a:rPr>
              <a:t>IN RUST</a:t>
            </a:r>
            <a:endParaRPr lang="en-US" sz="3600" dirty="0"/>
          </a:p>
        </p:txBody>
      </p:sp>
      <p:sp>
        <p:nvSpPr>
          <p:cNvPr id="3" name="Text 1"/>
          <p:cNvSpPr txBox="1"/>
          <p:nvPr/>
        </p:nvSpPr>
        <p:spPr>
          <a:xfrm>
            <a:off x="594360" y="3429000"/>
            <a:ext cx="11000232" cy="457200"/>
          </a:xfrm>
          <a:prstGeom prst="rect">
            <a:avLst/>
          </a:prstGeom>
          <a:noFill/>
          <a:ln/>
        </p:spPr>
        <p:txBody>
          <a:bodyPr wrap="square" lIns="0" tIns="0" rIns="0" bIns="0" rtlCol="0" anchor="ctr"/>
          <a:lstStyle/>
          <a:p>
            <a:pPr algn="ctr" indent="0" marL="0">
              <a:buNone/>
            </a:pPr>
            <a:r>
              <a:rPr lang="en-US" sz="2400" dirty="0">
                <a:solidFill>
                  <a:srgbClr val="000000"/>
                </a:solidFill>
                <a:latin typeface="Times New Roman" pitchFamily="34" charset="0"/>
                <a:ea typeface="Times New Roman" pitchFamily="34" charset="-122"/>
                <a:cs typeface="Times New Roman" pitchFamily="34" charset="-120"/>
              </a:rPr>
              <a:t>Second Project Review</a:t>
            </a:r>
            <a:endParaRPr lang="en-US" sz="2400" dirty="0"/>
          </a:p>
        </p:txBody>
      </p:sp>
      <p:pic>
        <p:nvPicPr>
          <p:cNvPr id="4" name="Image 0" descr="Anna University logo: a gear with a factory and an open book inside a ring, and the motto Progress through Knowledge">    </p:cNvPr>
          <p:cNvPicPr>
            <a:picLocks noChangeAspect="1"/>
          </p:cNvPicPr>
          <p:nvPr/>
        </p:nvPicPr>
        <p:blipFill>
          <a:blip r:embed="rId1"/>
          <a:stretch>
            <a:fillRect/>
          </a:stretch>
        </p:blipFill>
        <p:spPr>
          <a:xfrm>
            <a:off x="640080" y="457200"/>
            <a:ext cx="1229413" cy="1097280"/>
          </a:xfrm>
          <a:prstGeom prst="rect">
            <a:avLst/>
          </a:prstGeom>
        </p:spPr>
      </p:pic>
      <p:pic>
        <p:nvPicPr>
          <p:cNvPr id="5" name="Image 1" descr="College of Engineering, Guindy crest: a winged shield with a rising sun and bridge, and the motto Labor Omnia Vincit">    </p:cNvPr>
          <p:cNvPicPr>
            <a:picLocks noChangeAspect="1"/>
          </p:cNvPicPr>
          <p:nvPr/>
        </p:nvPicPr>
        <p:blipFill>
          <a:blip r:embed="rId2"/>
          <a:stretch>
            <a:fillRect/>
          </a:stretch>
        </p:blipFill>
        <p:spPr>
          <a:xfrm>
            <a:off x="10260761" y="457200"/>
            <a:ext cx="1288111" cy="1097280"/>
          </a:xfrm>
          <a:prstGeom prst="rect">
            <a:avLst/>
          </a:prstGeom>
        </p:spPr>
      </p:pic>
      <p:sp>
        <p:nvSpPr>
          <p:cNvPr id="6" name="Text 2"/>
          <p:cNvSpPr txBox="1"/>
          <p:nvPr/>
        </p:nvSpPr>
        <p:spPr>
          <a:xfrm>
            <a:off x="2377440" y="502920"/>
            <a:ext cx="7434072" cy="1005840"/>
          </a:xfrm>
          <a:prstGeom prst="rect">
            <a:avLst/>
          </a:prstGeom>
          <a:noFill/>
          <a:ln/>
        </p:spPr>
        <p:txBody>
          <a:bodyPr wrap="square" lIns="0" tIns="0" rIns="0" bIns="0" rtlCol="0" anchor="ctr"/>
          <a:lstStyle/>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Department of Information Technology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College of Engineering, Guindy</a:t>
            </a:r>
            <a:endParaRPr lang="en-US" sz="1800" dirty="0"/>
          </a:p>
          <a:p>
            <a:pPr algn="ctr" indent="0" marL="0">
              <a:spcAft>
                <a:spcPts val="400"/>
              </a:spcAft>
              <a:buNone/>
            </a:pPr>
            <a:r>
              <a:rPr lang="en-US" sz="1800" dirty="0">
                <a:solidFill>
                  <a:srgbClr val="000000"/>
                </a:solidFill>
                <a:latin typeface="Times New Roman" pitchFamily="34" charset="0"/>
                <a:ea typeface="Times New Roman" pitchFamily="34" charset="-122"/>
                <a:cs typeface="Times New Roman" pitchFamily="34" charset="-120"/>
              </a:rPr>
              <a:t>Anna University, Chennai-25</a:t>
            </a:r>
            <a:endParaRPr lang="en-US" sz="1800" dirty="0"/>
          </a:p>
        </p:txBody>
      </p:sp>
      <p:sp>
        <p:nvSpPr>
          <p:cNvPr id="7" name="Text 3"/>
          <p:cNvSpPr txBox="1"/>
          <p:nvPr/>
        </p:nvSpPr>
        <p:spPr>
          <a:xfrm>
            <a:off x="822960" y="4617720"/>
            <a:ext cx="5486400" cy="146304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GUIDE:</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DR. BAMA SRINIVASAN</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DEPARTMENT OF INFORMATION TECHNOLOGY</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CEG, ANNA UNIVERSITY</a:t>
            </a:r>
            <a:endParaRPr lang="en-US" sz="1600" dirty="0"/>
          </a:p>
        </p:txBody>
      </p:sp>
      <p:sp>
        <p:nvSpPr>
          <p:cNvPr id="8" name="Text 4"/>
          <p:cNvSpPr txBox="1"/>
          <p:nvPr/>
        </p:nvSpPr>
        <p:spPr>
          <a:xfrm>
            <a:off x="6858000" y="4617720"/>
            <a:ext cx="4663440" cy="1650000"/>
          </a:xfrm>
          <a:prstGeom prst="rect">
            <a:avLst/>
          </a:prstGeom>
          <a:noFill/>
          <a:ln/>
        </p:spPr>
        <p:txBody>
          <a:bodyPr wrap="square" lIns="0" tIns="0" rIns="0" bIns="0" rtlCol="0" anchor="t"/>
          <a:lstStyle/>
          <a:p>
            <a:pPr indent="0" marL="0">
              <a:spcAft>
                <a:spcPts val="700"/>
              </a:spcAft>
              <a:buNone/>
            </a:pPr>
            <a:r>
              <a:rPr lang="en-US" sz="1600" b="1" dirty="0">
                <a:solidFill>
                  <a:srgbClr val="1A1A1A"/>
                </a:solidFill>
                <a:latin typeface="Times New Roman" pitchFamily="34" charset="0"/>
                <a:ea typeface="Times New Roman" pitchFamily="34" charset="-122"/>
                <a:cs typeface="Times New Roman" pitchFamily="34" charset="-120"/>
              </a:rPr>
              <a:t>TEAM MEMBERS:</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M. KRITHIKRAJ, 2023115004</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ALSTON S, 2023115006</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ARYAN I, 2023115021</a:t>
            </a:r>
            <a:endParaRPr lang="en-US" sz="1600" dirty="0"/>
          </a:p>
          <a:p>
            <a:pPr indent="0" marL="0">
              <a:spcAft>
                <a:spcPts val="700"/>
              </a:spcAft>
              <a:buNone/>
            </a:pPr>
            <a:r>
              <a:rPr lang="en-US" sz="1600" dirty="0">
                <a:solidFill>
                  <a:srgbClr val="1A1A1A"/>
                </a:solidFill>
                <a:latin typeface="Times New Roman" pitchFamily="34" charset="0"/>
                <a:ea typeface="Times New Roman" pitchFamily="34" charset="-122"/>
                <a:cs typeface="Times New Roman" pitchFamily="34" charset="-120"/>
              </a:rPr>
              <a:t>HARI SRINIVASAN, 2023115022</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PROBLEM STATEMENT</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WHY IT IS HARD</a:t>
            </a:r>
            <a:endParaRPr lang="en-US" sz="1300" dirty="0"/>
          </a:p>
        </p:txBody>
      </p:sp>
      <p:sp>
        <p:nvSpPr>
          <p:cNvPr id="5" name="Text 3"/>
          <p:cNvSpPr txBox="1"/>
          <p:nvPr/>
        </p:nvSpPr>
        <p:spPr>
          <a:xfrm>
            <a:off x="594360" y="1810512"/>
            <a:ext cx="5989320" cy="20116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Context limits. A full history costs a lot of tokens, and models tend to miss facts in the middle of a long input [1].</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Forgetting. A new session starts empty unless the old one was stored.</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Corrections. A new value should replace the old one without erasing it.</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Time. A question like “what did I decide last month” needs dated facts [2].</a:t>
            </a:r>
            <a:endParaRPr lang="en-US" sz="1500" dirty="0"/>
          </a:p>
          <a:p>
            <a:pPr marL="228600" indent="-228600">
              <a:spcAft>
                <a:spcPts val="8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Provenance. An answer should point to the evidence it came from.</a:t>
            </a:r>
            <a:endParaRPr lang="en-US" sz="1500" dirty="0"/>
          </a:p>
        </p:txBody>
      </p:sp>
      <p:sp>
        <p:nvSpPr>
          <p:cNvPr id="6" name="Text 4"/>
          <p:cNvSpPr/>
          <p:nvPr/>
        </p:nvSpPr>
        <p:spPr>
          <a:xfrm>
            <a:off x="68580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72603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ENGINEERING STATEMENT</a:t>
            </a:r>
            <a:endParaRPr lang="en-US" sz="1300" dirty="0"/>
          </a:p>
        </p:txBody>
      </p:sp>
      <p:sp>
        <p:nvSpPr>
          <p:cNvPr id="8" name="Text 6"/>
          <p:cNvSpPr/>
          <p:nvPr/>
        </p:nvSpPr>
        <p:spPr>
          <a:xfrm>
            <a:off x="6858000" y="1810512"/>
            <a:ext cx="4736592" cy="19202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Input: an append-only stream of interaction events (user turns, assistant turns, tool results), each with a timestamp.</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Keep: the raw evidence, and every fact derived from it with a validity interval.</a:t>
            </a:r>
            <a:endParaRPr lang="en-US" sz="1500" dirty="0"/>
          </a:p>
          <a:p>
            <a:pPr algn="l" indent="0" marL="0">
              <a:spcAft>
                <a:spcPts val="600"/>
              </a:spcAft>
              <a:buNone/>
            </a:pPr>
            <a:r>
              <a:rPr lang="en-US" sz="1500" dirty="0">
                <a:solidFill>
                  <a:srgbClr val="1A1A1A"/>
                </a:solidFill>
                <a:latin typeface="Times New Roman" pitchFamily="34" charset="0"/>
                <a:ea typeface="Times New Roman" pitchFamily="34" charset="-122"/>
                <a:cs typeface="Times New Roman" pitchFamily="34" charset="-120"/>
              </a:rPr>
              <a:t>Return: at query time, a context within a token budget. Each item names its source evidence and says whether it is current.</a:t>
            </a:r>
            <a:endParaRPr lang="en-US" sz="1500" dirty="0"/>
          </a:p>
        </p:txBody>
      </p:sp>
      <p:sp>
        <p:nvSpPr>
          <p:cNvPr id="9" name="Text 7"/>
          <p:cNvSpPr/>
          <p:nvPr/>
        </p:nvSpPr>
        <p:spPr>
          <a:xfrm>
            <a:off x="594360" y="393192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3931920"/>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WORKED EXAMPLE</a:t>
            </a:r>
            <a:endParaRPr lang="en-US" sz="1300" dirty="0"/>
          </a:p>
        </p:txBody>
      </p:sp>
      <p:sp>
        <p:nvSpPr>
          <p:cNvPr id="11" name="Text 9"/>
          <p:cNvSpPr/>
          <p:nvPr/>
        </p:nvSpPr>
        <p:spPr>
          <a:xfrm>
            <a:off x="594360" y="435254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1: “I deploy on Fridays.”</a:t>
            </a:r>
            <a:endParaRPr lang="en-US" sz="1200" dirty="0"/>
          </a:p>
        </p:txBody>
      </p:sp>
      <p:sp>
        <p:nvSpPr>
          <p:cNvPr id="12" name="Text 10"/>
          <p:cNvSpPr/>
          <p:nvPr/>
        </p:nvSpPr>
        <p:spPr>
          <a:xfrm>
            <a:off x="594360" y="490118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Session 3: “I deploy on Tuesdays now.”</a:t>
            </a:r>
            <a:endParaRPr lang="en-US" sz="1200" dirty="0"/>
          </a:p>
        </p:txBody>
      </p:sp>
      <p:sp>
        <p:nvSpPr>
          <p:cNvPr id="13" name="Text 11"/>
          <p:cNvSpPr/>
          <p:nvPr/>
        </p:nvSpPr>
        <p:spPr>
          <a:xfrm>
            <a:off x="594360" y="5449824"/>
            <a:ext cx="3383280" cy="438912"/>
          </a:xfrm>
          <a:prstGeom prst="rect">
            <a:avLst/>
          </a:prstGeom>
          <a:solidFill>
            <a:srgbClr val="FFFFFF"/>
          </a:solidFill>
          <a:ln w="12700">
            <a:solidFill>
              <a:srgbClr val="333333"/>
            </a:solidFill>
            <a:prstDash val="solid"/>
          </a:ln>
        </p:spPr>
        <p:txBody>
          <a:bodyPr wrap="square" lIns="63500" tIns="88900" rIns="88900" bIns="63500" rtlCol="0" anchor="ct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Query: “Which day do I deploy?”</a:t>
            </a:r>
            <a:endParaRPr lang="en-US" sz="1200" dirty="0"/>
          </a:p>
        </p:txBody>
      </p:sp>
      <p:sp>
        <p:nvSpPr>
          <p:cNvPr id="14" name="Text 12"/>
          <p:cNvSpPr/>
          <p:nvPr/>
        </p:nvSpPr>
        <p:spPr>
          <a:xfrm>
            <a:off x="4937760" y="4352544"/>
            <a:ext cx="2148840" cy="153619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Memory engine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Keeps both values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Ends the Friday interval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Stores a source quote</a:t>
            </a:r>
            <a:endParaRPr lang="en-US" sz="1300" dirty="0"/>
          </a:p>
        </p:txBody>
      </p:sp>
      <p:sp>
        <p:nvSpPr>
          <p:cNvPr id="15" name="Text 13"/>
          <p:cNvSpPr/>
          <p:nvPr/>
        </p:nvSpPr>
        <p:spPr>
          <a:xfrm>
            <a:off x="8275320" y="4352544"/>
            <a:ext cx="3319272" cy="153619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Expected context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Current: Tuesdays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History: Fridays, until session 3</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source: session 1</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Answer: Tuesday</a:t>
            </a:r>
            <a:endParaRPr lang="en-US" sz="1300" dirty="0"/>
          </a:p>
        </p:txBody>
      </p:sp>
      <p:cxnSp>
        <p:nvCxnSpPr>
          <p:cNvPr id="16" name="Connector 16"/>
          <p:cNvCxnSpPr>
            <a:stCxn id="11" idx="3"/>
          </p:cNvCxnSpPr>
          <p:nvPr/>
        </p:nvCxnSpPr>
        <p:spPr>
          <a:xfrm>
            <a:off x="3977640" y="4572000"/>
            <a:ext cx="960120" cy="0"/>
          </a:xfrm>
          <a:prstGeom prst="straightConnector1">
            <a:avLst/>
          </a:prstGeom>
          <a:noFill/>
          <a:ln w="15875">
            <a:solidFill>
              <a:srgbClr val="333333"/>
            </a:solidFill>
            <a:prstDash val="solid"/>
            <a:tailEnd type="triangle"/>
          </a:ln>
        </p:spPr>
      </p:cxnSp>
      <p:sp>
        <p:nvSpPr>
          <p:cNvPr id="17" name="Text 15"/>
          <p:cNvSpPr txBox="1"/>
          <p:nvPr/>
        </p:nvSpPr>
        <p:spPr>
          <a:xfrm>
            <a:off x="4091940" y="428853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18" name="Connector 18"/>
          <p:cNvCxnSpPr>
            <a:stCxn id="12" idx="3"/>
            <a:endCxn id="14" idx="1"/>
          </p:cNvCxnSpPr>
          <p:nvPr/>
        </p:nvCxnSpPr>
        <p:spPr>
          <a:xfrm>
            <a:off x="3977640" y="5120640"/>
            <a:ext cx="960120" cy="0"/>
          </a:xfrm>
          <a:prstGeom prst="straightConnector1">
            <a:avLst/>
          </a:prstGeom>
          <a:noFill/>
          <a:ln w="15875">
            <a:solidFill>
              <a:srgbClr val="333333"/>
            </a:solidFill>
            <a:prstDash val="solid"/>
            <a:tailEnd type="triangle"/>
          </a:ln>
        </p:spPr>
      </p:cxnSp>
      <p:sp>
        <p:nvSpPr>
          <p:cNvPr id="19" name="Text 17"/>
          <p:cNvSpPr txBox="1"/>
          <p:nvPr/>
        </p:nvSpPr>
        <p:spPr>
          <a:xfrm>
            <a:off x="4091940" y="4837176"/>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20" name="Connector 20"/>
          <p:cNvCxnSpPr>
            <a:stCxn id="13" idx="3"/>
          </p:cNvCxnSpPr>
          <p:nvPr/>
        </p:nvCxnSpPr>
        <p:spPr>
          <a:xfrm>
            <a:off x="3977640" y="5669280"/>
            <a:ext cx="960120" cy="0"/>
          </a:xfrm>
          <a:prstGeom prst="straightConnector1">
            <a:avLst/>
          </a:prstGeom>
          <a:noFill/>
          <a:ln w="15875">
            <a:solidFill>
              <a:srgbClr val="333333"/>
            </a:solidFill>
            <a:prstDash val="solid"/>
            <a:tailEnd type="triangle"/>
          </a:ln>
        </p:spPr>
      </p:cxnSp>
      <p:sp>
        <p:nvSpPr>
          <p:cNvPr id="21" name="Text 19"/>
          <p:cNvSpPr txBox="1"/>
          <p:nvPr/>
        </p:nvSpPr>
        <p:spPr>
          <a:xfrm>
            <a:off x="3909060" y="53858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2" name="Connector 22"/>
          <p:cNvCxnSpPr>
            <a:stCxn id="14" idx="3"/>
            <a:endCxn id="15" idx="1"/>
          </p:cNvCxnSpPr>
          <p:nvPr/>
        </p:nvCxnSpPr>
        <p:spPr>
          <a:xfrm>
            <a:off x="7086600" y="5120640"/>
            <a:ext cx="1188720" cy="0"/>
          </a:xfrm>
          <a:prstGeom prst="straightConnector1">
            <a:avLst/>
          </a:prstGeom>
          <a:noFill/>
          <a:ln w="15875">
            <a:solidFill>
              <a:srgbClr val="333333"/>
            </a:solidFill>
            <a:prstDash val="solid"/>
            <a:tailEnd type="triangle"/>
          </a:ln>
        </p:spPr>
      </p:cxnSp>
      <p:sp>
        <p:nvSpPr>
          <p:cNvPr id="23" name="Text 21"/>
          <p:cNvSpPr txBox="1"/>
          <p:nvPr/>
        </p:nvSpPr>
        <p:spPr>
          <a:xfrm>
            <a:off x="7132320" y="483717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cited context</a:t>
            </a:r>
            <a:endParaRPr lang="en-US" sz="1100" dirty="0"/>
          </a:p>
        </p:txBody>
      </p:sp>
      <p:sp>
        <p:nvSpPr>
          <p:cNvPr id="2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LITERATURE SURVEY: MEMORY SYSTEMS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828800"/>
                <a:gridCol w="2606040"/>
                <a:gridCol w="2560320"/>
                <a:gridCol w="2240280"/>
                <a:gridCol w="17647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Work and source type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Mechanism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Evidence as reported by the source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Limitation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Relevance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MemGPT, later Letta, Packer et al., 2023 [3].</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 split into main context and external recall and archival storage. The model moves data between them with function calls.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tests on OpenAI models. Deep memory retrieval: 92.5% with GPT-4 plus MemGPT against 32.1% for GPT-4 reading a summary.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edits depend on the model’s function calling. No latency or token cost figures in the paper.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Origin of memory kept outside the prompt. Here, service code applies the version rules to claims the model extracts.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Zep and Graphiti, Rasmussen et al., 2025 [4].</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vendor-authored.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knowledge graph of episodes, entities and facts. Each fact has valid and invalid times, and a contradicting fact ends the old one.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Authors’ own LongMemEval run: 71.2% with gpt-4o against 60.2% for the full 115k-token history.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Single configuration, no repeated runs. The authors call their other benchmark (DMR) weak. Needs a graph database.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Closest design for validity intervals. We also run Neo4j, but only as a projection we can rebuild.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Mem0, Chhikara et al., 2025 [5].</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Peer reviewed (ECAI 2025), authors are Mem0 staff.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An LLM extracts candidate facts, compares each with the nearest stored memories, then chooses add, update, delete or no-op.</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LoCoMo only, authors’ run. Judge score 66.9 for Mem0, 72.9 for the full history, which had a p95 latency of 17 s against 1.4 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benchmark and an unnamed judge model. The open-source release has since dropped update, delete and graph memory.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extract then compare idea. Here the update rule is code (cardinality and correction flag), not an LLM choice per fact.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Supermemory, Daga et al., 2026 [6].</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Company report, not peer reviewed.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Atomic memories linked to source chunks, with updates, extends and derives links and two timestamps.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LongMemEval-S results by category from its own run.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Engine source closed. The headline depends on the answer model, and the metric “aggregation” is not defined.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as a design influence in our repository. Used for mechanism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Hindsight, Latimer et al., 2025 [7].</a:t>
                      </a:r>
                      <a:endParaRPr lang="en-US" sz="1200" dirty="0">
                        <a:latin typeface="Times New Roman" charset="0"/>
                        <a:ea typeface="Times New Roman" charset="0"/>
                        <a:cs typeface="Times New Roman" charset="0"/>
                      </a:endParaRPr>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Preprint, vendor-affiliated.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Retain, recall and reflect operations. Recall fuses four retrieval strategies by rank fusion and packs to a token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Reports LongMemEval and LoCoMo results run by the authors. Numbers not repeated here.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Not peer reviewed. No ablation or variance found, and the token budget used is not stated.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Named design influence. We have no reranker.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CHALLENGES AND ISSUES IDENTIFIED</a:t>
            </a:r>
            <a:endParaRPr lang="en-US" sz="3000" dirty="0"/>
          </a:p>
        </p:txBody>
      </p:sp>
      <p:sp>
        <p:nvSpPr>
          <p:cNvPr id="3" name="Text 1"/>
          <p:cNvSpPr/>
          <p:nvPr/>
        </p:nvSpPr>
        <p:spPr>
          <a:xfrm>
            <a:off x="59436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37160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 DID WRONG IN THE DESIGN</a:t>
            </a:r>
            <a:endParaRPr lang="en-US" sz="1300" dirty="0"/>
          </a:p>
        </p:txBody>
      </p:sp>
      <p:sp>
        <p:nvSpPr>
          <p:cNvPr id="5" name="Text 3"/>
          <p:cNvSpPr txBox="1"/>
          <p:nvPr/>
        </p:nvSpPr>
        <p:spPr>
          <a:xfrm>
            <a:off x="594360" y="1810512"/>
            <a:ext cx="5257800" cy="32461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treated memory as plain chunks of text and searched them, with no context around each fact.</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Chunk search cannot tell that a new fact replaces an old one, so old and new values came back together.</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Nothing linked related facts, so a question that needs two connected facts could find only one of them.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We had no way to show where an answer came from.</a:t>
            </a:r>
            <a:endParaRPr lang="en-US" sz="1300" dirty="0"/>
          </a:p>
          <a:p>
            <a:pPr marL="228600" indent="-2286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Our first small distilled model was trained on the old memory format, so we retrained it for the fact format the graph uses.</a:t>
            </a:r>
            <a:endParaRPr lang="en-US" sz="1300" dirty="0"/>
          </a:p>
        </p:txBody>
      </p:sp>
      <p:sp>
        <p:nvSpPr>
          <p:cNvPr id="6" name="Text 4"/>
          <p:cNvSpPr/>
          <p:nvPr/>
        </p:nvSpPr>
        <p:spPr>
          <a:xfrm>
            <a:off x="6172200" y="137160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6574536" y="1371600"/>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WENT WRONG WHEN WE RAN IT</a:t>
            </a:r>
            <a:endParaRPr lang="en-US" sz="1300" dirty="0"/>
          </a:p>
        </p:txBody>
      </p:sp>
      <p:sp>
        <p:nvSpPr>
          <p:cNvPr id="8" name="Text 6"/>
          <p:cNvSpPr txBox="1"/>
          <p:nvPr/>
        </p:nvSpPr>
        <p:spPr>
          <a:xfrm>
            <a:off x="6172200" y="1810512"/>
            <a:ext cx="5422392" cy="3291840"/>
          </a:xfrm>
          <a:prstGeom prst="rect">
            <a:avLst/>
          </a:prstGeom>
          <a:noFill/>
          <a:ln/>
        </p:spPr>
        <p:txBody>
          <a:bodyPr wrap="square" lIns="0" tIns="0" rIns="0" bIns="0" rtlCol="0" anchor="t"/>
          <a:lstStyle/>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Memory was per repository, so a session in another directory saw nothing.</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We re-sent the whole chat every turn: 4 turns stored 32 events and only 14 were different.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fresh session right after the first got no memory, because we embedded only after extraction.</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A bad model reply was cached, so every retry repeated it and later jobs got stuck behind it.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model re-extracted the old Friday value as new, and the current Tuesday value was lost.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Recall had no distance limit, so about 2,000 tokens of unrelated text went in before almost every prompt.</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date planner called a model on words like “when”, which took 4.46 s and 19.28 s on two queries.</a:t>
            </a:r>
            <a:endParaRPr lang="en-US" sz="1200" dirty="0"/>
          </a:p>
          <a:p>
            <a:pPr marL="228600" indent="-2286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The default worker had no credentials, and Ollama silently cut 15 of 18 batches at its 4,096 token default.</a:t>
            </a:r>
            <a:endParaRPr lang="en-US" sz="1200" dirty="0"/>
          </a:p>
        </p:txBody>
      </p:sp>
      <p:sp>
        <p:nvSpPr>
          <p:cNvPr id="9" name="Text 7"/>
          <p:cNvSpPr/>
          <p:nvPr/>
        </p:nvSpPr>
        <p:spPr>
          <a:xfrm>
            <a:off x="594360" y="5138928"/>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10" name="Text 8"/>
          <p:cNvSpPr txBox="1"/>
          <p:nvPr/>
        </p:nvSpPr>
        <p:spPr>
          <a:xfrm>
            <a:off x="996696" y="5138928"/>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WHAT THE KNOWLEDGE GRAPH FIXED</a:t>
            </a:r>
            <a:endParaRPr lang="en-US" sz="1300" dirty="0"/>
          </a:p>
        </p:txBody>
      </p:sp>
      <p:sp>
        <p:nvSpPr>
          <p:cNvPr id="11" name="Text 9"/>
          <p:cNvSpPr txBox="1"/>
          <p:nvPr/>
        </p:nvSpPr>
        <p:spPr>
          <a:xfrm>
            <a:off x="594360" y="5486400"/>
            <a:ext cx="11002975" cy="41148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Facts are nodes with links (supersedes, contradicts, extends). A correction keeps the old fact as history. Every fact points to its exact quote and raw event, and recall follows links to related facts.</a:t>
            </a:r>
            <a:endParaRPr lang="en-US" sz="1300" dirty="0"/>
          </a:p>
        </p:txBody>
      </p:sp>
      <p:sp>
        <p:nvSpPr>
          <p:cNvPr id="12" name="Text 10"/>
          <p:cNvSpPr txBox="1"/>
          <p:nvPr/>
        </p:nvSpPr>
        <p:spPr>
          <a:xfrm>
            <a:off x="594360" y="5897880"/>
            <a:ext cx="11002975" cy="228600"/>
          </a:xfrm>
          <a:prstGeom prst="rect">
            <a:avLst/>
          </a:prstGeom>
          <a:noFill/>
          <a:ln/>
        </p:spPr>
        <p:txBody>
          <a:bodyPr wrap="square" lIns="0" tIns="0" rIns="0" bIns="0" rtlCol="0" anchor="ctr"/>
          <a:lstStyle/>
          <a:p>
            <a:pPr indent="0" marL="0">
              <a:buNone/>
            </a:pPr>
            <a:r>
              <a:rPr lang="en-US" sz="1200" dirty="0">
                <a:solidFill>
                  <a:srgbClr val="595959"/>
                </a:solidFill>
                <a:latin typeface="Times New Roman" pitchFamily="34" charset="0"/>
                <a:ea typeface="Times New Roman" pitchFamily="34" charset="-122"/>
                <a:cs typeface="Times New Roman" pitchFamily="34" charset="-120"/>
              </a:rPr>
              <a:t>Prof. Vijaylaxmi Ma’am’s guidance pointed us to the knowledge graph.</a:t>
            </a:r>
            <a:endParaRPr lang="en-US" sz="1200" dirty="0"/>
          </a:p>
        </p:txBody>
      </p:sp>
      <p:sp>
        <p:nvSpPr>
          <p:cNvPr id="13"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PROJECT OBJECTIVES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11002975" cy="914400"/>
        </p:xfrm>
        <a:graphic>
          <a:graphicData uri="http://schemas.openxmlformats.org/drawingml/2006/table">
            <a:tbl>
              <a:tblPr firstRow="1"/>
              <a:tblGrid>
                <a:gridCol w="1691640"/>
                <a:gridCol w="2743200"/>
                <a:gridCol w="4937760"/>
                <a:gridCol w="1627632"/>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Objective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Target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Measured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Status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Provenance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100% of stored memories pass an automated provenance check.</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323 of 323 facts in user:dev have a source, and every quote is found word for word in its stored 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Correct version history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Zero incorrect active versions on held-out update cases.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0 of 106 single-value slots hold two active facts, and the scripted Pi check (told, corrected, asked again) passes. There is no held-out update set yet, and only 2 facts are superseded.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Small local extractor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Student F1 within 5 points of the teacher at one third of its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Retrained as Qwen3-4B and served by Ollama as the worker. Internal test: consolidation 1 of 16 to 13 of 16, reflection 10 of 16 to 15 of 16, but extraction coverage fell from 50 of 55 to 41 of 55. The 0.398 F1 was for the old 1.7B model.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 gain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Match a pgvector-only baseline overall and beat it by 5 points on knowledge-update and temporal questions.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Not run. LongMemEval-S needs a 277 MB dataset and a lot of model use.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Planned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 latency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p95 retrieval at most 300 ms at 10 QPS.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Date planning off: p50 58 ms, p95 72 ms, p99 75 ms (300 requests, 0 errors). With the date planner in the path p95 is 1,870 ms, because 4 of 40 test questions start a model call of 1.6 to 2.1 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Context size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returned context at most 1,000 tokens.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Median 1,942 tokens, p95 2,041, with the 2,048 token budget Pi sends (characters divided by four). Target not met.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Reproducibility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Dataset revision, models, prompts and configuration pinned, raw run outputs published.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Dataset pinned by SHA-256 and settings kept in benchmark/config.json. No run exists yet, so there are no outputs to publish, and the Docker image tag still floats.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In progress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Cross-session memory in Pi (new)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 fact told in one Pi session is recalled in a fresh session in another directory.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14 of 14 scripted checks in each of 4 runs (claude-haiku-4-5 or claude-sonnet-5-5 through Pi). One scenario, one machine.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b="1" dirty="0">
                          <a:solidFill>
                            <a:srgbClr val="1A1A1A"/>
                          </a:solidFill>
                          <a:latin typeface="Times New Roman" pitchFamily="34" charset="0"/>
                          <a:ea typeface="Times New Roman" pitchFamily="34" charset="-122"/>
                          <a:cs typeface="Times New Roman" pitchFamily="34" charset="-120"/>
                        </a:rPr>
                        <a:t>Completed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CHANGES SINCE FIRST REVIEW</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371600"/>
          <a:ext cx="7726680" cy="914400"/>
        </p:xfrm>
        <a:graphic>
          <a:graphicData uri="http://schemas.openxmlformats.org/drawingml/2006/table">
            <a:tbl>
              <a:tblPr firstRow="1"/>
              <a:tblGrid>
                <a:gridCol w="1188720"/>
                <a:gridCol w="2423160"/>
                <a:gridCol w="4114800"/>
              </a:tblGrid>
              <a:tr h="0">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Area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First Review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50" b="1" dirty="0">
                          <a:solidFill>
                            <a:srgbClr val="000000"/>
                          </a:solidFill>
                          <a:latin typeface="Times New Roman" pitchFamily="34" charset="0"/>
                          <a:ea typeface="Times New Roman" pitchFamily="34" charset="-122"/>
                          <a:cs typeface="Times New Roman" pitchFamily="34" charset="-120"/>
                        </a:rPr>
                        <a:t>Now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Stores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PostgreSQL 17 database, no graph store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PostgreSQL 17 with pgvector, plus a Neo4j 5.26 graph projection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Four routes: session events, request status, context, delete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/api/v1 with 8 routes and /api/v2 with 13 (retain, recall, reflect, jobs, graph)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Write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One transaction, then 202 and a request id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Retain stores episode, chunks and an extract job in one transaction. Workers extract later.</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Extraction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Distilled Qwen3-1.7B student on the serving path</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Fine-tuned Qwen3-4B worker (mem-extractor) served by Ollama, with exact-quote checks and two repairs. Pi is only the coding agent.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Retrieval</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Full-text and vector search, rank fusion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Lexical, semantic, temporal and graph searches, rank fusion (k = 60), raw evidence fallback, optional distance cutoff</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Agent integration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Pi extension: spool, retain, recall, injected context</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Graph view</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Live page at /graph that draws the memory of one namespace from the real data</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Evaluation</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LongMemEval-S and LoCoMo, baselines B0 to B3, k6</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LongMemEval-S runner, no completed run yet. LoCoMo and k6 are Planned.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Tests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None reported</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Rust 83, Python 5 and TypeScript 9, all passing (slide 15)</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Observability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Request traces, OpenTelemetry</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50" dirty="0">
                          <a:solidFill>
                            <a:srgbClr val="1A1A1A"/>
                          </a:solidFill>
                          <a:latin typeface="Times New Roman" pitchFamily="34" charset="0"/>
                          <a:ea typeface="Times New Roman" pitchFamily="34" charset="-122"/>
                          <a:cs typeface="Times New Roman" pitchFamily="34" charset="-120"/>
                        </a:rPr>
                        <a:t>Traces in PostgreSQL, /healthz, /metrics, JSON logs</a:t>
                      </a:r>
                      <a:endParaRPr lang="en-US" sz="125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8503920" y="1371600"/>
            <a:ext cx="3090672" cy="34747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600" b="1" dirty="0">
                <a:solidFill>
                  <a:srgbClr val="1A1A1A"/>
                </a:solidFill>
                <a:latin typeface="Times New Roman" pitchFamily="34" charset="0"/>
                <a:ea typeface="Times New Roman" pitchFamily="34" charset="-122"/>
                <a:cs typeface="Times New Roman" pitchFamily="34" charset="-120"/>
              </a:rPr>
              <a:t>Claims that no longer hold</a:t>
            </a:r>
            <a:endParaRPr lang="en-US" sz="1600" dirty="0"/>
          </a:p>
        </p:txBody>
      </p:sp>
      <p:sp>
        <p:nvSpPr>
          <p:cNvPr id="5" name="Text 2"/>
          <p:cNvSpPr txBox="1"/>
          <p:nvPr/>
        </p:nvSpPr>
        <p:spPr>
          <a:xfrm>
            <a:off x="8613648" y="1847088"/>
            <a:ext cx="2871216" cy="3703320"/>
          </a:xfrm>
          <a:prstGeom prst="rect">
            <a:avLst/>
          </a:prstGeom>
          <a:noFill/>
          <a:ln/>
        </p:spPr>
        <p:txBody>
          <a:bodyPr wrap="square" lIns="0" tIns="0" rIns="0" bIns="0" rtlCol="0" anchor="t"/>
          <a:lstStyle/>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second store. Now: PostgreSQL plus a Neo4j 5.26 graph projection.</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the student is Qwen3-1.7B. Now: it is Qwen3-4B, retrained on the fact format and wired in as the worker.</a:t>
            </a:r>
            <a:endParaRPr lang="en-US" sz="1500" dirty="0"/>
          </a:p>
          <a:p>
            <a:pPr marL="228600" indent="-228600">
              <a:spcAft>
                <a:spcPts val="12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First Review: no memory data leaves the machine. Now: extraction runs locally, but Pi sends the coding chat to its own hosted model.</a:t>
            </a:r>
            <a:endParaRPr lang="en-US" sz="1500" dirty="0"/>
          </a:p>
        </p:txBody>
      </p:sp>
      <p:sp>
        <p:nvSpPr>
          <p:cNvPr id="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REFINED SYSTEM ARCHITECTURE</a:t>
            </a:r>
            <a:endParaRPr lang="en-US" sz="3000" dirty="0"/>
          </a:p>
        </p:txBody>
      </p:sp>
      <p:sp>
        <p:nvSpPr>
          <p:cNvPr id="3" name="Text 1"/>
          <p:cNvSpPr txBox="1"/>
          <p:nvPr/>
        </p:nvSpPr>
        <p:spPr>
          <a:xfrm>
            <a:off x="283464" y="1700784"/>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INTERFACE</a:t>
            </a:r>
            <a:endParaRPr lang="en-US" sz="1100" dirty="0"/>
          </a:p>
        </p:txBody>
      </p:sp>
      <p:sp>
        <p:nvSpPr>
          <p:cNvPr id="4" name="Text 2"/>
          <p:cNvSpPr txBox="1"/>
          <p:nvPr/>
        </p:nvSpPr>
        <p:spPr>
          <a:xfrm>
            <a:off x="283464" y="2761488"/>
            <a:ext cx="237744" cy="1188720"/>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APPLICATION</a:t>
            </a:r>
            <a:endParaRPr lang="en-US" sz="1100" dirty="0"/>
          </a:p>
        </p:txBody>
      </p:sp>
      <p:sp>
        <p:nvSpPr>
          <p:cNvPr id="5" name="Text 3"/>
          <p:cNvSpPr txBox="1"/>
          <p:nvPr/>
        </p:nvSpPr>
        <p:spPr>
          <a:xfrm>
            <a:off x="283464" y="4151376"/>
            <a:ext cx="237744" cy="1609344"/>
          </a:xfrm>
          <a:prstGeom prst="rect">
            <a:avLst/>
          </a:prstGeom>
          <a:noFill/>
          <a:ln/>
        </p:spPr>
        <p:txBody>
          <a:bodyPr wrap="square" lIns="0" tIns="0" rIns="0" bIns="0" rtlCol="0" anchor="ctr" vert="vert270"/>
          <a:lstStyle/>
          <a:p>
            <a:pPr algn="ctr" indent="0" marL="0">
              <a:buNone/>
            </a:pPr>
            <a:r>
              <a:rPr lang="en-US" sz="1100" b="1" dirty="0">
                <a:solidFill>
                  <a:srgbClr val="595959"/>
                </a:solidFill>
                <a:latin typeface="Times New Roman" pitchFamily="34" charset="0"/>
                <a:ea typeface="Times New Roman" pitchFamily="34" charset="-122"/>
                <a:cs typeface="Times New Roman" pitchFamily="34" charset="-120"/>
              </a:rPr>
              <a:t>DATA AND MODELS</a:t>
            </a:r>
            <a:endParaRPr lang="en-US" sz="1100" dirty="0"/>
          </a:p>
        </p:txBody>
      </p:sp>
      <p:sp>
        <p:nvSpPr>
          <p:cNvPr id="6" name="Text 4"/>
          <p:cNvSpPr/>
          <p:nvPr/>
        </p:nvSpPr>
        <p:spPr>
          <a:xfrm>
            <a:off x="2148840" y="1225296"/>
            <a:ext cx="132588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 extension</a:t>
            </a:r>
            <a:endParaRPr lang="en-US" sz="1300" dirty="0"/>
          </a:p>
        </p:txBody>
      </p:sp>
      <p:sp>
        <p:nvSpPr>
          <p:cNvPr id="93" name="Coding sessions box"/>
          <p:cNvSpPr/>
          <p:nvPr/>
        </p:nvSpPr>
        <p:spPr>
          <a:xfrm>
            <a:off x="594360" y="1225296"/>
            <a:ext cx="137160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Coding sessions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prompts, output</a:t>
            </a:r>
            <a:endParaRPr lang="en-US" sz="1300" dirty="0"/>
          </a:p>
        </p:txBody>
      </p:sp>
      <p:sp>
        <p:nvSpPr>
          <p:cNvPr id="7" name="Text 5"/>
          <p:cNvSpPr/>
          <p:nvPr/>
        </p:nvSpPr>
        <p:spPr>
          <a:xfrm>
            <a:off x="3566160" y="1225296"/>
            <a:ext cx="1554480" cy="530352"/>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Evaluation harness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runner, In progress</a:t>
            </a:r>
            <a:endParaRPr lang="en-US" sz="1300" dirty="0"/>
          </a:p>
        </p:txBody>
      </p:sp>
      <p:sp>
        <p:nvSpPr>
          <p:cNvPr id="8" name="Text 6"/>
          <p:cNvSpPr/>
          <p:nvPr/>
        </p:nvSpPr>
        <p:spPr>
          <a:xfrm>
            <a:off x="5394960" y="1225296"/>
            <a:ext cx="1828800" cy="530352"/>
          </a:xfrm>
          <a:prstGeom prst="rect">
            <a:avLst/>
          </a:prstGeom>
          <a:solidFill>
            <a:srgbClr val="FAFAFA"/>
          </a:solidFill>
          <a:ln w="12700">
            <a:solidFill>
              <a:srgbClr val="595959"/>
            </a:solidFill>
            <a:prstDash val="sysDot"/>
          </a:ln>
        </p:spPr>
        <p:txBody>
          <a:bodyPr wrap="square" lIns="63500" tIns="88900" rIns="88900" bIns="63500" rtlCol="0" anchor="t"/>
          <a:lstStyle/>
          <a:p>
            <a:pPr algn="l" indent="0" marL="0">
              <a:spcAft>
                <a:spcPts val="300"/>
              </a:spcAft>
              <a:buNone/>
            </a:pPr>
            <a:r>
              <a:rPr lang="en-US" sz="1300" b="1" dirty="0">
                <a:solidFill>
                  <a:srgbClr val="595959"/>
                </a:solidFill>
                <a:latin typeface="Times New Roman" pitchFamily="34" charset="0"/>
                <a:ea typeface="Times New Roman" pitchFamily="34" charset="-122"/>
                <a:cs typeface="Times New Roman" pitchFamily="34" charset="-120"/>
              </a:rPr>
              <a:t>k6, Criterion, LoCoMo</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Planned</a:t>
            </a:r>
            <a:endParaRPr lang="en-US" sz="1300" dirty="0"/>
          </a:p>
        </p:txBody>
      </p:sp>
      <p:sp>
        <p:nvSpPr>
          <p:cNvPr id="9" name="Text 7"/>
          <p:cNvSpPr/>
          <p:nvPr/>
        </p:nvSpPr>
        <p:spPr>
          <a:xfrm>
            <a:off x="7589520" y="1225296"/>
            <a:ext cx="1463040" cy="53035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reviewer, browser</a:t>
            </a:r>
            <a:endParaRPr lang="en-US" sz="1300" dirty="0"/>
          </a:p>
        </p:txBody>
      </p:sp>
      <p:sp>
        <p:nvSpPr>
          <p:cNvPr id="10" name="Text 8"/>
          <p:cNvSpPr/>
          <p:nvPr/>
        </p:nvSpPr>
        <p:spPr>
          <a:xfrm>
            <a:off x="594360" y="2029968"/>
            <a:ext cx="5715000" cy="53035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REST API, /api/v1 and /api/v2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v2 retain, recall, reflect; /swagger-ui, /healthz, /metrics</a:t>
            </a:r>
            <a:endParaRPr lang="en-US" sz="1300" dirty="0"/>
          </a:p>
        </p:txBody>
      </p:sp>
      <p:sp>
        <p:nvSpPr>
          <p:cNvPr id="11" name="Text 9"/>
          <p:cNvSpPr/>
          <p:nvPr/>
        </p:nvSpPr>
        <p:spPr>
          <a:xfrm>
            <a:off x="7589520" y="2029968"/>
            <a:ext cx="1463040" cy="53035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Console UI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ui.html at /</a:t>
            </a:r>
            <a:endParaRPr lang="en-US" sz="1300" dirty="0"/>
          </a:p>
        </p:txBody>
      </p:sp>
      <p:sp>
        <p:nvSpPr>
          <p:cNvPr id="12" name="Shape 10"/>
          <p:cNvSpPr/>
          <p:nvPr/>
        </p:nvSpPr>
        <p:spPr>
          <a:xfrm>
            <a:off x="594360" y="2834640"/>
            <a:ext cx="1874520" cy="1042416"/>
          </a:xfrm>
          <a:prstGeom prst="rect">
            <a:avLst/>
          </a:prstGeom>
          <a:solidFill>
            <a:srgbClr val="F2F2F2"/>
          </a:solidFill>
          <a:ln w="9525">
            <a:solidFill>
              <a:srgbClr val="BFBFBF"/>
            </a:solidFill>
            <a:prstDash val="solid"/>
          </a:ln>
        </p:spPr>
        <p:txBody>
          <a:bodyPr/>
          <a:p/>
        </p:txBody>
      </p:sp>
      <p:sp>
        <p:nvSpPr>
          <p:cNvPr id="13" name="Text 11"/>
          <p:cNvSpPr txBox="1"/>
          <p:nvPr/>
        </p:nvSpPr>
        <p:spPr>
          <a:xfrm>
            <a:off x="685800" y="2871216"/>
            <a:ext cx="164592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a:t>
            </a:r>
            <a:endParaRPr lang="en-US" sz="1300" dirty="0"/>
          </a:p>
        </p:txBody>
      </p:sp>
      <p:sp>
        <p:nvSpPr>
          <p:cNvPr id="14" name="Shape 12"/>
          <p:cNvSpPr/>
          <p:nvPr/>
        </p:nvSpPr>
        <p:spPr>
          <a:xfrm>
            <a:off x="2743200" y="2834640"/>
            <a:ext cx="4572000" cy="1042416"/>
          </a:xfrm>
          <a:prstGeom prst="rect">
            <a:avLst/>
          </a:prstGeom>
          <a:solidFill>
            <a:srgbClr val="F2F2F2"/>
          </a:solidFill>
          <a:ln w="9525">
            <a:solidFill>
              <a:srgbClr val="BFBFBF"/>
            </a:solidFill>
            <a:prstDash val="solid"/>
          </a:ln>
        </p:spPr>
        <p:txBody>
          <a:bodyPr/>
          <a:p/>
        </p:txBody>
      </p:sp>
      <p:sp>
        <p:nvSpPr>
          <p:cNvPr id="15" name="Text 13"/>
          <p:cNvSpPr txBox="1"/>
          <p:nvPr/>
        </p:nvSpPr>
        <p:spPr>
          <a:xfrm>
            <a:off x="2834640" y="2871216"/>
            <a:ext cx="2286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a:t>
            </a:r>
            <a:endParaRPr lang="en-US" sz="1300" dirty="0"/>
          </a:p>
        </p:txBody>
      </p:sp>
      <p:sp>
        <p:nvSpPr>
          <p:cNvPr id="16" name="Text 14"/>
          <p:cNvSpPr/>
          <p:nvPr/>
        </p:nvSpPr>
        <p:spPr>
          <a:xfrm>
            <a:off x="685800" y="3200400"/>
            <a:ext cx="169164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M3 Hybrid retrieval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arms, RRF</a:t>
            </a:r>
            <a:endParaRPr lang="en-US" sz="1300" dirty="0"/>
          </a:p>
        </p:txBody>
      </p:sp>
      <p:sp>
        <p:nvSpPr>
          <p:cNvPr id="17" name="Text 15"/>
          <p:cNvSpPr/>
          <p:nvPr/>
        </p:nvSpPr>
        <p:spPr>
          <a:xfrm>
            <a:off x="2852928" y="3200400"/>
            <a:ext cx="16002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M1 Service and persistence</a:t>
            </a:r>
            <a:endParaRPr lang="en-US" sz="1300" dirty="0"/>
          </a:p>
        </p:txBody>
      </p:sp>
      <p:sp>
        <p:nvSpPr>
          <p:cNvPr id="18" name="Text 16"/>
          <p:cNvSpPr/>
          <p:nvPr/>
        </p:nvSpPr>
        <p:spPr>
          <a:xfrm>
            <a:off x="5596128" y="3200400"/>
            <a:ext cx="1609344"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M2 Extraction and embeddings</a:t>
            </a:r>
            <a:endParaRPr lang="en-US" sz="1300" dirty="0"/>
          </a:p>
        </p:txBody>
      </p:sp>
      <p:sp>
        <p:nvSpPr>
          <p:cNvPr id="19" name="Text 17"/>
          <p:cNvSpPr/>
          <p:nvPr/>
        </p:nvSpPr>
        <p:spPr>
          <a:xfrm>
            <a:off x="7589520" y="2834640"/>
            <a:ext cx="14630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jobs, traces, metrics</a:t>
            </a:r>
            <a:endParaRPr lang="en-US" sz="1200" dirty="0"/>
          </a:p>
        </p:txBody>
      </p:sp>
      <p:sp>
        <p:nvSpPr>
          <p:cNvPr id="20" name="Text 18"/>
          <p:cNvSpPr/>
          <p:nvPr/>
        </p:nvSpPr>
        <p:spPr>
          <a:xfrm>
            <a:off x="7589520" y="3602736"/>
            <a:ext cx="1463040" cy="274320"/>
          </a:xfrm>
          <a:prstGeom prst="rect">
            <a:avLst/>
          </a:prstGeom>
          <a:solidFill>
            <a:srgbClr val="FAFAFA"/>
          </a:solidFill>
          <a:ln w="12700">
            <a:solidFill>
              <a:srgbClr val="595959"/>
            </a:solidFill>
            <a:prstDash val="sysDot"/>
          </a:ln>
        </p:spPr>
        <p:txBody>
          <a:bodyPr wrap="square" lIns="63500" tIns="88900" rIns="88900" bIns="63500" rtlCol="0" anchor="ctr"/>
          <a:lstStyle/>
          <a:p>
            <a:pPr algn="l" indent="0" marL="0">
              <a:buNone/>
            </a:pPr>
            <a:r>
              <a:rPr lang="en-US" sz="1100" dirty="0">
                <a:solidFill>
                  <a:srgbClr val="595959"/>
                </a:solidFill>
                <a:latin typeface="Times New Roman" pitchFamily="34" charset="0"/>
                <a:ea typeface="Times New Roman" pitchFamily="34" charset="-122"/>
                <a:cs typeface="Times New Roman" pitchFamily="34" charset="-120"/>
              </a:rPr>
              <a:t>decay, backup</a:t>
            </a:r>
            <a:endParaRPr lang="en-US" sz="1100" dirty="0"/>
          </a:p>
        </p:txBody>
      </p:sp>
      <p:sp>
        <p:nvSpPr>
          <p:cNvPr id="21" name="Text 19"/>
          <p:cNvSpPr/>
          <p:nvPr/>
        </p:nvSpPr>
        <p:spPr>
          <a:xfrm>
            <a:off x="594360" y="4608576"/>
            <a:ext cx="1463040" cy="1152144"/>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Neo4j 5.26</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knowledge graph, rebuildable projection</a:t>
            </a:r>
            <a:endParaRPr lang="en-US" sz="1300" dirty="0"/>
          </a:p>
        </p:txBody>
      </p:sp>
      <p:sp>
        <p:nvSpPr>
          <p:cNvPr id="22" name="Text 20"/>
          <p:cNvSpPr/>
          <p:nvPr/>
        </p:nvSpPr>
        <p:spPr>
          <a:xfrm>
            <a:off x="3246120" y="4608576"/>
            <a:ext cx="1783080" cy="1152144"/>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PostgreSQL 17 with pgvector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evidence, assertions, jobs, traces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SQLx pool of 10</a:t>
            </a:r>
            <a:endParaRPr lang="en-US" sz="1300" dirty="0"/>
          </a:p>
        </p:txBody>
      </p:sp>
      <p:sp>
        <p:nvSpPr>
          <p:cNvPr id="23" name="Shape 21"/>
          <p:cNvSpPr/>
          <p:nvPr/>
        </p:nvSpPr>
        <p:spPr>
          <a:xfrm>
            <a:off x="5303520" y="4151376"/>
            <a:ext cx="3438144" cy="1609344"/>
          </a:xfrm>
          <a:prstGeom prst="rect">
            <a:avLst/>
          </a:prstGeom>
          <a:solidFill>
            <a:srgbClr val="FAFAFA">
              <a:alpha val="0"/>
            </a:srgbClr>
          </a:solidFill>
          <a:ln w="15875">
            <a:solidFill>
              <a:srgbClr val="595959"/>
            </a:solidFill>
            <a:prstDash val="solid"/>
          </a:ln>
        </p:spPr>
        <p:txBody>
          <a:bodyPr/>
          <a:p/>
        </p:txBody>
      </p:sp>
      <p:sp>
        <p:nvSpPr>
          <p:cNvPr id="24" name="Text 22"/>
          <p:cNvSpPr txBox="1"/>
          <p:nvPr/>
        </p:nvSpPr>
        <p:spPr>
          <a:xfrm>
            <a:off x="5413248" y="4187952"/>
            <a:ext cx="3218688" cy="219456"/>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MODEL PROVIDERS, VIA TRAITS</a:t>
            </a:r>
            <a:endParaRPr lang="en-US" sz="1100" dirty="0"/>
          </a:p>
        </p:txBody>
      </p:sp>
      <p:sp>
        <p:nvSpPr>
          <p:cNvPr id="25" name="Text 23"/>
          <p:cNvSpPr/>
          <p:nvPr/>
        </p:nvSpPr>
        <p:spPr>
          <a:xfrm>
            <a:off x="5394960"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hosted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coding agent only</a:t>
            </a:r>
            <a:endParaRPr lang="en-US" sz="1300" dirty="0"/>
          </a:p>
        </p:txBody>
      </p:sp>
      <p:sp>
        <p:nvSpPr>
          <p:cNvPr id="26" name="Text 24"/>
          <p:cNvSpPr/>
          <p:nvPr/>
        </p:nvSpPr>
        <p:spPr>
          <a:xfrm>
            <a:off x="7068312" y="4443984"/>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Ollama, local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embedder, worker</a:t>
            </a:r>
            <a:endParaRPr lang="en-US" sz="1300" dirty="0"/>
          </a:p>
        </p:txBody>
      </p:sp>
      <p:sp>
        <p:nvSpPr>
          <p:cNvPr id="27" name="Text 25"/>
          <p:cNvSpPr/>
          <p:nvPr/>
        </p:nvSpPr>
        <p:spPr>
          <a:xfrm>
            <a:off x="5394960" y="5120640"/>
            <a:ext cx="1581912" cy="56692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Azure OpenAI</a:t>
            </a:r>
            <a:endParaRPr lang="en-US" sz="1300" dirty="0"/>
          </a:p>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hosted, In progress</a:t>
            </a:r>
            <a:endParaRPr lang="en-US" sz="1300" dirty="0"/>
          </a:p>
        </p:txBody>
      </p:sp>
      <p:sp>
        <p:nvSpPr>
          <p:cNvPr id="28" name="Text 26"/>
          <p:cNvSpPr/>
          <p:nvPr/>
        </p:nvSpPr>
        <p:spPr>
          <a:xfrm>
            <a:off x="7068312" y="5120640"/>
            <a:ext cx="1581912" cy="56692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mem-extractor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the worker</a:t>
            </a:r>
            <a:endParaRPr lang="en-US" sz="1300" dirty="0"/>
          </a:p>
        </p:txBody>
      </p:sp>
      <p:sp>
        <p:nvSpPr>
          <p:cNvPr id="29" name="Shape 27"/>
          <p:cNvSpPr/>
          <p:nvPr/>
        </p:nvSpPr>
        <p:spPr>
          <a:xfrm>
            <a:off x="9326880" y="1225296"/>
            <a:ext cx="2267712" cy="4535424"/>
          </a:xfrm>
          <a:prstGeom prst="rect">
            <a:avLst/>
          </a:prstGeom>
          <a:solidFill>
            <a:srgbClr val="FAFAFA">
              <a:alpha val="0"/>
            </a:srgbClr>
          </a:solidFill>
          <a:ln w="15875">
            <a:solidFill>
              <a:srgbClr val="595959"/>
            </a:solidFill>
            <a:prstDash val="solid"/>
          </a:ln>
        </p:spPr>
        <p:txBody>
          <a:bodyPr/>
          <a:p/>
        </p:txBody>
      </p:sp>
      <p:sp>
        <p:nvSpPr>
          <p:cNvPr id="30" name="Text 28"/>
          <p:cNvSpPr txBox="1"/>
          <p:nvPr/>
        </p:nvSpPr>
        <p:spPr>
          <a:xfrm>
            <a:off x="9436608" y="1280160"/>
            <a:ext cx="2084832"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OFFLINE TRAINING</a:t>
            </a:r>
            <a:endParaRPr lang="en-US" sz="1300" dirty="0"/>
          </a:p>
        </p:txBody>
      </p:sp>
      <p:sp>
        <p:nvSpPr>
          <p:cNvPr id="31" name="Text 29"/>
          <p:cNvSpPr txBox="1"/>
          <p:nvPr/>
        </p:nvSpPr>
        <p:spPr>
          <a:xfrm>
            <a:off x="9454896" y="1627632"/>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In progress</a:t>
            </a:r>
            <a:endParaRPr lang="en-US" sz="1100" dirty="0"/>
          </a:p>
        </p:txBody>
      </p:sp>
      <p:sp>
        <p:nvSpPr>
          <p:cNvPr id="32" name="Text 30"/>
          <p:cNvSpPr txBox="1"/>
          <p:nvPr/>
        </p:nvSpPr>
        <p:spPr>
          <a:xfrm>
            <a:off x="9454896" y="1828800"/>
            <a:ext cx="2084832"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not in the request path</a:t>
            </a:r>
            <a:endParaRPr lang="en-US" sz="1100" dirty="0"/>
          </a:p>
        </p:txBody>
      </p:sp>
      <p:sp>
        <p:nvSpPr>
          <p:cNvPr id="33" name="Text 31"/>
          <p:cNvSpPr/>
          <p:nvPr/>
        </p:nvSpPr>
        <p:spPr>
          <a:xfrm>
            <a:off x="9418320" y="2139696"/>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Teacher LLM, hosted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labels the windows</a:t>
            </a:r>
            <a:endParaRPr lang="en-US" sz="1300" dirty="0"/>
          </a:p>
        </p:txBody>
      </p:sp>
      <p:sp>
        <p:nvSpPr>
          <p:cNvPr id="34" name="Text 32"/>
          <p:cNvSpPr/>
          <p:nvPr/>
        </p:nvSpPr>
        <p:spPr>
          <a:xfrm>
            <a:off x="9418320" y="3096768"/>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Silver corpus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784 windows, 3,706 memories</a:t>
            </a:r>
            <a:endParaRPr lang="en-US" sz="1300" dirty="0"/>
          </a:p>
        </p:txBody>
      </p:sp>
      <p:sp>
        <p:nvSpPr>
          <p:cNvPr id="35" name="Text 33"/>
          <p:cNvSpPr/>
          <p:nvPr/>
        </p:nvSpPr>
        <p:spPr>
          <a:xfrm>
            <a:off x="9418320" y="4053840"/>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QLoRA distillation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Qwen3-4B, 4-bit NF4</a:t>
            </a:r>
            <a:endParaRPr lang="en-US" sz="1300" dirty="0"/>
          </a:p>
        </p:txBody>
      </p:sp>
      <p:sp>
        <p:nvSpPr>
          <p:cNvPr id="36" name="Text 34"/>
          <p:cNvSpPr/>
          <p:nvPr/>
        </p:nvSpPr>
        <p:spPr>
          <a:xfrm>
            <a:off x="9418320" y="5010912"/>
            <a:ext cx="2084832" cy="658368"/>
          </a:xfrm>
          <a:prstGeom prst="rect">
            <a:avLst/>
          </a:prstGeom>
          <a:solidFill>
            <a:srgbClr val="FFFFFF"/>
          </a:solidFill>
          <a:ln w="12700">
            <a:solidFill>
              <a:srgbClr val="333333"/>
            </a:solidFill>
            <a:prstDash val="dashDot"/>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Model artifact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GGUF on Hugging Face</a:t>
            </a:r>
            <a:endParaRPr lang="en-US" sz="1300" dirty="0"/>
          </a:p>
        </p:txBody>
      </p:sp>
      <p:cxnSp>
        <p:nvCxnSpPr>
          <p:cNvPr id="37" name="Connector 37"/>
          <p:cNvCxnSpPr/>
          <p:nvPr/>
        </p:nvCxnSpPr>
        <p:spPr>
          <a:xfrm>
            <a:off x="2423160" y="1755648"/>
            <a:ext cx="0" cy="274320"/>
          </a:xfrm>
          <a:prstGeom prst="straightConnector1">
            <a:avLst/>
          </a:prstGeom>
          <a:noFill/>
          <a:ln w="15875">
            <a:solidFill>
              <a:srgbClr val="333333"/>
            </a:solidFill>
            <a:prstDash val="solid"/>
            <a:tailEnd type="triangle"/>
          </a:ln>
        </p:spPr>
      </p:cxnSp>
      <p:sp>
        <p:nvSpPr>
          <p:cNvPr id="38" name="Text 36"/>
          <p:cNvSpPr txBox="1"/>
          <p:nvPr/>
        </p:nvSpPr>
        <p:spPr>
          <a:xfrm>
            <a:off x="2496312" y="1783080"/>
            <a:ext cx="54864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39" name="Connector 39"/>
          <p:cNvCxnSpPr/>
          <p:nvPr/>
        </p:nvCxnSpPr>
        <p:spPr>
          <a:xfrm flipV="1">
            <a:off x="3246120" y="1755648"/>
            <a:ext cx="0" cy="274320"/>
          </a:xfrm>
          <a:prstGeom prst="straightConnector1">
            <a:avLst/>
          </a:prstGeom>
          <a:noFill/>
          <a:ln w="15875">
            <a:solidFill>
              <a:srgbClr val="333333"/>
            </a:solidFill>
            <a:prstDash val="solid"/>
            <a:tailEnd type="triangle"/>
          </a:ln>
        </p:spPr>
      </p:cxnSp>
      <p:sp>
        <p:nvSpPr>
          <p:cNvPr id="40" name="Text 38"/>
          <p:cNvSpPr txBox="1"/>
          <p:nvPr/>
        </p:nvSpPr>
        <p:spPr>
          <a:xfrm>
            <a:off x="3319272" y="1783080"/>
            <a:ext cx="59436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cxnSp>
        <p:nvCxnSpPr>
          <p:cNvPr id="41" name="Connector 41"/>
          <p:cNvCxnSpPr/>
          <p:nvPr/>
        </p:nvCxnSpPr>
        <p:spPr>
          <a:xfrm>
            <a:off x="4023360" y="1755648"/>
            <a:ext cx="0" cy="274320"/>
          </a:xfrm>
          <a:prstGeom prst="straightConnector1">
            <a:avLst/>
          </a:prstGeom>
          <a:noFill/>
          <a:ln w="15875">
            <a:solidFill>
              <a:srgbClr val="333333"/>
            </a:solidFill>
            <a:prstDash val="solid"/>
            <a:tailEnd type="triangle"/>
          </a:ln>
        </p:spPr>
      </p:cxnSp>
      <p:sp>
        <p:nvSpPr>
          <p:cNvPr id="42" name="Text 40"/>
          <p:cNvSpPr txBox="1"/>
          <p:nvPr/>
        </p:nvSpPr>
        <p:spPr>
          <a:xfrm>
            <a:off x="4096512" y="1783080"/>
            <a:ext cx="123444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benchmark queries</a:t>
            </a:r>
            <a:endParaRPr lang="en-US" sz="1100" dirty="0"/>
          </a:p>
        </p:txBody>
      </p:sp>
      <p:cxnSp>
        <p:nvCxnSpPr>
          <p:cNvPr id="43" name="Connector 43"/>
          <p:cNvCxnSpPr/>
          <p:nvPr/>
        </p:nvCxnSpPr>
        <p:spPr>
          <a:xfrm>
            <a:off x="7863840" y="1755648"/>
            <a:ext cx="0" cy="274320"/>
          </a:xfrm>
          <a:prstGeom prst="straightConnector1">
            <a:avLst/>
          </a:prstGeom>
          <a:noFill/>
          <a:ln w="15875">
            <a:solidFill>
              <a:srgbClr val="333333"/>
            </a:solidFill>
            <a:prstDash val="solid"/>
            <a:tailEnd type="triangle"/>
          </a:ln>
        </p:spPr>
      </p:cxnSp>
      <p:sp>
        <p:nvSpPr>
          <p:cNvPr id="44" name="Text 42"/>
          <p:cNvSpPr txBox="1"/>
          <p:nvPr/>
        </p:nvSpPr>
        <p:spPr>
          <a:xfrm>
            <a:off x="7936992" y="1783080"/>
            <a:ext cx="64008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browser</a:t>
            </a:r>
            <a:endParaRPr lang="en-US" sz="1100" dirty="0"/>
          </a:p>
        </p:txBody>
      </p:sp>
      <p:cxnSp>
        <p:nvCxnSpPr>
          <p:cNvPr id="45" name="Connector 45"/>
          <p:cNvCxnSpPr>
            <a:stCxn id="11" idx="1"/>
            <a:endCxn id="10" idx="3"/>
          </p:cNvCxnSpPr>
          <p:nvPr/>
        </p:nvCxnSpPr>
        <p:spPr>
          <a:xfrm flipH="1">
            <a:off x="6309360" y="2295144"/>
            <a:ext cx="1280160" cy="0"/>
          </a:xfrm>
          <a:prstGeom prst="straightConnector1">
            <a:avLst/>
          </a:prstGeom>
          <a:noFill/>
          <a:ln w="15875">
            <a:solidFill>
              <a:srgbClr val="333333"/>
            </a:solidFill>
            <a:prstDash val="solid"/>
            <a:tailEnd type="triangle"/>
          </a:ln>
        </p:spPr>
      </p:cxnSp>
      <p:cxnSp>
        <p:nvCxnSpPr>
          <p:cNvPr id="94" name="Sessions arrow"/>
          <p:cNvCxnSpPr>
            <a:stCxn id="11" idx="1"/>
            <a:endCxn id="10" idx="3"/>
          </p:cNvCxnSpPr>
          <p:nvPr/>
        </p:nvCxnSpPr>
        <p:spPr>
          <a:xfrm flipH="1">
            <a:off x="1965960" y="1490472"/>
            <a:ext cx="182880" cy="0"/>
          </a:xfrm>
          <a:prstGeom prst="straightConnector1">
            <a:avLst/>
          </a:prstGeom>
          <a:noFill/>
          <a:ln w="15875">
            <a:solidFill>
              <a:srgbClr val="333333"/>
            </a:solidFill>
            <a:prstDash val="solid"/>
            <a:tailEnd type="triangle"/>
          </a:ln>
        </p:spPr>
      </p:cxnSp>
      <p:sp>
        <p:nvSpPr>
          <p:cNvPr id="46" name="Text 44"/>
          <p:cNvSpPr txBox="1"/>
          <p:nvPr/>
        </p:nvSpPr>
        <p:spPr>
          <a:xfrm>
            <a:off x="6515100" y="2011680"/>
            <a:ext cx="8686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fetch JSON</a:t>
            </a:r>
            <a:endParaRPr lang="en-US" sz="1100" dirty="0"/>
          </a:p>
        </p:txBody>
      </p:sp>
      <p:cxnSp>
        <p:nvCxnSpPr>
          <p:cNvPr id="47" name="Connector 47"/>
          <p:cNvCxnSpPr/>
          <p:nvPr/>
        </p:nvCxnSpPr>
        <p:spPr>
          <a:xfrm>
            <a:off x="2240280" y="2560320"/>
            <a:ext cx="0" cy="640080"/>
          </a:xfrm>
          <a:prstGeom prst="straightConnector1">
            <a:avLst/>
          </a:prstGeom>
          <a:noFill/>
          <a:ln w="15875">
            <a:solidFill>
              <a:srgbClr val="333333"/>
            </a:solidFill>
            <a:prstDash val="solid"/>
            <a:tailEnd type="triangle"/>
          </a:ln>
        </p:spPr>
      </p:cxnSp>
      <p:sp>
        <p:nvSpPr>
          <p:cNvPr id="48" name="Text 46"/>
          <p:cNvSpPr txBox="1"/>
          <p:nvPr/>
        </p:nvSpPr>
        <p:spPr>
          <a:xfrm>
            <a:off x="23134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recall</a:t>
            </a:r>
            <a:endParaRPr lang="en-US" sz="1100" dirty="0"/>
          </a:p>
        </p:txBody>
      </p:sp>
      <p:cxnSp>
        <p:nvCxnSpPr>
          <p:cNvPr id="49" name="Connector 49"/>
          <p:cNvCxnSpPr/>
          <p:nvPr/>
        </p:nvCxnSpPr>
        <p:spPr>
          <a:xfrm>
            <a:off x="4297680" y="2560320"/>
            <a:ext cx="0" cy="640080"/>
          </a:xfrm>
          <a:prstGeom prst="straightConnector1">
            <a:avLst/>
          </a:prstGeom>
          <a:noFill/>
          <a:ln w="15875">
            <a:solidFill>
              <a:srgbClr val="333333"/>
            </a:solidFill>
            <a:prstDash val="solid"/>
            <a:tailEnd type="triangle"/>
          </a:ln>
        </p:spPr>
      </p:cxnSp>
      <p:sp>
        <p:nvSpPr>
          <p:cNvPr id="50" name="Text 48"/>
          <p:cNvSpPr txBox="1"/>
          <p:nvPr/>
        </p:nvSpPr>
        <p:spPr>
          <a:xfrm>
            <a:off x="4370832" y="2587752"/>
            <a:ext cx="4572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retain</a:t>
            </a:r>
            <a:endParaRPr lang="en-US" sz="1100" dirty="0"/>
          </a:p>
        </p:txBody>
      </p:sp>
      <p:cxnSp>
        <p:nvCxnSpPr>
          <p:cNvPr id="51" name="Connector 51"/>
          <p:cNvCxnSpPr/>
          <p:nvPr/>
        </p:nvCxnSpPr>
        <p:spPr>
          <a:xfrm>
            <a:off x="5852160" y="2560320"/>
            <a:ext cx="0" cy="164592"/>
          </a:xfrm>
          <a:prstGeom prst="straightConnector1">
            <a:avLst/>
          </a:prstGeom>
          <a:noFill/>
          <a:ln w="15875">
            <a:solidFill>
              <a:srgbClr val="333333"/>
            </a:solidFill>
            <a:prstDash val="solid"/>
          </a:ln>
        </p:spPr>
      </p:cxnSp>
      <p:cxnSp>
        <p:nvCxnSpPr>
          <p:cNvPr id="52" name="Connector 52"/>
          <p:cNvCxnSpPr/>
          <p:nvPr/>
        </p:nvCxnSpPr>
        <p:spPr>
          <a:xfrm>
            <a:off x="5852160" y="2724912"/>
            <a:ext cx="2651760" cy="0"/>
          </a:xfrm>
          <a:prstGeom prst="straightConnector1">
            <a:avLst/>
          </a:prstGeom>
          <a:noFill/>
          <a:ln w="15875">
            <a:solidFill>
              <a:srgbClr val="333333"/>
            </a:solidFill>
            <a:prstDash val="solid"/>
          </a:ln>
        </p:spPr>
      </p:cxnSp>
      <p:cxnSp>
        <p:nvCxnSpPr>
          <p:cNvPr id="53" name="Connector 53"/>
          <p:cNvCxnSpPr/>
          <p:nvPr/>
        </p:nvCxnSpPr>
        <p:spPr>
          <a:xfrm>
            <a:off x="8503920" y="2724912"/>
            <a:ext cx="0" cy="109728"/>
          </a:xfrm>
          <a:prstGeom prst="straightConnector1">
            <a:avLst/>
          </a:prstGeom>
          <a:noFill/>
          <a:ln w="15875">
            <a:solidFill>
              <a:srgbClr val="333333"/>
            </a:solidFill>
            <a:prstDash val="solid"/>
            <a:tailEnd type="triangle"/>
          </a:ln>
        </p:spPr>
      </p:cxnSp>
      <p:sp>
        <p:nvSpPr>
          <p:cNvPr id="54" name="Text 52"/>
          <p:cNvSpPr txBox="1"/>
          <p:nvPr/>
        </p:nvSpPr>
        <p:spPr>
          <a:xfrm>
            <a:off x="6697980" y="2633472"/>
            <a:ext cx="960120" cy="182880"/>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status, traces</a:t>
            </a:r>
            <a:endParaRPr lang="en-US" sz="1100" dirty="0"/>
          </a:p>
        </p:txBody>
      </p:sp>
      <p:cxnSp>
        <p:nvCxnSpPr>
          <p:cNvPr id="55" name="Connector 55"/>
          <p:cNvCxnSpPr/>
          <p:nvPr/>
        </p:nvCxnSpPr>
        <p:spPr>
          <a:xfrm>
            <a:off x="4453128" y="3383280"/>
            <a:ext cx="1143000" cy="0"/>
          </a:xfrm>
          <a:prstGeom prst="straightConnector1">
            <a:avLst/>
          </a:prstGeom>
          <a:noFill/>
          <a:ln w="15875">
            <a:solidFill>
              <a:srgbClr val="333333"/>
            </a:solidFill>
            <a:prstDash val="solid"/>
            <a:tailEnd type="triangle"/>
          </a:ln>
        </p:spPr>
      </p:cxnSp>
      <p:sp>
        <p:nvSpPr>
          <p:cNvPr id="56" name="Text 54"/>
          <p:cNvSpPr txBox="1"/>
          <p:nvPr/>
        </p:nvSpPr>
        <p:spPr>
          <a:xfrm>
            <a:off x="4613148" y="3154680"/>
            <a:ext cx="8229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57" name="Connector 57"/>
          <p:cNvCxnSpPr/>
          <p:nvPr/>
        </p:nvCxnSpPr>
        <p:spPr>
          <a:xfrm flipH="1">
            <a:off x="4453128" y="3657600"/>
            <a:ext cx="1143000" cy="0"/>
          </a:xfrm>
          <a:prstGeom prst="straightConnector1">
            <a:avLst/>
          </a:prstGeom>
          <a:noFill/>
          <a:ln w="15875">
            <a:solidFill>
              <a:srgbClr val="333333"/>
            </a:solidFill>
            <a:prstDash val="solid"/>
            <a:tailEnd type="triangle"/>
          </a:ln>
        </p:spPr>
      </p:cxnSp>
      <p:sp>
        <p:nvSpPr>
          <p:cNvPr id="58" name="Text 56"/>
          <p:cNvSpPr txBox="1"/>
          <p:nvPr/>
        </p:nvSpPr>
        <p:spPr>
          <a:xfrm>
            <a:off x="4750308" y="3429000"/>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claims</a:t>
            </a:r>
            <a:endParaRPr lang="en-US" sz="1100" dirty="0"/>
          </a:p>
        </p:txBody>
      </p:sp>
      <p:cxnSp>
        <p:nvCxnSpPr>
          <p:cNvPr id="59" name="Connector 59"/>
          <p:cNvCxnSpPr/>
          <p:nvPr/>
        </p:nvCxnSpPr>
        <p:spPr>
          <a:xfrm>
            <a:off x="3931920" y="3785616"/>
            <a:ext cx="0" cy="822960"/>
          </a:xfrm>
          <a:prstGeom prst="straightConnector1">
            <a:avLst/>
          </a:prstGeom>
          <a:noFill/>
          <a:ln w="15875">
            <a:solidFill>
              <a:srgbClr val="333333"/>
            </a:solidFill>
            <a:prstDash val="solid"/>
            <a:tailEnd type="triangle"/>
          </a:ln>
        </p:spPr>
      </p:cxnSp>
      <p:sp>
        <p:nvSpPr>
          <p:cNvPr id="60" name="Text 58"/>
          <p:cNvSpPr txBox="1"/>
          <p:nvPr/>
        </p:nvSpPr>
        <p:spPr>
          <a:xfrm>
            <a:off x="4005072" y="4087368"/>
            <a:ext cx="91440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episode, jobs</a:t>
            </a:r>
            <a:endParaRPr lang="en-US" sz="1100" dirty="0"/>
          </a:p>
        </p:txBody>
      </p:sp>
      <p:cxnSp>
        <p:nvCxnSpPr>
          <p:cNvPr id="61" name="Connector 61"/>
          <p:cNvCxnSpPr/>
          <p:nvPr/>
        </p:nvCxnSpPr>
        <p:spPr>
          <a:xfrm>
            <a:off x="1097280" y="3785616"/>
            <a:ext cx="0" cy="822960"/>
          </a:xfrm>
          <a:prstGeom prst="straightConnector1">
            <a:avLst/>
          </a:prstGeom>
          <a:noFill/>
          <a:ln w="15875">
            <a:solidFill>
              <a:srgbClr val="333333"/>
            </a:solidFill>
            <a:prstDash val="solid"/>
            <a:tailEnd type="triangle"/>
          </a:ln>
        </p:spPr>
      </p:cxnSp>
      <p:sp>
        <p:nvSpPr>
          <p:cNvPr id="62" name="Text 60"/>
          <p:cNvSpPr txBox="1"/>
          <p:nvPr/>
        </p:nvSpPr>
        <p:spPr>
          <a:xfrm>
            <a:off x="1170432" y="4087368"/>
            <a:ext cx="960120" cy="219456"/>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Cypher, 2 hops</a:t>
            </a:r>
            <a:endParaRPr lang="en-US" sz="1100" dirty="0"/>
          </a:p>
        </p:txBody>
      </p:sp>
      <p:cxnSp>
        <p:nvCxnSpPr>
          <p:cNvPr id="63" name="Connector 63"/>
          <p:cNvCxnSpPr/>
          <p:nvPr/>
        </p:nvCxnSpPr>
        <p:spPr>
          <a:xfrm>
            <a:off x="2286000" y="3785616"/>
            <a:ext cx="0" cy="1170432"/>
          </a:xfrm>
          <a:prstGeom prst="straightConnector1">
            <a:avLst/>
          </a:prstGeom>
          <a:noFill/>
          <a:ln w="15875">
            <a:solidFill>
              <a:srgbClr val="333333"/>
            </a:solidFill>
            <a:prstDash val="solid"/>
          </a:ln>
        </p:spPr>
      </p:cxnSp>
      <p:cxnSp>
        <p:nvCxnSpPr>
          <p:cNvPr id="64" name="Connector 64"/>
          <p:cNvCxnSpPr/>
          <p:nvPr/>
        </p:nvCxnSpPr>
        <p:spPr>
          <a:xfrm>
            <a:off x="2286000" y="4956048"/>
            <a:ext cx="960120" cy="0"/>
          </a:xfrm>
          <a:prstGeom prst="straightConnector1">
            <a:avLst/>
          </a:prstGeom>
          <a:noFill/>
          <a:ln w="15875">
            <a:solidFill>
              <a:srgbClr val="333333"/>
            </a:solidFill>
            <a:prstDash val="solid"/>
            <a:tailEnd type="triangle"/>
          </a:ln>
        </p:spPr>
      </p:cxnSp>
      <p:sp>
        <p:nvSpPr>
          <p:cNvPr id="65" name="Text 63"/>
          <p:cNvSpPr txBox="1"/>
          <p:nvPr/>
        </p:nvSpPr>
        <p:spPr>
          <a:xfrm>
            <a:off x="2359152" y="4727448"/>
            <a:ext cx="886968"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SQL</a:t>
            </a:r>
            <a:endParaRPr lang="en-US" sz="1100" dirty="0"/>
          </a:p>
        </p:txBody>
      </p:sp>
      <p:cxnSp>
        <p:nvCxnSpPr>
          <p:cNvPr id="66" name="Connector 66"/>
          <p:cNvCxnSpPr/>
          <p:nvPr/>
        </p:nvCxnSpPr>
        <p:spPr>
          <a:xfrm flipH="1">
            <a:off x="2057400" y="5530291"/>
            <a:ext cx="1188720" cy="0"/>
          </a:xfrm>
          <a:prstGeom prst="straightConnector1">
            <a:avLst/>
          </a:prstGeom>
          <a:noFill/>
          <a:ln w="15875">
            <a:solidFill>
              <a:srgbClr val="333333"/>
            </a:solidFill>
            <a:prstDash val="solid"/>
            <a:tailEnd type="triangle"/>
          </a:ln>
        </p:spPr>
      </p:cxnSp>
      <p:sp>
        <p:nvSpPr>
          <p:cNvPr id="67" name="Text 65"/>
          <p:cNvSpPr txBox="1"/>
          <p:nvPr/>
        </p:nvSpPr>
        <p:spPr>
          <a:xfrm>
            <a:off x="2125980" y="5301691"/>
            <a:ext cx="105156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Cypher</a:t>
            </a:r>
            <a:endParaRPr lang="en-US" sz="1100" dirty="0"/>
          </a:p>
        </p:txBody>
      </p:sp>
      <p:cxnSp>
        <p:nvCxnSpPr>
          <p:cNvPr id="68" name="Connector 68"/>
          <p:cNvCxnSpPr/>
          <p:nvPr/>
        </p:nvCxnSpPr>
        <p:spPr>
          <a:xfrm>
            <a:off x="5897880" y="3785616"/>
            <a:ext cx="0" cy="365760"/>
          </a:xfrm>
          <a:prstGeom prst="straightConnector1">
            <a:avLst/>
          </a:prstGeom>
          <a:noFill/>
          <a:ln w="15875">
            <a:solidFill>
              <a:srgbClr val="333333"/>
            </a:solidFill>
            <a:prstDash val="solid"/>
            <a:tailEnd type="triangle"/>
          </a:ln>
        </p:spPr>
      </p:cxnSp>
      <p:sp>
        <p:nvSpPr>
          <p:cNvPr id="69" name="Text 67"/>
          <p:cNvSpPr txBox="1"/>
          <p:nvPr/>
        </p:nvSpPr>
        <p:spPr>
          <a:xfrm>
            <a:off x="4910328" y="3913632"/>
            <a:ext cx="914400" cy="201168"/>
          </a:xfrm>
          <a:prstGeom prst="rect">
            <a:avLst/>
          </a:prstGeom>
          <a:noFill/>
          <a:ln/>
        </p:spPr>
        <p:txBody>
          <a:bodyPr wrap="square" lIns="0" tIns="0" rIns="0" bIns="0" rtlCol="0" anchor="ctr"/>
          <a:lstStyle/>
          <a:p>
            <a:pPr algn="r" indent="0" marL="0">
              <a:buNone/>
            </a:pPr>
            <a:r>
              <a:rPr lang="en-US" sz="1100" i="1" dirty="0">
                <a:solidFill>
                  <a:srgbClr val="595959"/>
                </a:solidFill>
                <a:latin typeface="Times New Roman" pitchFamily="34" charset="0"/>
                <a:ea typeface="Times New Roman" pitchFamily="34" charset="-122"/>
                <a:cs typeface="Times New Roman" pitchFamily="34" charset="-120"/>
              </a:rPr>
              <a:t>prompts, text</a:t>
            </a:r>
            <a:endParaRPr lang="en-US" sz="1100" dirty="0"/>
          </a:p>
        </p:txBody>
      </p:sp>
      <p:cxnSp>
        <p:nvCxnSpPr>
          <p:cNvPr id="70" name="Connector 70"/>
          <p:cNvCxnSpPr>
            <a:endCxn id="18" idx="2"/>
          </p:cNvCxnSpPr>
          <p:nvPr/>
        </p:nvCxnSpPr>
        <p:spPr>
          <a:xfrm flipV="1">
            <a:off x="6400800" y="3785616"/>
            <a:ext cx="0" cy="365760"/>
          </a:xfrm>
          <a:prstGeom prst="straightConnector1">
            <a:avLst/>
          </a:prstGeom>
          <a:noFill/>
          <a:ln w="15875">
            <a:solidFill>
              <a:srgbClr val="333333"/>
            </a:solidFill>
            <a:prstDash val="solid"/>
            <a:tailEnd type="triangle"/>
          </a:ln>
        </p:spPr>
      </p:cxnSp>
      <p:sp>
        <p:nvSpPr>
          <p:cNvPr id="71" name="Text 69"/>
          <p:cNvSpPr txBox="1"/>
          <p:nvPr/>
        </p:nvSpPr>
        <p:spPr>
          <a:xfrm>
            <a:off x="6473952" y="3913632"/>
            <a:ext cx="100584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claims, vectors</a:t>
            </a:r>
            <a:endParaRPr lang="en-US" sz="1100" dirty="0"/>
          </a:p>
        </p:txBody>
      </p:sp>
      <p:cxnSp>
        <p:nvCxnSpPr>
          <p:cNvPr id="72" name="Connector 72"/>
          <p:cNvCxnSpPr/>
          <p:nvPr/>
        </p:nvCxnSpPr>
        <p:spPr>
          <a:xfrm>
            <a:off x="10043770" y="2798064"/>
            <a:ext cx="0" cy="298704"/>
          </a:xfrm>
          <a:prstGeom prst="straightConnector1">
            <a:avLst/>
          </a:prstGeom>
          <a:noFill/>
          <a:ln w="15875">
            <a:solidFill>
              <a:srgbClr val="333333"/>
            </a:solidFill>
            <a:prstDash val="solid"/>
            <a:tailEnd type="triangle"/>
          </a:ln>
        </p:spPr>
      </p:cxnSp>
      <p:sp>
        <p:nvSpPr>
          <p:cNvPr id="73" name="Text 71"/>
          <p:cNvSpPr txBox="1"/>
          <p:nvPr/>
        </p:nvSpPr>
        <p:spPr>
          <a:xfrm>
            <a:off x="10116922" y="2846832"/>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memory labels</a:t>
            </a:r>
            <a:endParaRPr lang="en-US" sz="1100" dirty="0"/>
          </a:p>
        </p:txBody>
      </p:sp>
      <p:cxnSp>
        <p:nvCxnSpPr>
          <p:cNvPr id="74" name="Connector 74"/>
          <p:cNvCxnSpPr/>
          <p:nvPr/>
        </p:nvCxnSpPr>
        <p:spPr>
          <a:xfrm>
            <a:off x="10043770" y="3755136"/>
            <a:ext cx="0" cy="298704"/>
          </a:xfrm>
          <a:prstGeom prst="straightConnector1">
            <a:avLst/>
          </a:prstGeom>
          <a:noFill/>
          <a:ln w="15875">
            <a:solidFill>
              <a:srgbClr val="333333"/>
            </a:solidFill>
            <a:prstDash val="solid"/>
            <a:tailEnd type="triangle"/>
          </a:ln>
        </p:spPr>
      </p:cxnSp>
      <p:sp>
        <p:nvSpPr>
          <p:cNvPr id="75" name="Text 73"/>
          <p:cNvSpPr txBox="1"/>
          <p:nvPr/>
        </p:nvSpPr>
        <p:spPr>
          <a:xfrm>
            <a:off x="10116922" y="3803904"/>
            <a:ext cx="96012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training pairs</a:t>
            </a:r>
            <a:endParaRPr lang="en-US" sz="1100" dirty="0"/>
          </a:p>
        </p:txBody>
      </p:sp>
      <p:cxnSp>
        <p:nvCxnSpPr>
          <p:cNvPr id="76" name="Connector 76"/>
          <p:cNvCxnSpPr/>
          <p:nvPr/>
        </p:nvCxnSpPr>
        <p:spPr>
          <a:xfrm>
            <a:off x="10043770" y="4712208"/>
            <a:ext cx="0" cy="298704"/>
          </a:xfrm>
          <a:prstGeom prst="straightConnector1">
            <a:avLst/>
          </a:prstGeom>
          <a:noFill/>
          <a:ln w="15875">
            <a:solidFill>
              <a:srgbClr val="333333"/>
            </a:solidFill>
            <a:prstDash val="solid"/>
            <a:tailEnd type="triangle"/>
          </a:ln>
        </p:spPr>
      </p:cxnSp>
      <p:sp>
        <p:nvSpPr>
          <p:cNvPr id="77" name="Text 75"/>
          <p:cNvSpPr txBox="1"/>
          <p:nvPr/>
        </p:nvSpPr>
        <p:spPr>
          <a:xfrm>
            <a:off x="10116922" y="4760976"/>
            <a:ext cx="91440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GGUF</a:t>
            </a:r>
            <a:endParaRPr lang="en-US" sz="1100" dirty="0"/>
          </a:p>
        </p:txBody>
      </p:sp>
      <p:cxnSp>
        <p:nvCxnSpPr>
          <p:cNvPr id="78" name="Connector 78"/>
          <p:cNvCxnSpPr/>
          <p:nvPr/>
        </p:nvCxnSpPr>
        <p:spPr>
          <a:xfrm flipH="1">
            <a:off x="8650224" y="5376672"/>
            <a:ext cx="768096" cy="0"/>
          </a:xfrm>
          <a:prstGeom prst="straightConnector1">
            <a:avLst/>
          </a:prstGeom>
          <a:noFill/>
          <a:ln w="15875">
            <a:solidFill>
              <a:srgbClr val="333333"/>
            </a:solidFill>
            <a:prstDash val="sysDot"/>
            <a:tailEnd type="triangle"/>
          </a:ln>
        </p:spPr>
      </p:cxnSp>
      <p:sp>
        <p:nvSpPr>
          <p:cNvPr id="79" name="Text 77"/>
          <p:cNvSpPr txBox="1"/>
          <p:nvPr/>
        </p:nvSpPr>
        <p:spPr>
          <a:xfrm>
            <a:off x="8759952" y="5138928"/>
            <a:ext cx="548640"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model</a:t>
            </a:r>
            <a:endParaRPr lang="en-US" sz="1100" dirty="0"/>
          </a:p>
        </p:txBody>
      </p:sp>
      <p:sp>
        <p:nvSpPr>
          <p:cNvPr id="80" name="Shape 78"/>
          <p:cNvSpPr/>
          <p:nvPr/>
        </p:nvSpPr>
        <p:spPr>
          <a:xfrm>
            <a:off x="594360" y="5925312"/>
            <a:ext cx="384048" cy="201168"/>
          </a:xfrm>
          <a:prstGeom prst="rect">
            <a:avLst/>
          </a:prstGeom>
          <a:solidFill>
            <a:srgbClr val="FFFFFF"/>
          </a:solidFill>
          <a:ln w="12700">
            <a:solidFill>
              <a:srgbClr val="333333"/>
            </a:solidFill>
            <a:prstDash val="solid"/>
          </a:ln>
        </p:spPr>
        <p:txBody>
          <a:bodyPr/>
          <a:p/>
        </p:txBody>
      </p:sp>
      <p:sp>
        <p:nvSpPr>
          <p:cNvPr id="81" name="Text 79"/>
          <p:cNvSpPr txBox="1"/>
          <p:nvPr/>
        </p:nvSpPr>
        <p:spPr>
          <a:xfrm>
            <a:off x="105156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82" name="Shape 80"/>
          <p:cNvSpPr/>
          <p:nvPr/>
        </p:nvSpPr>
        <p:spPr>
          <a:xfrm>
            <a:off x="2606040" y="5925312"/>
            <a:ext cx="384048" cy="201168"/>
          </a:xfrm>
          <a:prstGeom prst="rect">
            <a:avLst/>
          </a:prstGeom>
          <a:solidFill>
            <a:srgbClr val="FFFFFF"/>
          </a:solidFill>
          <a:ln w="12700">
            <a:solidFill>
              <a:srgbClr val="333333"/>
            </a:solidFill>
            <a:prstDash val="dashDot"/>
          </a:ln>
        </p:spPr>
        <p:txBody>
          <a:bodyPr/>
          <a:p/>
        </p:txBody>
      </p:sp>
      <p:sp>
        <p:nvSpPr>
          <p:cNvPr id="83" name="Text 81"/>
          <p:cNvSpPr txBox="1"/>
          <p:nvPr/>
        </p:nvSpPr>
        <p:spPr>
          <a:xfrm>
            <a:off x="306324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In progress</a:t>
            </a:r>
            <a:endParaRPr lang="en-US" sz="1100" dirty="0"/>
          </a:p>
        </p:txBody>
      </p:sp>
      <p:sp>
        <p:nvSpPr>
          <p:cNvPr id="84" name="Shape 82"/>
          <p:cNvSpPr/>
          <p:nvPr/>
        </p:nvSpPr>
        <p:spPr>
          <a:xfrm>
            <a:off x="4114800" y="5925312"/>
            <a:ext cx="384048" cy="201168"/>
          </a:xfrm>
          <a:prstGeom prst="rect">
            <a:avLst/>
          </a:prstGeom>
          <a:solidFill>
            <a:srgbClr val="FAFAFA"/>
          </a:solidFill>
          <a:ln w="12700">
            <a:solidFill>
              <a:srgbClr val="595959"/>
            </a:solidFill>
            <a:prstDash val="sysDot"/>
          </a:ln>
        </p:spPr>
        <p:txBody>
          <a:bodyPr/>
          <a:p/>
        </p:txBody>
      </p:sp>
      <p:sp>
        <p:nvSpPr>
          <p:cNvPr id="85" name="Text 83"/>
          <p:cNvSpPr txBox="1"/>
          <p:nvPr/>
        </p:nvSpPr>
        <p:spPr>
          <a:xfrm>
            <a:off x="4572000" y="5897880"/>
            <a:ext cx="64008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Planned</a:t>
            </a:r>
            <a:endParaRPr lang="en-US" sz="1100" dirty="0"/>
          </a:p>
        </p:txBody>
      </p:sp>
      <p:sp>
        <p:nvSpPr>
          <p:cNvPr id="86" name="Shape 84"/>
          <p:cNvSpPr/>
          <p:nvPr/>
        </p:nvSpPr>
        <p:spPr>
          <a:xfrm>
            <a:off x="5440680" y="5925312"/>
            <a:ext cx="384048" cy="201168"/>
          </a:xfrm>
          <a:prstGeom prst="rect">
            <a:avLst/>
          </a:prstGeom>
          <a:solidFill>
            <a:srgbClr val="F2F2F2"/>
          </a:solidFill>
          <a:ln w="9525">
            <a:solidFill>
              <a:srgbClr val="808080"/>
            </a:solidFill>
            <a:prstDash val="solid"/>
          </a:ln>
        </p:spPr>
        <p:txBody>
          <a:bodyPr/>
          <a:p/>
        </p:txBody>
      </p:sp>
      <p:sp>
        <p:nvSpPr>
          <p:cNvPr id="87" name="Text 85"/>
          <p:cNvSpPr txBox="1"/>
          <p:nvPr/>
        </p:nvSpPr>
        <p:spPr>
          <a:xfrm>
            <a:off x="5897880" y="589788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88" name="Shape 86"/>
          <p:cNvSpPr/>
          <p:nvPr/>
        </p:nvSpPr>
        <p:spPr>
          <a:xfrm>
            <a:off x="7132320" y="5925312"/>
            <a:ext cx="384048" cy="201168"/>
          </a:xfrm>
          <a:prstGeom prst="rect">
            <a:avLst/>
          </a:prstGeom>
          <a:solidFill>
            <a:srgbClr val="F2F2F2"/>
          </a:solidFill>
          <a:ln w="22225">
            <a:solidFill>
              <a:srgbClr val="000000"/>
            </a:solidFill>
            <a:prstDash val="solid"/>
          </a:ln>
        </p:spPr>
        <p:txBody>
          <a:bodyPr/>
          <a:p/>
        </p:txBody>
      </p:sp>
      <p:sp>
        <p:nvSpPr>
          <p:cNvPr id="89" name="Text 87"/>
          <p:cNvSpPr txBox="1"/>
          <p:nvPr/>
        </p:nvSpPr>
        <p:spPr>
          <a:xfrm>
            <a:off x="7589520" y="589788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90" name="Connector 90"/>
          <p:cNvCxnSpPr/>
          <p:nvPr/>
        </p:nvCxnSpPr>
        <p:spPr>
          <a:xfrm>
            <a:off x="8503920" y="6025896"/>
            <a:ext cx="384048" cy="0"/>
          </a:xfrm>
          <a:prstGeom prst="straightConnector1">
            <a:avLst/>
          </a:prstGeom>
          <a:noFill/>
          <a:ln w="15875">
            <a:solidFill>
              <a:srgbClr val="333333"/>
            </a:solidFill>
            <a:prstDash val="solid"/>
            <a:tailEnd type="triangle"/>
          </a:ln>
        </p:spPr>
      </p:cxnSp>
      <p:sp>
        <p:nvSpPr>
          <p:cNvPr id="91" name="Text 89"/>
          <p:cNvSpPr txBox="1"/>
          <p:nvPr/>
        </p:nvSpPr>
        <p:spPr>
          <a:xfrm>
            <a:off x="8961120" y="589788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9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INGESTION AND RETRIEVAL PATHS</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txBody>
          <a:bodyPr/>
          <a:p/>
        </p:txBody>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INGESTION PATH</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extension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 to 1,000 events</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One transaction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extract job</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Early embedding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 chunk vectors,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after the reply</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Worker queue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memory_jobs, 15 min lease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 worker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mem-extractor, Ollama,</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schema, 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Resolve versions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active value per slot,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queues the Neo4j job</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events</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request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 id</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extract job</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claimed job</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JSON reply</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repair prompt</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txBody>
          <a:bodyPr/>
          <a:p/>
        </p:txBody>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RETRIEVAL PATH</a:t>
            </a:r>
            <a:endParaRPr lang="en-US" sz="1300" dirty="0"/>
          </a:p>
        </p:txBody>
      </p:sp>
      <p:sp>
        <p:nvSpPr>
          <p:cNvPr id="37" name="Text 35"/>
          <p:cNvSpPr/>
          <p:nvPr/>
        </p:nvSpPr>
        <p:spPr>
          <a:xfrm>
            <a:off x="704088" y="3913632"/>
            <a:ext cx="1737360" cy="1719072"/>
          </a:xfrm>
          <a:prstGeom prst="rect">
            <a:avLst/>
          </a:prstGeom>
          <a:solidFill>
            <a:srgbClr val="F2F2F2"/>
          </a:solidFill>
          <a:ln w="9525">
            <a:solidFill>
              <a:srgbClr val="80808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AI agent in Pi</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hook and memory_recall tool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inject the context as a message</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bounds, date window if</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temporal, embeds the query</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Candidate arms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lexical, semantic, temporal, graph</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raw text if extraction pending</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Validity filter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active or contested, or the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interval at as_of</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RRF, k = 60, no reranker,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ties broken by id</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Token-bounded packer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whole blocks, up to 3 quotes</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Response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 id, reasons,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trace rows saved</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vector, window</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candidates</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valid ids</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ranked hits</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packed blocks</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txBody>
          <a:bodyPr/>
          <a:p/>
        </p:txBody>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txBody>
          <a:bodyPr/>
          <a:p/>
        </p:txBody>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txBody>
          <a:bodyPr/>
          <a:p/>
        </p:txBody>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WORKER ARCHITECTURE</a:t>
            </a:r>
            <a:endParaRPr lang="en-US" sz="3000" dirty="0"/>
          </a:p>
        </p:txBody>
      </p:sp>
      <p:sp>
        <p:nvSpPr>
          <p:cNvPr id="3" name="Shape 1"/>
          <p:cNvSpPr/>
          <p:nvPr/>
        </p:nvSpPr>
        <p:spPr>
          <a:xfrm>
            <a:off x="594360" y="1188720"/>
            <a:ext cx="11002975" cy="2231136"/>
          </a:xfrm>
          <a:prstGeom prst="rect">
            <a:avLst/>
          </a:prstGeom>
          <a:solidFill>
            <a:srgbClr val="F2F2F2"/>
          </a:solidFill>
          <a:ln w="9525">
            <a:solidFill>
              <a:srgbClr val="BFBFBF"/>
            </a:solidFill>
            <a:prstDash val="solid"/>
          </a:ln>
        </p:spPr>
        <p:txBody>
          <a:bodyPr/>
          <a:p/>
        </p:txBody>
      </p:sp>
      <p:sp>
        <p:nvSpPr>
          <p:cNvPr id="4" name="Text 2"/>
          <p:cNvSpPr/>
          <p:nvPr/>
        </p:nvSpPr>
        <p:spPr>
          <a:xfrm>
            <a:off x="713232" y="1243584"/>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115568" y="1243584"/>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JOB CHAIN FOR ONE EPISODE</a:t>
            </a:r>
            <a:endParaRPr lang="en-US" sz="1300" dirty="0"/>
          </a:p>
        </p:txBody>
      </p:sp>
      <p:sp>
        <p:nvSpPr>
          <p:cNvPr id="6" name="Text 4"/>
          <p:cNvSpPr/>
          <p:nvPr/>
        </p:nvSpPr>
        <p:spPr>
          <a:xfrm>
            <a:off x="704088" y="160934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extract job</a:t>
            </a:r>
            <a:endParaRPr lang="en-US" sz="1300" dirty="0"/>
          </a:p>
        </p:txBody>
      </p:sp>
      <p:sp>
        <p:nvSpPr>
          <p:cNvPr id="7" name="Text 5"/>
          <p:cNvSpPr/>
          <p:nvPr/>
        </p:nvSpPr>
        <p:spPr>
          <a:xfrm>
            <a:off x="3352800" y="160934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claimed under a lease</a:t>
            </a:r>
            <a:endParaRPr lang="en-US" sz="1300" dirty="0"/>
          </a:p>
        </p:txBody>
      </p:sp>
      <p:sp>
        <p:nvSpPr>
          <p:cNvPr id="8" name="Text 6"/>
          <p:cNvSpPr/>
          <p:nvPr/>
        </p:nvSpPr>
        <p:spPr>
          <a:xfrm>
            <a:off x="6367272" y="1609344"/>
            <a:ext cx="228600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Student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mem-extractor on Ollama</a:t>
            </a:r>
            <a:endParaRPr lang="en-US" sz="1300" dirty="0"/>
          </a:p>
        </p:txBody>
      </p:sp>
      <p:sp>
        <p:nvSpPr>
          <p:cNvPr id="9" name="Text 7"/>
          <p:cNvSpPr/>
          <p:nvPr/>
        </p:nvSpPr>
        <p:spPr>
          <a:xfrm>
            <a:off x="9564624" y="1609344"/>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Validate and repair</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exact quotes,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2 repairs</a:t>
            </a:r>
            <a:endParaRPr lang="en-US" sz="1300" dirty="0"/>
          </a:p>
        </p:txBody>
      </p:sp>
      <p:sp>
        <p:nvSpPr>
          <p:cNvPr id="10" name="Text 8"/>
          <p:cNvSpPr/>
          <p:nvPr/>
        </p:nvSpPr>
        <p:spPr>
          <a:xfrm>
            <a:off x="704088" y="2615184"/>
            <a:ext cx="173736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Store claims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supersede or reinforce</a:t>
            </a:r>
            <a:endParaRPr lang="en-US" sz="1300" dirty="0"/>
          </a:p>
        </p:txBody>
      </p:sp>
      <p:sp>
        <p:nvSpPr>
          <p:cNvPr id="11" name="Text 9"/>
          <p:cNvSpPr/>
          <p:nvPr/>
        </p:nvSpPr>
        <p:spPr>
          <a:xfrm>
            <a:off x="3352800" y="2615184"/>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Consolidate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same model reads facts,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writes observations</a:t>
            </a:r>
            <a:endParaRPr lang="en-US" sz="1300" dirty="0"/>
          </a:p>
        </p:txBody>
      </p:sp>
      <p:sp>
        <p:nvSpPr>
          <p:cNvPr id="12" name="Text 10"/>
          <p:cNvSpPr/>
          <p:nvPr/>
        </p:nvSpPr>
        <p:spPr>
          <a:xfrm>
            <a:off x="6367272" y="2615184"/>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Project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entities and edges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to Neo4j</a:t>
            </a:r>
            <a:endParaRPr lang="en-US" sz="1300" dirty="0"/>
          </a:p>
        </p:txBody>
      </p:sp>
      <p:sp>
        <p:nvSpPr>
          <p:cNvPr id="13" name="Text 11"/>
          <p:cNvSpPr/>
          <p:nvPr/>
        </p:nvSpPr>
        <p:spPr>
          <a:xfrm>
            <a:off x="9564624" y="2615184"/>
            <a:ext cx="192024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Graph and 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live graph page,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hops at recall</a:t>
            </a:r>
            <a:endParaRPr lang="en-US" sz="1300" dirty="0"/>
          </a:p>
        </p:txBody>
      </p:sp>
      <p:cxnSp>
        <p:nvCxnSpPr>
          <p:cNvPr id="14" name="Connector 14"/>
          <p:cNvCxnSpPr/>
          <p:nvPr/>
        </p:nvCxnSpPr>
        <p:spPr>
          <a:xfrm>
            <a:off x="2441448" y="1828800"/>
            <a:ext cx="911352" cy="0"/>
          </a:xfrm>
          <a:prstGeom prst="straightConnector1">
            <a:avLst/>
          </a:prstGeom>
          <a:noFill/>
          <a:ln w="15875">
            <a:solidFill>
              <a:srgbClr val="333333"/>
            </a:solidFill>
            <a:prstDash val="solid"/>
            <a:tailEnd type="triangle"/>
          </a:ln>
        </p:spPr>
      </p:cxnSp>
      <p:sp>
        <p:nvSpPr>
          <p:cNvPr id="15" name="Text 13"/>
          <p:cNvSpPr txBox="1"/>
          <p:nvPr/>
        </p:nvSpPr>
        <p:spPr>
          <a:xfrm>
            <a:off x="2458212" y="1600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episode</a:t>
            </a:r>
            <a:endParaRPr lang="en-US" sz="1100" dirty="0"/>
          </a:p>
        </p:txBody>
      </p:sp>
      <p:cxnSp>
        <p:nvCxnSpPr>
          <p:cNvPr id="16" name="Connector 16"/>
          <p:cNvCxnSpPr/>
          <p:nvPr/>
        </p:nvCxnSpPr>
        <p:spPr>
          <a:xfrm flipH="1">
            <a:off x="2441448" y="2139696"/>
            <a:ext cx="911352" cy="0"/>
          </a:xfrm>
          <a:prstGeom prst="straightConnector1">
            <a:avLst/>
          </a:prstGeom>
          <a:noFill/>
          <a:ln w="15875">
            <a:solidFill>
              <a:srgbClr val="333333"/>
            </a:solidFill>
            <a:prstDash val="solid"/>
            <a:tailEnd type="triangle"/>
          </a:ln>
        </p:spPr>
      </p:cxnSp>
      <p:sp>
        <p:nvSpPr>
          <p:cNvPr id="17" name="Text 15"/>
          <p:cNvSpPr txBox="1"/>
          <p:nvPr/>
        </p:nvSpPr>
        <p:spPr>
          <a:xfrm>
            <a:off x="2458212" y="191109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job</a:t>
            </a:r>
            <a:endParaRPr lang="en-US" sz="1100" dirty="0"/>
          </a:p>
        </p:txBody>
      </p:sp>
      <p:cxnSp>
        <p:nvCxnSpPr>
          <p:cNvPr id="18" name="Connector 18"/>
          <p:cNvCxnSpPr>
            <a:stCxn id="7" idx="3"/>
            <a:endCxn id="8" idx="1"/>
          </p:cNvCxnSpPr>
          <p:nvPr/>
        </p:nvCxnSpPr>
        <p:spPr>
          <a:xfrm>
            <a:off x="5455920" y="1965960"/>
            <a:ext cx="911352" cy="0"/>
          </a:xfrm>
          <a:prstGeom prst="straightConnector1">
            <a:avLst/>
          </a:prstGeom>
          <a:noFill/>
          <a:ln w="15875">
            <a:solidFill>
              <a:srgbClr val="333333"/>
            </a:solidFill>
            <a:prstDash val="solid"/>
            <a:tailEnd type="triangle"/>
          </a:ln>
        </p:spPr>
      </p:cxnSp>
      <p:sp>
        <p:nvSpPr>
          <p:cNvPr id="19" name="Text 17"/>
          <p:cNvSpPr txBox="1"/>
          <p:nvPr/>
        </p:nvSpPr>
        <p:spPr>
          <a:xfrm>
            <a:off x="5472684"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a:t>
            </a:r>
            <a:endParaRPr lang="en-US" sz="1100" dirty="0"/>
          </a:p>
        </p:txBody>
      </p:sp>
      <p:cxnSp>
        <p:nvCxnSpPr>
          <p:cNvPr id="20" name="Connector 20"/>
          <p:cNvCxnSpPr>
            <a:stCxn id="8" idx="3"/>
            <a:endCxn id="9" idx="1"/>
          </p:cNvCxnSpPr>
          <p:nvPr/>
        </p:nvCxnSpPr>
        <p:spPr>
          <a:xfrm>
            <a:off x="8653272" y="1965960"/>
            <a:ext cx="911352" cy="0"/>
          </a:xfrm>
          <a:prstGeom prst="straightConnector1">
            <a:avLst/>
          </a:prstGeom>
          <a:noFill/>
          <a:ln w="15875">
            <a:solidFill>
              <a:srgbClr val="333333"/>
            </a:solidFill>
            <a:prstDash val="solid"/>
            <a:tailEnd type="triangle"/>
          </a:ln>
        </p:spPr>
      </p:cxnSp>
      <p:sp>
        <p:nvSpPr>
          <p:cNvPr id="21" name="Text 19"/>
          <p:cNvSpPr txBox="1"/>
          <p:nvPr/>
        </p:nvSpPr>
        <p:spPr>
          <a:xfrm>
            <a:off x="8670036" y="173736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reply</a:t>
            </a:r>
            <a:endParaRPr lang="en-US" sz="1100" dirty="0"/>
          </a:p>
        </p:txBody>
      </p:sp>
      <p:cxnSp>
        <p:nvCxnSpPr>
          <p:cNvPr id="22" name="Connector 22"/>
          <p:cNvCxnSpPr>
            <a:stCxn id="8" idx="2"/>
          </p:cNvCxnSpPr>
          <p:nvPr/>
        </p:nvCxnSpPr>
        <p:spPr>
          <a:xfrm>
            <a:off x="7510272" y="2322576"/>
            <a:ext cx="0" cy="146304"/>
          </a:xfrm>
          <a:prstGeom prst="straightConnector1">
            <a:avLst/>
          </a:prstGeom>
          <a:noFill/>
          <a:ln w="15875">
            <a:solidFill>
              <a:srgbClr val="333333"/>
            </a:solidFill>
            <a:prstDash val="solid"/>
          </a:ln>
        </p:spPr>
      </p:cxnSp>
      <p:cxnSp>
        <p:nvCxnSpPr>
          <p:cNvPr id="23" name="Connector 23"/>
          <p:cNvCxnSpPr/>
          <p:nvPr/>
        </p:nvCxnSpPr>
        <p:spPr>
          <a:xfrm flipH="1">
            <a:off x="1572768" y="2468880"/>
            <a:ext cx="5937504" cy="0"/>
          </a:xfrm>
          <a:prstGeom prst="straightConnector1">
            <a:avLst/>
          </a:prstGeom>
          <a:noFill/>
          <a:ln w="15875">
            <a:solidFill>
              <a:srgbClr val="333333"/>
            </a:solidFill>
            <a:prstDash val="solid"/>
          </a:ln>
        </p:spPr>
      </p:cxnSp>
      <p:cxnSp>
        <p:nvCxnSpPr>
          <p:cNvPr id="24" name="Connector 24"/>
          <p:cNvCxnSpPr>
            <a:endCxn id="10" idx="0"/>
          </p:cNvCxnSpPr>
          <p:nvPr/>
        </p:nvCxnSpPr>
        <p:spPr>
          <a:xfrm>
            <a:off x="1572768" y="2468880"/>
            <a:ext cx="0" cy="146304"/>
          </a:xfrm>
          <a:prstGeom prst="straightConnector1">
            <a:avLst/>
          </a:prstGeom>
          <a:noFill/>
          <a:ln w="15875">
            <a:solidFill>
              <a:srgbClr val="333333"/>
            </a:solidFill>
            <a:prstDash val="solid"/>
            <a:tailEnd type="triangle"/>
          </a:ln>
        </p:spPr>
      </p:cxnSp>
      <p:sp>
        <p:nvSpPr>
          <p:cNvPr id="25" name="Text 23"/>
          <p:cNvSpPr txBox="1"/>
          <p:nvPr/>
        </p:nvSpPr>
        <p:spPr>
          <a:xfrm>
            <a:off x="4107180" y="2368296"/>
            <a:ext cx="868680" cy="201168"/>
          </a:xfrm>
          <a:prstGeom prst="rect">
            <a:avLst/>
          </a:prstGeom>
          <a:solidFill>
            <a:srgbClr val="FFFFFF"/>
          </a:solid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valid claims</a:t>
            </a:r>
            <a:endParaRPr lang="en-US" sz="1100" dirty="0"/>
          </a:p>
        </p:txBody>
      </p:sp>
      <p:cxnSp>
        <p:nvCxnSpPr>
          <p:cNvPr id="26" name="Connector 26"/>
          <p:cNvCxnSpPr>
            <a:stCxn id="10" idx="3"/>
            <a:endCxn id="11" idx="1"/>
          </p:cNvCxnSpPr>
          <p:nvPr/>
        </p:nvCxnSpPr>
        <p:spPr>
          <a:xfrm>
            <a:off x="2441448" y="2971800"/>
            <a:ext cx="911352" cy="0"/>
          </a:xfrm>
          <a:prstGeom prst="straightConnector1">
            <a:avLst/>
          </a:prstGeom>
          <a:noFill/>
          <a:ln w="15875">
            <a:solidFill>
              <a:srgbClr val="333333"/>
            </a:solidFill>
            <a:prstDash val="solid"/>
            <a:tailEnd type="triangle"/>
          </a:ln>
        </p:spPr>
      </p:cxnSp>
      <p:sp>
        <p:nvSpPr>
          <p:cNvPr id="27" name="Text 25"/>
          <p:cNvSpPr txBox="1"/>
          <p:nvPr/>
        </p:nvSpPr>
        <p:spPr>
          <a:xfrm>
            <a:off x="2458212"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consolidate</a:t>
            </a:r>
            <a:endParaRPr lang="en-US" sz="1100" dirty="0"/>
          </a:p>
        </p:txBody>
      </p:sp>
      <p:cxnSp>
        <p:nvCxnSpPr>
          <p:cNvPr id="28" name="Connector 28"/>
          <p:cNvCxnSpPr/>
          <p:nvPr/>
        </p:nvCxnSpPr>
        <p:spPr>
          <a:xfrm>
            <a:off x="5455920" y="2834640"/>
            <a:ext cx="911352" cy="0"/>
          </a:xfrm>
          <a:prstGeom prst="straightConnector1">
            <a:avLst/>
          </a:prstGeom>
          <a:noFill/>
          <a:ln w="15875">
            <a:solidFill>
              <a:srgbClr val="333333"/>
            </a:solidFill>
            <a:prstDash val="solid"/>
            <a:tailEnd type="triangle"/>
          </a:ln>
        </p:spPr>
      </p:cxnSp>
      <p:sp>
        <p:nvSpPr>
          <p:cNvPr id="29" name="Text 27"/>
          <p:cNvSpPr txBox="1"/>
          <p:nvPr/>
        </p:nvSpPr>
        <p:spPr>
          <a:xfrm>
            <a:off x="5472684" y="260604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facts</a:t>
            </a:r>
            <a:endParaRPr lang="en-US" sz="1100" dirty="0"/>
          </a:p>
        </p:txBody>
      </p:sp>
      <p:cxnSp>
        <p:nvCxnSpPr>
          <p:cNvPr id="30" name="Connector 30"/>
          <p:cNvCxnSpPr/>
          <p:nvPr/>
        </p:nvCxnSpPr>
        <p:spPr>
          <a:xfrm flipH="1">
            <a:off x="5455920" y="3145536"/>
            <a:ext cx="911352" cy="0"/>
          </a:xfrm>
          <a:prstGeom prst="straightConnector1">
            <a:avLst/>
          </a:prstGeom>
          <a:noFill/>
          <a:ln w="15875">
            <a:solidFill>
              <a:srgbClr val="333333"/>
            </a:solidFill>
            <a:prstDash val="solid"/>
            <a:tailEnd type="triangle"/>
          </a:ln>
        </p:spPr>
      </p:cxnSp>
      <p:sp>
        <p:nvSpPr>
          <p:cNvPr id="31" name="Text 29"/>
          <p:cNvSpPr txBox="1"/>
          <p:nvPr/>
        </p:nvSpPr>
        <p:spPr>
          <a:xfrm>
            <a:off x="5472684" y="2916936"/>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project job</a:t>
            </a:r>
            <a:endParaRPr lang="en-US" sz="1100" dirty="0"/>
          </a:p>
        </p:txBody>
      </p:sp>
      <p:cxnSp>
        <p:nvCxnSpPr>
          <p:cNvPr id="32" name="Connector 32"/>
          <p:cNvCxnSpPr>
            <a:stCxn id="12" idx="3"/>
            <a:endCxn id="13" idx="1"/>
          </p:cNvCxnSpPr>
          <p:nvPr/>
        </p:nvCxnSpPr>
        <p:spPr>
          <a:xfrm>
            <a:off x="8653272" y="2971800"/>
            <a:ext cx="911352" cy="0"/>
          </a:xfrm>
          <a:prstGeom prst="straightConnector1">
            <a:avLst/>
          </a:prstGeom>
          <a:noFill/>
          <a:ln w="15875">
            <a:solidFill>
              <a:srgbClr val="333333"/>
            </a:solidFill>
            <a:prstDash val="solid"/>
            <a:tailEnd type="triangle"/>
          </a:ln>
        </p:spPr>
      </p:cxnSp>
      <p:sp>
        <p:nvSpPr>
          <p:cNvPr id="33" name="Text 31"/>
          <p:cNvSpPr txBox="1"/>
          <p:nvPr/>
        </p:nvSpPr>
        <p:spPr>
          <a:xfrm>
            <a:off x="8670036" y="2743200"/>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edges</a:t>
            </a:r>
            <a:endParaRPr lang="en-US" sz="1100" dirty="0"/>
          </a:p>
        </p:txBody>
      </p:sp>
      <p:sp>
        <p:nvSpPr>
          <p:cNvPr id="34" name="Shape 32"/>
          <p:cNvSpPr/>
          <p:nvPr/>
        </p:nvSpPr>
        <p:spPr>
          <a:xfrm>
            <a:off x="594360" y="3493008"/>
            <a:ext cx="11002975" cy="2231136"/>
          </a:xfrm>
          <a:prstGeom prst="rect">
            <a:avLst/>
          </a:prstGeom>
          <a:solidFill>
            <a:srgbClr val="F2F2F2"/>
          </a:solidFill>
          <a:ln w="9525">
            <a:solidFill>
              <a:srgbClr val="BFBFBF"/>
            </a:solidFill>
            <a:prstDash val="solid"/>
          </a:ln>
        </p:spPr>
        <p:txBody>
          <a:bodyPr/>
          <a:p/>
        </p:txBody>
      </p:sp>
      <p:sp>
        <p:nvSpPr>
          <p:cNvPr id="35" name="Text 33"/>
          <p:cNvSpPr/>
          <p:nvPr/>
        </p:nvSpPr>
        <p:spPr>
          <a:xfrm>
            <a:off x="713232" y="354787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36" name="Text 34"/>
          <p:cNvSpPr txBox="1"/>
          <p:nvPr/>
        </p:nvSpPr>
        <p:spPr>
          <a:xfrm>
            <a:off x="1115568" y="3547872"/>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LEASES AND FAILURES</a:t>
            </a:r>
            <a:endParaRPr lang="en-US" sz="1300" dirty="0"/>
          </a:p>
        </p:txBody>
      </p:sp>
      <p:sp>
        <p:nvSpPr>
          <p:cNvPr id="37" name="Text 35"/>
          <p:cNvSpPr/>
          <p:nvPr/>
        </p:nvSpPr>
        <p:spPr>
          <a:xfrm>
            <a:off x="704088" y="3913632"/>
            <a:ext cx="1737360" cy="17190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Job lease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attempt owns a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renewed every 30 s</a:t>
            </a:r>
            <a:endParaRPr lang="en-US" sz="1300" dirty="0"/>
          </a:p>
        </p:txBody>
      </p:sp>
      <p:sp>
        <p:nvSpPr>
          <p:cNvPr id="38" name="Text 36"/>
          <p:cNvSpPr/>
          <p:nvPr/>
        </p:nvSpPr>
        <p:spPr>
          <a:xfrm>
            <a:off x="3352800" y="3913632"/>
            <a:ext cx="2103120" cy="713232"/>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Namespace lease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episode at a time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per namespace</a:t>
            </a:r>
            <a:endParaRPr lang="en-US" sz="1300" dirty="0"/>
          </a:p>
        </p:txBody>
      </p:sp>
      <p:sp>
        <p:nvSpPr>
          <p:cNvPr id="39" name="Text 37"/>
          <p:cNvSpPr/>
          <p:nvPr/>
        </p:nvSpPr>
        <p:spPr>
          <a:xfrm>
            <a:off x="6367272" y="391363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Parallel namespaces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default 4, at most 8</a:t>
            </a:r>
            <a:endParaRPr lang="en-US" sz="1300" dirty="0"/>
          </a:p>
        </p:txBody>
      </p:sp>
      <p:sp>
        <p:nvSpPr>
          <p:cNvPr id="40" name="Text 38"/>
          <p:cNvSpPr/>
          <p:nvPr/>
        </p:nvSpPr>
        <p:spPr>
          <a:xfrm>
            <a:off x="9564624" y="391363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fencing</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late work cannot commit</a:t>
            </a:r>
            <a:endParaRPr lang="en-US" sz="1300" dirty="0"/>
          </a:p>
        </p:txBody>
      </p:sp>
      <p:sp>
        <p:nvSpPr>
          <p:cNvPr id="41" name="Text 39"/>
          <p:cNvSpPr/>
          <p:nvPr/>
        </p:nvSpPr>
        <p:spPr>
          <a:xfrm>
            <a:off x="9564624" y="4919472"/>
            <a:ext cx="192024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Retry</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failure kept on the job</a:t>
            </a:r>
            <a:endParaRPr lang="en-US" sz="1300" dirty="0"/>
          </a:p>
        </p:txBody>
      </p:sp>
      <p:sp>
        <p:nvSpPr>
          <p:cNvPr id="42" name="Text 40"/>
          <p:cNvSpPr/>
          <p:nvPr/>
        </p:nvSpPr>
        <p:spPr>
          <a:xfrm>
            <a:off x="6367272" y="4919472"/>
            <a:ext cx="228600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No fallback model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bad reply fails the job</a:t>
            </a:r>
            <a:endParaRPr lang="en-US" sz="1300" dirty="0"/>
          </a:p>
        </p:txBody>
      </p:sp>
      <p:sp>
        <p:nvSpPr>
          <p:cNvPr id="43" name="Text 41"/>
          <p:cNvSpPr/>
          <p:nvPr/>
        </p:nvSpPr>
        <p:spPr>
          <a:xfrm>
            <a:off x="3352800" y="4919472"/>
            <a:ext cx="2103120" cy="71323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Pi stays out</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it is not the worker</a:t>
            </a:r>
            <a:endParaRPr lang="en-US" sz="1300" dirty="0"/>
          </a:p>
        </p:txBody>
      </p:sp>
      <p:cxnSp>
        <p:nvCxnSpPr>
          <p:cNvPr id="44" name="Connector 44"/>
          <p:cNvCxnSpPr>
            <a:endCxn id="38" idx="1"/>
          </p:cNvCxnSpPr>
          <p:nvPr/>
        </p:nvCxnSpPr>
        <p:spPr>
          <a:xfrm>
            <a:off x="2441448" y="4270248"/>
            <a:ext cx="911352" cy="0"/>
          </a:xfrm>
          <a:prstGeom prst="straightConnector1">
            <a:avLst/>
          </a:prstGeom>
          <a:noFill/>
          <a:ln w="15875">
            <a:solidFill>
              <a:srgbClr val="333333"/>
            </a:solidFill>
            <a:prstDash val="solid"/>
            <a:tailEnd type="triangle"/>
          </a:ln>
        </p:spPr>
      </p:cxnSp>
      <p:sp>
        <p:nvSpPr>
          <p:cNvPr id="45" name="Text 43"/>
          <p:cNvSpPr txBox="1"/>
          <p:nvPr/>
        </p:nvSpPr>
        <p:spPr>
          <a:xfrm>
            <a:off x="2458212"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46" name="Connector 46"/>
          <p:cNvCxnSpPr>
            <a:stCxn id="38" idx="3"/>
            <a:endCxn id="39" idx="1"/>
          </p:cNvCxnSpPr>
          <p:nvPr/>
        </p:nvCxnSpPr>
        <p:spPr>
          <a:xfrm>
            <a:off x="5455920" y="4270248"/>
            <a:ext cx="911352" cy="0"/>
          </a:xfrm>
          <a:prstGeom prst="straightConnector1">
            <a:avLst/>
          </a:prstGeom>
          <a:noFill/>
          <a:ln w="15875">
            <a:solidFill>
              <a:srgbClr val="333333"/>
            </a:solidFill>
            <a:prstDash val="solid"/>
            <a:tailEnd type="triangle"/>
          </a:ln>
        </p:spPr>
      </p:cxnSp>
      <p:sp>
        <p:nvSpPr>
          <p:cNvPr id="47" name="Text 45"/>
          <p:cNvSpPr txBox="1"/>
          <p:nvPr/>
        </p:nvSpPr>
        <p:spPr>
          <a:xfrm>
            <a:off x="5472684"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48" name="Connector 48"/>
          <p:cNvCxnSpPr>
            <a:stCxn id="39" idx="3"/>
            <a:endCxn id="40" idx="1"/>
          </p:cNvCxnSpPr>
          <p:nvPr/>
        </p:nvCxnSpPr>
        <p:spPr>
          <a:xfrm>
            <a:off x="8653272" y="4270248"/>
            <a:ext cx="911352" cy="0"/>
          </a:xfrm>
          <a:prstGeom prst="straightConnector1">
            <a:avLst/>
          </a:prstGeom>
          <a:noFill/>
          <a:ln w="15875">
            <a:solidFill>
              <a:srgbClr val="333333"/>
            </a:solidFill>
            <a:prstDash val="solid"/>
            <a:tailEnd type="triangle"/>
          </a:ln>
        </p:spPr>
      </p:cxnSp>
      <p:sp>
        <p:nvSpPr>
          <p:cNvPr id="49" name="Text 47"/>
          <p:cNvSpPr txBox="1"/>
          <p:nvPr/>
        </p:nvSpPr>
        <p:spPr>
          <a:xfrm>
            <a:off x="8670036" y="404164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0" name="Connector 50"/>
          <p:cNvCxnSpPr>
            <a:stCxn id="40" idx="2"/>
            <a:endCxn id="41" idx="0"/>
          </p:cNvCxnSpPr>
          <p:nvPr/>
        </p:nvCxnSpPr>
        <p:spPr>
          <a:xfrm>
            <a:off x="10524744" y="4626864"/>
            <a:ext cx="0" cy="292608"/>
          </a:xfrm>
          <a:prstGeom prst="straightConnector1">
            <a:avLst/>
          </a:prstGeom>
          <a:noFill/>
          <a:ln w="15875">
            <a:solidFill>
              <a:srgbClr val="333333"/>
            </a:solidFill>
            <a:prstDash val="solid"/>
            <a:tailEnd type="triangle"/>
          </a:ln>
        </p:spPr>
      </p:cxnSp>
      <p:sp>
        <p:nvSpPr>
          <p:cNvPr id="51" name="Text 49"/>
          <p:cNvSpPr txBox="1"/>
          <p:nvPr/>
        </p:nvSpPr>
        <p:spPr>
          <a:xfrm>
            <a:off x="10597896" y="4672584"/>
            <a:ext cx="640080" cy="201168"/>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on error</a:t>
            </a:r>
            <a:endParaRPr lang="en-US" sz="1100" dirty="0"/>
          </a:p>
        </p:txBody>
      </p:sp>
      <p:cxnSp>
        <p:nvCxnSpPr>
          <p:cNvPr id="52" name="Connector 52"/>
          <p:cNvCxnSpPr>
            <a:stCxn id="41" idx="1"/>
            <a:endCxn id="42" idx="3"/>
          </p:cNvCxnSpPr>
          <p:nvPr/>
        </p:nvCxnSpPr>
        <p:spPr>
          <a:xfrm flipH="1">
            <a:off x="8653272" y="5276088"/>
            <a:ext cx="911352" cy="0"/>
          </a:xfrm>
          <a:prstGeom prst="straightConnector1">
            <a:avLst/>
          </a:prstGeom>
          <a:noFill/>
          <a:ln w="15875">
            <a:solidFill>
              <a:srgbClr val="333333"/>
            </a:solidFill>
            <a:prstDash val="solid"/>
            <a:tailEnd type="triangle"/>
          </a:ln>
        </p:spPr>
      </p:cxnSp>
      <p:sp>
        <p:nvSpPr>
          <p:cNvPr id="53" name="Text 51"/>
          <p:cNvSpPr txBox="1"/>
          <p:nvPr/>
        </p:nvSpPr>
        <p:spPr>
          <a:xfrm>
            <a:off x="8670036"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4" name="Connector 54"/>
          <p:cNvCxnSpPr>
            <a:stCxn id="42" idx="1"/>
            <a:endCxn id="43" idx="3"/>
          </p:cNvCxnSpPr>
          <p:nvPr/>
        </p:nvCxnSpPr>
        <p:spPr>
          <a:xfrm flipH="1">
            <a:off x="5455920" y="5276088"/>
            <a:ext cx="911352" cy="0"/>
          </a:xfrm>
          <a:prstGeom prst="straightConnector1">
            <a:avLst/>
          </a:prstGeom>
          <a:noFill/>
          <a:ln w="15875">
            <a:solidFill>
              <a:srgbClr val="333333"/>
            </a:solidFill>
            <a:prstDash val="solid"/>
            <a:tailEnd type="triangle"/>
          </a:ln>
        </p:spPr>
      </p:cxnSp>
      <p:sp>
        <p:nvSpPr>
          <p:cNvPr id="55" name="Text 53"/>
          <p:cNvSpPr txBox="1"/>
          <p:nvPr/>
        </p:nvSpPr>
        <p:spPr>
          <a:xfrm>
            <a:off x="5472684"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cxnSp>
        <p:nvCxnSpPr>
          <p:cNvPr id="56" name="Connector 56"/>
          <p:cNvCxnSpPr>
            <a:stCxn id="43" idx="1"/>
          </p:cNvCxnSpPr>
          <p:nvPr/>
        </p:nvCxnSpPr>
        <p:spPr>
          <a:xfrm flipH="1">
            <a:off x="2441448" y="5276088"/>
            <a:ext cx="911352" cy="0"/>
          </a:xfrm>
          <a:prstGeom prst="straightConnector1">
            <a:avLst/>
          </a:prstGeom>
          <a:noFill/>
          <a:ln w="15875">
            <a:solidFill>
              <a:srgbClr val="333333"/>
            </a:solidFill>
            <a:prstDash val="solid"/>
            <a:tailEnd type="triangle"/>
          </a:ln>
        </p:spPr>
      </p:cxnSp>
      <p:sp>
        <p:nvSpPr>
          <p:cNvPr id="57" name="Text 55"/>
          <p:cNvSpPr txBox="1"/>
          <p:nvPr/>
        </p:nvSpPr>
        <p:spPr>
          <a:xfrm>
            <a:off x="2458212" y="5047488"/>
            <a:ext cx="877824" cy="201168"/>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
            </a:r>
            <a:endParaRPr lang="en-US" sz="1100" dirty="0"/>
          </a:p>
        </p:txBody>
      </p:sp>
      <p:sp>
        <p:nvSpPr>
          <p:cNvPr id="58" name="Shape 56"/>
          <p:cNvSpPr/>
          <p:nvPr/>
        </p:nvSpPr>
        <p:spPr>
          <a:xfrm>
            <a:off x="594360" y="5879592"/>
            <a:ext cx="384048" cy="201168"/>
          </a:xfrm>
          <a:prstGeom prst="rect">
            <a:avLst/>
          </a:prstGeom>
          <a:solidFill>
            <a:srgbClr val="FFFFFF"/>
          </a:solidFill>
          <a:ln w="12700">
            <a:solidFill>
              <a:srgbClr val="333333"/>
            </a:solidFill>
            <a:prstDash val="solid"/>
          </a:ln>
        </p:spPr>
        <p:txBody>
          <a:bodyPr/>
          <a:p/>
        </p:txBody>
      </p:sp>
      <p:sp>
        <p:nvSpPr>
          <p:cNvPr id="59" name="Text 57"/>
          <p:cNvSpPr txBox="1"/>
          <p:nvPr/>
        </p:nvSpPr>
        <p:spPr>
          <a:xfrm>
            <a:off x="105156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Implemented in code</a:t>
            </a:r>
            <a:endParaRPr lang="en-US" sz="1100" dirty="0"/>
          </a:p>
        </p:txBody>
      </p:sp>
      <p:sp>
        <p:nvSpPr>
          <p:cNvPr id="60" name="Shape 58"/>
          <p:cNvSpPr/>
          <p:nvPr/>
        </p:nvSpPr>
        <p:spPr>
          <a:xfrm>
            <a:off x="2606040" y="5879592"/>
            <a:ext cx="384048" cy="201168"/>
          </a:xfrm>
          <a:prstGeom prst="rect">
            <a:avLst/>
          </a:prstGeom>
          <a:solidFill>
            <a:srgbClr val="F2F2F2"/>
          </a:solidFill>
          <a:ln w="9525">
            <a:solidFill>
              <a:srgbClr val="808080"/>
            </a:solidFill>
            <a:prstDash val="solid"/>
          </a:ln>
        </p:spPr>
        <p:txBody>
          <a:bodyPr/>
          <a:p/>
        </p:txBody>
      </p:sp>
      <p:sp>
        <p:nvSpPr>
          <p:cNvPr id="61" name="Text 59"/>
          <p:cNvSpPr txBox="1"/>
          <p:nvPr/>
        </p:nvSpPr>
        <p:spPr>
          <a:xfrm>
            <a:off x="3063240" y="5852160"/>
            <a:ext cx="100584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Actor, not code</a:t>
            </a:r>
            <a:endParaRPr lang="en-US" sz="1100" dirty="0"/>
          </a:p>
        </p:txBody>
      </p:sp>
      <p:sp>
        <p:nvSpPr>
          <p:cNvPr id="62" name="Shape 60"/>
          <p:cNvSpPr/>
          <p:nvPr/>
        </p:nvSpPr>
        <p:spPr>
          <a:xfrm>
            <a:off x="4297680" y="5879592"/>
            <a:ext cx="384048" cy="201168"/>
          </a:xfrm>
          <a:prstGeom prst="rect">
            <a:avLst/>
          </a:prstGeom>
          <a:solidFill>
            <a:srgbClr val="F2F2F2"/>
          </a:solidFill>
          <a:ln w="22225">
            <a:solidFill>
              <a:srgbClr val="000000"/>
            </a:solidFill>
            <a:prstDash val="solid"/>
          </a:ln>
        </p:spPr>
        <p:txBody>
          <a:bodyPr/>
          <a:p/>
        </p:txBody>
      </p:sp>
      <p:sp>
        <p:nvSpPr>
          <p:cNvPr id="63" name="Text 61"/>
          <p:cNvSpPr txBox="1"/>
          <p:nvPr/>
        </p:nvSpPr>
        <p:spPr>
          <a:xfrm>
            <a:off x="4754880" y="5852160"/>
            <a:ext cx="82296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Key box</a:t>
            </a:r>
            <a:endParaRPr lang="en-US" sz="1100" dirty="0"/>
          </a:p>
        </p:txBody>
      </p:sp>
      <p:cxnSp>
        <p:nvCxnSpPr>
          <p:cNvPr id="64" name="Connector 64"/>
          <p:cNvCxnSpPr/>
          <p:nvPr/>
        </p:nvCxnSpPr>
        <p:spPr>
          <a:xfrm>
            <a:off x="5669280" y="5980176"/>
            <a:ext cx="384048" cy="0"/>
          </a:xfrm>
          <a:prstGeom prst="straightConnector1">
            <a:avLst/>
          </a:prstGeom>
          <a:noFill/>
          <a:ln w="15875">
            <a:solidFill>
              <a:srgbClr val="333333"/>
            </a:solidFill>
            <a:prstDash val="solid"/>
            <a:tailEnd type="triangle"/>
          </a:ln>
        </p:spPr>
      </p:cxnSp>
      <p:sp>
        <p:nvSpPr>
          <p:cNvPr id="65" name="Text 63"/>
          <p:cNvSpPr txBox="1"/>
          <p:nvPr/>
        </p:nvSpPr>
        <p:spPr>
          <a:xfrm>
            <a:off x="6126480" y="5852160"/>
            <a:ext cx="1371600" cy="256032"/>
          </a:xfrm>
          <a:prstGeom prst="rect">
            <a:avLst/>
          </a:prstGeom>
          <a:noFill/>
          <a:ln/>
        </p:spPr>
        <p:txBody>
          <a:bodyPr wrap="square" lIns="0" tIns="0" rIns="0" bIns="0" rtlCol="0" anchor="ctr"/>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Labelled data or call</a:t>
            </a:r>
            <a:endParaRPr lang="en-US" sz="1100" dirty="0"/>
          </a:p>
        </p:txBody>
      </p:sp>
      <p:sp>
        <p:nvSpPr>
          <p:cNvPr id="66"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DATA MODEL AND KNOWLEDGE GRAPH</a:t>
            </a:r>
            <a:endParaRPr lang="en-US" sz="3000" dirty="0"/>
          </a:p>
        </p:txBody>
      </p:sp>
      <p:sp>
        <p:nvSpPr>
          <p:cNvPr id="3" name="Text 1"/>
          <p:cNvSpPr/>
          <p:nvPr/>
        </p:nvSpPr>
        <p:spPr>
          <a:xfrm>
            <a:off x="5943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25296"/>
            <a:ext cx="54864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TABLES AND LINKS</a:t>
            </a:r>
            <a:endParaRPr lang="en-US" sz="1300" dirty="0"/>
          </a:p>
        </p:txBody>
      </p:sp>
      <p:sp>
        <p:nvSpPr>
          <p:cNvPr id="5" name="Text 3"/>
          <p:cNvSpPr/>
          <p:nvPr/>
        </p:nvSpPr>
        <p:spPr>
          <a:xfrm>
            <a:off x="594360" y="1572768"/>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raw_events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role, content, occurred_at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metadata, processing_state</a:t>
            </a:r>
            <a:endParaRPr lang="en-US" sz="1200" dirty="0"/>
          </a:p>
        </p:txBody>
      </p:sp>
      <p:sp>
        <p:nvSpPr>
          <p:cNvPr id="6" name="Text 4"/>
          <p:cNvSpPr/>
          <p:nvPr/>
        </p:nvSpPr>
        <p:spPr>
          <a:xfrm>
            <a:off x="594360" y="2615184"/>
            <a:ext cx="192024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chunks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per event, never split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embedding, search_vector</a:t>
            </a:r>
            <a:endParaRPr lang="en-US" sz="1200" dirty="0"/>
          </a:p>
        </p:txBody>
      </p:sp>
      <p:sp>
        <p:nvSpPr>
          <p:cNvPr id="7" name="Text 5"/>
          <p:cNvSpPr/>
          <p:nvPr/>
        </p:nvSpPr>
        <p:spPr>
          <a:xfrm>
            <a:off x="594360" y="3639312"/>
            <a:ext cx="192024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episodes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retain call, idempotent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episode_sources keep order</a:t>
            </a:r>
            <a:endParaRPr lang="en-US" sz="1200" dirty="0"/>
          </a:p>
        </p:txBody>
      </p:sp>
      <p:sp>
        <p:nvSpPr>
          <p:cNvPr id="8" name="Text 6"/>
          <p:cNvSpPr/>
          <p:nvPr/>
        </p:nvSpPr>
        <p:spPr>
          <a:xfrm>
            <a:off x="3246120" y="1572768"/>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entities, aliases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type, name, normalized_name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alias with its grounding chunk</a:t>
            </a:r>
            <a:endParaRPr lang="en-US" sz="1200" dirty="0"/>
          </a:p>
        </p:txBody>
      </p:sp>
      <p:sp>
        <p:nvSpPr>
          <p:cNvPr id="9" name="Text 7"/>
          <p:cNvSpPr/>
          <p:nvPr/>
        </p:nvSpPr>
        <p:spPr>
          <a:xfrm>
            <a:off x="3246120" y="2615184"/>
            <a:ext cx="2011680" cy="73152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assertion_sources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assertion_id, chunk_id, quote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quote is exact chunk text</a:t>
            </a:r>
            <a:endParaRPr lang="en-US" sz="1200" dirty="0"/>
          </a:p>
        </p:txBody>
      </p:sp>
      <p:sp>
        <p:nvSpPr>
          <p:cNvPr id="10" name="Text 8"/>
          <p:cNvSpPr/>
          <p:nvPr/>
        </p:nvSpPr>
        <p:spPr>
          <a:xfrm>
            <a:off x="6080760" y="1572768"/>
            <a:ext cx="2468880" cy="1773936"/>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slot_key: subject_id::predicate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cardinality: single, multiple, event</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superseded, contested, stale, retracted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valid_to: belief applies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event_at: event happened</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recorded_at: engine stored it</a:t>
            </a:r>
            <a:endParaRPr lang="en-US" sz="1200" dirty="0"/>
          </a:p>
        </p:txBody>
      </p:sp>
      <p:sp>
        <p:nvSpPr>
          <p:cNvPr id="11" name="Text 9"/>
          <p:cNvSpPr/>
          <p:nvPr/>
        </p:nvSpPr>
        <p:spPr>
          <a:xfrm>
            <a:off x="6080760" y="3639312"/>
            <a:ext cx="2468880" cy="91440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assertion_edges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supersedes, extends, contradicts, causes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supports: observation to its facts</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derives: no writer, Status to confirm</a:t>
            </a:r>
            <a:endParaRPr lang="en-US" sz="1200" dirty="0"/>
          </a:p>
        </p:txBody>
      </p:sp>
      <p:cxnSp>
        <p:nvCxnSpPr>
          <p:cNvPr id="12" name="Connector 12"/>
          <p:cNvCxnSpPr/>
          <p:nvPr/>
        </p:nvCxnSpPr>
        <p:spPr>
          <a:xfrm flipV="1">
            <a:off x="1170432" y="2304288"/>
            <a:ext cx="0" cy="310896"/>
          </a:xfrm>
          <a:prstGeom prst="straightConnector1">
            <a:avLst/>
          </a:prstGeom>
          <a:noFill/>
          <a:ln w="15875">
            <a:solidFill>
              <a:srgbClr val="333333"/>
            </a:solidFill>
            <a:prstDash val="solid"/>
            <a:tailEnd type="triangle"/>
          </a:ln>
        </p:spPr>
      </p:cxnSp>
      <p:sp>
        <p:nvSpPr>
          <p:cNvPr id="13" name="Text 11"/>
          <p:cNvSpPr txBox="1"/>
          <p:nvPr/>
        </p:nvSpPr>
        <p:spPr>
          <a:xfrm>
            <a:off x="1243584" y="2331720"/>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raw_event_id</a:t>
            </a:r>
            <a:endParaRPr lang="en-US" sz="1100" dirty="0"/>
          </a:p>
        </p:txBody>
      </p:sp>
      <p:cxnSp>
        <p:nvCxnSpPr>
          <p:cNvPr id="14" name="Connector 14"/>
          <p:cNvCxnSpPr/>
          <p:nvPr/>
        </p:nvCxnSpPr>
        <p:spPr>
          <a:xfrm flipV="1">
            <a:off x="1170432" y="3346704"/>
            <a:ext cx="0" cy="292608"/>
          </a:xfrm>
          <a:prstGeom prst="straightConnector1">
            <a:avLst/>
          </a:prstGeom>
          <a:noFill/>
          <a:ln w="15875">
            <a:solidFill>
              <a:srgbClr val="333333"/>
            </a:solidFill>
            <a:prstDash val="solid"/>
            <a:tailEnd type="triangle"/>
          </a:ln>
        </p:spPr>
      </p:cxnSp>
      <p:sp>
        <p:nvSpPr>
          <p:cNvPr id="15" name="Text 13"/>
          <p:cNvSpPr txBox="1"/>
          <p:nvPr/>
        </p:nvSpPr>
        <p:spPr>
          <a:xfrm>
            <a:off x="1243584" y="3364992"/>
            <a:ext cx="91440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6" name="Connector 16"/>
          <p:cNvCxnSpPr>
            <a:stCxn id="9" idx="1"/>
            <a:endCxn id="6" idx="3"/>
          </p:cNvCxnSpPr>
          <p:nvPr/>
        </p:nvCxnSpPr>
        <p:spPr>
          <a:xfrm flipH="1">
            <a:off x="2514600" y="2980944"/>
            <a:ext cx="731520" cy="0"/>
          </a:xfrm>
          <a:prstGeom prst="straightConnector1">
            <a:avLst/>
          </a:prstGeom>
          <a:noFill/>
          <a:ln w="15875">
            <a:solidFill>
              <a:srgbClr val="333333"/>
            </a:solidFill>
            <a:prstDash val="solid"/>
            <a:tailEnd type="triangle"/>
          </a:ln>
        </p:spPr>
      </p:cxnSp>
      <p:sp>
        <p:nvSpPr>
          <p:cNvPr id="17" name="Text 15"/>
          <p:cNvSpPr txBox="1"/>
          <p:nvPr/>
        </p:nvSpPr>
        <p:spPr>
          <a:xfrm>
            <a:off x="2560320" y="2697480"/>
            <a:ext cx="6400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chunk_id</a:t>
            </a:r>
            <a:endParaRPr lang="en-US" sz="1100" dirty="0"/>
          </a:p>
        </p:txBody>
      </p:sp>
      <p:cxnSp>
        <p:nvCxnSpPr>
          <p:cNvPr id="18" name="Connector 18"/>
          <p:cNvCxnSpPr>
            <a:stCxn id="9" idx="3"/>
          </p:cNvCxnSpPr>
          <p:nvPr/>
        </p:nvCxnSpPr>
        <p:spPr>
          <a:xfrm>
            <a:off x="5257800" y="2980944"/>
            <a:ext cx="822960" cy="0"/>
          </a:xfrm>
          <a:prstGeom prst="straightConnector1">
            <a:avLst/>
          </a:prstGeom>
          <a:noFill/>
          <a:ln w="15875">
            <a:solidFill>
              <a:srgbClr val="333333"/>
            </a:solidFill>
            <a:prstDash val="solid"/>
            <a:tailEnd type="triangle"/>
          </a:ln>
        </p:spPr>
      </p:cxnSp>
      <p:sp>
        <p:nvSpPr>
          <p:cNvPr id="19" name="Text 17"/>
          <p:cNvSpPr txBox="1"/>
          <p:nvPr/>
        </p:nvSpPr>
        <p:spPr>
          <a:xfrm>
            <a:off x="5280660" y="2697480"/>
            <a:ext cx="7772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assertion_id</a:t>
            </a:r>
            <a:endParaRPr lang="en-US" sz="1100" dirty="0"/>
          </a:p>
        </p:txBody>
      </p:sp>
      <p:cxnSp>
        <p:nvCxnSpPr>
          <p:cNvPr id="20" name="Connector 20"/>
          <p:cNvCxnSpPr>
            <a:endCxn id="8" idx="3"/>
          </p:cNvCxnSpPr>
          <p:nvPr/>
        </p:nvCxnSpPr>
        <p:spPr>
          <a:xfrm flipH="1">
            <a:off x="5257800" y="1938528"/>
            <a:ext cx="822960" cy="0"/>
          </a:xfrm>
          <a:prstGeom prst="straightConnector1">
            <a:avLst/>
          </a:prstGeom>
          <a:noFill/>
          <a:ln w="15875">
            <a:solidFill>
              <a:srgbClr val="333333"/>
            </a:solidFill>
            <a:prstDash val="solid"/>
            <a:tailEnd type="triangle"/>
          </a:ln>
        </p:spPr>
      </p:cxnSp>
      <p:sp>
        <p:nvSpPr>
          <p:cNvPr id="21" name="Text 19"/>
          <p:cNvSpPr txBox="1"/>
          <p:nvPr/>
        </p:nvSpPr>
        <p:spPr>
          <a:xfrm>
            <a:off x="5303520" y="1655064"/>
            <a:ext cx="73152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subject_id</a:t>
            </a:r>
            <a:endParaRPr lang="en-US" sz="1100" dirty="0"/>
          </a:p>
        </p:txBody>
      </p:sp>
      <p:cxnSp>
        <p:nvCxnSpPr>
          <p:cNvPr id="22" name="Connector 22"/>
          <p:cNvCxnSpPr/>
          <p:nvPr/>
        </p:nvCxnSpPr>
        <p:spPr>
          <a:xfrm flipV="1">
            <a:off x="6821424" y="3346704"/>
            <a:ext cx="0" cy="292608"/>
          </a:xfrm>
          <a:prstGeom prst="straightConnector1">
            <a:avLst/>
          </a:prstGeom>
          <a:noFill/>
          <a:ln w="15875">
            <a:solidFill>
              <a:srgbClr val="333333"/>
            </a:solidFill>
            <a:prstDash val="solid"/>
            <a:tailEnd type="triangle"/>
          </a:ln>
        </p:spPr>
      </p:cxnSp>
      <p:sp>
        <p:nvSpPr>
          <p:cNvPr id="23" name="Text 21"/>
          <p:cNvSpPr txBox="1"/>
          <p:nvPr/>
        </p:nvSpPr>
        <p:spPr>
          <a:xfrm>
            <a:off x="6894576" y="3364992"/>
            <a:ext cx="10972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from_id, to_id</a:t>
            </a:r>
            <a:endParaRPr lang="en-US" sz="1100" dirty="0"/>
          </a:p>
        </p:txBody>
      </p:sp>
      <p:sp>
        <p:nvSpPr>
          <p:cNvPr id="24" name="Text 22"/>
          <p:cNvSpPr/>
          <p:nvPr/>
        </p:nvSpPr>
        <p:spPr>
          <a:xfrm>
            <a:off x="594360" y="4645152"/>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25" name="Text 23"/>
          <p:cNvSpPr txBox="1"/>
          <p:nvPr/>
        </p:nvSpPr>
        <p:spPr>
          <a:xfrm>
            <a:off x="996696" y="4645152"/>
            <a:ext cx="45720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VERSION CHAIN FOR ONE SLOT</a:t>
            </a:r>
            <a:endParaRPr lang="en-US" sz="1300" dirty="0"/>
          </a:p>
        </p:txBody>
      </p:sp>
      <p:sp>
        <p:nvSpPr>
          <p:cNvPr id="26" name="Text 24"/>
          <p:cNvSpPr/>
          <p:nvPr/>
        </p:nvSpPr>
        <p:spPr>
          <a:xfrm>
            <a:off x="594360" y="5029200"/>
            <a:ext cx="3063240" cy="749808"/>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Friday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superseded, valid_to: session 3</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1</a:t>
            </a:r>
            <a:endParaRPr lang="en-US" sz="1200" dirty="0"/>
          </a:p>
        </p:txBody>
      </p:sp>
      <p:sp>
        <p:nvSpPr>
          <p:cNvPr id="27" name="Text 25"/>
          <p:cNvSpPr/>
          <p:nvPr/>
        </p:nvSpPr>
        <p:spPr>
          <a:xfrm>
            <a:off x="5394960" y="5029200"/>
            <a:ext cx="3154680" cy="749808"/>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deploys on: Tuesday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status: active, valid_to: empty</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valid_from: session 3</a:t>
            </a:r>
            <a:endParaRPr lang="en-US" sz="1200" dirty="0"/>
          </a:p>
        </p:txBody>
      </p:sp>
      <p:cxnSp>
        <p:nvCxnSpPr>
          <p:cNvPr id="28" name="Connector 28"/>
          <p:cNvCxnSpPr>
            <a:stCxn id="27" idx="1"/>
            <a:endCxn id="26" idx="3"/>
          </p:cNvCxnSpPr>
          <p:nvPr/>
        </p:nvCxnSpPr>
        <p:spPr>
          <a:xfrm flipH="1">
            <a:off x="3657600" y="5404104"/>
            <a:ext cx="1737360" cy="0"/>
          </a:xfrm>
          <a:prstGeom prst="straightConnector1">
            <a:avLst/>
          </a:prstGeom>
          <a:noFill/>
          <a:ln w="15875">
            <a:solidFill>
              <a:srgbClr val="333333"/>
            </a:solidFill>
            <a:prstDash val="solid"/>
            <a:tailEnd type="triangle"/>
          </a:ln>
        </p:spPr>
      </p:cxnSp>
      <p:sp>
        <p:nvSpPr>
          <p:cNvPr id="29" name="Text 27"/>
          <p:cNvSpPr txBox="1"/>
          <p:nvPr/>
        </p:nvSpPr>
        <p:spPr>
          <a:xfrm>
            <a:off x="4069080" y="5120640"/>
            <a:ext cx="91440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supersedes</a:t>
            </a:r>
            <a:endParaRPr lang="en-US" sz="1100" dirty="0"/>
          </a:p>
        </p:txBody>
      </p:sp>
      <p:sp>
        <p:nvSpPr>
          <p:cNvPr id="30" name="Text 28"/>
          <p:cNvSpPr/>
          <p:nvPr/>
        </p:nvSpPr>
        <p:spPr>
          <a:xfrm>
            <a:off x="8823960" y="1225296"/>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3</a:t>
            </a:r>
            <a:endParaRPr lang="en-US" sz="1300" dirty="0"/>
          </a:p>
        </p:txBody>
      </p:sp>
      <p:sp>
        <p:nvSpPr>
          <p:cNvPr id="31" name="Text 29"/>
          <p:cNvSpPr txBox="1"/>
          <p:nvPr/>
        </p:nvSpPr>
        <p:spPr>
          <a:xfrm>
            <a:off x="9226296" y="1225296"/>
            <a:ext cx="274320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GRAPH PROJECTION</a:t>
            </a:r>
            <a:endParaRPr lang="en-US" sz="1300" dirty="0"/>
          </a:p>
        </p:txBody>
      </p:sp>
      <p:sp>
        <p:nvSpPr>
          <p:cNvPr id="32" name="Text 30"/>
          <p:cNvSpPr/>
          <p:nvPr/>
        </p:nvSpPr>
        <p:spPr>
          <a:xfrm>
            <a:off x="8823960" y="1572768"/>
            <a:ext cx="2773375" cy="91440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PostgreSQL 17, authoritative</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Entities resolve by exact type and name, else one grounded alias, never by similarity. Every update raises a revision.</a:t>
            </a:r>
            <a:endParaRPr lang="en-US" sz="1200" dirty="0"/>
          </a:p>
        </p:txBody>
      </p:sp>
      <p:sp>
        <p:nvSpPr>
          <p:cNvPr id="33" name="Text 31"/>
          <p:cNvSpPr/>
          <p:nvPr/>
        </p:nvSpPr>
        <p:spPr>
          <a:xfrm>
            <a:off x="8823960" y="2743200"/>
            <a:ext cx="2773375" cy="109728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Neo4j 5.26, projection</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Assertion, KnowledgeEntity and MemoryNamespace nodes, MENTIONS and SUPPORTS edges. A write with an older revision is dropped.</a:t>
            </a:r>
            <a:endParaRPr lang="en-US" sz="1200" dirty="0"/>
          </a:p>
        </p:txBody>
      </p:sp>
      <p:sp>
        <p:nvSpPr>
          <p:cNvPr id="34" name="Text 32"/>
          <p:cNvSpPr/>
          <p:nvPr/>
        </p:nvSpPr>
        <p:spPr>
          <a:xfrm>
            <a:off x="8823960" y="4096512"/>
            <a:ext cx="27733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200" b="1" dirty="0">
                <a:solidFill>
                  <a:srgbClr val="1A1A1A"/>
                </a:solidFill>
                <a:latin typeface="Times New Roman" pitchFamily="34" charset="0"/>
                <a:ea typeface="Times New Roman" pitchFamily="34" charset="-122"/>
                <a:cs typeface="Times New Roman" pitchFamily="34" charset="-120"/>
              </a:rPr>
              <a:t>Graph arm in recall</a:t>
            </a:r>
            <a:endParaRPr lang="en-US" sz="1200" dirty="0"/>
          </a:p>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Seeds: top 5 lexical, top 5 semantic, 10 by entity name. Two expansion rounds, 200 rows at most. PostgreSQL checks every id again.</a:t>
            </a:r>
            <a:endParaRPr lang="en-US" sz="1200" dirty="0"/>
          </a:p>
        </p:txBody>
      </p:sp>
      <p:cxnSp>
        <p:nvCxnSpPr>
          <p:cNvPr id="35" name="Connector 35"/>
          <p:cNvCxnSpPr/>
          <p:nvPr/>
        </p:nvCxnSpPr>
        <p:spPr>
          <a:xfrm>
            <a:off x="9156765" y="2487168"/>
            <a:ext cx="0" cy="256032"/>
          </a:xfrm>
          <a:prstGeom prst="straightConnector1">
            <a:avLst/>
          </a:prstGeom>
          <a:noFill/>
          <a:ln w="15875">
            <a:solidFill>
              <a:srgbClr val="333333"/>
            </a:solidFill>
            <a:prstDash val="solid"/>
            <a:tailEnd type="triangle"/>
          </a:ln>
        </p:spPr>
      </p:cxnSp>
      <p:sp>
        <p:nvSpPr>
          <p:cNvPr id="36" name="Text 34"/>
          <p:cNvSpPr txBox="1"/>
          <p:nvPr/>
        </p:nvSpPr>
        <p:spPr>
          <a:xfrm>
            <a:off x="9229917" y="2487168"/>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assertion id, revision</a:t>
            </a:r>
            <a:endParaRPr lang="en-US" sz="1100" dirty="0"/>
          </a:p>
        </p:txBody>
      </p:sp>
      <p:cxnSp>
        <p:nvCxnSpPr>
          <p:cNvPr id="37" name="Connector 37"/>
          <p:cNvCxnSpPr/>
          <p:nvPr/>
        </p:nvCxnSpPr>
        <p:spPr>
          <a:xfrm>
            <a:off x="9156765" y="3840480"/>
            <a:ext cx="0" cy="256032"/>
          </a:xfrm>
          <a:prstGeom prst="straightConnector1">
            <a:avLst/>
          </a:prstGeom>
          <a:noFill/>
          <a:ln w="15875">
            <a:solidFill>
              <a:srgbClr val="333333"/>
            </a:solidFill>
            <a:prstDash val="solid"/>
            <a:tailEnd type="triangle"/>
          </a:ln>
        </p:spPr>
      </p:cxnSp>
      <p:sp>
        <p:nvSpPr>
          <p:cNvPr id="38" name="Text 36"/>
          <p:cNvSpPr txBox="1"/>
          <p:nvPr/>
        </p:nvSpPr>
        <p:spPr>
          <a:xfrm>
            <a:off x="9229917" y="3840480"/>
            <a:ext cx="1554480" cy="256032"/>
          </a:xfrm>
          <a:prstGeom prst="rect">
            <a:avLst/>
          </a:prstGeom>
          <a:noFill/>
          <a:ln/>
        </p:spPr>
        <p:txBody>
          <a:bodyPr wrap="square" lIns="0" tIns="0" rIns="0" bIns="0" rtlCol="0" anchor="ctr"/>
          <a:lstStyle/>
          <a:p>
            <a:pPr algn="l" indent="0" marL="0">
              <a:buNone/>
            </a:pPr>
            <a:r>
              <a:rPr lang="en-US" sz="1100" i="1" dirty="0">
                <a:solidFill>
                  <a:srgbClr val="595959"/>
                </a:solidFill>
                <a:latin typeface="Times New Roman" pitchFamily="34" charset="0"/>
                <a:ea typeface="Times New Roman" pitchFamily="34" charset="-122"/>
                <a:cs typeface="Times New Roman" pitchFamily="34" charset="-120"/>
              </a:rPr>
              <a:t>candidate ids, paths</a:t>
            </a:r>
            <a:endParaRPr lang="en-US" sz="1100" dirty="0"/>
          </a:p>
        </p:txBody>
      </p:sp>
      <p:sp>
        <p:nvSpPr>
          <p:cNvPr id="39" name="Text 37"/>
          <p:cNvSpPr txBox="1"/>
          <p:nvPr/>
        </p:nvSpPr>
        <p:spPr>
          <a:xfrm>
            <a:off x="8823960" y="5212080"/>
            <a:ext cx="2773375" cy="77724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Every fact traces back to its exact quote, chunk and raw event. Graph results are ranked by Neo4j row order, and we have not measured what the graph search adds.</a:t>
            </a:r>
            <a:endParaRPr lang="en-US" sz="1100" dirty="0"/>
          </a:p>
        </p:txBody>
      </p:sp>
      <p:sp>
        <p:nvSpPr>
          <p:cNvPr id="40"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PI INTEGRATION</a:t>
            </a:r>
            <a:endParaRPr lang="en-US" sz="3000" dirty="0"/>
          </a:p>
        </p:txBody>
      </p:sp>
      <p:sp>
        <p:nvSpPr>
          <p:cNvPr id="3" name="Shape 1"/>
          <p:cNvSpPr/>
          <p:nvPr/>
        </p:nvSpPr>
        <p:spPr>
          <a:xfrm>
            <a:off x="594360" y="1325880"/>
            <a:ext cx="2971800" cy="2542032"/>
          </a:xfrm>
          <a:prstGeom prst="rect">
            <a:avLst/>
          </a:prstGeom>
          <a:solidFill>
            <a:srgbClr val="F2F2F2"/>
          </a:solidFill>
          <a:ln w="9525">
            <a:solidFill>
              <a:srgbClr val="BFBFBF"/>
            </a:solidFill>
            <a:prstDash val="solid"/>
          </a:ln>
        </p:spPr>
        <p:txBody>
          <a:bodyPr/>
          <a:p/>
        </p:txBody>
      </p:sp>
      <p:sp>
        <p:nvSpPr>
          <p:cNvPr id="4" name="Text 2"/>
          <p:cNvSpPr txBox="1"/>
          <p:nvPr/>
        </p:nvSpPr>
        <p:spPr>
          <a:xfrm>
            <a:off x="7315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PI CODING AGENT [9]</a:t>
            </a:r>
            <a:endParaRPr lang="en-US" sz="1100" dirty="0"/>
          </a:p>
        </p:txBody>
      </p:sp>
      <p:sp>
        <p:nvSpPr>
          <p:cNvPr id="5" name="Shape 3"/>
          <p:cNvSpPr/>
          <p:nvPr/>
        </p:nvSpPr>
        <p:spPr>
          <a:xfrm>
            <a:off x="4709160" y="1325880"/>
            <a:ext cx="2971800" cy="2542032"/>
          </a:xfrm>
          <a:prstGeom prst="rect">
            <a:avLst/>
          </a:prstGeom>
          <a:solidFill>
            <a:srgbClr val="F2F2F2"/>
          </a:solidFill>
          <a:ln w="9525">
            <a:solidFill>
              <a:srgbClr val="BFBFBF"/>
            </a:solidFill>
            <a:prstDash val="solid"/>
          </a:ln>
        </p:spPr>
        <p:txBody>
          <a:bodyPr/>
          <a:p/>
        </p:txBody>
      </p:sp>
      <p:sp>
        <p:nvSpPr>
          <p:cNvPr id="6" name="Text 4"/>
          <p:cNvSpPr txBox="1"/>
          <p:nvPr/>
        </p:nvSpPr>
        <p:spPr>
          <a:xfrm>
            <a:off x="4846320" y="1399032"/>
            <a:ext cx="2697480"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EXTENSION IN INTEGRATIONS/PI</a:t>
            </a:r>
            <a:endParaRPr lang="en-US" sz="1100" dirty="0"/>
          </a:p>
        </p:txBody>
      </p:sp>
      <p:sp>
        <p:nvSpPr>
          <p:cNvPr id="7" name="Shape 5"/>
          <p:cNvSpPr/>
          <p:nvPr/>
        </p:nvSpPr>
        <p:spPr>
          <a:xfrm>
            <a:off x="8823960" y="1325880"/>
            <a:ext cx="2770632" cy="2542032"/>
          </a:xfrm>
          <a:prstGeom prst="rect">
            <a:avLst/>
          </a:prstGeom>
          <a:solidFill>
            <a:srgbClr val="F2F2F2"/>
          </a:solidFill>
          <a:ln w="9525">
            <a:solidFill>
              <a:srgbClr val="BFBFBF"/>
            </a:solidFill>
            <a:prstDash val="solid"/>
          </a:ln>
        </p:spPr>
        <p:txBody>
          <a:bodyPr/>
          <a:p/>
        </p:txBody>
      </p:sp>
      <p:sp>
        <p:nvSpPr>
          <p:cNvPr id="8" name="Text 6"/>
          <p:cNvSpPr txBox="1"/>
          <p:nvPr/>
        </p:nvSpPr>
        <p:spPr>
          <a:xfrm>
            <a:off x="8961120" y="1399032"/>
            <a:ext cx="2496312"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MEMORY SERVICE, 127.0.0.1:8080</a:t>
            </a:r>
            <a:endParaRPr lang="en-US" sz="1100" dirty="0"/>
          </a:p>
        </p:txBody>
      </p:sp>
      <p:sp>
        <p:nvSpPr>
          <p:cNvPr id="9" name="Text 7"/>
          <p:cNvSpPr/>
          <p:nvPr/>
        </p:nvSpPr>
        <p:spPr>
          <a:xfrm>
            <a:off x="7315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Ingestion hooks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tool_result, agent_settled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tool output, new messages</a:t>
            </a:r>
            <a:endParaRPr lang="en-US" sz="1300" dirty="0"/>
          </a:p>
        </p:txBody>
      </p:sp>
      <p:sp>
        <p:nvSpPr>
          <p:cNvPr id="10" name="Text 8"/>
          <p:cNvSpPr/>
          <p:nvPr/>
        </p:nvSpPr>
        <p:spPr>
          <a:xfrm>
            <a:off x="4846320" y="173736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Local spool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temp file, fsync, rename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file per batch</a:t>
            </a:r>
            <a:endParaRPr lang="en-US" sz="1300" dirty="0"/>
          </a:p>
        </p:txBody>
      </p:sp>
      <p:sp>
        <p:nvSpPr>
          <p:cNvPr id="11" name="Text 9"/>
          <p:cNvSpPr/>
          <p:nvPr/>
        </p:nvSpPr>
        <p:spPr>
          <a:xfrm>
            <a:off x="8961120" y="173736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/api/v2/retain</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episode, chunks, job,</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transaction</a:t>
            </a:r>
            <a:endParaRPr lang="en-US" sz="1300" dirty="0"/>
          </a:p>
        </p:txBody>
      </p:sp>
      <p:sp>
        <p:nvSpPr>
          <p:cNvPr id="12" name="Text 10"/>
          <p:cNvSpPr/>
          <p:nvPr/>
        </p:nvSpPr>
        <p:spPr>
          <a:xfrm>
            <a:off x="8961120" y="2926080"/>
            <a:ext cx="2496312"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POST /api/v2/recall</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context, trace_id,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degraded_reasons</a:t>
            </a:r>
            <a:endParaRPr lang="en-US" sz="1300" dirty="0"/>
          </a:p>
        </p:txBody>
      </p:sp>
      <p:sp>
        <p:nvSpPr>
          <p:cNvPr id="13" name="Text 11"/>
          <p:cNvSpPr/>
          <p:nvPr/>
        </p:nvSpPr>
        <p:spPr>
          <a:xfrm>
            <a:off x="48463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client, tools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max_tokens 2048, top_k 10</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memory_recall, memory_remember</a:t>
            </a:r>
            <a:endParaRPr lang="en-US" sz="1300" dirty="0"/>
          </a:p>
        </p:txBody>
      </p:sp>
      <p:sp>
        <p:nvSpPr>
          <p:cNvPr id="14" name="Text 12"/>
          <p:cNvSpPr/>
          <p:nvPr/>
        </p:nvSpPr>
        <p:spPr>
          <a:xfrm>
            <a:off x="731520" y="2926080"/>
            <a:ext cx="2697480" cy="804672"/>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Retrieval hook</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before_agent_start adds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message sdp-memory-context</a:t>
            </a:r>
            <a:endParaRPr lang="en-US" sz="1300" dirty="0"/>
          </a:p>
        </p:txBody>
      </p:sp>
      <p:cxnSp>
        <p:nvCxnSpPr>
          <p:cNvPr id="15" name="Connector 15"/>
          <p:cNvCxnSpPr>
            <a:stCxn id="9" idx="3"/>
            <a:endCxn id="10" idx="1"/>
          </p:cNvCxnSpPr>
          <p:nvPr/>
        </p:nvCxnSpPr>
        <p:spPr>
          <a:xfrm>
            <a:off x="3429000" y="2139696"/>
            <a:ext cx="1417320" cy="0"/>
          </a:xfrm>
          <a:prstGeom prst="straightConnector1">
            <a:avLst/>
          </a:prstGeom>
          <a:noFill/>
          <a:ln w="15875">
            <a:solidFill>
              <a:srgbClr val="333333"/>
            </a:solidFill>
            <a:prstDash val="solid"/>
            <a:tailEnd type="triangle"/>
          </a:ln>
        </p:spPr>
      </p:cxnSp>
      <p:sp>
        <p:nvSpPr>
          <p:cNvPr id="16" name="Text 14"/>
          <p:cNvSpPr txBox="1"/>
          <p:nvPr/>
        </p:nvSpPr>
        <p:spPr>
          <a:xfrm>
            <a:off x="36347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hook events</a:t>
            </a:r>
            <a:endParaRPr lang="en-US" sz="1100" dirty="0"/>
          </a:p>
        </p:txBody>
      </p:sp>
      <p:cxnSp>
        <p:nvCxnSpPr>
          <p:cNvPr id="17" name="Connector 17"/>
          <p:cNvCxnSpPr>
            <a:stCxn id="10" idx="3"/>
            <a:endCxn id="11" idx="1"/>
          </p:cNvCxnSpPr>
          <p:nvPr/>
        </p:nvCxnSpPr>
        <p:spPr>
          <a:xfrm>
            <a:off x="7543800" y="2139696"/>
            <a:ext cx="1417320" cy="0"/>
          </a:xfrm>
          <a:prstGeom prst="straightConnector1">
            <a:avLst/>
          </a:prstGeom>
          <a:noFill/>
          <a:ln w="15875">
            <a:solidFill>
              <a:srgbClr val="333333"/>
            </a:solidFill>
            <a:prstDash val="solid"/>
            <a:tailEnd type="triangle"/>
          </a:ln>
        </p:spPr>
      </p:cxnSp>
      <p:sp>
        <p:nvSpPr>
          <p:cNvPr id="18" name="Text 16"/>
          <p:cNvSpPr txBox="1"/>
          <p:nvPr/>
        </p:nvSpPr>
        <p:spPr>
          <a:xfrm>
            <a:off x="7749540" y="185623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retain batch</a:t>
            </a:r>
            <a:endParaRPr lang="en-US" sz="1100" dirty="0"/>
          </a:p>
        </p:txBody>
      </p:sp>
      <p:cxnSp>
        <p:nvCxnSpPr>
          <p:cNvPr id="19" name="Connector 19"/>
          <p:cNvCxnSpPr/>
          <p:nvPr/>
        </p:nvCxnSpPr>
        <p:spPr>
          <a:xfrm>
            <a:off x="3429000" y="3145536"/>
            <a:ext cx="1417320" cy="0"/>
          </a:xfrm>
          <a:prstGeom prst="straightConnector1">
            <a:avLst/>
          </a:prstGeom>
          <a:noFill/>
          <a:ln w="15875">
            <a:solidFill>
              <a:srgbClr val="333333"/>
            </a:solidFill>
            <a:prstDash val="solid"/>
            <a:tailEnd type="triangle"/>
          </a:ln>
        </p:spPr>
      </p:cxnSp>
      <p:sp>
        <p:nvSpPr>
          <p:cNvPr id="20" name="Text 18"/>
          <p:cNvSpPr txBox="1"/>
          <p:nvPr/>
        </p:nvSpPr>
        <p:spPr>
          <a:xfrm>
            <a:off x="3634740" y="2862072"/>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prompt text</a:t>
            </a:r>
            <a:endParaRPr lang="en-US" sz="1100" dirty="0"/>
          </a:p>
        </p:txBody>
      </p:sp>
      <p:cxnSp>
        <p:nvCxnSpPr>
          <p:cNvPr id="21" name="Connector 21"/>
          <p:cNvCxnSpPr/>
          <p:nvPr/>
        </p:nvCxnSpPr>
        <p:spPr>
          <a:xfrm>
            <a:off x="7543800" y="3145536"/>
            <a:ext cx="1417320" cy="0"/>
          </a:xfrm>
          <a:prstGeom prst="straightConnector1">
            <a:avLst/>
          </a:prstGeom>
          <a:noFill/>
          <a:ln w="15875">
            <a:solidFill>
              <a:srgbClr val="333333"/>
            </a:solidFill>
            <a:prstDash val="solid"/>
            <a:tailEnd type="triangle"/>
          </a:ln>
        </p:spPr>
      </p:cxnSp>
      <p:sp>
        <p:nvSpPr>
          <p:cNvPr id="22" name="Text 20"/>
          <p:cNvSpPr txBox="1"/>
          <p:nvPr/>
        </p:nvSpPr>
        <p:spPr>
          <a:xfrm>
            <a:off x="7726680" y="2862072"/>
            <a:ext cx="105156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recall request</a:t>
            </a:r>
            <a:endParaRPr lang="en-US" sz="1100" dirty="0"/>
          </a:p>
        </p:txBody>
      </p:sp>
      <p:cxnSp>
        <p:nvCxnSpPr>
          <p:cNvPr id="23" name="Connector 23"/>
          <p:cNvCxnSpPr/>
          <p:nvPr/>
        </p:nvCxnSpPr>
        <p:spPr>
          <a:xfrm flipH="1">
            <a:off x="7543800" y="3529584"/>
            <a:ext cx="1417320" cy="0"/>
          </a:xfrm>
          <a:prstGeom prst="straightConnector1">
            <a:avLst/>
          </a:prstGeom>
          <a:noFill/>
          <a:ln w="15875">
            <a:solidFill>
              <a:srgbClr val="333333"/>
            </a:solidFill>
            <a:prstDash val="solid"/>
            <a:tailEnd type="triangle"/>
          </a:ln>
        </p:spPr>
      </p:cxnSp>
      <p:sp>
        <p:nvSpPr>
          <p:cNvPr id="24" name="Text 22"/>
          <p:cNvSpPr txBox="1"/>
          <p:nvPr/>
        </p:nvSpPr>
        <p:spPr>
          <a:xfrm>
            <a:off x="7703820" y="3557016"/>
            <a:ext cx="109728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 trace id</a:t>
            </a:r>
            <a:endParaRPr lang="en-US" sz="1100" dirty="0"/>
          </a:p>
        </p:txBody>
      </p:sp>
      <p:cxnSp>
        <p:nvCxnSpPr>
          <p:cNvPr id="25" name="Connector 25"/>
          <p:cNvCxnSpPr/>
          <p:nvPr/>
        </p:nvCxnSpPr>
        <p:spPr>
          <a:xfrm flipH="1">
            <a:off x="3429000" y="3529584"/>
            <a:ext cx="1417320" cy="0"/>
          </a:xfrm>
          <a:prstGeom prst="straightConnector1">
            <a:avLst/>
          </a:prstGeom>
          <a:noFill/>
          <a:ln w="15875">
            <a:solidFill>
              <a:srgbClr val="333333"/>
            </a:solidFill>
            <a:prstDash val="solid"/>
            <a:tailEnd type="triangle"/>
          </a:ln>
        </p:spPr>
      </p:cxnSp>
      <p:sp>
        <p:nvSpPr>
          <p:cNvPr id="26" name="Text 24"/>
          <p:cNvSpPr txBox="1"/>
          <p:nvPr/>
        </p:nvSpPr>
        <p:spPr>
          <a:xfrm>
            <a:off x="3634740" y="3557016"/>
            <a:ext cx="1005840" cy="256032"/>
          </a:xfrm>
          <a:prstGeom prst="rect">
            <a:avLst/>
          </a:prstGeom>
          <a:noFill/>
          <a:ln/>
        </p:spPr>
        <p:txBody>
          <a:bodyPr wrap="square" lIns="0" tIns="0" rIns="0" bIns="0" rtlCol="0" anchor="ctr"/>
          <a:lstStyle/>
          <a:p>
            <a:pPr algn="ctr" indent="0" marL="0">
              <a:buNone/>
            </a:pPr>
            <a:r>
              <a:rPr lang="en-US" sz="1100" i="1" dirty="0">
                <a:solidFill>
                  <a:srgbClr val="595959"/>
                </a:solidFill>
                <a:latin typeface="Times New Roman" pitchFamily="34" charset="0"/>
                <a:ea typeface="Times New Roman" pitchFamily="34" charset="-122"/>
                <a:cs typeface="Times New Roman" pitchFamily="34" charset="-120"/>
              </a:rPr>
              <a:t>context text</a:t>
            </a:r>
            <a:endParaRPr lang="en-US" sz="11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 y="4041648"/>
          <a:ext cx="5943600" cy="914400"/>
        </p:xfrm>
        <a:graphic>
          <a:graphicData uri="http://schemas.openxmlformats.org/drawingml/2006/table">
            <a:tbl>
              <a:tblPr firstRow="1"/>
              <a:tblGrid>
                <a:gridCol w="1554480"/>
                <a:gridCol w="43891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What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How it works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Namespace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One per user, user:&lt;login&gt;, shared by all directories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Retention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New messages only, tracked by a cursor entry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Date planner off, 15 s timeout, raw text included, max_distance 0.45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Completed, 9 TypeScript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28" name="Shape 25"/>
          <p:cNvSpPr/>
          <p:nvPr/>
        </p:nvSpPr>
        <p:spPr>
          <a:xfrm>
            <a:off x="6812280" y="4041648"/>
            <a:ext cx="4785055" cy="1920240"/>
          </a:xfrm>
          <a:prstGeom prst="rect">
            <a:avLst/>
          </a:prstGeom>
          <a:solidFill>
            <a:srgbClr val="F2F2F2"/>
          </a:solidFill>
          <a:ln w="9525">
            <a:solidFill>
              <a:srgbClr val="BFBFBF"/>
            </a:solidFill>
            <a:prstDash val="solid"/>
          </a:ln>
        </p:spPr>
        <p:txBody>
          <a:bodyPr/>
          <a:p/>
        </p:txBody>
      </p:sp>
      <p:sp>
        <p:nvSpPr>
          <p:cNvPr id="29" name="Text 26"/>
          <p:cNvSpPr txBox="1"/>
          <p:nvPr/>
        </p:nvSpPr>
        <p:spPr>
          <a:xfrm>
            <a:off x="6949440" y="4114800"/>
            <a:ext cx="4510735" cy="256032"/>
          </a:xfrm>
          <a:prstGeom prst="rect">
            <a:avLst/>
          </a:prstGeom>
          <a:noFill/>
          <a:ln/>
        </p:spPr>
        <p:txBody>
          <a:bodyPr wrap="square" lIns="0" tIns="0" rIns="0" bIns="0" rtlCol="0" anchor="ctr"/>
          <a:lstStyle/>
          <a:p>
            <a:pPr indent="0" marL="0">
              <a:buNone/>
            </a:pPr>
            <a:r>
              <a:rPr lang="en-US" sz="1100" b="1" dirty="0">
                <a:solidFill>
                  <a:srgbClr val="595959"/>
                </a:solidFill>
                <a:latin typeface="Times New Roman" pitchFamily="34" charset="0"/>
                <a:ea typeface="Times New Roman" pitchFamily="34" charset="-122"/>
                <a:cs typeface="Times New Roman" pitchFamily="34" charset="-120"/>
              </a:rPr>
              <a:t>INSTALL, PRIVACY AND CHECKS</a:t>
            </a:r>
            <a:endParaRPr lang="en-US" sz="1100" dirty="0"/>
          </a:p>
        </p:txBody>
      </p:sp>
      <p:sp>
        <p:nvSpPr>
          <p:cNvPr id="30" name="Text 27"/>
          <p:cNvSpPr txBox="1"/>
          <p:nvPr/>
        </p:nvSpPr>
        <p:spPr>
          <a:xfrm>
            <a:off x="6922008" y="4407408"/>
            <a:ext cx="4565599" cy="1499616"/>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decided yet: a global install with pi install, and whether every session may be retained.</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Not retained: the injected message and the results of the memory tools.</a:t>
            </a:r>
            <a:endParaRPr lang="en-US" sz="1200" dirty="0"/>
          </a:p>
          <a:p>
            <a:pPr marL="177800" indent="-177800">
              <a:spcAft>
                <a:spcPts val="2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Command /memory-status flushes the spool and shows job state.</a:t>
            </a:r>
            <a:endParaRPr lang="en-US" sz="1200" dirty="0"/>
          </a:p>
          <a:p>
            <a:pPr marL="177800" indent="-177800">
              <a:buSzPct val="100000"/>
              <a:buChar char="•"/>
            </a:pPr>
            <a:r>
              <a:rPr lang="en-US" sz="1200" dirty="0">
                <a:solidFill>
                  <a:srgbClr val="1A1A1A"/>
                </a:solidFill>
                <a:latin typeface="Times New Roman" pitchFamily="34" charset="0"/>
                <a:ea typeface="Times New Roman" pitchFamily="34" charset="-122"/>
                <a:cs typeface="Times New Roman" pitchFamily="34" charset="-120"/>
              </a:rPr>
              <a:t>Scripted check, 14 checks per run: 14 of 14 in four runs (claude-haiku-4-5 or claude-sonnet-5-5 through Pi). One fact, one machine.</a:t>
            </a:r>
            <a:endParaRPr lang="en-US" sz="1200" dirty="0"/>
          </a:p>
        </p:txBody>
      </p:sp>
      <p:sp>
        <p:nvSpPr>
          <p:cNvPr id="31" name="Text 28"/>
          <p:cNvSpPr/>
          <p:nvPr/>
        </p:nvSpPr>
        <p:spPr>
          <a:xfrm>
            <a:off x="594360" y="5376672"/>
            <a:ext cx="5943600" cy="58521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Recall cutoff: Completed</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Automatic recall passes max_distance 0.45. The memory_recall tool passes none.</a:t>
            </a:r>
            <a:endParaRPr lang="en-US" sz="1300" dirty="0"/>
          </a:p>
        </p:txBody>
      </p:sp>
      <p:sp>
        <p:nvSpPr>
          <p:cNvPr id="32"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ALGORITHMS</a:t>
            </a:r>
            <a:endParaRPr lang="en-US" sz="3000" dirty="0"/>
          </a:p>
        </p:txBody>
      </p:sp>
      <p:sp>
        <p:nvSpPr>
          <p:cNvPr id="3" name="Text 1"/>
          <p:cNvSpPr/>
          <p:nvPr/>
        </p:nvSpPr>
        <p:spPr>
          <a:xfrm>
            <a:off x="594360"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1</a:t>
            </a:r>
            <a:endParaRPr lang="en-US" sz="1300" dirty="0"/>
          </a:p>
        </p:txBody>
      </p:sp>
      <p:sp>
        <p:nvSpPr>
          <p:cNvPr id="4" name="Text 2"/>
          <p:cNvSpPr txBox="1"/>
          <p:nvPr/>
        </p:nvSpPr>
        <p:spPr>
          <a:xfrm>
            <a:off x="996696"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WRITE PATH: HOW A CONVERSATION BECOMES FACTS</a:t>
            </a:r>
            <a:endParaRPr lang="en-US" sz="1300" dirty="0"/>
          </a:p>
        </p:txBody>
      </p:sp>
      <p:sp>
        <p:nvSpPr>
          <p:cNvPr id="5" name="Shape 3"/>
          <p:cNvSpPr/>
          <p:nvPr/>
        </p:nvSpPr>
        <p:spPr>
          <a:xfrm>
            <a:off x="594360" y="1600200"/>
            <a:ext cx="5364328" cy="3401568"/>
          </a:xfrm>
          <a:prstGeom prst="rect">
            <a:avLst/>
          </a:prstGeom>
          <a:solidFill>
            <a:srgbClr val="F2F2F2"/>
          </a:solidFill>
          <a:ln w="9525">
            <a:solidFill>
              <a:srgbClr val="BFBFBF"/>
            </a:solidFill>
            <a:prstDash val="solid"/>
          </a:ln>
        </p:spPr>
        <p:txBody>
          <a:bodyPr/>
          <a:p/>
        </p:txBody>
      </p:sp>
      <p:sp>
        <p:nvSpPr>
          <p:cNvPr id="6" name="Text 4"/>
          <p:cNvSpPr txBox="1"/>
          <p:nvPr/>
        </p:nvSpPr>
        <p:spPr>
          <a:xfrm>
            <a:off x="731520"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extract(episode):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prompt = rules + 80 newest current facts + events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attempt in 1..3:  (call, then 2 repairs)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claims = model(prompt)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error = validate(claims)  (schema, quotes,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prompt += claims + error, else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error: fail the job  (backoff, 5 attempts)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embed missing chunks, then claim statements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claim in claims:  (one transaction)</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slot = subject_id :: predicate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start = claim.valid_from, else first cited event time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same slot and value: add quote, keep status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multiple, event, or no old row: insert as active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correction, confidence &gt;= 0.8:</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superseded, valid_to = max(old.valid_from, start)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new: active, edge new supersedes old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single otherwise: old and new become contested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old row left active: mark dependants stale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consolidate job: observation needs 2+ active supports</a:t>
            </a:r>
            <a:endParaRPr lang="en-US" sz="1100" dirty="0"/>
          </a:p>
        </p:txBody>
      </p:sp>
      <p:sp>
        <p:nvSpPr>
          <p:cNvPr id="7" name="Text 5"/>
          <p:cNvSpPr/>
          <p:nvPr/>
        </p:nvSpPr>
        <p:spPr>
          <a:xfrm>
            <a:off x="6233008" y="1234440"/>
            <a:ext cx="292608" cy="292608"/>
          </a:xfrm>
          <a:prstGeom prst="rect">
            <a:avLst/>
          </a:prstGeom>
          <a:solidFill>
            <a:srgbClr val="000000"/>
          </a:solidFill>
          <a:ln w="6350">
            <a:solidFill>
              <a:srgbClr val="000000"/>
            </a:solidFill>
          </a:ln>
        </p:spPr>
        <p:txBody>
          <a:bodyPr wrap="square" lIns="0" tIns="0" rIns="0" bIns="0" rtlCol="0" anchor="ctr"/>
          <a:lstStyle/>
          <a:p>
            <a:pPr algn="ctr" indent="0" marL="0">
              <a:buNone/>
            </a:pPr>
            <a:r>
              <a:rPr lang="en-US" sz="1300" b="1" dirty="0">
                <a:solidFill>
                  <a:srgbClr val="FFFFFF"/>
                </a:solidFill>
                <a:latin typeface="Times New Roman" pitchFamily="34" charset="0"/>
                <a:ea typeface="Times New Roman" pitchFamily="34" charset="-122"/>
                <a:cs typeface="Times New Roman" pitchFamily="34" charset="-120"/>
              </a:rPr>
              <a:t>2</a:t>
            </a:r>
            <a:endParaRPr lang="en-US" sz="1300" dirty="0"/>
          </a:p>
        </p:txBody>
      </p:sp>
      <p:sp>
        <p:nvSpPr>
          <p:cNvPr id="8" name="Text 6"/>
          <p:cNvSpPr txBox="1"/>
          <p:nvPr/>
        </p:nvSpPr>
        <p:spPr>
          <a:xfrm>
            <a:off x="6635344" y="1234440"/>
            <a:ext cx="4937760" cy="292608"/>
          </a:xfrm>
          <a:prstGeom prst="rect">
            <a:avLst/>
          </a:prstGeom>
          <a:noFill/>
          <a:ln/>
        </p:spPr>
        <p:txBody>
          <a:bodyPr wrap="square" lIns="0" tIns="0" rIns="0" bIns="0" rtlCol="0" anchor="ctr"/>
          <a:lstStyle/>
          <a:p>
            <a:pPr indent="0" marL="0">
              <a:buNone/>
            </a:pPr>
            <a:r>
              <a:rPr lang="en-US" sz="1300" b="1" dirty="0">
                <a:solidFill>
                  <a:srgbClr val="000000"/>
                </a:solidFill>
                <a:latin typeface="Times New Roman" pitchFamily="34" charset="0"/>
                <a:ea typeface="Times New Roman" pitchFamily="34" charset="-122"/>
                <a:cs typeface="Times New Roman" pitchFamily="34" charset="-120"/>
              </a:rPr>
              <a:t>READ PATH: HOW A QUESTION BECOMES CONTEXT</a:t>
            </a:r>
            <a:endParaRPr lang="en-US" sz="1300" dirty="0"/>
          </a:p>
        </p:txBody>
      </p:sp>
      <p:sp>
        <p:nvSpPr>
          <p:cNvPr id="9" name="Shape 7"/>
          <p:cNvSpPr/>
          <p:nvPr/>
        </p:nvSpPr>
        <p:spPr>
          <a:xfrm>
            <a:off x="6233008" y="1600200"/>
            <a:ext cx="5364328" cy="3401568"/>
          </a:xfrm>
          <a:prstGeom prst="rect">
            <a:avLst/>
          </a:prstGeom>
          <a:solidFill>
            <a:srgbClr val="F2F2F2"/>
          </a:solidFill>
          <a:ln w="9525">
            <a:solidFill>
              <a:srgbClr val="BFBFBF"/>
            </a:solidFill>
            <a:prstDash val="solid"/>
          </a:ln>
        </p:spPr>
        <p:txBody>
          <a:bodyPr/>
          <a:p/>
        </p:txBody>
      </p:sp>
      <p:sp>
        <p:nvSpPr>
          <p:cNvPr id="10" name="Text 8"/>
          <p:cNvSpPr txBox="1"/>
          <p:nvPr/>
        </p:nvSpPr>
        <p:spPr>
          <a:xfrm>
            <a:off x="6370168" y="1728216"/>
            <a:ext cx="5090008" cy="3200400"/>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recall(query, as_of, max_tokens = 8192, top_k = 20):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time words in query: ask model for a date window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lexical = full text search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semantic = nearest(embed(query))  (valid rows, 40)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temporal = newest in window  (if a window is set)</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graph = expand(seeds), keep valid ids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max_distance: drop far vector hits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all arms empty, or extraction pending, or include_raw:</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raw chunk matches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score each id by RRF, sort by score, then by 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used = 0, blocks = 0</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for block in ranked: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blocks == top_k: stop</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if used + tokens(block) &lt;= max_tokens:</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add block, used += tokens(block), blocks += 1</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return context, trace_id</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In words: four searches each rank the facts they find, the ranks are</a:t>
            </a:r>
            <a:endParaRPr lang="en-US" sz="1100" dirty="0"/>
          </a:p>
          <a:p>
            <a:pPr indent="0" marL="0">
              <a:buNone/>
            </a:pPr>
            <a:r>
              <a:rPr lang="en-US" sz="1100" dirty="0">
                <a:solidFill>
                  <a:srgbClr val="1A1A1A"/>
                </a:solidFill>
                <a:latin typeface="Times New Roman" pitchFamily="34" charset="0"/>
                <a:ea typeface="Times New Roman" pitchFamily="34" charset="-122"/>
                <a:cs typeface="Times New Roman" pitchFamily="34" charset="-120"/>
              </a:rPr>
              <a:t># fused into one list, and the best blocks that fit the budget are returned</a:t>
            </a:r>
            <a:endParaRPr lang="en-US" sz="1100" dirty="0"/>
          </a:p>
        </p:txBody>
      </p:sp>
      <p:sp>
        <p:nvSpPr>
          <p:cNvPr id="11" name="Text 9"/>
          <p:cNvSpPr/>
          <p:nvPr/>
        </p:nvSpPr>
        <p:spPr>
          <a:xfrm>
            <a:off x="594360" y="5084064"/>
            <a:ext cx="5394960" cy="1005840"/>
          </a:xfrm>
          <a:prstGeom prst="rect">
            <a:avLst/>
          </a:prstGeom>
          <a:solidFill>
            <a:srgbClr val="F2F2F2"/>
          </a:solidFill>
          <a:ln w="22225">
            <a:solidFill>
              <a:srgbClr val="000000"/>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Rank fusion (RRF), in words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score(d) = sum over searches i of 1 / (60 + rank_i(d)) [12]</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search ranks its results. A result gets 1 / (60 + rank) from every search that found it, and the scores add up. The 60 is the paper’s constant, not tuned.</a:t>
            </a:r>
            <a:endParaRPr lang="en-US" sz="1300" dirty="0"/>
          </a:p>
        </p:txBody>
      </p:sp>
      <p:sp>
        <p:nvSpPr>
          <p:cNvPr id="12" name="Text 10"/>
          <p:cNvSpPr/>
          <p:nvPr/>
        </p:nvSpPr>
        <p:spPr>
          <a:xfrm>
            <a:off x="6263640" y="5084064"/>
            <a:ext cx="2743200"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Token estimate</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tokens(block) = ceil(characters / 4)</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 rough rule for English text. It stops us adding blocks once the budget is full.</a:t>
            </a:r>
            <a:endParaRPr lang="en-US" sz="1300" dirty="0"/>
          </a:p>
        </p:txBody>
      </p:sp>
      <p:sp>
        <p:nvSpPr>
          <p:cNvPr id="13" name="Text 11"/>
          <p:cNvSpPr/>
          <p:nvPr/>
        </p:nvSpPr>
        <p:spPr>
          <a:xfrm>
            <a:off x="9281160" y="5084064"/>
            <a:ext cx="2316175" cy="1005840"/>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What validation proves</a:t>
            </a:r>
            <a:endParaRPr lang="en-US" sz="1300" dirty="0"/>
          </a:p>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Each quote occurs word for word in the event it cites. It may still not support the claim.</a:t>
            </a:r>
            <a:endParaRPr lang="en-US" sz="1300" dirty="0"/>
          </a:p>
        </p:txBody>
      </p:sp>
      <p:sp>
        <p:nvSpPr>
          <p:cNvPr id="1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TOOLS AND DATASET</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920240"/>
                <a:gridCol w="2240280"/>
                <a:gridCol w="5349240"/>
                <a:gridCol w="149047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Tool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Version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Actual role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Runs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Rust, Tokio, Axum, SQLx</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1.96.1, 1.53.1, 0.8.9, 0.9.0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Service, async runtime, REST API and database access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PostgreSQL, pgvector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17, pgvector 0.8.6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Authoritative store, full-text search [10] and HNSW cosine index [11]. Compose pins the floating tag only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Neo4j</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5.26</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Graph projection over the HTTP endpoint, marked deprecated in 5.26 [8]</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Docker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0.13.5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Qwen3-Embedding-0.6B, 1024-d [13], and the mem-extractor worker: Qwen3-4B, Q8_0 GGUF, 4.3 GB, pinned Hugging Face revision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coding agent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1.0.2 locked, 0.85.0 installed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Hosts the memory extension [9]. It is the coding agent, not the extraction worker. 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agent, hosted model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OpenAI</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text-embedding-3-small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Extractor and embedder behind the same traits. In progress: written, not in the main code yet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Hosted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Qwen3-4B student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4-bit NF4 QLoRA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Fine-tuned for extraction, consolidation and reflection. Published as a GGUF and served by Ollama as mem-extractor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Text 1"/>
          <p:cNvSpPr/>
          <p:nvPr/>
        </p:nvSpPr>
        <p:spPr>
          <a:xfrm>
            <a:off x="594360" y="4370832"/>
            <a:ext cx="3545738"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Development and demo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Namespace user:dev: the project’s own documents and source, 79 batches through POST /api/v2/retain, plus invented example facts from four Pi recordings.</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Scripted Pi check: one fact told, corrected and asked from fresh sessions, 14 checks per run.</a:t>
            </a:r>
            <a:endParaRPr lang="en-US" sz="1300" dirty="0"/>
          </a:p>
        </p:txBody>
      </p:sp>
      <p:sp>
        <p:nvSpPr>
          <p:cNvPr id="5" name="Text 2"/>
          <p:cNvSpPr/>
          <p:nvPr/>
        </p:nvSpPr>
        <p:spPr>
          <a:xfrm>
            <a:off x="4322978" y="4370832"/>
            <a:ext cx="3545738"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Extraction-training data</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2,961 task rows in sixteen domains: 2,095 train, 424 validation, 442 test, from 1,181 episode IDs including replay. Labelled by a hosted teacher.</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LoCoMo [15] is used only for evaluation, never for training. It is CC BY-NC 4.0.</a:t>
            </a:r>
            <a:endParaRPr lang="en-US" sz="1300" dirty="0"/>
          </a:p>
        </p:txBody>
      </p:sp>
      <p:sp>
        <p:nvSpPr>
          <p:cNvPr id="6" name="Text 3"/>
          <p:cNvSpPr/>
          <p:nvPr/>
        </p:nvSpPr>
        <p:spPr>
          <a:xfrm>
            <a:off x="8051597" y="4370832"/>
            <a:ext cx="3545738" cy="1591056"/>
          </a:xfrm>
          <a:prstGeom prst="rect">
            <a:avLst/>
          </a:prstGeom>
          <a:solidFill>
            <a:srgbClr val="FFFFFF"/>
          </a:solidFill>
          <a:ln w="12700">
            <a:solidFill>
              <a:srgbClr val="333333"/>
            </a:solidFill>
            <a:prstDash val="solid"/>
          </a:ln>
        </p:spPr>
        <p:txBody>
          <a:bodyPr wrap="square" lIns="63500" tIns="88900" rIns="88900" bIns="63500" rtlCol="0" anchor="t"/>
          <a:lstStyle/>
          <a:p>
            <a:pPr algn="l" indent="0" marL="0">
              <a:spcAft>
                <a:spcPts val="300"/>
              </a:spcAft>
              <a:buNone/>
            </a:pPr>
            <a:r>
              <a:rPr lang="en-US" sz="1300" b="1" dirty="0">
                <a:solidFill>
                  <a:srgbClr val="1A1A1A"/>
                </a:solidFill>
                <a:latin typeface="Times New Roman" pitchFamily="34" charset="0"/>
                <a:ea typeface="Times New Roman" pitchFamily="34" charset="-122"/>
                <a:cs typeface="Times New Roman" pitchFamily="34" charset="-120"/>
              </a:rPr>
              <a:t>Evaluation benchmarks</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LongMemEval-S [2], September 2025 cleaned release: 500 questions, 23,867 episodes, 277 MB, pinned by SHA-256, not in Git. GPT-4o scored 60.6% on the S histories in the original paper release.</a:t>
            </a:r>
            <a:endParaRPr lang="en-US" sz="1300" dirty="0"/>
          </a:p>
          <a:p>
            <a:pPr algn="l" indent="0" marL="0">
              <a:spcAft>
                <a:spcPts val="400"/>
              </a:spcAft>
              <a:buNone/>
            </a:pPr>
            <a:r>
              <a:rPr lang="en-US" sz="1200" dirty="0">
                <a:solidFill>
                  <a:srgbClr val="1A1A1A"/>
                </a:solidFill>
                <a:latin typeface="Times New Roman" pitchFamily="34" charset="0"/>
                <a:ea typeface="Times New Roman" pitchFamily="34" charset="-122"/>
                <a:cs typeface="Times New Roman" pitchFamily="34" charset="-120"/>
              </a:rPr>
              <a:t>LoCoMo: 10 conversations, 1,986 questions. Planned secondary benchmark.</a:t>
            </a:r>
            <a:endParaRPr lang="en-US" sz="1300" dirty="0"/>
          </a:p>
        </p:txBody>
      </p:sp>
      <p:sp>
        <p:nvSpPr>
          <p:cNvPr id="7"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OUTPUT SCREENSHOTS</a:t>
            </a:r>
            <a:endParaRPr lang="en-US" sz="3000" dirty="0"/>
          </a:p>
        </p:txBody>
      </p:sp>
      <p:sp>
        <p:nvSpPr>
          <p:cNvPr id="3" name="Shape 1"/>
          <p:cNvSpPr/>
          <p:nvPr/>
        </p:nvSpPr>
        <p:spPr>
          <a:xfrm>
            <a:off x="594360" y="1261872"/>
            <a:ext cx="2377440" cy="1842516"/>
          </a:xfrm>
          <a:prstGeom prst="rect">
            <a:avLst/>
          </a:prstGeom>
          <a:solidFill>
            <a:srgbClr val="FFFFFF"/>
          </a:solidFill>
          <a:ln w="9525">
            <a:solidFill>
              <a:srgbClr val="808080"/>
            </a:solidFill>
            <a:prstDash val="solid"/>
          </a:ln>
        </p:spPr>
        <p:txBody>
          <a:bodyPr/>
          <a:p/>
        </p:txBody>
      </p:sp>
      <p:pic>
        <p:nvPicPr>
          <p:cNvPr id="4" name="Image 0" descr="Terminal screenshot of Pi session 1 in the directory payments-api on 2026-10-06. The user message tells three invented example facts: the iOS signing certificate expires on March 3, the design review is every Tuesday at 11:00, and Kavya owns the payments dashboard. Pi calls the memory_remember tool, which answers that evidence was submitted for processing, and Pi replies that it saved all three items.">    </p:cNvPr>
          <p:cNvPicPr>
            <a:picLocks noChangeAspect="1"/>
          </p:cNvPicPr>
          <p:nvPr/>
        </p:nvPicPr>
        <p:blipFill>
          <a:blip r:embed="rId1"/>
          <a:stretch>
            <a:fillRect/>
          </a:stretch>
        </p:blipFill>
        <p:spPr>
          <a:xfrm>
            <a:off x="612648" y="1276045"/>
            <a:ext cx="2340864" cy="1814170"/>
          </a:xfrm>
          <a:prstGeom prst="rect">
            <a:avLst/>
          </a:prstGeom>
        </p:spPr>
      </p:pic>
      <p:sp>
        <p:nvSpPr>
          <p:cNvPr id="5" name="Text 2"/>
          <p:cNvSpPr txBox="1"/>
          <p:nvPr/>
        </p:nvSpPr>
        <p:spPr>
          <a:xfrm>
            <a:off x="3154680" y="1261872"/>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1. Session 1 in payments-api, 2026-10-06. The user tells Pi three example facts: the iOS signing certificate expires on March 3, the design review is every Tuesday at 11:00, and Kavya owns the payments dashboard. Pi calls memory_remember, which answers "Evidence submitted for processing", and replies that it saved all three items but cannot yet confirm they are stored. The CTX-OK marker comes from the presenter’s own Pi instructions, not from the memory system.</a:t>
            </a:r>
            <a:endParaRPr lang="en-US" sz="1100" dirty="0"/>
          </a:p>
        </p:txBody>
      </p:sp>
      <p:sp>
        <p:nvSpPr>
          <p:cNvPr id="6" name="Shape 3"/>
          <p:cNvSpPr/>
          <p:nvPr/>
        </p:nvSpPr>
        <p:spPr>
          <a:xfrm>
            <a:off x="594360" y="3195828"/>
            <a:ext cx="2377440" cy="879653"/>
          </a:xfrm>
          <a:prstGeom prst="rect">
            <a:avLst/>
          </a:prstGeom>
          <a:solidFill>
            <a:srgbClr val="FFFFFF"/>
          </a:solidFill>
          <a:ln w="9525">
            <a:solidFill>
              <a:srgbClr val="808080"/>
            </a:solidFill>
            <a:prstDash val="solid"/>
          </a:ln>
        </p:spPr>
        <p:txBody>
          <a:bodyPr/>
          <a:p/>
        </p:txBody>
      </p:sp>
      <p:pic>
        <p:nvPicPr>
          <p:cNvPr id="7" name="Image 1" descr="Terminal screenshot of Pi session 2 in the directory mobile-app. The shell shows ls listing only README.md, then pi starts with no history, and the question about the certificate date, the design review and the dashboard owner is typed in the editor. The empty lower part of the terminal is cropped away.">    </p:cNvPr>
          <p:cNvPicPr>
            <a:picLocks noChangeAspect="1"/>
          </p:cNvPicPr>
          <p:nvPr/>
        </p:nvPicPr>
        <p:blipFill>
          <a:blip r:embed="rId2"/>
          <a:stretch>
            <a:fillRect/>
          </a:stretch>
        </p:blipFill>
        <p:spPr>
          <a:xfrm>
            <a:off x="612648" y="3202595"/>
            <a:ext cx="2340864" cy="866120"/>
          </a:xfrm>
          <a:prstGeom prst="rect">
            <a:avLst/>
          </a:prstGeom>
        </p:spPr>
      </p:pic>
      <p:sp>
        <p:nvSpPr>
          <p:cNvPr id="8" name="Text 4"/>
          <p:cNvSpPr txBox="1"/>
          <p:nvPr/>
        </p:nvSpPr>
        <p:spPr>
          <a:xfrm>
            <a:off x="3154680" y="3195828"/>
            <a:ext cx="4343400" cy="879653"/>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2. Session 2 in mobile-app, a fresh start with no history: ls shows only README.md. The question about the certificate date, the design review and the dashboard owner is typed in the editor. The empty lower part of the terminal is cropped away.</a:t>
            </a:r>
            <a:endParaRPr lang="en-US" sz="1100" dirty="0"/>
          </a:p>
        </p:txBody>
      </p:sp>
      <p:sp>
        <p:nvSpPr>
          <p:cNvPr id="9" name="Shape 5"/>
          <p:cNvSpPr/>
          <p:nvPr/>
        </p:nvSpPr>
        <p:spPr>
          <a:xfrm>
            <a:off x="594360" y="4166921"/>
            <a:ext cx="2377440" cy="1842516"/>
          </a:xfrm>
          <a:prstGeom prst="rect">
            <a:avLst/>
          </a:prstGeom>
          <a:solidFill>
            <a:srgbClr val="FFFFFF"/>
          </a:solidFill>
          <a:ln w="9525">
            <a:solidFill>
              <a:srgbClr val="808080"/>
            </a:solidFill>
            <a:prstDash val="solid"/>
          </a:ln>
        </p:spPr>
        <p:txBody>
          <a:bodyPr/>
          <a:p/>
        </p:txBody>
      </p:sp>
      <p:pic>
        <p:nvPicPr>
          <p:cNvPr id="10" name="Image 2" descr="Terminal screenshot of Pi session 2 after its answer. Above the answer, the end of the memory injected by the extension lists the facts from session 1, each with status active and an evidence line, and its first line starts mid-sentence. The answer says the certificate expires on March 3 with no year given, the design review is every Tuesday at 11:00 and Kavya owns the payments dashboard.">    </p:cNvPr>
          <p:cNvPicPr>
            <a:picLocks noChangeAspect="1"/>
          </p:cNvPicPr>
          <p:nvPr/>
        </p:nvPicPr>
        <p:blipFill>
          <a:blip r:embed="rId3"/>
          <a:stretch>
            <a:fillRect/>
          </a:stretch>
        </p:blipFill>
        <p:spPr>
          <a:xfrm>
            <a:off x="612648" y="4181094"/>
            <a:ext cx="2340864" cy="1814170"/>
          </a:xfrm>
          <a:prstGeom prst="rect">
            <a:avLst/>
          </a:prstGeom>
        </p:spPr>
      </p:pic>
      <p:sp>
        <p:nvSpPr>
          <p:cNvPr id="11" name="Text 6"/>
          <p:cNvSpPr txBox="1"/>
          <p:nvPr/>
        </p:nvSpPr>
        <p:spPr>
          <a:xfrm>
            <a:off x="3154680" y="4166921"/>
            <a:ext cx="4343400" cy="1842516"/>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3. Session 2 after the answer. The upper part is the end of the memory the extension injected from session 1, so its first line starts mid-sentence: the facts, each with status active and an evidence line. Below it the answer gives March 3 (no year), every Tuesday at 11:00 and Kavya.</a:t>
            </a:r>
            <a:endParaRPr lang="en-US" sz="1100" dirty="0"/>
          </a:p>
        </p:txBody>
      </p:sp>
      <p:sp>
        <p:nvSpPr>
          <p:cNvPr id="12" name="Shape 7"/>
          <p:cNvSpPr/>
          <p:nvPr/>
        </p:nvSpPr>
        <p:spPr>
          <a:xfrm>
            <a:off x="8031175" y="1261872"/>
            <a:ext cx="3566160" cy="3496063"/>
          </a:xfrm>
          <a:prstGeom prst="rect">
            <a:avLst/>
          </a:prstGeom>
          <a:solidFill>
            <a:srgbClr val="FFFFFF"/>
          </a:solidFill>
          <a:ln w="9525">
            <a:solidFill>
              <a:srgbClr val="808080"/>
            </a:solidFill>
            <a:prstDash val="solid"/>
          </a:ln>
        </p:spPr>
        <p:txBody>
          <a:bodyPr/>
          <a:p/>
        </p:txBody>
      </p:sp>
      <p:pic>
        <p:nvPicPr>
          <p:cNvPr id="13" name="Image 3" descr="Two crops of one screenshot of the memory graph page for namespace user:dev on 2026-10-06, joined at a grey line. Left: a dark graph area where a purple fact node with a white ring carries the label &quot;The user states the release freeze begins every Friday at 16:30, supe...&quot;, a pill reading contradicts sits on the line to a node with a dashed ring, and a grey entity node and a green memory node are linked beside it. Right: the details panel of that fact with status active, kind fact, valid from Oct 6, 2026, 05:28:01 AM, valid to none (still valid), revision 890, one evidence quote, the mention Deploy freeze, and two relations, contradicts and supersedes, to the fact &quot;Deploy freeze starts every Thursday at 17:00.&quot;">    </p:cNvPr>
          <p:cNvPicPr>
            <a:picLocks noChangeAspect="1"/>
          </p:cNvPicPr>
          <p:nvPr/>
        </p:nvPicPr>
        <p:blipFill>
          <a:blip r:embed="rId4"/>
          <a:stretch>
            <a:fillRect/>
          </a:stretch>
        </p:blipFill>
        <p:spPr>
          <a:xfrm>
            <a:off x="8049463" y="1279801"/>
            <a:ext cx="3529584" cy="3460206"/>
          </a:xfrm>
          <a:prstGeom prst="rect">
            <a:avLst/>
          </a:prstGeom>
        </p:spPr>
      </p:pic>
      <p:sp>
        <p:nvSpPr>
          <p:cNvPr id="14" name="Text 8"/>
          <p:cNvSpPr txBox="1"/>
          <p:nvPr/>
        </p:nvSpPr>
        <p:spPr>
          <a:xfrm>
            <a:off x="8031175" y="4831087"/>
            <a:ext cx="3566160" cy="1222241"/>
          </a:xfrm>
          <a:prstGeom prst="rect">
            <a:avLst/>
          </a:prstGeom>
          <a:noFill/>
          <a:ln/>
        </p:spPr>
        <p:txBody>
          <a:bodyPr wrap="square" lIns="0" tIns="0" rIns="0" bIns="0" rtlCol="0" anchor="t"/>
          <a:lstStyle/>
          <a:p>
            <a:pPr indent="0" marL="0">
              <a:buNone/>
            </a:pPr>
            <a:r>
              <a:rPr lang="en-US" sz="1100" dirty="0">
                <a:solidFill>
                  <a:srgbClr val="1A1A1A"/>
                </a:solidFill>
                <a:latin typeface="Times New Roman" pitchFamily="34" charset="0"/>
                <a:ea typeface="Times New Roman" pitchFamily="34" charset="-122"/>
                <a:cs typeface="Times New Roman" pitchFamily="34" charset="-120"/>
              </a:rPr>
              <a:t>Figure 4. Graph page, user:dev, 2026-10-06. Two crops of one capture, joined at the grey line. Left: the selected fact (white ring), a contradicts relation and the superseded Thursday 17:00 fact (dashed ring). Right: its details panel, with status active, the evidence quote, the entity Deploy freeze and the relations contradicts and supersedes. Invented example facts.</a:t>
            </a:r>
            <a:endParaRPr lang="en-US" sz="1100" dirty="0"/>
          </a:p>
        </p:txBody>
      </p:sp>
      <p:sp>
        <p:nvSpPr>
          <p:cNvPr id="1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RESULTS AND OBSERVATIONS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188720"/>
          <a:ext cx="11002975" cy="914400"/>
        </p:xfrm>
        <a:graphic>
          <a:graphicData uri="http://schemas.openxmlformats.org/drawingml/2006/table">
            <a:tbl>
              <a:tblPr firstRow="1"/>
              <a:tblGrid>
                <a:gridCol w="1828800"/>
                <a:gridCol w="5943600"/>
                <a:gridCol w="3227832"/>
              </a:tblGrid>
              <a:tr h="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Measured finding</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Result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Limit kept with 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Retrieval latency and context size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Date planning off: p50 58 ms, p95 72 ms, p99 75 ms at 10 requests per second (300 requests, 0 errors). With the planner: p95 1,870 ms, because 4 of 40 questions start a model call of 1.6 to 2.1 s. Median context 1,942 tokens, p95 2,041</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local embeddings, 323 facts. Not tried on a large namespace. Tokens are characters divided by four</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Provenance and version audit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323 of 323 facts have a source with a quote found word for word in its chunk. 0 of 106 single-value slots hold two active facts. Memory at idle: service 35 MB, PostgreSQL 224 MiB, Neo4j 1.27 GiB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Run on user:dev only, where just 2 facts are superseded, so it is not a held-out update set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Pi sessions, recording and scripted check</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Session 2 (claude-sonnet-5-5), in another directory with no history, answered all three example facts. The scripted check passed 14 of 14 in four configurations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scenario, invented facts, one machine, run by us. Shows the path works, not answer quality</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Recall cutoff, 80 queries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Target fact in the context: 39 of 55 with no cutoff, 49 at 0.45. Follow-ups and small talk: mean context 6,925 to 1,250 characters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The same queries tuned the cutoff, so the claim is weak. Short prompts such as “ok” still pull in 3 to 5 kB</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Local 14B extraction, 10 batches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Validation passed on 2 of 10 batches, the hosted model on 10 of 10. Before the context fix Ollama cut 15 of 18 prompts at 4,096 tokens, now 16,384 in and 4,096 out. GPU memory 10.6 GB at 4,096 and 12.9 GB at 16,384</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machine, one model, no repeats, stopped at 10 of 18 batches. Not usable for extraction yet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Live graph, user:dev</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Neo4j projection: 382 nodes, 473 relationships. 133 of the 147 memories support at least one fact. Graph API counts equal direct Cypher and SQL counts, about 0.10 s per call at limit 200</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One user, invented example facts. Chrome only, untested above a few thousand nodes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Automated tests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scripts/test.sh exits 0: Rust 83 (45 unit, 24 evidence_graph, 13 ollama_context, 1 postgres_api), Python 5, TypeScript 9</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Database tests need TEST_DATABASE_URL and TEST_NEO4J_URL. Three live Ollama tests are opt-in and passed once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Fine-tuned worker, internal test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Consolidation 1 of 16 to 13 of 16, reflection 10 of 16 to 15 of 16. Extraction coverage fell from 50 of 55 to 41 of 55 facts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Labels and grading share a teacher family, so not independent human accuracy. Relative dates still wrong in places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LongMemEval-S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Not run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Needs a 277 MB dataset and a lot of model use. Until it runs, the effect of memory on answers is unmeasured</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BENCHMARK RESULTS</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188720"/>
          <a:ext cx="11002975" cy="914400"/>
        </p:xfrm>
        <a:graphic>
          <a:graphicData uri="http://schemas.openxmlformats.org/drawingml/2006/table">
            <a:tbl>
              <a:tblPr firstRow="1"/>
              <a:tblGrid>
                <a:gridCol w="1828800"/>
                <a:gridCol w="5943600"/>
                <a:gridCol w="3227832"/>
              </a:tblGrid>
              <a:tr h="0">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Condition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Result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Limit kept with it</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Setup</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LongMemEval-S cleaned, 500 questions, 23,867 episodes. Worker mem-extractor, embeddings qwen3-embedding:0.6b. Reader TBD, judge TBD, seed 20261005</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Pilot of 10 questions stopped during ingestion: for 3 of the 5 questions in progress, an extract job failed 5 times at the worker's 3,072 token output limit. No answers were scored. Frozen in benchmark/config.json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raw_hybrid: lexical and vector search over source chunks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Accuracy TBD of 500. Knowledge-update TBD, temporal TBD</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Same reader and judge in every condition. Judge scores are custom, not official GPT-4o scores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enhanced: facts, observations and graph expansion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Accuracy TBD of 500. Knowledge-update TBD, temporal TBD. Difference from raw_hybrid TBD points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Read the paired difference per question, not only the totals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full_history: whole history in the prompt, no memory</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Accuracy TBD of 500. Tokens per question TBD</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Largest history is about 135,000 tokens. A context error is a failed run, not a truncation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Ablations on 100 questions: no_graph and no_consolidation</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no_graph TBD, no_consolidation TBD, enhanced on the same 100 TBD</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Small sample. Do not claim a component helps unless the gap is larger than the repeat spread</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Repeats: 100 questions, 3 repetitions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Spread across repeats TBD points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Shows how much the score moves with the same settings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Retrieval latency and context size at benchmark scale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p50 TBD ms, p95 TBD ms. Median context TBD tokens, p95 TBD tokens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Compare with slide 15: p95 72 ms and 1,942 tokens on a 323-fact namespace</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100" b="1" dirty="0">
                          <a:solidFill>
                            <a:srgbClr val="1A1A1A"/>
                          </a:solidFill>
                          <a:latin typeface="Times New Roman" pitchFamily="34" charset="0"/>
                          <a:ea typeface="Times New Roman" pitchFamily="34" charset="-122"/>
                          <a:cs typeface="Times New Roman" pitchFamily="34" charset="-120"/>
                        </a:rPr>
                        <a:t>Scale check, about 10,000 graph nodes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Nodes TBD. Recall p95 TBD ms. Correct answers TBD of TBD. Graph page renders in TBD s</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100" dirty="0">
                          <a:solidFill>
                            <a:srgbClr val="1A1A1A"/>
                          </a:solidFill>
                          <a:latin typeface="Times New Roman" pitchFamily="34" charset="0"/>
                          <a:ea typeface="Times New Roman" pitchFamily="34" charset="-122"/>
                          <a:cs typeface="Times New Roman" pitchFamily="34" charset="-120"/>
                        </a:rPr>
                        <a:t>Machine, model and embedding settings written next to the number</a:t>
                      </a:r>
                      <a:endParaRPr lang="en-US" sz="11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STATUS AND PENDING WORK</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4360" y="1234440"/>
          <a:ext cx="11002975" cy="914400"/>
        </p:xfrm>
        <a:graphic>
          <a:graphicData uri="http://schemas.openxmlformats.org/drawingml/2006/table">
            <a:tbl>
              <a:tblPr firstRow="1"/>
              <a:tblGrid>
                <a:gridCol w="1280160"/>
                <a:gridCol w="2331720"/>
                <a:gridCol w="2331720"/>
                <a:gridCol w="3520440"/>
                <a:gridCol w="1536192"/>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Module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Implemented functionality</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Available evidence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Pending work</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F2F2F2"/>
                    </a:solidFill>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M1 Service and persistence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REST API (8 V1, 13 V2 routes), console, PostgreSQL store, job queue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src/api.rs, knowledge_store.rs; 83 Rust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Authentication and hard delete: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M2 Extraction and embeddings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JSON claims, exact-quote checks, two repairs; Ollama embeddings, 1024-d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 providers.rs. Pi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Extraction quality at scale is unmeasured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Local 14B extraction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Qwen2.5-14B in Ollama, 16,384 token context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Passed validation on 2 of 10 test batches, hosted 10 of 10</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Run the other 8 batches. Planned: constrained decoding, fewer related ids, a larger repair budget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M3 Hybrid retrieval and graph</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Four searches, RRF k = 60, validity filter, token packing, Neo4j projection, live graph page, distance cutoff</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src/v2.rs, graph.rs, tests/evidence_graph.rs; latency on slide 15</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Shorter context, LongMemEval-S recall, graph ablation, a rule for short prompts. A derives writer and a move off the deprecated Neo4j HTTP endpoint: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M4 Maintenance and evaluation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Retries, heartbeats, consolidation, traces, /healthz, /metrics, runner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src/worker.rs, benchmark/run.py, 5 protocol tests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Finish a first LongMemEval-S run, add p95 latency to the runner, run a human audit (Planned). Decay, re-embedding, backup: none exists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 Benchmark run: 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 integration</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Hooks, local spool, memory tools, injected context message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integrations/pi/, 9 tests, scripted check 14 of 14</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Global install and the privacy of retaining all sessions: Status to confirm</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Completed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Fine-tuned worker (mem-extractor)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QLoRA of Qwen3-4B on 2,095 rows; Q8_0 GGUF served by Ollama</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slm-distill/, release receipt</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Coverage fell, relative dates weak. Live check and benchmark run: 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r h="0">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 adapter and V1 console</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AzureExtractor, AzureEmbedder, V1 console, browse and stats endpoints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Written: 12 files, 1,587 lines added</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Rebase onto the V2 code (conflicts in src/main.rs and src/ui.html), then add a JsonModel adapter for the V2 worker</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In progress</a:t>
                      </a:r>
                      <a:endParaRPr lang="en-US" sz="1200" dirty="0">
                        <a:latin typeface="Times New Roman" charset="0"/>
                        <a:ea typeface="Times New Roman" charset="0"/>
                        <a:cs typeface="Times New Roman" charset="0"/>
                      </a:endParaRPr>
                    </a:p>
                  </a:txBody>
                  <a:tcPr marL="64008" marR="64008" marT="36576" marB="36576" anchor="t">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tcPr>
                </a:tc>
              </a:tr>
            </a:tbl>
          </a:graphicData>
        </a:graphic>
      </p:graphicFrame>
      <p:sp>
        <p:nvSpPr>
          <p:cNvPr id="4"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94360" y="384048"/>
            <a:ext cx="9814255" cy="777240"/>
          </a:xfrm>
          <a:prstGeom prst="rect">
            <a:avLst/>
          </a:prstGeom>
          <a:noFill/>
          <a:ln/>
        </p:spPr>
        <p:txBody>
          <a:bodyPr wrap="square" lIns="0" tIns="0" rIns="0" bIns="0" rtlCol="0" anchor="ctr"/>
          <a:lstStyle/>
          <a:p>
            <a:pPr algn="l" indent="0" marL="0">
              <a:buNone/>
            </a:pPr>
            <a:r>
              <a:rPr lang="en-US" sz="3000" dirty="0">
                <a:solidFill>
                  <a:srgbClr val="000000"/>
                </a:solidFill>
                <a:latin typeface="Times New Roman" pitchFamily="34" charset="0"/>
                <a:ea typeface="Times New Roman" pitchFamily="34" charset="-122"/>
                <a:cs typeface="Times New Roman" pitchFamily="34" charset="-120"/>
              </a:rPr>
              <a:t>REFERENCES</a:t>
            </a:r>
            <a:endParaRPr lang="en-US" sz="3000" dirty="0"/>
          </a:p>
        </p:txBody>
      </p:sp>
      <p:sp>
        <p:nvSpPr>
          <p:cNvPr id="3" name="Text 1"/>
          <p:cNvSpPr txBox="1"/>
          <p:nvPr/>
        </p:nvSpPr>
        <p:spPr>
          <a:xfrm>
            <a:off x="594360" y="1216152"/>
            <a:ext cx="5341468" cy="52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 N. F. Liu, K. Lin, J. Hewitt, A. Paranjape, M. Bevilacqua, F. Petroni, and P. Liang, "Lost in the middle: How language models use long contexts," Trans. Assoc. Comput. Linguist., vol. 12, pp. 157-173, 2024. [Online]. Available: https://aclanthology.org/2024.tacl-1.9/</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[2] D. Wu, H. Wang, W. Yu, Y. Zhang, K.-W. Chang, and D. Yu, "LongMemEval: Benchmarking chat assistants on long-term interactive memory," in Proc. Int. Conf. Learn. Represent. (ICLR), 2025, pp. 86809-86836. [Online]. Available: https://proceedings.iclr.cc/paper_files/paper/2025/hash/d813d324dbf0598bbdc9c8e79740ed01-Abstract-Conference.html. Also arXiv:2410.10813.</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[3] C. Packer, S. Wooders, K. Lin, V. Fang, S. G. Patil, I. Stoica, and J. E. Gonzalez, "MemGPT: Towards LLMs as operating systems," arXiv preprint arXiv:2310.08560, Oct. 2023 (rev. Feb. 2024). [Online]. Available: https://arxiv.org/abs/2310.08560</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[4] P. Rasmussen, P. Paliychuk, T. Beauvais, J. Ryan, and D. Chalef, "Zep: A temporal knowledge graph architecture for agent memory," arXiv preprint arXiv:2501.13956 [cs.CL], Jan. 2025. [Online]. Available: https://arxiv.org/abs/2501.13956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[5] P. Chhikara, D. Khant, S. Aryan, T. Singh, and D. Yadav, "Mem0: Building production-ready AI agents with scalable long-term memory," in Proc. 28th Eur. Conf. Artif. Intell. (ECAI), Oct. 2025, ser. Frontiers in Artificial Intelligence and Applications, vol. 413. IOS Press, 2025, pp. 2993-3000, doi: 10.3233/FAIA251160. Also arXiv:2504.19413 [cs.CL].</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[6] S. Daga, S. Sreedhar, and D. Shah, "LongMemEval," supermemory research (vendor-hosted evaluation report on LongMemEval-S, not peer reviewed), May 2026. [Online]. Available: https://supermemory.ai/research/longmembench/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[7] C. Latimer, N. Boschi, A. Neeser, C. Bartholomew, G. Srivastava, X. Wang, and N. Ramakrishnan, "Hindsight is 20/20: Building agent memory that retains, recalls, and reflects," arXiv preprint arXiv:2512.12818 [cs.CL], Dec. 2025. [Online]. Available: https://arxiv.org/abs/2512.12818</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[8] Neo4j, Inc., "Query the database," in Neo4j HTTP API Manual, Version 5 (page marked deprecated in 5.26). Neo4j, Inc., 2026. [Online]. Available: https://neo4j.com/docs/http-api/5/query/ (accessed Oct. 6, 2026).</a:t>
            </a:r>
            <a:endParaRPr lang="en-US" sz="1100" dirty="0"/>
          </a:p>
        </p:txBody>
      </p:sp>
      <p:sp>
        <p:nvSpPr>
          <p:cNvPr id="4" name="Text 2"/>
          <p:cNvSpPr txBox="1"/>
          <p:nvPr/>
        </p:nvSpPr>
        <p:spPr>
          <a:xfrm>
            <a:off x="6255868" y="1216152"/>
            <a:ext cx="5341468" cy="5238928"/>
          </a:xfrm>
          <a:prstGeom prst="rect">
            <a:avLst/>
          </a:prstGeom>
          <a:noFill/>
          <a:ln/>
        </p:spPr>
        <p:txBody>
          <a:bodyPr wrap="square" lIns="0" tIns="0" rIns="0" bIns="0" rtlCol="0" anchor="t"/>
          <a:lstStyle/>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[9] M. Zechner et al., "pi: AI agent toolkit (unified LLM API, agent loop, TUI, coding agent CLI)," package @earendil-works/pi-coding-agent, v1.0.2 (version locked by the project's package-lock.json; latest is 1.0.4 on Oct. 6, 2026), GitHub repository, 2026. [Online]. Available: https://github.com/earendil-works/pi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[10] PostgreSQL Global Development Group, "PostgreSQL 17 Documentation, Chapter 12: Full Text Search (Sections 12.2.2, 12.3.2, 12.3.3, 12.9) and Section 64.4: GIN Indexes," PostgreSQL 17.11 documentation, 2026. [Online]. Available: https://www.postgresql.org/docs/17/textsearch.html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[11] A. Kane et al., "pgvector: Open-source vector similarity search for Postgres," source code repository and README (0.8.6 installed in the test database, v0.8.7 tag also released), Oct. 2026. [Online]. Available: https://github.com/pgvector/pgvector (accessed Oct. 6, 2026).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[12] G. V. Cormack, C. L. A. Clarke, and S. Büttcher, "Reciprocal rank fusion outperforms Condorcet and individual rank learning methods," in Proc. 32nd Int. ACM SIGIR Conf. Research and Development in Information Retrieval (SIGIR '09), Boston, MA, USA, Jul. 2009, pp. 758-759, doi: 10.1145/1571941.1572114.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[13] Y. Zhang, M. Li, D. Long, X. Zhang, H. Lin, B. Yang, P. Xie, A. Yang, D. Liu, J. Lin, F. Huang, and J. Zhou, "Qwen3 Embedding: Advancing text embedding and reranking through foundation models," arXiv preprint arXiv:2506.05176 [cs.CL], Jun. 2025. [Online]. Available: https://arxiv.org/abs/2506.05176</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[14] T. Dettmers, A. Pagnoni, A. Holtzman, and L. Zettlemoyer, "QLoRA: Efficient finetuning of quantized LLMs," in Advances in Neural Information Processing Systems 36 (NeurIPS 2023), 2023, pp. 10088-10115, doi: 10.52202/075280-0441. Also arXiv:2305.14314.</a:t>
            </a:r>
            <a:endParaRPr lang="en-US" sz="1100" dirty="0"/>
          </a:p>
          <a:p>
            <a:pPr indent="0" marL="0">
              <a:spcAft>
                <a:spcPts val="300"/>
              </a:spcAft>
              <a:buNone/>
            </a:pPr>
            <a:r>
              <a:rPr lang="en-US" sz="1100" dirty="0">
                <a:solidFill>
                  <a:srgbClr val="1A1A1A"/>
                </a:solidFill>
                <a:latin typeface="Times New Roman" pitchFamily="34" charset="0"/>
                <a:ea typeface="Times New Roman" pitchFamily="34" charset="-122"/>
                <a:cs typeface="Times New Roman" pitchFamily="34" charset="-120"/>
              </a:rPr>
              <a:t>[15] A. Maharana, D.-H. Lee, S. Tulyakov, M. Bansal, F. Barbieri, and Y. Fang, "Evaluating very long-term conversational memory of LLM agents," in Proc. 62nd Annu. Meeting Assoc. Comput. Linguistics (Volume 1: Long Papers), Bangkok, Thailand, Aug. 2024, pp. 13851-13870, doi: 10.18653/v1/2024.acl-long.747. [Online]. Available: https://aclanthology.org/2024.acl-long.747/ (preprint: arXiv:2402.17753)</a:t>
            </a:r>
            <a:endParaRPr lang="en-US" sz="1100" dirty="0"/>
          </a:p>
        </p:txBody>
      </p:sp>
      <p:sp>
        <p:nvSpPr>
          <p:cNvPr id="5" name="Slide Number Placeholder 0"/>
          <p:cNvSpPr>
            <a:spLocks noGrp="1"/>
          </p:cNvSpPr>
          <p:nvPr>
            <p:ph type="sldNum" sz="quarter" idx="4294967295"/>
          </p:nvPr>
        </p:nvSpPr>
        <p:spPr>
          <a:xfrm>
            <a:off x="10865815" y="384048"/>
            <a:ext cx="731520" cy="457200"/>
          </a:xfrm>
          <a:prstGeom prst="rect">
            <a:avLst/>
          </a:prstGeom>
          <a:extLst>
            <a:ext uri="{C572A759-6A51-4108-AA02-DFA0A04FC94B}">
              <ma14:wrappingTextBoxFlag xmlns:ma14="http://schemas.microsoft.com/office/mac/drawingml/2011/main" val="0"/>
            </a:ext>
          </a:extLst>
        </p:spPr>
        <p:txBody>
          <a:bodyPr/>
          <a:lstStyle>
            <a:lvl1pPr>
              <a:defRPr sz="1600">
                <a:solidFill>
                  <a:srgbClr val="000000"/>
                </a:solidFill>
                <a:latin typeface="Times New Roman"/>
                <a:ea typeface="Times New Roman"/>
                <a:cs typeface="Times New Roman"/>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Second Review">
  <a:themeElements>
    <a:clrScheme name="Second Review">
      <a:dk1>
        <a:srgbClr val="000000"/>
      </a:dk1>
      <a:lt1>
        <a:srgbClr val="FFFFFF"/>
      </a:lt1>
      <a:dk2>
        <a:srgbClr val="333333"/>
      </a:dk2>
      <a:lt2>
        <a:srgbClr val="F2F2F2"/>
      </a:lt2>
      <a:accent1>
        <a:srgbClr val="333333"/>
      </a:accent1>
      <a:accent2>
        <a:srgbClr val="595959"/>
      </a:accent2>
      <a:accent3>
        <a:srgbClr val="808080"/>
      </a:accent3>
      <a:accent4>
        <a:srgbClr val="BFBFBF"/>
      </a:accent4>
      <a:accent5>
        <a:srgbClr val="D9D9D9"/>
      </a:accent5>
      <a:accent6>
        <a:srgbClr val="F2F2F2"/>
      </a:accent6>
      <a:hlink>
        <a:srgbClr val="333333"/>
      </a:hlink>
      <a:folHlink>
        <a:srgbClr val="595959"/>
      </a:folHlink>
    </a:clrScheme>
    <a:fontScheme name="Second Review">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Memory Engine for AI Agents in Rust, Second Review</dc:title>
  <dc:subject>Second Project Review</dc:subject>
  <dc:creator>Team 13</dc:creator>
  <cp:lastModifiedBy>Team 13</cp:lastModifiedBy>
  <cp:revision>1</cp:revision>
  <dcterms:created xsi:type="dcterms:W3CDTF">2026-10-06T07:36:11Z</dcterms:created>
  <dcterms:modified xsi:type="dcterms:W3CDTF">2026-10-06T07:36:11Z</dcterms:modified>
</cp:coreProperties>
</file>